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0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Simmons" userId="758352e8bef8548d" providerId="LiveId" clId="{0A06E09D-2206-4127-8476-B6788E41E94D}"/>
    <pc:docChg chg="modSld">
      <pc:chgData name="Aaron Simmons" userId="758352e8bef8548d" providerId="LiveId" clId="{0A06E09D-2206-4127-8476-B6788E41E94D}" dt="2026-05-15T16:05:55.931" v="2" actId="1076"/>
      <pc:docMkLst>
        <pc:docMk/>
      </pc:docMkLst>
      <pc:sldChg chg="modSp mod">
        <pc:chgData name="Aaron Simmons" userId="758352e8bef8548d" providerId="LiveId" clId="{0A06E09D-2206-4127-8476-B6788E41E94D}" dt="2026-05-15T16:05:55.931" v="2" actId="1076"/>
        <pc:sldMkLst>
          <pc:docMk/>
          <pc:sldMk cId="0" sldId="268"/>
        </pc:sldMkLst>
        <pc:spChg chg="mod">
          <ac:chgData name="Aaron Simmons" userId="758352e8bef8548d" providerId="LiveId" clId="{0A06E09D-2206-4127-8476-B6788E41E94D}" dt="2026-05-15T16:05:55.931" v="2" actId="1076"/>
          <ac:spMkLst>
            <pc:docMk/>
            <pc:sldMk cId="0" sldId="268"/>
            <ac:spMk id="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8605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2.sv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12" Type="http://schemas.openxmlformats.org/officeDocument/2006/relationships/image" Target="../media/image3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5" Type="http://schemas.openxmlformats.org/officeDocument/2006/relationships/image" Target="../media/image34.sv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svg"/><Relationship Id="rId14" Type="http://schemas.openxmlformats.org/officeDocument/2006/relationships/image" Target="../media/image3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svg"/><Relationship Id="rId5" Type="http://schemas.openxmlformats.org/officeDocument/2006/relationships/image" Target="../media/image37.sv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svg"/><Relationship Id="rId7" Type="http://schemas.openxmlformats.org/officeDocument/2006/relationships/image" Target="../media/image47.svg"/><Relationship Id="rId12" Type="http://schemas.openxmlformats.org/officeDocument/2006/relationships/image" Target="../media/image5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svg"/><Relationship Id="rId11" Type="http://schemas.openxmlformats.org/officeDocument/2006/relationships/image" Target="../media/image51.svg"/><Relationship Id="rId5" Type="http://schemas.openxmlformats.org/officeDocument/2006/relationships/image" Target="../media/image45.svg"/><Relationship Id="rId10" Type="http://schemas.openxmlformats.org/officeDocument/2006/relationships/image" Target="../media/image50.svg"/><Relationship Id="rId4" Type="http://schemas.openxmlformats.org/officeDocument/2006/relationships/image" Target="../media/image44.svg"/><Relationship Id="rId9" Type="http://schemas.openxmlformats.org/officeDocument/2006/relationships/image" Target="../media/image4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svg"/><Relationship Id="rId7" Type="http://schemas.openxmlformats.org/officeDocument/2006/relationships/image" Target="../media/image5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svg"/><Relationship Id="rId5" Type="http://schemas.openxmlformats.org/officeDocument/2006/relationships/image" Target="../media/image55.svg"/><Relationship Id="rId4" Type="http://schemas.openxmlformats.org/officeDocument/2006/relationships/image" Target="../media/image54.svg"/><Relationship Id="rId9" Type="http://schemas.openxmlformats.org/officeDocument/2006/relationships/image" Target="../media/image5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13" Type="http://schemas.openxmlformats.org/officeDocument/2006/relationships/image" Target="../media/image70.svg"/><Relationship Id="rId3" Type="http://schemas.openxmlformats.org/officeDocument/2006/relationships/image" Target="../media/image60.svg"/><Relationship Id="rId7" Type="http://schemas.openxmlformats.org/officeDocument/2006/relationships/image" Target="../media/image64.svg"/><Relationship Id="rId12" Type="http://schemas.openxmlformats.org/officeDocument/2006/relationships/image" Target="../media/image6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svg"/><Relationship Id="rId11" Type="http://schemas.openxmlformats.org/officeDocument/2006/relationships/image" Target="../media/image68.svg"/><Relationship Id="rId5" Type="http://schemas.openxmlformats.org/officeDocument/2006/relationships/image" Target="../media/image62.svg"/><Relationship Id="rId15" Type="http://schemas.openxmlformats.org/officeDocument/2006/relationships/image" Target="../media/image72.svg"/><Relationship Id="rId10" Type="http://schemas.openxmlformats.org/officeDocument/2006/relationships/image" Target="../media/image67.svg"/><Relationship Id="rId4" Type="http://schemas.openxmlformats.org/officeDocument/2006/relationships/image" Target="../media/image61.svg"/><Relationship Id="rId9" Type="http://schemas.openxmlformats.org/officeDocument/2006/relationships/image" Target="../media/image66.svg"/><Relationship Id="rId14" Type="http://schemas.openxmlformats.org/officeDocument/2006/relationships/image" Target="../media/image7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svg"/><Relationship Id="rId13" Type="http://schemas.openxmlformats.org/officeDocument/2006/relationships/image" Target="../media/image83.svg"/><Relationship Id="rId3" Type="http://schemas.openxmlformats.org/officeDocument/2006/relationships/image" Target="../media/image73.svg"/><Relationship Id="rId7" Type="http://schemas.openxmlformats.org/officeDocument/2006/relationships/image" Target="../media/image77.svg"/><Relationship Id="rId12" Type="http://schemas.openxmlformats.org/officeDocument/2006/relationships/image" Target="../media/image82.svg"/><Relationship Id="rId17" Type="http://schemas.openxmlformats.org/officeDocument/2006/relationships/image" Target="../media/image87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8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svg"/><Relationship Id="rId11" Type="http://schemas.openxmlformats.org/officeDocument/2006/relationships/image" Target="../media/image81.svg"/><Relationship Id="rId5" Type="http://schemas.openxmlformats.org/officeDocument/2006/relationships/image" Target="../media/image75.svg"/><Relationship Id="rId15" Type="http://schemas.openxmlformats.org/officeDocument/2006/relationships/image" Target="../media/image85.svg"/><Relationship Id="rId10" Type="http://schemas.openxmlformats.org/officeDocument/2006/relationships/image" Target="../media/image80.svg"/><Relationship Id="rId4" Type="http://schemas.openxmlformats.org/officeDocument/2006/relationships/image" Target="../media/image74.svg"/><Relationship Id="rId9" Type="http://schemas.openxmlformats.org/officeDocument/2006/relationships/image" Target="../media/image79.svg"/><Relationship Id="rId14" Type="http://schemas.openxmlformats.org/officeDocument/2006/relationships/image" Target="../media/image8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3" Type="http://schemas.openxmlformats.org/officeDocument/2006/relationships/image" Target="../media/image88.svg"/><Relationship Id="rId7" Type="http://schemas.openxmlformats.org/officeDocument/2006/relationships/image" Target="../media/image9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svg"/><Relationship Id="rId5" Type="http://schemas.openxmlformats.org/officeDocument/2006/relationships/image" Target="../media/image90.svg"/><Relationship Id="rId10" Type="http://schemas.openxmlformats.org/officeDocument/2006/relationships/image" Target="../media/image95.svg"/><Relationship Id="rId4" Type="http://schemas.openxmlformats.org/officeDocument/2006/relationships/image" Target="../media/image89.svg"/><Relationship Id="rId9" Type="http://schemas.openxmlformats.org/officeDocument/2006/relationships/image" Target="../media/image9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svg"/><Relationship Id="rId13" Type="http://schemas.openxmlformats.org/officeDocument/2006/relationships/image" Target="../media/image106.svg"/><Relationship Id="rId18" Type="http://schemas.openxmlformats.org/officeDocument/2006/relationships/image" Target="../media/image111.svg"/><Relationship Id="rId3" Type="http://schemas.openxmlformats.org/officeDocument/2006/relationships/image" Target="../media/image96.svg"/><Relationship Id="rId7" Type="http://schemas.openxmlformats.org/officeDocument/2006/relationships/image" Target="../media/image100.svg"/><Relationship Id="rId12" Type="http://schemas.openxmlformats.org/officeDocument/2006/relationships/image" Target="../media/image105.svg"/><Relationship Id="rId17" Type="http://schemas.openxmlformats.org/officeDocument/2006/relationships/image" Target="../media/image110.sv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0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svg"/><Relationship Id="rId11" Type="http://schemas.openxmlformats.org/officeDocument/2006/relationships/image" Target="../media/image104.svg"/><Relationship Id="rId5" Type="http://schemas.openxmlformats.org/officeDocument/2006/relationships/image" Target="../media/image98.svg"/><Relationship Id="rId15" Type="http://schemas.openxmlformats.org/officeDocument/2006/relationships/image" Target="../media/image108.svg"/><Relationship Id="rId10" Type="http://schemas.openxmlformats.org/officeDocument/2006/relationships/image" Target="../media/image103.svg"/><Relationship Id="rId4" Type="http://schemas.openxmlformats.org/officeDocument/2006/relationships/image" Target="../media/image97.svg"/><Relationship Id="rId9" Type="http://schemas.openxmlformats.org/officeDocument/2006/relationships/image" Target="../media/image102.svg"/><Relationship Id="rId14" Type="http://schemas.openxmlformats.org/officeDocument/2006/relationships/image" Target="../media/image10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svg"/><Relationship Id="rId3" Type="http://schemas.openxmlformats.org/officeDocument/2006/relationships/image" Target="../media/image113.svg"/><Relationship Id="rId7" Type="http://schemas.openxmlformats.org/officeDocument/2006/relationships/image" Target="../media/image11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svg"/><Relationship Id="rId11" Type="http://schemas.openxmlformats.org/officeDocument/2006/relationships/image" Target="../media/image121.svg"/><Relationship Id="rId5" Type="http://schemas.openxmlformats.org/officeDocument/2006/relationships/image" Target="../media/image115.svg"/><Relationship Id="rId10" Type="http://schemas.openxmlformats.org/officeDocument/2006/relationships/image" Target="../media/image120.svg"/><Relationship Id="rId4" Type="http://schemas.openxmlformats.org/officeDocument/2006/relationships/image" Target="../media/image114.svg"/><Relationship Id="rId9" Type="http://schemas.openxmlformats.org/officeDocument/2006/relationships/image" Target="../media/image119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svg"/><Relationship Id="rId13" Type="http://schemas.openxmlformats.org/officeDocument/2006/relationships/image" Target="../media/image132.svg"/><Relationship Id="rId3" Type="http://schemas.openxmlformats.org/officeDocument/2006/relationships/image" Target="../media/image122.svg"/><Relationship Id="rId7" Type="http://schemas.openxmlformats.org/officeDocument/2006/relationships/image" Target="../media/image126.svg"/><Relationship Id="rId12" Type="http://schemas.openxmlformats.org/officeDocument/2006/relationships/image" Target="../media/image13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5.svg"/><Relationship Id="rId11" Type="http://schemas.openxmlformats.org/officeDocument/2006/relationships/image" Target="../media/image130.svg"/><Relationship Id="rId5" Type="http://schemas.openxmlformats.org/officeDocument/2006/relationships/image" Target="../media/image124.svg"/><Relationship Id="rId10" Type="http://schemas.openxmlformats.org/officeDocument/2006/relationships/image" Target="../media/image129.svg"/><Relationship Id="rId4" Type="http://schemas.openxmlformats.org/officeDocument/2006/relationships/image" Target="../media/image123.svg"/><Relationship Id="rId9" Type="http://schemas.openxmlformats.org/officeDocument/2006/relationships/image" Target="../media/image128.svg"/><Relationship Id="rId14" Type="http://schemas.openxmlformats.org/officeDocument/2006/relationships/image" Target="../media/image13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svg"/><Relationship Id="rId13" Type="http://schemas.openxmlformats.org/officeDocument/2006/relationships/image" Target="../media/image144.svg"/><Relationship Id="rId18" Type="http://schemas.openxmlformats.org/officeDocument/2006/relationships/image" Target="../media/image149.svg"/><Relationship Id="rId3" Type="http://schemas.openxmlformats.org/officeDocument/2006/relationships/image" Target="../media/image134.svg"/><Relationship Id="rId7" Type="http://schemas.openxmlformats.org/officeDocument/2006/relationships/image" Target="../media/image138.svg"/><Relationship Id="rId12" Type="http://schemas.openxmlformats.org/officeDocument/2006/relationships/image" Target="../media/image143.svg"/><Relationship Id="rId17" Type="http://schemas.openxmlformats.org/officeDocument/2006/relationships/image" Target="../media/image148.sv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4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7.svg"/><Relationship Id="rId11" Type="http://schemas.openxmlformats.org/officeDocument/2006/relationships/image" Target="../media/image142.svg"/><Relationship Id="rId5" Type="http://schemas.openxmlformats.org/officeDocument/2006/relationships/image" Target="../media/image136.svg"/><Relationship Id="rId15" Type="http://schemas.openxmlformats.org/officeDocument/2006/relationships/image" Target="../media/image146.svg"/><Relationship Id="rId10" Type="http://schemas.openxmlformats.org/officeDocument/2006/relationships/image" Target="../media/image141.svg"/><Relationship Id="rId4" Type="http://schemas.openxmlformats.org/officeDocument/2006/relationships/image" Target="../media/image135.svg"/><Relationship Id="rId9" Type="http://schemas.openxmlformats.org/officeDocument/2006/relationships/image" Target="../media/image140.svg"/><Relationship Id="rId14" Type="http://schemas.openxmlformats.org/officeDocument/2006/relationships/image" Target="../media/image145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svg"/><Relationship Id="rId13" Type="http://schemas.openxmlformats.org/officeDocument/2006/relationships/image" Target="../media/image160.svg"/><Relationship Id="rId3" Type="http://schemas.openxmlformats.org/officeDocument/2006/relationships/image" Target="../media/image150.svg"/><Relationship Id="rId7" Type="http://schemas.openxmlformats.org/officeDocument/2006/relationships/image" Target="../media/image154.svg"/><Relationship Id="rId12" Type="http://schemas.openxmlformats.org/officeDocument/2006/relationships/image" Target="../media/image159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3.svg"/><Relationship Id="rId11" Type="http://schemas.openxmlformats.org/officeDocument/2006/relationships/image" Target="../media/image158.svg"/><Relationship Id="rId5" Type="http://schemas.openxmlformats.org/officeDocument/2006/relationships/image" Target="../media/image152.svg"/><Relationship Id="rId15" Type="http://schemas.openxmlformats.org/officeDocument/2006/relationships/image" Target="../media/image162.svg"/><Relationship Id="rId10" Type="http://schemas.openxmlformats.org/officeDocument/2006/relationships/image" Target="../media/image157.svg"/><Relationship Id="rId4" Type="http://schemas.openxmlformats.org/officeDocument/2006/relationships/image" Target="../media/image151.svg"/><Relationship Id="rId9" Type="http://schemas.openxmlformats.org/officeDocument/2006/relationships/image" Target="../media/image156.svg"/><Relationship Id="rId14" Type="http://schemas.openxmlformats.org/officeDocument/2006/relationships/image" Target="../media/image161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svg"/><Relationship Id="rId13" Type="http://schemas.openxmlformats.org/officeDocument/2006/relationships/image" Target="../media/image174.svg"/><Relationship Id="rId3" Type="http://schemas.openxmlformats.org/officeDocument/2006/relationships/image" Target="../media/image164.svg"/><Relationship Id="rId7" Type="http://schemas.openxmlformats.org/officeDocument/2006/relationships/image" Target="../media/image168.svg"/><Relationship Id="rId12" Type="http://schemas.openxmlformats.org/officeDocument/2006/relationships/image" Target="../media/image173.svg"/><Relationship Id="rId17" Type="http://schemas.openxmlformats.org/officeDocument/2006/relationships/image" Target="../media/image178.sv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7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7.svg"/><Relationship Id="rId11" Type="http://schemas.openxmlformats.org/officeDocument/2006/relationships/image" Target="../media/image172.svg"/><Relationship Id="rId5" Type="http://schemas.openxmlformats.org/officeDocument/2006/relationships/image" Target="../media/image166.svg"/><Relationship Id="rId15" Type="http://schemas.openxmlformats.org/officeDocument/2006/relationships/image" Target="../media/image176.svg"/><Relationship Id="rId10" Type="http://schemas.openxmlformats.org/officeDocument/2006/relationships/image" Target="../media/image171.svg"/><Relationship Id="rId4" Type="http://schemas.openxmlformats.org/officeDocument/2006/relationships/image" Target="../media/image165.svg"/><Relationship Id="rId9" Type="http://schemas.openxmlformats.org/officeDocument/2006/relationships/image" Target="../media/image170.svg"/><Relationship Id="rId14" Type="http://schemas.openxmlformats.org/officeDocument/2006/relationships/image" Target="../media/image175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svg"/><Relationship Id="rId3" Type="http://schemas.openxmlformats.org/officeDocument/2006/relationships/image" Target="../media/image179.png"/><Relationship Id="rId7" Type="http://schemas.openxmlformats.org/officeDocument/2006/relationships/image" Target="../media/image183.svg"/><Relationship Id="rId12" Type="http://schemas.openxmlformats.org/officeDocument/2006/relationships/image" Target="../media/image188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2.svg"/><Relationship Id="rId11" Type="http://schemas.openxmlformats.org/officeDocument/2006/relationships/image" Target="../media/image187.svg"/><Relationship Id="rId5" Type="http://schemas.openxmlformats.org/officeDocument/2006/relationships/image" Target="../media/image181.svg"/><Relationship Id="rId10" Type="http://schemas.openxmlformats.org/officeDocument/2006/relationships/image" Target="../media/image186.svg"/><Relationship Id="rId4" Type="http://schemas.openxmlformats.org/officeDocument/2006/relationships/image" Target="../media/image180.png"/><Relationship Id="rId9" Type="http://schemas.openxmlformats.org/officeDocument/2006/relationships/image" Target="../media/image18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40A14">
                  <a:alpha val="92000"/>
                </a:srgbClr>
              </a:gs>
              <a:gs pos="40000">
                <a:srgbClr val="0A1628">
                  <a:alpha val="80000"/>
                </a:srgbClr>
              </a:gs>
              <a:gs pos="70000">
                <a:srgbClr val="0D1B2A">
                  <a:alpha val="70000"/>
                </a:srgbClr>
              </a:gs>
              <a:gs pos="100000">
                <a:srgbClr val="140F05">
                  <a:alpha val="75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30000">
                <a:srgbClr val="000000">
                  <a:alpha val="0"/>
                </a:srgbClr>
              </a:gs>
              <a:gs pos="100000">
                <a:srgbClr val="040812">
                  <a:alpha val="72000"/>
                </a:srgbClr>
              </a:gs>
            </a:gsLst>
            <a:path path="circle">
              <a:fillToRect l="40000" t="50000" r="6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40A14">
                  <a:alpha val="95000"/>
                </a:srgbClr>
              </a:gs>
              <a:gs pos="50000">
                <a:srgbClr val="040A14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428625"/>
            <a:ext cx="3429000" cy="4286250"/>
          </a:xfrm>
          <a:prstGeom prst="ellipse">
            <a:avLst/>
          </a:prstGeom>
          <a:gradFill rotWithShape="1">
            <a:gsLst>
              <a:gs pos="0">
                <a:srgbClr val="E8A020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00750" y="0"/>
            <a:ext cx="3143250" cy="3329285"/>
          </a:xfrm>
          <a:prstGeom prst="ellipse">
            <a:avLst/>
          </a:prstGeom>
          <a:gradFill rotWithShape="1">
            <a:gsLst>
              <a:gs pos="0">
                <a:srgbClr val="3C78C8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74928" y="1785640"/>
            <a:ext cx="3432148" cy="157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0"/>
              </a:lnSpc>
              <a:buNone/>
            </a:pPr>
            <a:r>
              <a:rPr lang="en-US" sz="12380" kern="0" spc="-450" dirty="0">
                <a:solidFill>
                  <a:srgbClr val="FFFFFF">
                    <a:alpha val="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</a:t>
            </a:r>
            <a:endParaRPr lang="en-US" sz="1238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alphaModFix amt="6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1052" y="1446386"/>
            <a:ext cx="2250728" cy="22507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1500" y="257770"/>
            <a:ext cx="2012156" cy="207749"/>
          </a:xfrm>
          <a:prstGeom prst="roundRect">
            <a:avLst>
              <a:gd name="adj" fmla="val 6724"/>
            </a:avLst>
          </a:prstGeom>
          <a:solidFill>
            <a:srgbClr val="E8A02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PROGRAM</a:t>
            </a:r>
            <a:endParaRPr lang="en-US" sz="620" dirty="0"/>
          </a:p>
        </p:txBody>
      </p:sp>
      <p:sp>
        <p:nvSpPr>
          <p:cNvPr id="12" name="Text 9"/>
          <p:cNvSpPr/>
          <p:nvPr/>
        </p:nvSpPr>
        <p:spPr>
          <a:xfrm>
            <a:off x="2654647" y="345281"/>
            <a:ext cx="285750" cy="13841"/>
          </a:xfrm>
          <a:prstGeom prst="rect">
            <a:avLst/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71500" y="1158925"/>
            <a:ext cx="880110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kern="0" spc="230" dirty="0">
                <a:solidFill>
                  <a:srgbClr val="E8A020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WEBINAR SERIES  ·  FINANCIAL INSTITUTIONS</a:t>
            </a:r>
            <a:endParaRPr lang="en-US" sz="730" dirty="0"/>
          </a:p>
        </p:txBody>
      </p:sp>
      <p:sp>
        <p:nvSpPr>
          <p:cNvPr id="14" name="Text 11"/>
          <p:cNvSpPr/>
          <p:nvPr/>
        </p:nvSpPr>
        <p:spPr>
          <a:xfrm>
            <a:off x="571500" y="1426071"/>
            <a:ext cx="5101245" cy="150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69"/>
              </a:lnSpc>
              <a:spcAft>
                <a:spcPts val="1350"/>
              </a:spcAft>
              <a:buNone/>
            </a:pPr>
            <a:r>
              <a:rPr lang="en-US" sz="349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 Security</a:t>
            </a:r>
            <a:br/>
            <a:r>
              <a:rPr lang="en-US" sz="3490" b="1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Awareness</a:t>
            </a:r>
            <a:br/>
            <a:r>
              <a:rPr lang="en-US" sz="349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Webinar Series</a:t>
            </a:r>
            <a:endParaRPr lang="en-US" sz="3490" dirty="0"/>
          </a:p>
        </p:txBody>
      </p:sp>
      <p:sp>
        <p:nvSpPr>
          <p:cNvPr id="15" name="Text 12"/>
          <p:cNvSpPr/>
          <p:nvPr/>
        </p:nvSpPr>
        <p:spPr>
          <a:xfrm>
            <a:off x="571500" y="3033415"/>
            <a:ext cx="571500" cy="21580"/>
          </a:xfrm>
          <a:prstGeom prst="roundRect">
            <a:avLst>
              <a:gd name="adj" fmla="val 64736"/>
            </a:avLst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71500" y="3212455"/>
            <a:ext cx="4518315" cy="43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16"/>
              </a:lnSpc>
              <a:buNone/>
            </a:pPr>
            <a:r>
              <a:rPr lang="en-US" sz="1010" kern="0" spc="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Institutions </a:t>
            </a:r>
            <a:r>
              <a:rPr lang="en-US" sz="1010" kern="0" spc="3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r>
              <a:rPr lang="en-US" sz="1010" kern="0" spc="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Human Risk </a:t>
            </a:r>
            <a:r>
              <a:rPr lang="en-US" sz="1010" kern="0" spc="3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r>
              <a:rPr lang="en-US" sz="1010" kern="0" spc="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Behavioral Change </a:t>
            </a:r>
            <a:r>
              <a:rPr lang="en-US" sz="1010" kern="0" spc="3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r>
              <a:rPr lang="en-US" sz="1010" kern="0" spc="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Cyber Resilience</a:t>
            </a:r>
            <a:endParaRPr lang="en-US" sz="1010" dirty="0"/>
          </a:p>
        </p:txBody>
      </p:sp>
      <p:sp>
        <p:nvSpPr>
          <p:cNvPr id="17" name="Text 14"/>
          <p:cNvSpPr/>
          <p:nvPr/>
        </p:nvSpPr>
        <p:spPr>
          <a:xfrm>
            <a:off x="571500" y="3880693"/>
            <a:ext cx="1295501" cy="247352"/>
          </a:xfrm>
          <a:prstGeom prst="roundRect">
            <a:avLst>
              <a:gd name="adj" fmla="val 11809"/>
            </a:avLst>
          </a:prstGeom>
          <a:solidFill>
            <a:srgbClr val="E8A020">
              <a:alpha val="10000"/>
            </a:srgbClr>
          </a:solidFill>
          <a:ln w="9525">
            <a:solidFill>
              <a:srgbClr val="E8A020">
                <a:alpha val="28000"/>
              </a:srgbClr>
            </a:solidFill>
          </a:ln>
        </p:spPr>
        <p:txBody>
          <a:bodyPr wrap="none" lIns="232638" tIns="49530" rIns="100330" bIns="49530" rtlCol="0" anchor="ctr"/>
          <a:lstStyle/>
          <a:p>
            <a:pPr marL="0" indent="0" algn="l">
              <a:buNone/>
            </a:pPr>
            <a:r>
              <a:rPr lang="en-US" sz="680" kern="0" spc="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CTI-Informed Training</a:t>
            </a:r>
            <a:endParaRPr lang="en-US" sz="68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620" y="3938001"/>
            <a:ext cx="132588" cy="1325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013049" y="3880693"/>
            <a:ext cx="1292921" cy="247352"/>
          </a:xfrm>
          <a:prstGeom prst="roundRect">
            <a:avLst>
              <a:gd name="adj" fmla="val 11809"/>
            </a:avLst>
          </a:prstGeom>
          <a:solidFill>
            <a:srgbClr val="E8A020">
              <a:alpha val="10000"/>
            </a:srgbClr>
          </a:solidFill>
          <a:ln w="9525">
            <a:solidFill>
              <a:srgbClr val="E8A020">
                <a:alpha val="28000"/>
              </a:srgbClr>
            </a:solidFill>
          </a:ln>
        </p:spPr>
        <p:txBody>
          <a:bodyPr wrap="none" lIns="232638" tIns="49530" rIns="100330" bIns="49530" rtlCol="0" anchor="ctr"/>
          <a:lstStyle/>
          <a:p>
            <a:pPr marL="0" indent="0" algn="l">
              <a:buNone/>
            </a:pPr>
            <a:r>
              <a:rPr lang="en-US" sz="680" kern="0" spc="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Guidance</a:t>
            </a:r>
            <a:endParaRPr lang="en-US" sz="68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94169" y="3938001"/>
            <a:ext cx="132588" cy="1325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452068" y="3880693"/>
            <a:ext cx="1120774" cy="247352"/>
          </a:xfrm>
          <a:prstGeom prst="roundRect">
            <a:avLst>
              <a:gd name="adj" fmla="val 11809"/>
            </a:avLst>
          </a:prstGeom>
          <a:solidFill>
            <a:srgbClr val="E8A020">
              <a:alpha val="10000"/>
            </a:srgbClr>
          </a:solidFill>
          <a:ln w="9525">
            <a:solidFill>
              <a:srgbClr val="E8A020">
                <a:alpha val="28000"/>
              </a:srgbClr>
            </a:solidFill>
          </a:ln>
        </p:spPr>
        <p:txBody>
          <a:bodyPr wrap="none" lIns="232638" tIns="49530" rIns="100330" bIns="49530" rtlCol="0" anchor="ctr"/>
          <a:lstStyle/>
          <a:p>
            <a:pPr marL="0" indent="0" algn="l">
              <a:buNone/>
            </a:pPr>
            <a:r>
              <a:rPr lang="en-US" sz="680" kern="0" spc="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Measurement</a:t>
            </a:r>
            <a:endParaRPr lang="en-US" sz="68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33189" y="3938001"/>
            <a:ext cx="132588" cy="1325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22316" y="3880693"/>
            <a:ext cx="1154019" cy="247352"/>
          </a:xfrm>
          <a:prstGeom prst="roundRect">
            <a:avLst>
              <a:gd name="adj" fmla="val 11809"/>
            </a:avLst>
          </a:prstGeom>
          <a:solidFill>
            <a:srgbClr val="E8A020">
              <a:alpha val="10000"/>
            </a:srgbClr>
          </a:solidFill>
          <a:ln w="9525">
            <a:solidFill>
              <a:srgbClr val="E8A020">
                <a:alpha val="28000"/>
              </a:srgbClr>
            </a:solidFill>
          </a:ln>
        </p:spPr>
        <p:txBody>
          <a:bodyPr wrap="none" lIns="232638" tIns="49530" rIns="100330" bIns="49530" rtlCol="0" anchor="ctr"/>
          <a:lstStyle/>
          <a:p>
            <a:pPr marL="0" indent="0" algn="l">
              <a:buNone/>
            </a:pPr>
            <a:r>
              <a:rPr lang="en-US" sz="680" kern="0" spc="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Program</a:t>
            </a:r>
            <a:endParaRPr lang="en-US" sz="68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03437" y="3938001"/>
            <a:ext cx="132588" cy="1325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29220" y="1785640"/>
            <a:ext cx="21580" cy="157222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E8A020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0" y="4771430"/>
            <a:ext cx="9144000" cy="372070"/>
          </a:xfrm>
          <a:prstGeom prst="rect">
            <a:avLst/>
          </a:prstGeom>
          <a:solidFill>
            <a:srgbClr val="0A121E">
              <a:alpha val="8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0" y="4771430"/>
            <a:ext cx="9144000" cy="9525"/>
          </a:xfrm>
          <a:prstGeom prst="rect">
            <a:avLst/>
          </a:prstGeom>
          <a:solidFill>
            <a:srgbClr val="E8A020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571500" y="4944517"/>
            <a:ext cx="35421" cy="35421"/>
          </a:xfrm>
          <a:prstGeom prst="ellipse">
            <a:avLst/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677912" y="4900315"/>
            <a:ext cx="445457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</a:t>
            </a:r>
            <a:endParaRPr lang="en-US" sz="650" dirty="0"/>
          </a:p>
        </p:txBody>
      </p:sp>
      <p:sp>
        <p:nvSpPr>
          <p:cNvPr id="30" name="Text 23"/>
          <p:cNvSpPr/>
          <p:nvPr/>
        </p:nvSpPr>
        <p:spPr>
          <a:xfrm>
            <a:off x="1153864" y="4900315"/>
            <a:ext cx="73244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Profile v2.2</a:t>
            </a:r>
            <a:endParaRPr lang="en-US" sz="650" dirty="0"/>
          </a:p>
        </p:txBody>
      </p:sp>
      <p:sp>
        <p:nvSpPr>
          <p:cNvPr id="31" name="Text 24"/>
          <p:cNvSpPr/>
          <p:nvPr/>
        </p:nvSpPr>
        <p:spPr>
          <a:xfrm>
            <a:off x="1904554" y="4900315"/>
            <a:ext cx="2783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650" dirty="0"/>
          </a:p>
        </p:txBody>
      </p:sp>
      <p:sp>
        <p:nvSpPr>
          <p:cNvPr id="32" name="Text 25"/>
          <p:cNvSpPr/>
          <p:nvPr/>
        </p:nvSpPr>
        <p:spPr>
          <a:xfrm>
            <a:off x="2014686" y="4900315"/>
            <a:ext cx="61489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</a:t>
            </a:r>
            <a:endParaRPr lang="en-US" sz="650" dirty="0"/>
          </a:p>
        </p:txBody>
      </p:sp>
      <p:sp>
        <p:nvSpPr>
          <p:cNvPr id="33" name="Text 26"/>
          <p:cNvSpPr/>
          <p:nvPr/>
        </p:nvSpPr>
        <p:spPr>
          <a:xfrm>
            <a:off x="2658517" y="4900315"/>
            <a:ext cx="2783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650" dirty="0"/>
          </a:p>
        </p:txBody>
      </p:sp>
      <p:sp>
        <p:nvSpPr>
          <p:cNvPr id="34" name="Text 27"/>
          <p:cNvSpPr/>
          <p:nvPr/>
        </p:nvSpPr>
        <p:spPr>
          <a:xfrm>
            <a:off x="2768650" y="4900315"/>
            <a:ext cx="111716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Risk Framework</a:t>
            </a:r>
            <a:endParaRPr lang="en-US" sz="650" dirty="0"/>
          </a:p>
        </p:txBody>
      </p:sp>
      <p:sp>
        <p:nvSpPr>
          <p:cNvPr id="35" name="Text 28"/>
          <p:cNvSpPr/>
          <p:nvPr/>
        </p:nvSpPr>
        <p:spPr>
          <a:xfrm>
            <a:off x="7350472" y="4903143"/>
            <a:ext cx="134423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20" dirty="0">
                <a:solidFill>
                  <a:srgbClr val="94AFC8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Internal Use Only</a:t>
            </a:r>
            <a:endParaRPr lang="en-US" sz="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94AFC8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94AFC8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9575" y="1088975"/>
            <a:ext cx="2686050" cy="21580"/>
          </a:xfrm>
          <a:custGeom>
            <a:avLst/>
            <a:gdLst/>
            <a:ahLst/>
            <a:cxnLst/>
            <a:rect l="l" t="t" r="r" b="b"/>
            <a:pathLst>
              <a:path w="2686050" h="21580">
                <a:moveTo>
                  <a:pt x="57150" y="0"/>
                </a:moveTo>
                <a:lnTo>
                  <a:pt x="2628900" y="0"/>
                </a:lnTo>
                <a:lnTo>
                  <a:pt x="2646251" y="2698"/>
                </a:lnTo>
                <a:lnTo>
                  <a:pt x="2653139" y="5395"/>
                </a:lnTo>
                <a:lnTo>
                  <a:pt x="2658217" y="8093"/>
                </a:lnTo>
                <a:lnTo>
                  <a:pt x="2662320" y="10790"/>
                </a:lnTo>
                <a:lnTo>
                  <a:pt x="2665774" y="13488"/>
                </a:lnTo>
                <a:lnTo>
                  <a:pt x="2668750" y="16185"/>
                </a:lnTo>
                <a:lnTo>
                  <a:pt x="2671347" y="18883"/>
                </a:lnTo>
                <a:lnTo>
                  <a:pt x="2673631" y="21580"/>
                </a:lnTo>
                <a:lnTo>
                  <a:pt x="12419" y="21580"/>
                </a:lnTo>
                <a:lnTo>
                  <a:pt x="14703" y="18883"/>
                </a:lnTo>
                <a:lnTo>
                  <a:pt x="17300" y="16185"/>
                </a:lnTo>
                <a:lnTo>
                  <a:pt x="20276" y="13488"/>
                </a:lnTo>
                <a:lnTo>
                  <a:pt x="23730" y="10790"/>
                </a:lnTo>
                <a:lnTo>
                  <a:pt x="27833" y="8093"/>
                </a:lnTo>
                <a:lnTo>
                  <a:pt x="32911" y="5395"/>
                </a:lnTo>
                <a:lnTo>
                  <a:pt x="39799" y="2698"/>
                </a:lnTo>
                <a:close/>
              </a:path>
            </a:pathLst>
          </a:cu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667743" y="2379460"/>
            <a:ext cx="642491" cy="642491"/>
          </a:xfrm>
          <a:prstGeom prst="ellipse">
            <a:avLst/>
          </a:prstGeom>
          <a:solidFill>
            <a:srgbClr val="E8A020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28975" y="1088975"/>
            <a:ext cx="2686050" cy="21580"/>
          </a:xfrm>
          <a:custGeom>
            <a:avLst/>
            <a:gdLst/>
            <a:ahLst/>
            <a:cxnLst/>
            <a:rect l="l" t="t" r="r" b="b"/>
            <a:pathLst>
              <a:path w="2686050" h="21580">
                <a:moveTo>
                  <a:pt x="57150" y="0"/>
                </a:moveTo>
                <a:lnTo>
                  <a:pt x="2628900" y="0"/>
                </a:lnTo>
                <a:lnTo>
                  <a:pt x="2646251" y="2698"/>
                </a:lnTo>
                <a:lnTo>
                  <a:pt x="2653139" y="5395"/>
                </a:lnTo>
                <a:lnTo>
                  <a:pt x="2658217" y="8093"/>
                </a:lnTo>
                <a:lnTo>
                  <a:pt x="2662320" y="10790"/>
                </a:lnTo>
                <a:lnTo>
                  <a:pt x="2665774" y="13488"/>
                </a:lnTo>
                <a:lnTo>
                  <a:pt x="2668750" y="16185"/>
                </a:lnTo>
                <a:lnTo>
                  <a:pt x="2671347" y="18883"/>
                </a:lnTo>
                <a:lnTo>
                  <a:pt x="2673631" y="21580"/>
                </a:lnTo>
                <a:lnTo>
                  <a:pt x="12419" y="21580"/>
                </a:lnTo>
                <a:lnTo>
                  <a:pt x="14703" y="18883"/>
                </a:lnTo>
                <a:lnTo>
                  <a:pt x="17300" y="16185"/>
                </a:lnTo>
                <a:lnTo>
                  <a:pt x="20276" y="13488"/>
                </a:lnTo>
                <a:lnTo>
                  <a:pt x="23730" y="10790"/>
                </a:lnTo>
                <a:lnTo>
                  <a:pt x="27833" y="8093"/>
                </a:lnTo>
                <a:lnTo>
                  <a:pt x="32911" y="5395"/>
                </a:lnTo>
                <a:lnTo>
                  <a:pt x="39799" y="2698"/>
                </a:lnTo>
                <a:close/>
              </a:path>
            </a:pathLst>
          </a:custGeom>
          <a:solidFill>
            <a:srgbClr val="60A5FA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7143" y="2379460"/>
            <a:ext cx="642491" cy="642491"/>
          </a:xfrm>
          <a:prstGeom prst="ellipse">
            <a:avLst/>
          </a:prstGeom>
          <a:solidFill>
            <a:srgbClr val="60A5FA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48375" y="1088975"/>
            <a:ext cx="2686050" cy="21580"/>
          </a:xfrm>
          <a:custGeom>
            <a:avLst/>
            <a:gdLst/>
            <a:ahLst/>
            <a:cxnLst/>
            <a:rect l="l" t="t" r="r" b="b"/>
            <a:pathLst>
              <a:path w="2686050" h="21580">
                <a:moveTo>
                  <a:pt x="57150" y="0"/>
                </a:moveTo>
                <a:lnTo>
                  <a:pt x="2628900" y="0"/>
                </a:lnTo>
                <a:lnTo>
                  <a:pt x="2646251" y="2698"/>
                </a:lnTo>
                <a:lnTo>
                  <a:pt x="2653139" y="5395"/>
                </a:lnTo>
                <a:lnTo>
                  <a:pt x="2658217" y="8093"/>
                </a:lnTo>
                <a:lnTo>
                  <a:pt x="2662320" y="10790"/>
                </a:lnTo>
                <a:lnTo>
                  <a:pt x="2665774" y="13488"/>
                </a:lnTo>
                <a:lnTo>
                  <a:pt x="2668750" y="16185"/>
                </a:lnTo>
                <a:lnTo>
                  <a:pt x="2671347" y="18883"/>
                </a:lnTo>
                <a:lnTo>
                  <a:pt x="2673631" y="21580"/>
                </a:lnTo>
                <a:lnTo>
                  <a:pt x="12419" y="21580"/>
                </a:lnTo>
                <a:lnTo>
                  <a:pt x="14703" y="18883"/>
                </a:lnTo>
                <a:lnTo>
                  <a:pt x="17300" y="16185"/>
                </a:lnTo>
                <a:lnTo>
                  <a:pt x="20276" y="13488"/>
                </a:lnTo>
                <a:lnTo>
                  <a:pt x="23730" y="10790"/>
                </a:lnTo>
                <a:lnTo>
                  <a:pt x="27833" y="8093"/>
                </a:lnTo>
                <a:lnTo>
                  <a:pt x="32911" y="5395"/>
                </a:lnTo>
                <a:lnTo>
                  <a:pt x="39799" y="2698"/>
                </a:lnTo>
                <a:close/>
              </a:path>
            </a:pathLst>
          </a:custGeom>
          <a:solidFill>
            <a:srgbClr val="2DD4BF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306543" y="2379460"/>
            <a:ext cx="642491" cy="642491"/>
          </a:xfrm>
          <a:prstGeom prst="ellipse">
            <a:avLst/>
          </a:prstGeom>
          <a:solidFill>
            <a:srgbClr val="2DD4BF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9575" y="2940695"/>
            <a:ext cx="2686050" cy="21580"/>
          </a:xfrm>
          <a:custGeom>
            <a:avLst/>
            <a:gdLst/>
            <a:ahLst/>
            <a:cxnLst/>
            <a:rect l="l" t="t" r="r" b="b"/>
            <a:pathLst>
              <a:path w="2686050" h="21580">
                <a:moveTo>
                  <a:pt x="57150" y="0"/>
                </a:moveTo>
                <a:lnTo>
                  <a:pt x="2628900" y="0"/>
                </a:lnTo>
                <a:lnTo>
                  <a:pt x="2646251" y="2698"/>
                </a:lnTo>
                <a:lnTo>
                  <a:pt x="2653139" y="5395"/>
                </a:lnTo>
                <a:lnTo>
                  <a:pt x="2658217" y="8093"/>
                </a:lnTo>
                <a:lnTo>
                  <a:pt x="2662320" y="10790"/>
                </a:lnTo>
                <a:lnTo>
                  <a:pt x="2665774" y="13488"/>
                </a:lnTo>
                <a:lnTo>
                  <a:pt x="2668750" y="16185"/>
                </a:lnTo>
                <a:lnTo>
                  <a:pt x="2671347" y="18883"/>
                </a:lnTo>
                <a:lnTo>
                  <a:pt x="2673631" y="21580"/>
                </a:lnTo>
                <a:lnTo>
                  <a:pt x="12419" y="21580"/>
                </a:lnTo>
                <a:lnTo>
                  <a:pt x="14703" y="18883"/>
                </a:lnTo>
                <a:lnTo>
                  <a:pt x="17300" y="16185"/>
                </a:lnTo>
                <a:lnTo>
                  <a:pt x="20276" y="13488"/>
                </a:lnTo>
                <a:lnTo>
                  <a:pt x="23730" y="10790"/>
                </a:lnTo>
                <a:lnTo>
                  <a:pt x="27833" y="8093"/>
                </a:lnTo>
                <a:lnTo>
                  <a:pt x="32911" y="5395"/>
                </a:lnTo>
                <a:lnTo>
                  <a:pt x="39799" y="2698"/>
                </a:lnTo>
                <a:close/>
              </a:path>
            </a:pathLst>
          </a:custGeom>
          <a:solidFill>
            <a:srgbClr val="C084FC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67743" y="4231332"/>
            <a:ext cx="642491" cy="642491"/>
          </a:xfrm>
          <a:prstGeom prst="ellipse">
            <a:avLst/>
          </a:prstGeom>
          <a:solidFill>
            <a:srgbClr val="C084FC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28975" y="2940695"/>
            <a:ext cx="2686050" cy="21580"/>
          </a:xfrm>
          <a:custGeom>
            <a:avLst/>
            <a:gdLst/>
            <a:ahLst/>
            <a:cxnLst/>
            <a:rect l="l" t="t" r="r" b="b"/>
            <a:pathLst>
              <a:path w="2686050" h="21580">
                <a:moveTo>
                  <a:pt x="57150" y="0"/>
                </a:moveTo>
                <a:lnTo>
                  <a:pt x="2628900" y="0"/>
                </a:lnTo>
                <a:lnTo>
                  <a:pt x="2646251" y="2698"/>
                </a:lnTo>
                <a:lnTo>
                  <a:pt x="2653139" y="5395"/>
                </a:lnTo>
                <a:lnTo>
                  <a:pt x="2658217" y="8093"/>
                </a:lnTo>
                <a:lnTo>
                  <a:pt x="2662320" y="10790"/>
                </a:lnTo>
                <a:lnTo>
                  <a:pt x="2665774" y="13488"/>
                </a:lnTo>
                <a:lnTo>
                  <a:pt x="2668750" y="16185"/>
                </a:lnTo>
                <a:lnTo>
                  <a:pt x="2671347" y="18883"/>
                </a:lnTo>
                <a:lnTo>
                  <a:pt x="2673631" y="21580"/>
                </a:lnTo>
                <a:lnTo>
                  <a:pt x="12419" y="21580"/>
                </a:lnTo>
                <a:lnTo>
                  <a:pt x="14703" y="18883"/>
                </a:lnTo>
                <a:lnTo>
                  <a:pt x="17300" y="16185"/>
                </a:lnTo>
                <a:lnTo>
                  <a:pt x="20276" y="13488"/>
                </a:lnTo>
                <a:lnTo>
                  <a:pt x="23730" y="10790"/>
                </a:lnTo>
                <a:lnTo>
                  <a:pt x="27833" y="8093"/>
                </a:lnTo>
                <a:lnTo>
                  <a:pt x="32911" y="5395"/>
                </a:lnTo>
                <a:lnTo>
                  <a:pt x="39799" y="2698"/>
                </a:lnTo>
                <a:close/>
              </a:path>
            </a:pathLst>
          </a:custGeom>
          <a:solidFill>
            <a:srgbClr val="4ADE8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87143" y="4231332"/>
            <a:ext cx="642491" cy="642491"/>
          </a:xfrm>
          <a:prstGeom prst="ellipse">
            <a:avLst/>
          </a:prstGeom>
          <a:solidFill>
            <a:srgbClr val="4ADE80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48375" y="2940695"/>
            <a:ext cx="2686050" cy="21580"/>
          </a:xfrm>
          <a:custGeom>
            <a:avLst/>
            <a:gdLst/>
            <a:ahLst/>
            <a:cxnLst/>
            <a:rect l="l" t="t" r="r" b="b"/>
            <a:pathLst>
              <a:path w="2686050" h="21580">
                <a:moveTo>
                  <a:pt x="57150" y="0"/>
                </a:moveTo>
                <a:lnTo>
                  <a:pt x="2628900" y="0"/>
                </a:lnTo>
                <a:lnTo>
                  <a:pt x="2646251" y="2698"/>
                </a:lnTo>
                <a:lnTo>
                  <a:pt x="2653139" y="5395"/>
                </a:lnTo>
                <a:lnTo>
                  <a:pt x="2658217" y="8093"/>
                </a:lnTo>
                <a:lnTo>
                  <a:pt x="2662320" y="10790"/>
                </a:lnTo>
                <a:lnTo>
                  <a:pt x="2665774" y="13488"/>
                </a:lnTo>
                <a:lnTo>
                  <a:pt x="2668750" y="16185"/>
                </a:lnTo>
                <a:lnTo>
                  <a:pt x="2671347" y="18883"/>
                </a:lnTo>
                <a:lnTo>
                  <a:pt x="2673631" y="21580"/>
                </a:lnTo>
                <a:lnTo>
                  <a:pt x="12419" y="21580"/>
                </a:lnTo>
                <a:lnTo>
                  <a:pt x="14703" y="18883"/>
                </a:lnTo>
                <a:lnTo>
                  <a:pt x="17300" y="16185"/>
                </a:lnTo>
                <a:lnTo>
                  <a:pt x="20276" y="13488"/>
                </a:lnTo>
                <a:lnTo>
                  <a:pt x="23730" y="10790"/>
                </a:lnTo>
                <a:lnTo>
                  <a:pt x="27833" y="8093"/>
                </a:lnTo>
                <a:lnTo>
                  <a:pt x="32911" y="5395"/>
                </a:lnTo>
                <a:lnTo>
                  <a:pt x="39799" y="2698"/>
                </a:lnTo>
                <a:close/>
              </a:path>
            </a:pathLst>
          </a:custGeom>
          <a:solidFill>
            <a:srgbClr val="FB7185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06543" y="4231332"/>
            <a:ext cx="642491" cy="642491"/>
          </a:xfrm>
          <a:prstGeom prst="ellipse">
            <a:avLst/>
          </a:prstGeom>
          <a:solidFill>
            <a:srgbClr val="FB7185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0" y="0"/>
            <a:ext cx="2917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E8A020"/>
              </a:gs>
              <a:gs pos="70000">
                <a:srgbClr val="E8A020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E8A020"/>
              </a:gs>
              <a:gs pos="50000">
                <a:srgbClr val="E8A020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00050" y="285750"/>
            <a:ext cx="278292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7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PROGRAM · 2026</a:t>
            </a:r>
            <a:endParaRPr lang="en-US" sz="620" dirty="0"/>
          </a:p>
        </p:txBody>
      </p:sp>
      <p:sp>
        <p:nvSpPr>
          <p:cNvPr id="19" name="Text 17"/>
          <p:cNvSpPr/>
          <p:nvPr/>
        </p:nvSpPr>
        <p:spPr>
          <a:xfrm>
            <a:off x="400050" y="446931"/>
            <a:ext cx="2707024" cy="29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35"/>
              </a:lnSpc>
              <a:buNone/>
            </a:pPr>
            <a:r>
              <a:rPr lang="en-US" sz="2030" b="1" kern="0" spc="-2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r>
              <a:rPr lang="en-US" sz="2030" kern="0" spc="-2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Program Agenda</a:t>
            </a:r>
            <a:endParaRPr lang="en-US" sz="2030" dirty="0"/>
          </a:p>
        </p:txBody>
      </p:sp>
      <p:sp>
        <p:nvSpPr>
          <p:cNvPr id="20" name="Text 18"/>
          <p:cNvSpPr/>
          <p:nvPr/>
        </p:nvSpPr>
        <p:spPr>
          <a:xfrm>
            <a:off x="7836396" y="285750"/>
            <a:ext cx="925705" cy="168920"/>
          </a:xfrm>
          <a:prstGeom prst="roundRect">
            <a:avLst>
              <a:gd name="adj" fmla="val 12781"/>
            </a:avLst>
          </a:prstGeom>
          <a:solidFill>
            <a:srgbClr val="1A2E42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none" lIns="57150" tIns="21590" rIns="57150" bIns="21590" rtlCol="0" anchor="t"/>
          <a:lstStyle/>
          <a:p>
            <a:pPr marL="0" indent="0" algn="l">
              <a:buNone/>
            </a:pPr>
            <a:r>
              <a:rPr lang="en-US" sz="560" kern="0" spc="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PROFILE V2.2</a:t>
            </a:r>
            <a:endParaRPr lang="en-US" sz="560" dirty="0"/>
          </a:p>
        </p:txBody>
      </p:sp>
      <p:sp>
        <p:nvSpPr>
          <p:cNvPr id="21" name="Text 19"/>
          <p:cNvSpPr/>
          <p:nvPr/>
        </p:nvSpPr>
        <p:spPr>
          <a:xfrm>
            <a:off x="8048030" y="497830"/>
            <a:ext cx="709839" cy="168920"/>
          </a:xfrm>
          <a:prstGeom prst="roundRect">
            <a:avLst>
              <a:gd name="adj" fmla="val 12781"/>
            </a:avLst>
          </a:prstGeom>
          <a:solidFill>
            <a:srgbClr val="1A2E42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none" lIns="57150" tIns="21590" rIns="57150" bIns="21590" rtlCol="0" anchor="t"/>
          <a:lstStyle/>
          <a:p>
            <a:pPr marL="0" indent="0" algn="l">
              <a:buNone/>
            </a:pPr>
            <a:r>
              <a:rPr lang="en-US" sz="560" kern="0" spc="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</a:t>
            </a:r>
            <a:endParaRPr lang="en-US" sz="560" dirty="0"/>
          </a:p>
        </p:txBody>
      </p:sp>
      <p:sp>
        <p:nvSpPr>
          <p:cNvPr id="22" name="Text 20"/>
          <p:cNvSpPr/>
          <p:nvPr/>
        </p:nvSpPr>
        <p:spPr>
          <a:xfrm>
            <a:off x="7472660" y="709910"/>
            <a:ext cx="1296716" cy="168920"/>
          </a:xfrm>
          <a:prstGeom prst="roundRect">
            <a:avLst>
              <a:gd name="adj" fmla="val 12781"/>
            </a:avLst>
          </a:prstGeom>
          <a:solidFill>
            <a:srgbClr val="1A2E42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none" lIns="57150" tIns="21590" rIns="57150" bIns="21590" rtlCol="0" anchor="t"/>
          <a:lstStyle/>
          <a:p>
            <a:pPr marL="0" indent="0" algn="l">
              <a:buNone/>
            </a:pPr>
            <a:r>
              <a:rPr lang="en-US" sz="560" kern="0" spc="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RISK FRAMEWORK</a:t>
            </a:r>
            <a:endParaRPr lang="en-US" sz="560" dirty="0"/>
          </a:p>
        </p:txBody>
      </p:sp>
      <p:sp>
        <p:nvSpPr>
          <p:cNvPr id="23" name="Text 21"/>
          <p:cNvSpPr/>
          <p:nvPr/>
        </p:nvSpPr>
        <p:spPr>
          <a:xfrm>
            <a:off x="400050" y="1079450"/>
            <a:ext cx="2705100" cy="1737420"/>
          </a:xfrm>
          <a:prstGeom prst="roundRect">
            <a:avLst>
              <a:gd name="adj" fmla="val 3289"/>
            </a:avLst>
          </a:prstGeom>
          <a:solidFill>
            <a:srgbClr val="1A2E42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67035" y="1232446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982" y="1334393"/>
            <a:ext cx="139005" cy="139005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24235" y="1232446"/>
            <a:ext cx="210532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110" dirty="0">
                <a:solidFill>
                  <a:srgbClr val="94AFC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01</a:t>
            </a:r>
            <a:endParaRPr lang="en-US" sz="560" dirty="0"/>
          </a:p>
        </p:txBody>
      </p:sp>
      <p:sp>
        <p:nvSpPr>
          <p:cNvPr id="27" name="Text 24"/>
          <p:cNvSpPr/>
          <p:nvPr/>
        </p:nvSpPr>
        <p:spPr>
          <a:xfrm>
            <a:off x="1024235" y="1368326"/>
            <a:ext cx="210532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Monthly Webinar Schedule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1024235" y="1530846"/>
            <a:ext cx="1952208" cy="270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Jan–Dec themed sessions covering the full financial threat landscape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3219450" y="1079450"/>
            <a:ext cx="2705100" cy="1737420"/>
          </a:xfrm>
          <a:prstGeom prst="roundRect">
            <a:avLst>
              <a:gd name="adj" fmla="val 3289"/>
            </a:avLst>
          </a:prstGeom>
          <a:solidFill>
            <a:srgbClr val="1A2E42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3386435" y="1232446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3B82F6">
              <a:alpha val="10000"/>
            </a:srgbClr>
          </a:solidFill>
          <a:ln w="9525">
            <a:solidFill>
              <a:srgbClr val="3B82F6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8382" y="1334393"/>
            <a:ext cx="139005" cy="139005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843635" y="1232446"/>
            <a:ext cx="210532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110" dirty="0">
                <a:solidFill>
                  <a:srgbClr val="94AFC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02</a:t>
            </a:r>
            <a:endParaRPr lang="en-US" sz="560" dirty="0"/>
          </a:p>
        </p:txBody>
      </p:sp>
      <p:sp>
        <p:nvSpPr>
          <p:cNvPr id="33" name="Text 29"/>
          <p:cNvSpPr/>
          <p:nvPr/>
        </p:nvSpPr>
        <p:spPr>
          <a:xfrm>
            <a:off x="3843635" y="1368326"/>
            <a:ext cx="210532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CTI-Informed Threat Examples</a:t>
            </a:r>
            <a:endParaRPr lang="en-US" sz="840" dirty="0"/>
          </a:p>
        </p:txBody>
      </p:sp>
      <p:sp>
        <p:nvSpPr>
          <p:cNvPr id="34" name="Text 30"/>
          <p:cNvSpPr/>
          <p:nvPr/>
        </p:nvSpPr>
        <p:spPr>
          <a:xfrm>
            <a:off x="3843635" y="1530846"/>
            <a:ext cx="1952208" cy="40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intelligence from ZeroFox, IBM X-Force &amp; Verizon DBIR integrated into every session</a:t>
            </a:r>
            <a:endParaRPr lang="en-US" sz="700" dirty="0"/>
          </a:p>
        </p:txBody>
      </p:sp>
      <p:sp>
        <p:nvSpPr>
          <p:cNvPr id="35" name="Text 31"/>
          <p:cNvSpPr/>
          <p:nvPr/>
        </p:nvSpPr>
        <p:spPr>
          <a:xfrm>
            <a:off x="6038850" y="1079450"/>
            <a:ext cx="2705100" cy="1737420"/>
          </a:xfrm>
          <a:prstGeom prst="roundRect">
            <a:avLst>
              <a:gd name="adj" fmla="val 3289"/>
            </a:avLst>
          </a:prstGeom>
          <a:solidFill>
            <a:srgbClr val="1A2E42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6205835" y="1232446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14B8A6">
              <a:alpha val="10000"/>
            </a:srgbClr>
          </a:solidFill>
          <a:ln w="9525">
            <a:solidFill>
              <a:srgbClr val="14B8A6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7782" y="1334393"/>
            <a:ext cx="139005" cy="139005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663035" y="1232446"/>
            <a:ext cx="210532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110" dirty="0">
                <a:solidFill>
                  <a:srgbClr val="94AFC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03</a:t>
            </a:r>
            <a:endParaRPr lang="en-US" sz="560" dirty="0"/>
          </a:p>
        </p:txBody>
      </p:sp>
      <p:sp>
        <p:nvSpPr>
          <p:cNvPr id="39" name="Text 34"/>
          <p:cNvSpPr/>
          <p:nvPr/>
        </p:nvSpPr>
        <p:spPr>
          <a:xfrm>
            <a:off x="6663035" y="1368326"/>
            <a:ext cx="1952208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Guidance by Job Function</a:t>
            </a:r>
            <a:endParaRPr lang="en-US" sz="840" dirty="0"/>
          </a:p>
        </p:txBody>
      </p:sp>
      <p:sp>
        <p:nvSpPr>
          <p:cNvPr id="40" name="Text 35"/>
          <p:cNvSpPr/>
          <p:nvPr/>
        </p:nvSpPr>
        <p:spPr>
          <a:xfrm>
            <a:off x="6663035" y="1664196"/>
            <a:ext cx="1952208" cy="270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content for Executives, Tellers, Operations, IT &amp; privileged users</a:t>
            </a:r>
            <a:endParaRPr lang="en-US" sz="700" dirty="0"/>
          </a:p>
        </p:txBody>
      </p:sp>
      <p:sp>
        <p:nvSpPr>
          <p:cNvPr id="41" name="Text 36"/>
          <p:cNvSpPr/>
          <p:nvPr/>
        </p:nvSpPr>
        <p:spPr>
          <a:xfrm>
            <a:off x="400050" y="2931170"/>
            <a:ext cx="2705100" cy="1737568"/>
          </a:xfrm>
          <a:prstGeom prst="roundRect">
            <a:avLst>
              <a:gd name="adj" fmla="val 3289"/>
            </a:avLst>
          </a:prstGeom>
          <a:solidFill>
            <a:srgbClr val="1A2E42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7"/>
          <p:cNvSpPr/>
          <p:nvPr/>
        </p:nvSpPr>
        <p:spPr>
          <a:xfrm>
            <a:off x="567035" y="3084165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A855F7">
              <a:alpha val="10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8982" y="3186113"/>
            <a:ext cx="139005" cy="139005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1024235" y="3084165"/>
            <a:ext cx="210532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110" dirty="0">
                <a:solidFill>
                  <a:srgbClr val="94AFC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04</a:t>
            </a:r>
            <a:endParaRPr lang="en-US" sz="560" dirty="0"/>
          </a:p>
        </p:txBody>
      </p:sp>
      <p:sp>
        <p:nvSpPr>
          <p:cNvPr id="45" name="Text 39"/>
          <p:cNvSpPr/>
          <p:nvPr/>
        </p:nvSpPr>
        <p:spPr>
          <a:xfrm>
            <a:off x="1024235" y="3220045"/>
            <a:ext cx="1952208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/ NIST CSF 2.0 Framework Alignment</a:t>
            </a:r>
            <a:endParaRPr lang="en-US" sz="840" dirty="0"/>
          </a:p>
        </p:txBody>
      </p:sp>
      <p:sp>
        <p:nvSpPr>
          <p:cNvPr id="46" name="Text 40"/>
          <p:cNvSpPr/>
          <p:nvPr/>
        </p:nvSpPr>
        <p:spPr>
          <a:xfrm>
            <a:off x="1024235" y="3515916"/>
            <a:ext cx="1952208" cy="40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webinar mapped to CRI Diagnostic Statements &amp; NIST CSF 2.0 Outcomes — GOVERN to RECOVER</a:t>
            </a:r>
            <a:endParaRPr lang="en-US" sz="700" dirty="0"/>
          </a:p>
        </p:txBody>
      </p:sp>
      <p:sp>
        <p:nvSpPr>
          <p:cNvPr id="47" name="Text 41"/>
          <p:cNvSpPr/>
          <p:nvPr/>
        </p:nvSpPr>
        <p:spPr>
          <a:xfrm>
            <a:off x="3219450" y="2931170"/>
            <a:ext cx="2705100" cy="1737568"/>
          </a:xfrm>
          <a:prstGeom prst="roundRect">
            <a:avLst>
              <a:gd name="adj" fmla="val 3289"/>
            </a:avLst>
          </a:prstGeom>
          <a:solidFill>
            <a:srgbClr val="1A2E42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2"/>
          <p:cNvSpPr/>
          <p:nvPr/>
        </p:nvSpPr>
        <p:spPr>
          <a:xfrm>
            <a:off x="3386435" y="3084165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22C55E">
              <a:alpha val="10000"/>
            </a:srgbClr>
          </a:solidFill>
          <a:ln w="9525">
            <a:solidFill>
              <a:srgbClr val="22C55E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8382" y="3186113"/>
            <a:ext cx="139005" cy="139005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3843635" y="3084165"/>
            <a:ext cx="210532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110" dirty="0">
                <a:solidFill>
                  <a:srgbClr val="94AFC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05</a:t>
            </a:r>
            <a:endParaRPr lang="en-US" sz="560" dirty="0"/>
          </a:p>
        </p:txBody>
      </p:sp>
      <p:sp>
        <p:nvSpPr>
          <p:cNvPr id="51" name="Text 44"/>
          <p:cNvSpPr/>
          <p:nvPr/>
        </p:nvSpPr>
        <p:spPr>
          <a:xfrm>
            <a:off x="3843635" y="3220045"/>
            <a:ext cx="210532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Risk Behavioral Model</a:t>
            </a:r>
            <a:endParaRPr lang="en-US" sz="840" dirty="0"/>
          </a:p>
        </p:txBody>
      </p:sp>
      <p:sp>
        <p:nvSpPr>
          <p:cNvPr id="52" name="Text 45"/>
          <p:cNvSpPr/>
          <p:nvPr/>
        </p:nvSpPr>
        <p:spPr>
          <a:xfrm>
            <a:off x="3843635" y="3382566"/>
            <a:ext cx="1952208" cy="270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→ Educate → Reinforce → Measure → Improve cycle aligned to CRI PR.AT outcomes</a:t>
            </a:r>
            <a:endParaRPr lang="en-US" sz="700" dirty="0"/>
          </a:p>
        </p:txBody>
      </p:sp>
      <p:sp>
        <p:nvSpPr>
          <p:cNvPr id="53" name="Text 46"/>
          <p:cNvSpPr/>
          <p:nvPr/>
        </p:nvSpPr>
        <p:spPr>
          <a:xfrm>
            <a:off x="6038850" y="2931170"/>
            <a:ext cx="2705100" cy="1737568"/>
          </a:xfrm>
          <a:prstGeom prst="roundRect">
            <a:avLst>
              <a:gd name="adj" fmla="val 3289"/>
            </a:avLst>
          </a:prstGeom>
          <a:solidFill>
            <a:srgbClr val="1A2E42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7"/>
          <p:cNvSpPr/>
          <p:nvPr/>
        </p:nvSpPr>
        <p:spPr>
          <a:xfrm>
            <a:off x="6205835" y="3084165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7782" y="3186113"/>
            <a:ext cx="139005" cy="139005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6663035" y="3084165"/>
            <a:ext cx="210532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110" dirty="0">
                <a:solidFill>
                  <a:srgbClr val="94AFC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06</a:t>
            </a:r>
            <a:endParaRPr lang="en-US" sz="560" dirty="0"/>
          </a:p>
        </p:txBody>
      </p:sp>
      <p:sp>
        <p:nvSpPr>
          <p:cNvPr id="57" name="Text 49"/>
          <p:cNvSpPr/>
          <p:nvPr/>
        </p:nvSpPr>
        <p:spPr>
          <a:xfrm>
            <a:off x="6663035" y="3220045"/>
            <a:ext cx="210532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4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Measurement Framework</a:t>
            </a:r>
            <a:endParaRPr lang="en-US" sz="840" dirty="0"/>
          </a:p>
        </p:txBody>
      </p:sp>
      <p:sp>
        <p:nvSpPr>
          <p:cNvPr id="58" name="Text 50"/>
          <p:cNvSpPr/>
          <p:nvPr/>
        </p:nvSpPr>
        <p:spPr>
          <a:xfrm>
            <a:off x="6663035" y="3382566"/>
            <a:ext cx="1952208" cy="40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rates, report rates, completion scores &amp; risk trending — reported to CISO &amp; Board quarterly</a:t>
            </a:r>
            <a:endParaRPr lang="en-US" sz="700" dirty="0"/>
          </a:p>
        </p:txBody>
      </p:sp>
      <p:sp>
        <p:nvSpPr>
          <p:cNvPr id="59" name="Text 51"/>
          <p:cNvSpPr/>
          <p:nvPr/>
        </p:nvSpPr>
        <p:spPr>
          <a:xfrm>
            <a:off x="400050" y="4796879"/>
            <a:ext cx="316142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Institutions · Security Awareness Program · 2026 Webinar Series</a:t>
            </a:r>
            <a:endParaRPr lang="en-US" sz="620" dirty="0"/>
          </a:p>
        </p:txBody>
      </p:sp>
      <p:sp>
        <p:nvSpPr>
          <p:cNvPr id="60" name="Text 52"/>
          <p:cNvSpPr/>
          <p:nvPr/>
        </p:nvSpPr>
        <p:spPr>
          <a:xfrm>
            <a:off x="8184207" y="4834235"/>
            <a:ext cx="43160" cy="43160"/>
          </a:xfrm>
          <a:prstGeom prst="ellipse">
            <a:avLst/>
          </a:prstGeom>
          <a:solidFill>
            <a:srgbClr val="94AFC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3"/>
          <p:cNvSpPr/>
          <p:nvPr/>
        </p:nvSpPr>
        <p:spPr>
          <a:xfrm>
            <a:off x="8270528" y="4834235"/>
            <a:ext cx="128141" cy="43160"/>
          </a:xfrm>
          <a:prstGeom prst="roundRect">
            <a:avLst>
              <a:gd name="adj" fmla="val 50023"/>
            </a:avLst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4"/>
          <p:cNvSpPr/>
          <p:nvPr/>
        </p:nvSpPr>
        <p:spPr>
          <a:xfrm>
            <a:off x="8441829" y="4834235"/>
            <a:ext cx="43160" cy="43160"/>
          </a:xfrm>
          <a:prstGeom prst="ellipse">
            <a:avLst/>
          </a:prstGeom>
          <a:solidFill>
            <a:srgbClr val="94AFC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5"/>
          <p:cNvSpPr/>
          <p:nvPr/>
        </p:nvSpPr>
        <p:spPr>
          <a:xfrm>
            <a:off x="8528149" y="4834235"/>
            <a:ext cx="43160" cy="43160"/>
          </a:xfrm>
          <a:prstGeom prst="ellipse">
            <a:avLst/>
          </a:prstGeom>
          <a:solidFill>
            <a:srgbClr val="94AFC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6"/>
          <p:cNvSpPr/>
          <p:nvPr/>
        </p:nvSpPr>
        <p:spPr>
          <a:xfrm>
            <a:off x="8614470" y="4834235"/>
            <a:ext cx="43160" cy="43160"/>
          </a:xfrm>
          <a:prstGeom prst="ellipse">
            <a:avLst/>
          </a:prstGeom>
          <a:solidFill>
            <a:srgbClr val="94AFC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7"/>
          <p:cNvSpPr/>
          <p:nvPr/>
        </p:nvSpPr>
        <p:spPr>
          <a:xfrm>
            <a:off x="8700790" y="4834235"/>
            <a:ext cx="43160" cy="43160"/>
          </a:xfrm>
          <a:prstGeom prst="ellipse">
            <a:avLst/>
          </a:prstGeom>
          <a:solidFill>
            <a:srgbClr val="94AFC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286000" cy="2286000"/>
          </a:xfrm>
          <a:prstGeom prst="rect">
            <a:avLst/>
          </a:prstGeom>
          <a:gradFill rotWithShape="1">
            <a:gsLst>
              <a:gs pos="0">
                <a:srgbClr val="E8A020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3357860"/>
            <a:ext cx="2071390" cy="1785640"/>
          </a:xfrm>
          <a:prstGeom prst="rect">
            <a:avLst/>
          </a:prstGeom>
          <a:gradFill rotWithShape="1">
            <a:gsLst>
              <a:gs pos="0">
                <a:srgbClr val="0E508C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725" y="1074093"/>
            <a:ext cx="1942205" cy="21580"/>
          </a:xfrm>
          <a:custGeom>
            <a:avLst/>
            <a:gdLst/>
            <a:ahLst/>
            <a:cxnLst/>
            <a:rect l="l" t="t" r="r" b="b"/>
            <a:pathLst>
              <a:path w="1942205" h="21580">
                <a:moveTo>
                  <a:pt x="71120" y="0"/>
                </a:moveTo>
                <a:lnTo>
                  <a:pt x="1871085" y="0"/>
                </a:lnTo>
                <a:lnTo>
                  <a:pt x="1890486" y="2698"/>
                </a:lnTo>
                <a:lnTo>
                  <a:pt x="1898256" y="5395"/>
                </a:lnTo>
                <a:lnTo>
                  <a:pt x="1904033" y="8093"/>
                </a:lnTo>
                <a:lnTo>
                  <a:pt x="1908746" y="10790"/>
                </a:lnTo>
                <a:lnTo>
                  <a:pt x="1912757" y="13488"/>
                </a:lnTo>
                <a:lnTo>
                  <a:pt x="1916253" y="16185"/>
                </a:lnTo>
                <a:lnTo>
                  <a:pt x="1919347" y="18883"/>
                </a:lnTo>
                <a:lnTo>
                  <a:pt x="1922113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gradFill rotWithShape="1">
            <a:gsLst>
              <a:gs pos="0">
                <a:srgbClr val="E8A020"/>
              </a:gs>
              <a:gs pos="100000">
                <a:srgbClr val="E8A020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6725" y="1074093"/>
            <a:ext cx="1942205" cy="2041474"/>
          </a:xfrm>
          <a:prstGeom prst="roundRect">
            <a:avLst>
              <a:gd name="adj" fmla="val 3662"/>
            </a:avLst>
          </a:prstGeom>
          <a:gradFill rotWithShape="1">
            <a:gsLst>
              <a:gs pos="0">
                <a:srgbClr val="E8A020">
                  <a:alpha val="6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56123" y="1074093"/>
            <a:ext cx="1942205" cy="21580"/>
          </a:xfrm>
          <a:custGeom>
            <a:avLst/>
            <a:gdLst/>
            <a:ahLst/>
            <a:cxnLst/>
            <a:rect l="l" t="t" r="r" b="b"/>
            <a:pathLst>
              <a:path w="1942205" h="21580">
                <a:moveTo>
                  <a:pt x="71120" y="0"/>
                </a:moveTo>
                <a:lnTo>
                  <a:pt x="1871085" y="0"/>
                </a:lnTo>
                <a:lnTo>
                  <a:pt x="1890486" y="2698"/>
                </a:lnTo>
                <a:lnTo>
                  <a:pt x="1898256" y="5395"/>
                </a:lnTo>
                <a:lnTo>
                  <a:pt x="1904033" y="8093"/>
                </a:lnTo>
                <a:lnTo>
                  <a:pt x="1908746" y="10790"/>
                </a:lnTo>
                <a:lnTo>
                  <a:pt x="1912757" y="13488"/>
                </a:lnTo>
                <a:lnTo>
                  <a:pt x="1916253" y="16185"/>
                </a:lnTo>
                <a:lnTo>
                  <a:pt x="1919347" y="18883"/>
                </a:lnTo>
                <a:lnTo>
                  <a:pt x="1922113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gradFill rotWithShape="1">
            <a:gsLst>
              <a:gs pos="0">
                <a:srgbClr val="E8A020"/>
              </a:gs>
              <a:gs pos="100000">
                <a:srgbClr val="E8A020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56123" y="1074093"/>
            <a:ext cx="1942205" cy="2041474"/>
          </a:xfrm>
          <a:prstGeom prst="roundRect">
            <a:avLst>
              <a:gd name="adj" fmla="val 3662"/>
            </a:avLst>
          </a:prstGeom>
          <a:gradFill rotWithShape="1">
            <a:gsLst>
              <a:gs pos="0">
                <a:srgbClr val="E8A020">
                  <a:alpha val="6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45521" y="1074093"/>
            <a:ext cx="1942205" cy="21580"/>
          </a:xfrm>
          <a:custGeom>
            <a:avLst/>
            <a:gdLst/>
            <a:ahLst/>
            <a:cxnLst/>
            <a:rect l="l" t="t" r="r" b="b"/>
            <a:pathLst>
              <a:path w="1942205" h="21580">
                <a:moveTo>
                  <a:pt x="71120" y="0"/>
                </a:moveTo>
                <a:lnTo>
                  <a:pt x="1871085" y="0"/>
                </a:lnTo>
                <a:lnTo>
                  <a:pt x="1890486" y="2698"/>
                </a:lnTo>
                <a:lnTo>
                  <a:pt x="1898256" y="5395"/>
                </a:lnTo>
                <a:lnTo>
                  <a:pt x="1904033" y="8093"/>
                </a:lnTo>
                <a:lnTo>
                  <a:pt x="1908746" y="10790"/>
                </a:lnTo>
                <a:lnTo>
                  <a:pt x="1912757" y="13488"/>
                </a:lnTo>
                <a:lnTo>
                  <a:pt x="1916253" y="16185"/>
                </a:lnTo>
                <a:lnTo>
                  <a:pt x="1919347" y="18883"/>
                </a:lnTo>
                <a:lnTo>
                  <a:pt x="1922113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gradFill rotWithShape="1">
            <a:gsLst>
              <a:gs pos="0">
                <a:srgbClr val="E8A020"/>
              </a:gs>
              <a:gs pos="100000">
                <a:srgbClr val="E8A020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45521" y="1074093"/>
            <a:ext cx="1942205" cy="2041474"/>
          </a:xfrm>
          <a:prstGeom prst="roundRect">
            <a:avLst>
              <a:gd name="adj" fmla="val 3662"/>
            </a:avLst>
          </a:prstGeom>
          <a:gradFill rotWithShape="1">
            <a:gsLst>
              <a:gs pos="0">
                <a:srgbClr val="E8A020">
                  <a:alpha val="6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34919" y="1074093"/>
            <a:ext cx="1942357" cy="21580"/>
          </a:xfrm>
          <a:custGeom>
            <a:avLst/>
            <a:gdLst/>
            <a:ahLst/>
            <a:cxnLst/>
            <a:rect l="l" t="t" r="r" b="b"/>
            <a:pathLst>
              <a:path w="1942357" h="21580">
                <a:moveTo>
                  <a:pt x="71120" y="0"/>
                </a:moveTo>
                <a:lnTo>
                  <a:pt x="1871237" y="0"/>
                </a:lnTo>
                <a:lnTo>
                  <a:pt x="1890638" y="2698"/>
                </a:lnTo>
                <a:lnTo>
                  <a:pt x="1898408" y="5395"/>
                </a:lnTo>
                <a:lnTo>
                  <a:pt x="1904185" y="8093"/>
                </a:lnTo>
                <a:lnTo>
                  <a:pt x="1908898" y="10790"/>
                </a:lnTo>
                <a:lnTo>
                  <a:pt x="1912909" y="13488"/>
                </a:lnTo>
                <a:lnTo>
                  <a:pt x="1916406" y="16185"/>
                </a:lnTo>
                <a:lnTo>
                  <a:pt x="1919500" y="18883"/>
                </a:lnTo>
                <a:lnTo>
                  <a:pt x="1922265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gradFill rotWithShape="1">
            <a:gsLst>
              <a:gs pos="0">
                <a:srgbClr val="E8A020"/>
              </a:gs>
              <a:gs pos="100000">
                <a:srgbClr val="E8A020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34919" y="1074093"/>
            <a:ext cx="1942357" cy="2041474"/>
          </a:xfrm>
          <a:prstGeom prst="roundRect">
            <a:avLst>
              <a:gd name="adj" fmla="val 3662"/>
            </a:avLst>
          </a:prstGeom>
          <a:gradFill rotWithShape="1">
            <a:gsLst>
              <a:gs pos="0">
                <a:srgbClr val="E8A020">
                  <a:alpha val="6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8175" y="1660773"/>
            <a:ext cx="1679272" cy="443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90"/>
              </a:lnSpc>
              <a:buNone/>
            </a:pPr>
            <a:r>
              <a:rPr lang="en-US" sz="3490" b="1" kern="0" spc="-7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3490" dirty="0"/>
          </a:p>
        </p:txBody>
      </p:sp>
      <p:sp>
        <p:nvSpPr>
          <p:cNvPr id="15" name="Text 13"/>
          <p:cNvSpPr/>
          <p:nvPr/>
        </p:nvSpPr>
        <p:spPr>
          <a:xfrm>
            <a:off x="638175" y="2275136"/>
            <a:ext cx="1631293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financial sector breaches involve human error or misuse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2727573" y="1660773"/>
            <a:ext cx="1679272" cy="443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90"/>
              </a:lnSpc>
              <a:buNone/>
            </a:pPr>
            <a:r>
              <a:rPr lang="en-US" sz="3490" b="1" kern="0" spc="-7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148%</a:t>
            </a:r>
            <a:endParaRPr lang="en-US" sz="3490" dirty="0"/>
          </a:p>
        </p:txBody>
      </p:sp>
      <p:sp>
        <p:nvSpPr>
          <p:cNvPr id="17" name="Text 15"/>
          <p:cNvSpPr/>
          <p:nvPr/>
        </p:nvSpPr>
        <p:spPr>
          <a:xfrm>
            <a:off x="2727573" y="2275136"/>
            <a:ext cx="1631293" cy="503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in AI-generated impersonation scams targeting banks in 2026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4816971" y="1660773"/>
            <a:ext cx="167927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kern="0" spc="-54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$4.88M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4816971" y="2174825"/>
            <a:ext cx="1631293" cy="503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 data breach in financial services — the highest of any sector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6906369" y="1660773"/>
            <a:ext cx="167942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kern="0" spc="-54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sec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6906369" y="2174825"/>
            <a:ext cx="1631445" cy="503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for a phishing victim to click a malicious link after delivery</a:t>
            </a:r>
            <a:endParaRPr lang="en-US" sz="84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>
            <a:alphaModFix amt="6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547295"/>
            <a:ext cx="481905" cy="48190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57200" y="257770"/>
            <a:ext cx="2823112" cy="206871"/>
          </a:xfrm>
          <a:prstGeom prst="roundRect">
            <a:avLst>
              <a:gd name="adj" fmla="val 14120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0000"/>
              </a:srgbClr>
            </a:solidFill>
          </a:ln>
        </p:spPr>
        <p:txBody>
          <a:bodyPr wrap="none" lIns="208250" tIns="29210" rIns="86360" bIns="29210" rtlCol="0" anchor="ctr"/>
          <a:lstStyle/>
          <a:p>
            <a:pPr marL="0" indent="0" algn="l">
              <a:buNone/>
            </a:pPr>
            <a:r>
              <a:rPr lang="en-US" sz="680" b="1" kern="0" spc="82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LANDSCAPE · FINANCIAL SECTOR 2026</a:t>
            </a:r>
            <a:endParaRPr lang="en-US" sz="68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121" y="294837"/>
            <a:ext cx="132588" cy="13258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57200" y="535632"/>
            <a:ext cx="8805672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910" kern="0" spc="-19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Human Risk Is the </a:t>
            </a:r>
            <a:r>
              <a:rPr lang="en-US" sz="1910" b="1" kern="0" spc="-19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r>
              <a:rPr lang="en-US" sz="1910" kern="0" spc="-19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Financial Sector Threat</a:t>
            </a:r>
            <a:endParaRPr lang="en-US" sz="1910" dirty="0"/>
          </a:p>
        </p:txBody>
      </p:sp>
      <p:sp>
        <p:nvSpPr>
          <p:cNvPr id="26" name="Text 22"/>
          <p:cNvSpPr/>
          <p:nvPr/>
        </p:nvSpPr>
        <p:spPr>
          <a:xfrm>
            <a:off x="457200" y="885527"/>
            <a:ext cx="4000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E8A020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457200" y="1064568"/>
            <a:ext cx="1961257" cy="2060525"/>
          </a:xfrm>
          <a:prstGeom prst="roundRect">
            <a:avLst>
              <a:gd name="adj" fmla="val 3626"/>
            </a:avLst>
          </a:prstGeom>
          <a:solidFill>
            <a:srgbClr val="1A2E4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38175" y="1274713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4682" y="1351219"/>
            <a:ext cx="132588" cy="13258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519982" y="1342579"/>
            <a:ext cx="731850" cy="149870"/>
          </a:xfrm>
          <a:prstGeom prst="roundRect">
            <a:avLst>
              <a:gd name="adj" fmla="val 1440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none" lIns="49530" tIns="21590" rIns="49530" bIns="21590" rtlCol="0" anchor="t"/>
          <a:lstStyle/>
          <a:p>
            <a:pPr marL="0" indent="0" algn="l">
              <a:buNone/>
            </a:pPr>
            <a:r>
              <a:rPr lang="en-US" sz="560" b="1" kern="0" spc="56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</a:t>
            </a:r>
            <a:endParaRPr lang="en-US" sz="560" dirty="0"/>
          </a:p>
        </p:txBody>
      </p:sp>
      <p:sp>
        <p:nvSpPr>
          <p:cNvPr id="31" name="Text 26"/>
          <p:cNvSpPr/>
          <p:nvPr/>
        </p:nvSpPr>
        <p:spPr>
          <a:xfrm>
            <a:off x="638175" y="2174974"/>
            <a:ext cx="228600" cy="13841"/>
          </a:xfrm>
          <a:prstGeom prst="roundRect">
            <a:avLst>
              <a:gd name="adj" fmla="val 100932"/>
            </a:avLst>
          </a:prstGeom>
          <a:solidFill>
            <a:srgbClr val="E8A020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638175" y="2826097"/>
            <a:ext cx="175923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i="1" kern="0" spc="12" dirty="0">
                <a:solidFill>
                  <a:srgbClr val="94AFC8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Verizon DBIR 2025</a:t>
            </a:r>
            <a:endParaRPr lang="en-US" sz="620" dirty="0"/>
          </a:p>
        </p:txBody>
      </p:sp>
      <p:sp>
        <p:nvSpPr>
          <p:cNvPr id="33" name="Text 28"/>
          <p:cNvSpPr/>
          <p:nvPr/>
        </p:nvSpPr>
        <p:spPr>
          <a:xfrm>
            <a:off x="2546598" y="1064568"/>
            <a:ext cx="1961257" cy="2060525"/>
          </a:xfrm>
          <a:prstGeom prst="roundRect">
            <a:avLst>
              <a:gd name="adj" fmla="val 3626"/>
            </a:avLst>
          </a:prstGeom>
          <a:solidFill>
            <a:srgbClr val="1A2E4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2727573" y="1274713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04080" y="1351219"/>
            <a:ext cx="132588" cy="13258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3823990" y="1342579"/>
            <a:ext cx="512948" cy="149870"/>
          </a:xfrm>
          <a:prstGeom prst="roundRect">
            <a:avLst>
              <a:gd name="adj" fmla="val 1440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none" lIns="49530" tIns="21590" rIns="49530" bIns="21590" rtlCol="0" anchor="t"/>
          <a:lstStyle/>
          <a:p>
            <a:pPr marL="0" indent="0" algn="l">
              <a:buNone/>
            </a:pPr>
            <a:r>
              <a:rPr lang="en-US" sz="560" b="1" kern="0" spc="56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SCAMS</a:t>
            </a:r>
            <a:endParaRPr lang="en-US" sz="560" dirty="0"/>
          </a:p>
        </p:txBody>
      </p:sp>
      <p:sp>
        <p:nvSpPr>
          <p:cNvPr id="37" name="Text 31"/>
          <p:cNvSpPr/>
          <p:nvPr/>
        </p:nvSpPr>
        <p:spPr>
          <a:xfrm>
            <a:off x="2727573" y="2174974"/>
            <a:ext cx="228600" cy="13841"/>
          </a:xfrm>
          <a:prstGeom prst="roundRect">
            <a:avLst>
              <a:gd name="adj" fmla="val 100932"/>
            </a:avLst>
          </a:prstGeom>
          <a:solidFill>
            <a:srgbClr val="E8A020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2727573" y="2826097"/>
            <a:ext cx="175923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i="1" kern="0" spc="12" dirty="0">
                <a:solidFill>
                  <a:srgbClr val="94AFC8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ZeroFox · Google Cloud Forecast 2026</a:t>
            </a:r>
            <a:endParaRPr lang="en-US" sz="620" dirty="0"/>
          </a:p>
        </p:txBody>
      </p:sp>
      <p:sp>
        <p:nvSpPr>
          <p:cNvPr id="39" name="Text 33"/>
          <p:cNvSpPr/>
          <p:nvPr/>
        </p:nvSpPr>
        <p:spPr>
          <a:xfrm>
            <a:off x="4635996" y="1064568"/>
            <a:ext cx="1961257" cy="2060525"/>
          </a:xfrm>
          <a:prstGeom prst="roundRect">
            <a:avLst>
              <a:gd name="adj" fmla="val 3626"/>
            </a:avLst>
          </a:prstGeom>
          <a:solidFill>
            <a:srgbClr val="1A2E4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4816971" y="1274713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93478" y="1351219"/>
            <a:ext cx="132588" cy="13258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718572" y="1342579"/>
            <a:ext cx="711660" cy="149870"/>
          </a:xfrm>
          <a:prstGeom prst="roundRect">
            <a:avLst>
              <a:gd name="adj" fmla="val 1440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none" lIns="49530" tIns="21590" rIns="49530" bIns="21590" rtlCol="0" anchor="t"/>
          <a:lstStyle/>
          <a:p>
            <a:pPr marL="0" indent="0" algn="l">
              <a:buNone/>
            </a:pPr>
            <a:r>
              <a:rPr lang="en-US" sz="560" b="1" kern="0" spc="56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COST</a:t>
            </a:r>
            <a:endParaRPr lang="en-US" sz="560" dirty="0"/>
          </a:p>
        </p:txBody>
      </p:sp>
      <p:sp>
        <p:nvSpPr>
          <p:cNvPr id="43" name="Text 36"/>
          <p:cNvSpPr/>
          <p:nvPr/>
        </p:nvSpPr>
        <p:spPr>
          <a:xfrm>
            <a:off x="4816971" y="2074664"/>
            <a:ext cx="228600" cy="13841"/>
          </a:xfrm>
          <a:prstGeom prst="roundRect">
            <a:avLst>
              <a:gd name="adj" fmla="val 100932"/>
            </a:avLst>
          </a:prstGeom>
          <a:solidFill>
            <a:srgbClr val="E8A020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7"/>
          <p:cNvSpPr/>
          <p:nvPr/>
        </p:nvSpPr>
        <p:spPr>
          <a:xfrm>
            <a:off x="4816971" y="2826097"/>
            <a:ext cx="175923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i="1" kern="0" spc="12" dirty="0">
                <a:solidFill>
                  <a:srgbClr val="94AFC8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Cost of a Data Breach Report 2025</a:t>
            </a:r>
            <a:endParaRPr lang="en-US" sz="620" dirty="0"/>
          </a:p>
        </p:txBody>
      </p:sp>
      <p:sp>
        <p:nvSpPr>
          <p:cNvPr id="45" name="Text 38"/>
          <p:cNvSpPr/>
          <p:nvPr/>
        </p:nvSpPr>
        <p:spPr>
          <a:xfrm>
            <a:off x="6725394" y="1064568"/>
            <a:ext cx="1961406" cy="2060525"/>
          </a:xfrm>
          <a:prstGeom prst="roundRect">
            <a:avLst>
              <a:gd name="adj" fmla="val 3626"/>
            </a:avLst>
          </a:prstGeom>
          <a:solidFill>
            <a:srgbClr val="1A2E4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9"/>
          <p:cNvSpPr/>
          <p:nvPr/>
        </p:nvSpPr>
        <p:spPr>
          <a:xfrm>
            <a:off x="6906369" y="1274713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2876" y="1351219"/>
            <a:ext cx="132588" cy="132588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8006804" y="1342579"/>
            <a:ext cx="509001" cy="149870"/>
          </a:xfrm>
          <a:prstGeom prst="roundRect">
            <a:avLst>
              <a:gd name="adj" fmla="val 1440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none" lIns="49530" tIns="21590" rIns="49530" bIns="21590" rtlCol="0" anchor="t"/>
          <a:lstStyle/>
          <a:p>
            <a:pPr marL="0" indent="0" algn="l">
              <a:buNone/>
            </a:pPr>
            <a:r>
              <a:rPr lang="en-US" sz="560" b="1" kern="0" spc="56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560" dirty="0"/>
          </a:p>
        </p:txBody>
      </p:sp>
      <p:sp>
        <p:nvSpPr>
          <p:cNvPr id="49" name="Text 41"/>
          <p:cNvSpPr/>
          <p:nvPr/>
        </p:nvSpPr>
        <p:spPr>
          <a:xfrm>
            <a:off x="6906369" y="2074664"/>
            <a:ext cx="228600" cy="13841"/>
          </a:xfrm>
          <a:prstGeom prst="roundRect">
            <a:avLst>
              <a:gd name="adj" fmla="val 100932"/>
            </a:avLst>
          </a:prstGeom>
          <a:solidFill>
            <a:srgbClr val="E8A020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2"/>
          <p:cNvSpPr/>
          <p:nvPr/>
        </p:nvSpPr>
        <p:spPr>
          <a:xfrm>
            <a:off x="6906369" y="2826097"/>
            <a:ext cx="175940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i="1" kern="0" spc="12" dirty="0">
                <a:solidFill>
                  <a:srgbClr val="94AFC8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Proofpoint State of the Phish 2025</a:t>
            </a:r>
            <a:endParaRPr lang="en-US" sz="620" dirty="0"/>
          </a:p>
        </p:txBody>
      </p:sp>
      <p:sp>
        <p:nvSpPr>
          <p:cNvPr id="51" name="Text 43"/>
          <p:cNvSpPr/>
          <p:nvPr/>
        </p:nvSpPr>
        <p:spPr>
          <a:xfrm>
            <a:off x="457200" y="3253234"/>
            <a:ext cx="8229600" cy="402431"/>
          </a:xfrm>
          <a:prstGeom prst="rect">
            <a:avLst/>
          </a:prstGeom>
          <a:gradFill rotWithShape="1">
            <a:gsLst>
              <a:gs pos="0">
                <a:srgbClr val="E8A020">
                  <a:alpha val="14000"/>
                </a:srgbClr>
              </a:gs>
              <a:gs pos="100000">
                <a:srgbClr val="E8A020">
                  <a:alpha val="4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4"/>
          <p:cNvSpPr/>
          <p:nvPr/>
        </p:nvSpPr>
        <p:spPr>
          <a:xfrm>
            <a:off x="457200" y="3253234"/>
            <a:ext cx="28575" cy="402431"/>
          </a:xfrm>
          <a:prstGeom prst="rect">
            <a:avLst/>
          </a:pr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9112" y="3388081"/>
            <a:ext cx="132588" cy="132588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918716" y="3363069"/>
            <a:ext cx="7426419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kern="0" spc="1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</a:t>
            </a:r>
            <a:r>
              <a:rPr lang="en-US" sz="960" b="1" kern="0" spc="1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your last line of defense — your people are both the greatest risk and the strongest control.</a:t>
            </a:r>
            <a:endParaRPr lang="en-US" sz="960" dirty="0"/>
          </a:p>
        </p:txBody>
      </p:sp>
      <p:sp>
        <p:nvSpPr>
          <p:cNvPr id="55" name="Text 46"/>
          <p:cNvSpPr/>
          <p:nvPr/>
        </p:nvSpPr>
        <p:spPr>
          <a:xfrm>
            <a:off x="5818287" y="4801939"/>
            <a:ext cx="872118" cy="184100"/>
          </a:xfrm>
          <a:prstGeom prst="roundRect">
            <a:avLst>
              <a:gd name="adj" fmla="val 1586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64770" tIns="29210" rIns="64770" bIns="29210" rtlCol="0" anchor="t"/>
          <a:lstStyle/>
          <a:p>
            <a:pPr marL="0" indent="0" algn="l">
              <a:buNone/>
            </a:pPr>
            <a:r>
              <a:rPr lang="en-US" sz="560" b="1" kern="0" spc="45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PROFILE V2.2</a:t>
            </a:r>
            <a:endParaRPr lang="en-US" sz="560" dirty="0"/>
          </a:p>
        </p:txBody>
      </p:sp>
      <p:sp>
        <p:nvSpPr>
          <p:cNvPr id="56" name="Text 47"/>
          <p:cNvSpPr/>
          <p:nvPr/>
        </p:nvSpPr>
        <p:spPr>
          <a:xfrm>
            <a:off x="6744295" y="4801939"/>
            <a:ext cx="671888" cy="184100"/>
          </a:xfrm>
          <a:prstGeom prst="roundRect">
            <a:avLst>
              <a:gd name="adj" fmla="val 1586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64770" tIns="29210" rIns="64770" bIns="29210" rtlCol="0" anchor="t"/>
          <a:lstStyle/>
          <a:p>
            <a:pPr marL="0" indent="0" algn="l">
              <a:buNone/>
            </a:pPr>
            <a:r>
              <a:rPr lang="en-US" sz="560" b="1" kern="0" spc="45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</a:t>
            </a:r>
            <a:endParaRPr lang="en-US" sz="560" dirty="0"/>
          </a:p>
        </p:txBody>
      </p:sp>
      <p:sp>
        <p:nvSpPr>
          <p:cNvPr id="57" name="Text 48"/>
          <p:cNvSpPr/>
          <p:nvPr/>
        </p:nvSpPr>
        <p:spPr>
          <a:xfrm>
            <a:off x="7474000" y="4801939"/>
            <a:ext cx="1237056" cy="184100"/>
          </a:xfrm>
          <a:prstGeom prst="roundRect">
            <a:avLst>
              <a:gd name="adj" fmla="val 1586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64770" tIns="29210" rIns="64770" bIns="29210" rtlCol="0" anchor="t"/>
          <a:lstStyle/>
          <a:p>
            <a:pPr marL="0" indent="0" algn="l">
              <a:buNone/>
            </a:pPr>
            <a:r>
              <a:rPr lang="en-US" sz="560" b="1" kern="0" spc="45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RISK FRAMEWORK</a:t>
            </a:r>
            <a:endParaRPr lang="en-US" sz="5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7B5EA7"/>
              </a:gs>
              <a:gs pos="20000">
                <a:srgbClr val="3A7DC9"/>
              </a:gs>
              <a:gs pos="40000">
                <a:srgbClr val="3A9E6F"/>
              </a:gs>
              <a:gs pos="60000">
                <a:srgbClr val="D4A017"/>
              </a:gs>
              <a:gs pos="80000">
                <a:srgbClr val="C95A2A"/>
              </a:gs>
              <a:gs pos="100000">
                <a:srgbClr val="2A9BA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157460"/>
            <a:ext cx="5706902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9"/>
              </a:lnSpc>
              <a:buNone/>
            </a:pPr>
            <a:r>
              <a:rPr lang="en-US" sz="1690" kern="0" spc="17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Program Framework: </a:t>
            </a:r>
            <a:r>
              <a:rPr lang="en-US" sz="1690" b="1" kern="0" spc="17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CRI Profile v2.2</a:t>
            </a:r>
            <a:r>
              <a:rPr lang="en-US" sz="1690" kern="0" spc="17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+ </a:t>
            </a:r>
            <a:r>
              <a:rPr lang="en-US" sz="1690" b="1" kern="0" spc="17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NIST CSF 2.0</a:t>
            </a:r>
            <a:endParaRPr lang="en-US" sz="169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3607" y="237390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20074" y="244673"/>
            <a:ext cx="71378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Core Functions</a:t>
            </a:r>
            <a:endParaRPr lang="en-US" sz="620" dirty="0"/>
          </a:p>
        </p:txBody>
      </p:sp>
      <p:sp>
        <p:nvSpPr>
          <p:cNvPr id="8" name="Text 5"/>
          <p:cNvSpPr/>
          <p:nvPr/>
        </p:nvSpPr>
        <p:spPr>
          <a:xfrm>
            <a:off x="7769275" y="253454"/>
            <a:ext cx="7590" cy="100310"/>
          </a:xfrm>
          <a:prstGeom prst="rect">
            <a:avLst/>
          </a:prstGeom>
          <a:solidFill>
            <a:srgbClr val="94AFC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5632" y="237390"/>
            <a:ext cx="132588" cy="132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82099" y="244673"/>
            <a:ext cx="83803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+ NIST Mapped</a:t>
            </a:r>
            <a:endParaRPr lang="en-US" sz="620" dirty="0"/>
          </a:p>
        </p:txBody>
      </p:sp>
      <p:sp>
        <p:nvSpPr>
          <p:cNvPr id="11" name="Text 7"/>
          <p:cNvSpPr/>
          <p:nvPr/>
        </p:nvSpPr>
        <p:spPr>
          <a:xfrm>
            <a:off x="400050" y="422672"/>
            <a:ext cx="917829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i="1" kern="0" spc="7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webinar themes are mapped to CRI Diagnostic Statements and NIST CSF 2.0 Outcomes.</a:t>
            </a:r>
            <a:endParaRPr lang="en-US" sz="730" dirty="0"/>
          </a:p>
        </p:txBody>
      </p:sp>
      <p:sp>
        <p:nvSpPr>
          <p:cNvPr id="12" name="Text 8"/>
          <p:cNvSpPr/>
          <p:nvPr/>
        </p:nvSpPr>
        <p:spPr>
          <a:xfrm>
            <a:off x="400050" y="632668"/>
            <a:ext cx="8343900" cy="7590"/>
          </a:xfrm>
          <a:prstGeom prst="rect">
            <a:avLst/>
          </a:prstGeom>
          <a:gradFill rotWithShape="1">
            <a:gsLst>
              <a:gs pos="0">
                <a:srgbClr val="E8A020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00050" y="740569"/>
            <a:ext cx="1331416" cy="3486150"/>
          </a:xfrm>
          <a:prstGeom prst="roundRect">
            <a:avLst>
              <a:gd name="adj" fmla="val 4292"/>
            </a:avLst>
          </a:prstGeom>
          <a:solidFill>
            <a:srgbClr val="1A2E42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95895" y="864394"/>
            <a:ext cx="342900" cy="377190"/>
          </a:xfrm>
          <a:prstGeom prst="roundRect">
            <a:avLst>
              <a:gd name="adj" fmla="val 20741"/>
            </a:avLst>
          </a:prstGeom>
          <a:solidFill>
            <a:srgbClr val="7B5EA7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kern="0" spc="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</a:t>
            </a:r>
            <a:endParaRPr lang="en-US" sz="1010" dirty="0"/>
          </a:p>
        </p:txBody>
      </p:sp>
      <p:sp>
        <p:nvSpPr>
          <p:cNvPr id="15" name="Text 11"/>
          <p:cNvSpPr/>
          <p:nvPr/>
        </p:nvSpPr>
        <p:spPr>
          <a:xfrm>
            <a:off x="495895" y="1278285"/>
            <a:ext cx="510778" cy="106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6"/>
              </a:lnSpc>
              <a:buNone/>
            </a:pPr>
            <a:r>
              <a:rPr lang="en-US" sz="760" b="1" kern="0" spc="61" dirty="0">
                <a:solidFill>
                  <a:srgbClr val="B8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760" dirty="0"/>
          </a:p>
        </p:txBody>
      </p:sp>
      <p:sp>
        <p:nvSpPr>
          <p:cNvPr id="16" name="Text 12"/>
          <p:cNvSpPr/>
          <p:nvPr/>
        </p:nvSpPr>
        <p:spPr>
          <a:xfrm>
            <a:off x="495895" y="1441549"/>
            <a:ext cx="1162520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8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policies &amp; accountability</a:t>
            </a:r>
            <a:endParaRPr lang="en-US" sz="680" dirty="0"/>
          </a:p>
        </p:txBody>
      </p:sp>
      <p:sp>
        <p:nvSpPr>
          <p:cNvPr id="17" name="Text 13"/>
          <p:cNvSpPr/>
          <p:nvPr/>
        </p:nvSpPr>
        <p:spPr>
          <a:xfrm>
            <a:off x="495895" y="1760934"/>
            <a:ext cx="100125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56" dirty="0">
                <a:solidFill>
                  <a:srgbClr val="94AFC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ALIGNMENT</a:t>
            </a:r>
            <a:endParaRPr lang="en-US" sz="560" dirty="0"/>
          </a:p>
        </p:txBody>
      </p:sp>
      <p:sp>
        <p:nvSpPr>
          <p:cNvPr id="18" name="Text 14"/>
          <p:cNvSpPr/>
          <p:nvPr/>
        </p:nvSpPr>
        <p:spPr>
          <a:xfrm>
            <a:off x="495895" y="1946225"/>
            <a:ext cx="35421" cy="35421"/>
          </a:xfrm>
          <a:prstGeom prst="ellipse">
            <a:avLst/>
          </a:prstGeom>
          <a:solidFill>
            <a:srgbClr val="7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574477" y="1910804"/>
            <a:ext cx="1082367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F0F4F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policy communication to all staff</a:t>
            </a:r>
            <a:endParaRPr lang="en-US" sz="650" dirty="0"/>
          </a:p>
        </p:txBody>
      </p:sp>
      <p:sp>
        <p:nvSpPr>
          <p:cNvPr id="20" name="Text 16"/>
          <p:cNvSpPr/>
          <p:nvPr/>
        </p:nvSpPr>
        <p:spPr>
          <a:xfrm>
            <a:off x="495895" y="2204591"/>
            <a:ext cx="35421" cy="35421"/>
          </a:xfrm>
          <a:prstGeom prst="ellipse">
            <a:avLst/>
          </a:prstGeom>
          <a:solidFill>
            <a:srgbClr val="7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574477" y="2169170"/>
            <a:ext cx="1082367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F0F4F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accountability frameworks</a:t>
            </a:r>
            <a:endParaRPr lang="en-US" sz="650" dirty="0"/>
          </a:p>
        </p:txBody>
      </p:sp>
      <p:sp>
        <p:nvSpPr>
          <p:cNvPr id="22" name="Text 18"/>
          <p:cNvSpPr/>
          <p:nvPr/>
        </p:nvSpPr>
        <p:spPr>
          <a:xfrm>
            <a:off x="495895" y="2462957"/>
            <a:ext cx="35421" cy="35421"/>
          </a:xfrm>
          <a:prstGeom prst="ellipse">
            <a:avLst/>
          </a:prstGeom>
          <a:solidFill>
            <a:srgbClr val="7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574477" y="2427536"/>
            <a:ext cx="1082367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F0F4F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 executive awareness briefings</a:t>
            </a:r>
            <a:endParaRPr lang="en-US" sz="650" dirty="0"/>
          </a:p>
        </p:txBody>
      </p:sp>
      <p:sp>
        <p:nvSpPr>
          <p:cNvPr id="24" name="Text 20"/>
          <p:cNvSpPr/>
          <p:nvPr/>
        </p:nvSpPr>
        <p:spPr>
          <a:xfrm>
            <a:off x="495895" y="2756892"/>
            <a:ext cx="926464" cy="184100"/>
          </a:xfrm>
          <a:prstGeom prst="roundRect">
            <a:avLst>
              <a:gd name="adj" fmla="val 15866"/>
            </a:avLst>
          </a:prstGeom>
          <a:solidFill>
            <a:srgbClr val="7B5EA7">
              <a:alpha val="10000"/>
            </a:srgbClr>
          </a:solidFill>
          <a:ln w="9525">
            <a:solidFill>
              <a:srgbClr val="7B5EA7">
                <a:alpha val="40000"/>
              </a:srgbClr>
            </a:solidFill>
          </a:ln>
        </p:spPr>
        <p:txBody>
          <a:bodyPr wrap="none" lIns="57150" tIns="29210" rIns="57150" bIns="29210" rtlCol="0" anchor="ctr"/>
          <a:lstStyle/>
          <a:p>
            <a:pPr marL="0" indent="0" algn="l">
              <a:buNone/>
            </a:pPr>
            <a:r>
              <a:rPr lang="en-US" sz="560" b="1" kern="0" spc="22" dirty="0">
                <a:solidFill>
                  <a:srgbClr val="B89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GV.OC-2 · GV.RR-1</a:t>
            </a:r>
            <a:endParaRPr lang="en-US" sz="560" dirty="0"/>
          </a:p>
        </p:txBody>
      </p:sp>
      <p:sp>
        <p:nvSpPr>
          <p:cNvPr id="25" name="Text 21"/>
          <p:cNvSpPr/>
          <p:nvPr/>
        </p:nvSpPr>
        <p:spPr>
          <a:xfrm>
            <a:off x="1802457" y="740569"/>
            <a:ext cx="1331565" cy="3486150"/>
          </a:xfrm>
          <a:prstGeom prst="roundRect">
            <a:avLst>
              <a:gd name="adj" fmla="val 4292"/>
            </a:avLst>
          </a:prstGeom>
          <a:solidFill>
            <a:srgbClr val="1A2E42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1898303" y="864394"/>
            <a:ext cx="342900" cy="377190"/>
          </a:xfrm>
          <a:prstGeom prst="roundRect">
            <a:avLst>
              <a:gd name="adj" fmla="val 20741"/>
            </a:avLst>
          </a:prstGeom>
          <a:solidFill>
            <a:srgbClr val="3A7DC9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kern="0" spc="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10" dirty="0"/>
          </a:p>
        </p:txBody>
      </p:sp>
      <p:sp>
        <p:nvSpPr>
          <p:cNvPr id="27" name="Text 23"/>
          <p:cNvSpPr/>
          <p:nvPr/>
        </p:nvSpPr>
        <p:spPr>
          <a:xfrm>
            <a:off x="1898303" y="1278285"/>
            <a:ext cx="551378" cy="106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6"/>
              </a:lnSpc>
              <a:buNone/>
            </a:pPr>
            <a:r>
              <a:rPr lang="en-US" sz="760" b="1" kern="0" spc="61" dirty="0">
                <a:solidFill>
                  <a:srgbClr val="8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760" dirty="0"/>
          </a:p>
        </p:txBody>
      </p:sp>
      <p:sp>
        <p:nvSpPr>
          <p:cNvPr id="28" name="Text 24"/>
          <p:cNvSpPr/>
          <p:nvPr/>
        </p:nvSpPr>
        <p:spPr>
          <a:xfrm>
            <a:off x="1898303" y="1441549"/>
            <a:ext cx="1162672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8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inventory &amp; risk assessment</a:t>
            </a:r>
            <a:endParaRPr lang="en-US" sz="680" dirty="0"/>
          </a:p>
        </p:txBody>
      </p:sp>
      <p:sp>
        <p:nvSpPr>
          <p:cNvPr id="29" name="Text 25"/>
          <p:cNvSpPr/>
          <p:nvPr/>
        </p:nvSpPr>
        <p:spPr>
          <a:xfrm>
            <a:off x="1898303" y="1760934"/>
            <a:ext cx="100125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56" dirty="0">
                <a:solidFill>
                  <a:srgbClr val="94AFC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ALIGNMENT</a:t>
            </a:r>
            <a:endParaRPr lang="en-US" sz="560" dirty="0"/>
          </a:p>
        </p:txBody>
      </p:sp>
      <p:sp>
        <p:nvSpPr>
          <p:cNvPr id="30" name="Text 26"/>
          <p:cNvSpPr/>
          <p:nvPr/>
        </p:nvSpPr>
        <p:spPr>
          <a:xfrm>
            <a:off x="1898303" y="1946225"/>
            <a:ext cx="35421" cy="35421"/>
          </a:xfrm>
          <a:prstGeom prst="ellipse">
            <a:avLst/>
          </a:prstGeom>
          <a:solidFill>
            <a:srgbClr val="3A7DC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1976884" y="1910804"/>
            <a:ext cx="1082519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F0F4F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data &amp; asset classification</a:t>
            </a:r>
            <a:endParaRPr lang="en-US" sz="650" dirty="0"/>
          </a:p>
        </p:txBody>
      </p:sp>
      <p:sp>
        <p:nvSpPr>
          <p:cNvPr id="32" name="Text 28"/>
          <p:cNvSpPr/>
          <p:nvPr/>
        </p:nvSpPr>
        <p:spPr>
          <a:xfrm>
            <a:off x="1898303" y="2204591"/>
            <a:ext cx="35421" cy="35421"/>
          </a:xfrm>
          <a:prstGeom prst="ellipse">
            <a:avLst/>
          </a:prstGeom>
          <a:solidFill>
            <a:srgbClr val="3A7DC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1976884" y="2169170"/>
            <a:ext cx="1082519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F0F4F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risk scoring by role &amp; access level</a:t>
            </a:r>
            <a:endParaRPr lang="en-US" sz="650" dirty="0"/>
          </a:p>
        </p:txBody>
      </p:sp>
      <p:sp>
        <p:nvSpPr>
          <p:cNvPr id="34" name="Text 30"/>
          <p:cNvSpPr/>
          <p:nvPr/>
        </p:nvSpPr>
        <p:spPr>
          <a:xfrm>
            <a:off x="1898303" y="2462957"/>
            <a:ext cx="35421" cy="35421"/>
          </a:xfrm>
          <a:prstGeom prst="ellipse">
            <a:avLst/>
          </a:prstGeom>
          <a:solidFill>
            <a:srgbClr val="3A7DC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1976884" y="2427536"/>
            <a:ext cx="1082519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F0F4F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risk baseline assessments</a:t>
            </a:r>
            <a:endParaRPr lang="en-US" sz="650" dirty="0"/>
          </a:p>
        </p:txBody>
      </p:sp>
      <p:sp>
        <p:nvSpPr>
          <p:cNvPr id="36" name="Text 32"/>
          <p:cNvSpPr/>
          <p:nvPr/>
        </p:nvSpPr>
        <p:spPr>
          <a:xfrm>
            <a:off x="1898303" y="2756892"/>
            <a:ext cx="926464" cy="184100"/>
          </a:xfrm>
          <a:prstGeom prst="roundRect">
            <a:avLst>
              <a:gd name="adj" fmla="val 15866"/>
            </a:avLst>
          </a:prstGeom>
          <a:solidFill>
            <a:srgbClr val="3A7DC9">
              <a:alpha val="10000"/>
            </a:srgbClr>
          </a:solidFill>
          <a:ln w="9525">
            <a:solidFill>
              <a:srgbClr val="3A7DC9">
                <a:alpha val="40000"/>
              </a:srgbClr>
            </a:solidFill>
          </a:ln>
        </p:spPr>
        <p:txBody>
          <a:bodyPr wrap="none" lIns="57150" tIns="29210" rIns="57150" bIns="29210" rtlCol="0" anchor="ctr"/>
          <a:lstStyle/>
          <a:p>
            <a:pPr marL="0" indent="0" algn="l">
              <a:buNone/>
            </a:pPr>
            <a:r>
              <a:rPr lang="en-US" sz="560" b="1" kern="0" spc="22" dirty="0">
                <a:solidFill>
                  <a:srgbClr val="89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ID.AM-1 · ID.RA-1</a:t>
            </a:r>
            <a:endParaRPr lang="en-US" sz="560" dirty="0"/>
          </a:p>
        </p:txBody>
      </p:sp>
      <p:sp>
        <p:nvSpPr>
          <p:cNvPr id="37" name="Text 33"/>
          <p:cNvSpPr/>
          <p:nvPr/>
        </p:nvSpPr>
        <p:spPr>
          <a:xfrm>
            <a:off x="3205014" y="740569"/>
            <a:ext cx="1331416" cy="3486150"/>
          </a:xfrm>
          <a:prstGeom prst="roundRect">
            <a:avLst>
              <a:gd name="adj" fmla="val 4292"/>
            </a:avLst>
          </a:prstGeom>
          <a:solidFill>
            <a:srgbClr val="1A2E42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3300859" y="864394"/>
            <a:ext cx="342900" cy="377190"/>
          </a:xfrm>
          <a:prstGeom prst="roundRect">
            <a:avLst>
              <a:gd name="adj" fmla="val 20741"/>
            </a:avLst>
          </a:prstGeom>
          <a:solidFill>
            <a:srgbClr val="3A9E6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kern="0" spc="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010" dirty="0"/>
          </a:p>
        </p:txBody>
      </p:sp>
      <p:sp>
        <p:nvSpPr>
          <p:cNvPr id="39" name="Text 35"/>
          <p:cNvSpPr/>
          <p:nvPr/>
        </p:nvSpPr>
        <p:spPr>
          <a:xfrm>
            <a:off x="3300859" y="1278285"/>
            <a:ext cx="566440" cy="106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6"/>
              </a:lnSpc>
              <a:buNone/>
            </a:pPr>
            <a:r>
              <a:rPr lang="en-US" sz="760" b="1" kern="0" spc="61" dirty="0">
                <a:solidFill>
                  <a:srgbClr val="7DC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60" dirty="0"/>
          </a:p>
        </p:txBody>
      </p:sp>
      <p:sp>
        <p:nvSpPr>
          <p:cNvPr id="40" name="Text 36"/>
          <p:cNvSpPr/>
          <p:nvPr/>
        </p:nvSpPr>
        <p:spPr>
          <a:xfrm>
            <a:off x="3300859" y="1441549"/>
            <a:ext cx="1162520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8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training &amp; access controls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3300859" y="1760934"/>
            <a:ext cx="100125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56" dirty="0">
                <a:solidFill>
                  <a:srgbClr val="94AFC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ALIGNMENT</a:t>
            </a:r>
            <a:endParaRPr lang="en-US" sz="560" dirty="0"/>
          </a:p>
        </p:txBody>
      </p:sp>
      <p:sp>
        <p:nvSpPr>
          <p:cNvPr id="42" name="Text 38"/>
          <p:cNvSpPr/>
          <p:nvPr/>
        </p:nvSpPr>
        <p:spPr>
          <a:xfrm>
            <a:off x="3300859" y="1946225"/>
            <a:ext cx="35421" cy="35421"/>
          </a:xfrm>
          <a:prstGeom prst="ellipse">
            <a:avLst/>
          </a:prstGeom>
          <a:solidFill>
            <a:srgbClr val="3A9E6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3379440" y="1910804"/>
            <a:ext cx="1082367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F0F4F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security awareness webinars (PR.AT-1)</a:t>
            </a:r>
            <a:endParaRPr lang="en-US" sz="650" dirty="0"/>
          </a:p>
        </p:txBody>
      </p:sp>
      <p:sp>
        <p:nvSpPr>
          <p:cNvPr id="44" name="Text 40"/>
          <p:cNvSpPr/>
          <p:nvPr/>
        </p:nvSpPr>
        <p:spPr>
          <a:xfrm>
            <a:off x="3300859" y="2204591"/>
            <a:ext cx="35421" cy="35421"/>
          </a:xfrm>
          <a:prstGeom prst="ellipse">
            <a:avLst/>
          </a:prstGeom>
          <a:solidFill>
            <a:srgbClr val="3A9E6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3379440" y="2169170"/>
            <a:ext cx="1082367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F0F4F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privileged user training (PR.AT-2)</a:t>
            </a:r>
            <a:endParaRPr lang="en-US" sz="650" dirty="0"/>
          </a:p>
        </p:txBody>
      </p:sp>
      <p:sp>
        <p:nvSpPr>
          <p:cNvPr id="46" name="Text 42"/>
          <p:cNvSpPr/>
          <p:nvPr/>
        </p:nvSpPr>
        <p:spPr>
          <a:xfrm>
            <a:off x="3300859" y="2462957"/>
            <a:ext cx="35421" cy="35421"/>
          </a:xfrm>
          <a:prstGeom prst="ellipse">
            <a:avLst/>
          </a:prstGeom>
          <a:solidFill>
            <a:srgbClr val="3A9E6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3379440" y="2427536"/>
            <a:ext cx="1082367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F0F4F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&amp; phishing-resistant credential training</a:t>
            </a:r>
            <a:endParaRPr lang="en-US" sz="650" dirty="0"/>
          </a:p>
        </p:txBody>
      </p:sp>
      <p:sp>
        <p:nvSpPr>
          <p:cNvPr id="48" name="Text 44"/>
          <p:cNvSpPr/>
          <p:nvPr/>
        </p:nvSpPr>
        <p:spPr>
          <a:xfrm>
            <a:off x="3300859" y="2756892"/>
            <a:ext cx="1139726" cy="299534"/>
          </a:xfrm>
          <a:prstGeom prst="roundRect">
            <a:avLst>
              <a:gd name="adj" fmla="val 9752"/>
            </a:avLst>
          </a:prstGeom>
          <a:solidFill>
            <a:srgbClr val="3A9E6F">
              <a:alpha val="10000"/>
            </a:srgbClr>
          </a:solidFill>
          <a:ln w="9525">
            <a:solidFill>
              <a:srgbClr val="3A9E6F">
                <a:alpha val="40000"/>
              </a:srgbClr>
            </a:solidFill>
          </a:ln>
        </p:spPr>
        <p:txBody>
          <a:bodyPr wrap="none" lIns="57150" tIns="29210" rIns="57150" bIns="29210" rtlCol="0" anchor="ctr"/>
          <a:lstStyle/>
          <a:p>
            <a:pPr marL="0" indent="0" algn="l">
              <a:buNone/>
            </a:pPr>
            <a:r>
              <a:rPr lang="en-US" sz="560" b="1" kern="0" spc="22" dirty="0">
                <a:solidFill>
                  <a:srgbClr val="7DCB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PR.AT-1 · PR.AT-2 · PR.AC-1</a:t>
            </a:r>
            <a:endParaRPr lang="en-US" sz="560" dirty="0"/>
          </a:p>
        </p:txBody>
      </p:sp>
      <p:sp>
        <p:nvSpPr>
          <p:cNvPr id="49" name="Text 45"/>
          <p:cNvSpPr/>
          <p:nvPr/>
        </p:nvSpPr>
        <p:spPr>
          <a:xfrm>
            <a:off x="4607421" y="740569"/>
            <a:ext cx="1331565" cy="3486150"/>
          </a:xfrm>
          <a:prstGeom prst="roundRect">
            <a:avLst>
              <a:gd name="adj" fmla="val 4292"/>
            </a:avLst>
          </a:prstGeom>
          <a:solidFill>
            <a:srgbClr val="1A2E42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4703266" y="864394"/>
            <a:ext cx="342900" cy="377190"/>
          </a:xfrm>
          <a:prstGeom prst="roundRect">
            <a:avLst>
              <a:gd name="adj" fmla="val 20741"/>
            </a:avLst>
          </a:prstGeom>
          <a:solidFill>
            <a:srgbClr val="D4A017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kern="0" spc="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010" dirty="0"/>
          </a:p>
        </p:txBody>
      </p:sp>
      <p:sp>
        <p:nvSpPr>
          <p:cNvPr id="51" name="Text 47"/>
          <p:cNvSpPr/>
          <p:nvPr/>
        </p:nvSpPr>
        <p:spPr>
          <a:xfrm>
            <a:off x="4703266" y="1278285"/>
            <a:ext cx="475417" cy="106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6"/>
              </a:lnSpc>
              <a:buNone/>
            </a:pPr>
            <a:r>
              <a:rPr lang="en-US" sz="760" b="1" kern="0" spc="61" dirty="0">
                <a:solidFill>
                  <a:srgbClr val="E8C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760" dirty="0"/>
          </a:p>
        </p:txBody>
      </p:sp>
      <p:sp>
        <p:nvSpPr>
          <p:cNvPr id="52" name="Text 48"/>
          <p:cNvSpPr/>
          <p:nvPr/>
        </p:nvSpPr>
        <p:spPr>
          <a:xfrm>
            <a:off x="4703266" y="1441549"/>
            <a:ext cx="1162672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8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simulation &amp; anomaly monitoring</a:t>
            </a:r>
            <a:endParaRPr lang="en-US" sz="680" dirty="0"/>
          </a:p>
        </p:txBody>
      </p:sp>
      <p:sp>
        <p:nvSpPr>
          <p:cNvPr id="53" name="Text 49"/>
          <p:cNvSpPr/>
          <p:nvPr/>
        </p:nvSpPr>
        <p:spPr>
          <a:xfrm>
            <a:off x="4703266" y="1760934"/>
            <a:ext cx="100125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56" dirty="0">
                <a:solidFill>
                  <a:srgbClr val="94AFC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ALIGNMENT</a:t>
            </a:r>
            <a:endParaRPr lang="en-US" sz="560" dirty="0"/>
          </a:p>
        </p:txBody>
      </p:sp>
      <p:sp>
        <p:nvSpPr>
          <p:cNvPr id="54" name="Text 50"/>
          <p:cNvSpPr/>
          <p:nvPr/>
        </p:nvSpPr>
        <p:spPr>
          <a:xfrm>
            <a:off x="4703266" y="1946225"/>
            <a:ext cx="35421" cy="35421"/>
          </a:xfrm>
          <a:prstGeom prst="ellipse">
            <a:avLst/>
          </a:prstGeom>
          <a:solidFill>
            <a:srgbClr val="D4A01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4781848" y="1910804"/>
            <a:ext cx="1082519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F0F4F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phishing simulation campaigns</a:t>
            </a:r>
            <a:endParaRPr lang="en-US" sz="650" dirty="0"/>
          </a:p>
        </p:txBody>
      </p:sp>
      <p:sp>
        <p:nvSpPr>
          <p:cNvPr id="56" name="Text 52"/>
          <p:cNvSpPr/>
          <p:nvPr/>
        </p:nvSpPr>
        <p:spPr>
          <a:xfrm>
            <a:off x="4703266" y="2204591"/>
            <a:ext cx="35421" cy="35421"/>
          </a:xfrm>
          <a:prstGeom prst="ellipse">
            <a:avLst/>
          </a:prstGeom>
          <a:solidFill>
            <a:srgbClr val="D4A01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3"/>
          <p:cNvSpPr/>
          <p:nvPr/>
        </p:nvSpPr>
        <p:spPr>
          <a:xfrm>
            <a:off x="4781848" y="2169170"/>
            <a:ext cx="1082519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F0F4F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 behavior recognition &amp; reporting</a:t>
            </a:r>
            <a:endParaRPr lang="en-US" sz="650" dirty="0"/>
          </a:p>
        </p:txBody>
      </p:sp>
      <p:sp>
        <p:nvSpPr>
          <p:cNvPr id="58" name="Text 54"/>
          <p:cNvSpPr/>
          <p:nvPr/>
        </p:nvSpPr>
        <p:spPr>
          <a:xfrm>
            <a:off x="4703266" y="2462957"/>
            <a:ext cx="35421" cy="35421"/>
          </a:xfrm>
          <a:prstGeom prst="ellipse">
            <a:avLst/>
          </a:prstGeom>
          <a:solidFill>
            <a:srgbClr val="D4A01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4781848" y="2427536"/>
            <a:ext cx="1082519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F0F4F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 &amp; after-hours activity awareness</a:t>
            </a:r>
            <a:endParaRPr lang="en-US" sz="650" dirty="0"/>
          </a:p>
        </p:txBody>
      </p:sp>
      <p:sp>
        <p:nvSpPr>
          <p:cNvPr id="60" name="Text 56"/>
          <p:cNvSpPr/>
          <p:nvPr/>
        </p:nvSpPr>
        <p:spPr>
          <a:xfrm>
            <a:off x="4703266" y="2756892"/>
            <a:ext cx="926464" cy="184100"/>
          </a:xfrm>
          <a:prstGeom prst="roundRect">
            <a:avLst>
              <a:gd name="adj" fmla="val 15866"/>
            </a:avLst>
          </a:prstGeom>
          <a:solidFill>
            <a:srgbClr val="D4A017">
              <a:alpha val="10000"/>
            </a:srgbClr>
          </a:solidFill>
          <a:ln w="9525">
            <a:solidFill>
              <a:srgbClr val="D4A017">
                <a:alpha val="40000"/>
              </a:srgbClr>
            </a:solidFill>
          </a:ln>
        </p:spPr>
        <p:txBody>
          <a:bodyPr wrap="none" lIns="57150" tIns="29210" rIns="57150" bIns="29210" rtlCol="0" anchor="ctr"/>
          <a:lstStyle/>
          <a:p>
            <a:pPr marL="0" indent="0" algn="l">
              <a:buNone/>
            </a:pPr>
            <a:r>
              <a:rPr lang="en-US" sz="560" b="1" kern="0" spc="22" dirty="0">
                <a:solidFill>
                  <a:srgbClr val="E8CC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DE.CM-1 · DE.CM-3</a:t>
            </a:r>
            <a:endParaRPr lang="en-US" sz="560" dirty="0"/>
          </a:p>
        </p:txBody>
      </p:sp>
      <p:sp>
        <p:nvSpPr>
          <p:cNvPr id="61" name="Text 57"/>
          <p:cNvSpPr/>
          <p:nvPr/>
        </p:nvSpPr>
        <p:spPr>
          <a:xfrm>
            <a:off x="6009977" y="740569"/>
            <a:ext cx="1331416" cy="3486150"/>
          </a:xfrm>
          <a:prstGeom prst="roundRect">
            <a:avLst>
              <a:gd name="adj" fmla="val 4292"/>
            </a:avLst>
          </a:prstGeom>
          <a:solidFill>
            <a:srgbClr val="1A2E42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8"/>
          <p:cNvSpPr/>
          <p:nvPr/>
        </p:nvSpPr>
        <p:spPr>
          <a:xfrm>
            <a:off x="6105823" y="864394"/>
            <a:ext cx="342900" cy="377190"/>
          </a:xfrm>
          <a:prstGeom prst="roundRect">
            <a:avLst>
              <a:gd name="adj" fmla="val 20741"/>
            </a:avLst>
          </a:prstGeom>
          <a:solidFill>
            <a:srgbClr val="C95A2A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kern="0" spc="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</a:t>
            </a:r>
            <a:endParaRPr lang="en-US" sz="1010" dirty="0"/>
          </a:p>
        </p:txBody>
      </p:sp>
      <p:sp>
        <p:nvSpPr>
          <p:cNvPr id="63" name="Text 59"/>
          <p:cNvSpPr/>
          <p:nvPr/>
        </p:nvSpPr>
        <p:spPr>
          <a:xfrm>
            <a:off x="6105823" y="1278285"/>
            <a:ext cx="584121" cy="106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6"/>
              </a:lnSpc>
              <a:buNone/>
            </a:pPr>
            <a:r>
              <a:rPr lang="en-US" sz="760" b="1" kern="0" spc="61" dirty="0">
                <a:solidFill>
                  <a:srgbClr val="E8A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760" dirty="0"/>
          </a:p>
        </p:txBody>
      </p:sp>
      <p:sp>
        <p:nvSpPr>
          <p:cNvPr id="64" name="Text 60"/>
          <p:cNvSpPr/>
          <p:nvPr/>
        </p:nvSpPr>
        <p:spPr>
          <a:xfrm>
            <a:off x="6105823" y="1441549"/>
            <a:ext cx="1162520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8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reporting &amp; escalation</a:t>
            </a:r>
            <a:endParaRPr lang="en-US" sz="680" dirty="0"/>
          </a:p>
        </p:txBody>
      </p:sp>
      <p:sp>
        <p:nvSpPr>
          <p:cNvPr id="65" name="Text 61"/>
          <p:cNvSpPr/>
          <p:nvPr/>
        </p:nvSpPr>
        <p:spPr>
          <a:xfrm>
            <a:off x="6105823" y="1760934"/>
            <a:ext cx="100125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56" dirty="0">
                <a:solidFill>
                  <a:srgbClr val="94AFC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ALIGNMENT</a:t>
            </a:r>
            <a:endParaRPr lang="en-US" sz="560" dirty="0"/>
          </a:p>
        </p:txBody>
      </p:sp>
      <p:sp>
        <p:nvSpPr>
          <p:cNvPr id="66" name="Text 62"/>
          <p:cNvSpPr/>
          <p:nvPr/>
        </p:nvSpPr>
        <p:spPr>
          <a:xfrm>
            <a:off x="6105823" y="1946225"/>
            <a:ext cx="35421" cy="35421"/>
          </a:xfrm>
          <a:prstGeom prst="ellipse">
            <a:avLst/>
          </a:prstGeom>
          <a:solidFill>
            <a:srgbClr val="C95A2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3"/>
          <p:cNvSpPr/>
          <p:nvPr/>
        </p:nvSpPr>
        <p:spPr>
          <a:xfrm>
            <a:off x="6184404" y="1910804"/>
            <a:ext cx="1082367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F0F4F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reporting workflows &amp; contacts</a:t>
            </a:r>
            <a:endParaRPr lang="en-US" sz="650" dirty="0"/>
          </a:p>
        </p:txBody>
      </p:sp>
      <p:sp>
        <p:nvSpPr>
          <p:cNvPr id="68" name="Text 64"/>
          <p:cNvSpPr/>
          <p:nvPr/>
        </p:nvSpPr>
        <p:spPr>
          <a:xfrm>
            <a:off x="6105823" y="2204591"/>
            <a:ext cx="35421" cy="35421"/>
          </a:xfrm>
          <a:prstGeom prst="ellipse">
            <a:avLst/>
          </a:prstGeom>
          <a:solidFill>
            <a:srgbClr val="C95A2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5"/>
          <p:cNvSpPr/>
          <p:nvPr/>
        </p:nvSpPr>
        <p:spPr>
          <a:xfrm>
            <a:off x="6184404" y="2169170"/>
            <a:ext cx="1082367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F0F4F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procedures for fraud &amp; BEC events</a:t>
            </a:r>
            <a:endParaRPr lang="en-US" sz="650" dirty="0"/>
          </a:p>
        </p:txBody>
      </p:sp>
      <p:sp>
        <p:nvSpPr>
          <p:cNvPr id="70" name="Text 66"/>
          <p:cNvSpPr/>
          <p:nvPr/>
        </p:nvSpPr>
        <p:spPr>
          <a:xfrm>
            <a:off x="6105823" y="2462957"/>
            <a:ext cx="35421" cy="35421"/>
          </a:xfrm>
          <a:prstGeom prst="ellipse">
            <a:avLst/>
          </a:prstGeom>
          <a:solidFill>
            <a:srgbClr val="C95A2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7"/>
          <p:cNvSpPr/>
          <p:nvPr/>
        </p:nvSpPr>
        <p:spPr>
          <a:xfrm>
            <a:off x="6184404" y="2427536"/>
            <a:ext cx="1082367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F0F4F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"Report, Don't React" phishing button protocol</a:t>
            </a:r>
            <a:endParaRPr lang="en-US" sz="650" dirty="0"/>
          </a:p>
        </p:txBody>
      </p:sp>
      <p:sp>
        <p:nvSpPr>
          <p:cNvPr id="72" name="Text 68"/>
          <p:cNvSpPr/>
          <p:nvPr/>
        </p:nvSpPr>
        <p:spPr>
          <a:xfrm>
            <a:off x="6105823" y="2756892"/>
            <a:ext cx="926464" cy="184100"/>
          </a:xfrm>
          <a:prstGeom prst="roundRect">
            <a:avLst>
              <a:gd name="adj" fmla="val 15866"/>
            </a:avLst>
          </a:prstGeom>
          <a:solidFill>
            <a:srgbClr val="C95A2A">
              <a:alpha val="10000"/>
            </a:srgbClr>
          </a:solidFill>
          <a:ln w="9525">
            <a:solidFill>
              <a:srgbClr val="C95A2A">
                <a:alpha val="40000"/>
              </a:srgbClr>
            </a:solidFill>
          </a:ln>
        </p:spPr>
        <p:txBody>
          <a:bodyPr wrap="none" lIns="57150" tIns="29210" rIns="57150" bIns="29210" rtlCol="0" anchor="ctr"/>
          <a:lstStyle/>
          <a:p>
            <a:pPr marL="0" indent="0" algn="l">
              <a:buNone/>
            </a:pPr>
            <a:r>
              <a:rPr lang="en-US" sz="560" b="1" kern="0" spc="22" dirty="0">
                <a:solidFill>
                  <a:srgbClr val="E8A0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RS.CO-1 · RS.AN-1</a:t>
            </a:r>
            <a:endParaRPr lang="en-US" sz="560" dirty="0"/>
          </a:p>
        </p:txBody>
      </p:sp>
      <p:sp>
        <p:nvSpPr>
          <p:cNvPr id="73" name="Text 69"/>
          <p:cNvSpPr/>
          <p:nvPr/>
        </p:nvSpPr>
        <p:spPr>
          <a:xfrm>
            <a:off x="7412385" y="740569"/>
            <a:ext cx="1331565" cy="3486150"/>
          </a:xfrm>
          <a:prstGeom prst="roundRect">
            <a:avLst>
              <a:gd name="adj" fmla="val 4292"/>
            </a:avLst>
          </a:prstGeom>
          <a:solidFill>
            <a:srgbClr val="1A2E42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0"/>
          <p:cNvSpPr/>
          <p:nvPr/>
        </p:nvSpPr>
        <p:spPr>
          <a:xfrm>
            <a:off x="7508230" y="864394"/>
            <a:ext cx="342900" cy="377190"/>
          </a:xfrm>
          <a:prstGeom prst="roundRect">
            <a:avLst>
              <a:gd name="adj" fmla="val 20741"/>
            </a:avLst>
          </a:prstGeom>
          <a:solidFill>
            <a:srgbClr val="2A9BA8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kern="0" spc="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1010" dirty="0"/>
          </a:p>
        </p:txBody>
      </p:sp>
      <p:sp>
        <p:nvSpPr>
          <p:cNvPr id="75" name="Text 71"/>
          <p:cNvSpPr/>
          <p:nvPr/>
        </p:nvSpPr>
        <p:spPr>
          <a:xfrm>
            <a:off x="7508230" y="1278285"/>
            <a:ext cx="584121" cy="106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6"/>
              </a:lnSpc>
              <a:buNone/>
            </a:pPr>
            <a:r>
              <a:rPr lang="en-US" sz="760" b="1" kern="0" spc="61" dirty="0">
                <a:solidFill>
                  <a:srgbClr val="7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760" dirty="0"/>
          </a:p>
        </p:txBody>
      </p:sp>
      <p:sp>
        <p:nvSpPr>
          <p:cNvPr id="76" name="Text 72"/>
          <p:cNvSpPr/>
          <p:nvPr/>
        </p:nvSpPr>
        <p:spPr>
          <a:xfrm>
            <a:off x="7508230" y="1441549"/>
            <a:ext cx="1162672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8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&amp; culture reinforcement</a:t>
            </a:r>
            <a:endParaRPr lang="en-US" sz="680" dirty="0"/>
          </a:p>
        </p:txBody>
      </p:sp>
      <p:sp>
        <p:nvSpPr>
          <p:cNvPr id="77" name="Text 73"/>
          <p:cNvSpPr/>
          <p:nvPr/>
        </p:nvSpPr>
        <p:spPr>
          <a:xfrm>
            <a:off x="7508230" y="1760934"/>
            <a:ext cx="100125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56" dirty="0">
                <a:solidFill>
                  <a:srgbClr val="94AFC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ALIGNMENT</a:t>
            </a:r>
            <a:endParaRPr lang="en-US" sz="560" dirty="0"/>
          </a:p>
        </p:txBody>
      </p:sp>
      <p:sp>
        <p:nvSpPr>
          <p:cNvPr id="78" name="Text 74"/>
          <p:cNvSpPr/>
          <p:nvPr/>
        </p:nvSpPr>
        <p:spPr>
          <a:xfrm>
            <a:off x="7508230" y="1946225"/>
            <a:ext cx="35421" cy="35421"/>
          </a:xfrm>
          <a:prstGeom prst="ellipse">
            <a:avLst/>
          </a:prstGeom>
          <a:solidFill>
            <a:srgbClr val="2A9BA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75"/>
          <p:cNvSpPr/>
          <p:nvPr/>
        </p:nvSpPr>
        <p:spPr>
          <a:xfrm>
            <a:off x="7586811" y="1910804"/>
            <a:ext cx="1082519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F0F4F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 debrief &amp; lessons-learned sessions</a:t>
            </a:r>
            <a:endParaRPr lang="en-US" sz="650" dirty="0"/>
          </a:p>
        </p:txBody>
      </p:sp>
      <p:sp>
        <p:nvSpPr>
          <p:cNvPr id="80" name="Text 76"/>
          <p:cNvSpPr/>
          <p:nvPr/>
        </p:nvSpPr>
        <p:spPr>
          <a:xfrm>
            <a:off x="7508230" y="2204591"/>
            <a:ext cx="35421" cy="35421"/>
          </a:xfrm>
          <a:prstGeom prst="ellipse">
            <a:avLst/>
          </a:prstGeom>
          <a:solidFill>
            <a:srgbClr val="2A9BA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77"/>
          <p:cNvSpPr/>
          <p:nvPr/>
        </p:nvSpPr>
        <p:spPr>
          <a:xfrm>
            <a:off x="7586811" y="2169170"/>
            <a:ext cx="1082519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F0F4F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champion program culture reinforcement</a:t>
            </a:r>
            <a:endParaRPr lang="en-US" sz="650" dirty="0"/>
          </a:p>
        </p:txBody>
      </p:sp>
      <p:sp>
        <p:nvSpPr>
          <p:cNvPr id="82" name="Text 78"/>
          <p:cNvSpPr/>
          <p:nvPr/>
        </p:nvSpPr>
        <p:spPr>
          <a:xfrm>
            <a:off x="7508230" y="2462957"/>
            <a:ext cx="35421" cy="35421"/>
          </a:xfrm>
          <a:prstGeom prst="ellipse">
            <a:avLst/>
          </a:prstGeom>
          <a:solidFill>
            <a:srgbClr val="2A9BA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79"/>
          <p:cNvSpPr/>
          <p:nvPr/>
        </p:nvSpPr>
        <p:spPr>
          <a:xfrm>
            <a:off x="7586811" y="2427536"/>
            <a:ext cx="1082519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F0F4F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program review &amp; continuous improvement</a:t>
            </a:r>
            <a:endParaRPr lang="en-US" sz="650" dirty="0"/>
          </a:p>
        </p:txBody>
      </p:sp>
      <p:sp>
        <p:nvSpPr>
          <p:cNvPr id="84" name="Text 80"/>
          <p:cNvSpPr/>
          <p:nvPr/>
        </p:nvSpPr>
        <p:spPr>
          <a:xfrm>
            <a:off x="7508230" y="2756892"/>
            <a:ext cx="926464" cy="184100"/>
          </a:xfrm>
          <a:prstGeom prst="roundRect">
            <a:avLst>
              <a:gd name="adj" fmla="val 15866"/>
            </a:avLst>
          </a:prstGeom>
          <a:solidFill>
            <a:srgbClr val="2A9BA8">
              <a:alpha val="10000"/>
            </a:srgbClr>
          </a:solidFill>
          <a:ln w="9525">
            <a:solidFill>
              <a:srgbClr val="2A9BA8">
                <a:alpha val="40000"/>
              </a:srgbClr>
            </a:solidFill>
          </a:ln>
        </p:spPr>
        <p:txBody>
          <a:bodyPr wrap="none" lIns="57150" tIns="29210" rIns="57150" bIns="29210" rtlCol="0" anchor="ctr"/>
          <a:lstStyle/>
          <a:p>
            <a:pPr marL="0" indent="0" algn="l">
              <a:buNone/>
            </a:pPr>
            <a:r>
              <a:rPr lang="en-US" sz="560" b="1" kern="0" spc="22" dirty="0">
                <a:solidFill>
                  <a:srgbClr val="77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RC.IM-1 · RC.CO-1</a:t>
            </a:r>
            <a:endParaRPr lang="en-US" sz="560" dirty="0"/>
          </a:p>
        </p:txBody>
      </p:sp>
      <p:sp>
        <p:nvSpPr>
          <p:cNvPr id="85" name="Text 81"/>
          <p:cNvSpPr/>
          <p:nvPr/>
        </p:nvSpPr>
        <p:spPr>
          <a:xfrm>
            <a:off x="0" y="4885730"/>
            <a:ext cx="9144000" cy="257770"/>
          </a:xfrm>
          <a:prstGeom prst="rect">
            <a:avLst/>
          </a:prstGeom>
          <a:solidFill>
            <a:srgbClr val="E8A020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82"/>
          <p:cNvSpPr/>
          <p:nvPr/>
        </p:nvSpPr>
        <p:spPr>
          <a:xfrm>
            <a:off x="0" y="4885730"/>
            <a:ext cx="9144000" cy="9525"/>
          </a:xfrm>
          <a:prstGeom prst="rect">
            <a:avLst/>
          </a:prstGeom>
          <a:solidFill>
            <a:srgbClr val="E8A020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7" name="Image 2" descr="preencoded.png"/>
          <p:cNvPicPr>
            <a:picLocks noChangeAspect="1"/>
          </p:cNvPicPr>
          <p:nvPr/>
        </p:nvPicPr>
        <p:blipFill>
          <a:blip>
            <a:alphaModFix amt="8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3773" y="4953009"/>
            <a:ext cx="132588" cy="132588"/>
          </a:xfrm>
          <a:prstGeom prst="rect">
            <a:avLst/>
          </a:prstGeom>
        </p:spPr>
      </p:pic>
      <p:sp>
        <p:nvSpPr>
          <p:cNvPr id="88" name="Text 83"/>
          <p:cNvSpPr/>
          <p:nvPr/>
        </p:nvSpPr>
        <p:spPr>
          <a:xfrm>
            <a:off x="543967" y="4954637"/>
            <a:ext cx="708950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i="1" kern="0" spc="20" dirty="0">
                <a:solidFill>
                  <a:srgbClr val="E8A020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webinar themes are mapped to measurable CRI Diagnostic Statements and NIST CSF 2.0 Outcomes — training is evidence-based, not compliance theater.</a:t>
            </a:r>
            <a:endParaRPr lang="en-US" sz="680" dirty="0"/>
          </a:p>
        </p:txBody>
      </p:sp>
      <p:sp>
        <p:nvSpPr>
          <p:cNvPr id="89" name="Text 84"/>
          <p:cNvSpPr/>
          <p:nvPr/>
        </p:nvSpPr>
        <p:spPr>
          <a:xfrm>
            <a:off x="7075289" y="5001667"/>
            <a:ext cx="35421" cy="35421"/>
          </a:xfrm>
          <a:prstGeom prst="ellipse">
            <a:avLst/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85"/>
          <p:cNvSpPr/>
          <p:nvPr/>
        </p:nvSpPr>
        <p:spPr>
          <a:xfrm>
            <a:off x="7197030" y="4960293"/>
            <a:ext cx="172076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25" dirty="0">
                <a:solidFill>
                  <a:srgbClr val="94A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Profile v2.2 | NIST CSF 2.0</a:t>
            </a:r>
            <a:endParaRPr lang="en-US" sz="620" dirty="0"/>
          </a:p>
        </p:txBody>
      </p:sp>
      <p:sp>
        <p:nvSpPr>
          <p:cNvPr id="91" name="Text 86"/>
          <p:cNvSpPr/>
          <p:nvPr/>
        </p:nvSpPr>
        <p:spPr>
          <a:xfrm>
            <a:off x="409575" y="750094"/>
            <a:ext cx="1312364" cy="29170"/>
          </a:xfrm>
          <a:custGeom>
            <a:avLst/>
            <a:gdLst/>
            <a:ahLst/>
            <a:cxnLst/>
            <a:rect l="l" t="t" r="r" b="b"/>
            <a:pathLst>
              <a:path w="1312364" h="29170">
                <a:moveTo>
                  <a:pt x="57150" y="0"/>
                </a:moveTo>
                <a:lnTo>
                  <a:pt x="1255214" y="0"/>
                </a:lnTo>
                <a:lnTo>
                  <a:pt x="1275301" y="3646"/>
                </a:lnTo>
                <a:lnTo>
                  <a:pt x="1283149" y="7293"/>
                </a:lnTo>
                <a:lnTo>
                  <a:pt x="1288839" y="10939"/>
                </a:lnTo>
                <a:lnTo>
                  <a:pt x="1293350" y="14585"/>
                </a:lnTo>
                <a:lnTo>
                  <a:pt x="1297065" y="18231"/>
                </a:lnTo>
                <a:lnTo>
                  <a:pt x="1300181" y="21878"/>
                </a:lnTo>
                <a:lnTo>
                  <a:pt x="1302816" y="25524"/>
                </a:lnTo>
                <a:lnTo>
                  <a:pt x="1305046" y="29170"/>
                </a:lnTo>
                <a:lnTo>
                  <a:pt x="7318" y="29170"/>
                </a:lnTo>
                <a:lnTo>
                  <a:pt x="9548" y="25524"/>
                </a:lnTo>
                <a:lnTo>
                  <a:pt x="12183" y="21878"/>
                </a:lnTo>
                <a:lnTo>
                  <a:pt x="15299" y="18231"/>
                </a:lnTo>
                <a:lnTo>
                  <a:pt x="19014" y="14585"/>
                </a:lnTo>
                <a:lnTo>
                  <a:pt x="23525" y="10939"/>
                </a:lnTo>
                <a:lnTo>
                  <a:pt x="29215" y="7293"/>
                </a:lnTo>
                <a:lnTo>
                  <a:pt x="37063" y="3646"/>
                </a:lnTo>
                <a:close/>
              </a:path>
            </a:pathLst>
          </a:custGeom>
          <a:solidFill>
            <a:srgbClr val="7B5EA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2" name="Text 87"/>
          <p:cNvSpPr/>
          <p:nvPr/>
        </p:nvSpPr>
        <p:spPr>
          <a:xfrm>
            <a:off x="1811982" y="750094"/>
            <a:ext cx="1312516" cy="29170"/>
          </a:xfrm>
          <a:custGeom>
            <a:avLst/>
            <a:gdLst/>
            <a:ahLst/>
            <a:cxnLst/>
            <a:rect l="l" t="t" r="r" b="b"/>
            <a:pathLst>
              <a:path w="1312516" h="29170">
                <a:moveTo>
                  <a:pt x="57150" y="0"/>
                </a:moveTo>
                <a:lnTo>
                  <a:pt x="1255366" y="0"/>
                </a:lnTo>
                <a:lnTo>
                  <a:pt x="1275453" y="3646"/>
                </a:lnTo>
                <a:lnTo>
                  <a:pt x="1283301" y="7293"/>
                </a:lnTo>
                <a:lnTo>
                  <a:pt x="1288992" y="10939"/>
                </a:lnTo>
                <a:lnTo>
                  <a:pt x="1293502" y="14585"/>
                </a:lnTo>
                <a:lnTo>
                  <a:pt x="1297217" y="18231"/>
                </a:lnTo>
                <a:lnTo>
                  <a:pt x="1300333" y="21878"/>
                </a:lnTo>
                <a:lnTo>
                  <a:pt x="1302968" y="25524"/>
                </a:lnTo>
                <a:lnTo>
                  <a:pt x="1305199" y="29170"/>
                </a:lnTo>
                <a:lnTo>
                  <a:pt x="7318" y="29170"/>
                </a:lnTo>
                <a:lnTo>
                  <a:pt x="9548" y="25524"/>
                </a:lnTo>
                <a:lnTo>
                  <a:pt x="12183" y="21878"/>
                </a:lnTo>
                <a:lnTo>
                  <a:pt x="15299" y="18231"/>
                </a:lnTo>
                <a:lnTo>
                  <a:pt x="19014" y="14585"/>
                </a:lnTo>
                <a:lnTo>
                  <a:pt x="23525" y="10939"/>
                </a:lnTo>
                <a:lnTo>
                  <a:pt x="29215" y="7293"/>
                </a:lnTo>
                <a:lnTo>
                  <a:pt x="37063" y="3646"/>
                </a:lnTo>
                <a:close/>
              </a:path>
            </a:pathLst>
          </a:custGeom>
          <a:solidFill>
            <a:srgbClr val="3A7DC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3" name="Text 88"/>
          <p:cNvSpPr/>
          <p:nvPr/>
        </p:nvSpPr>
        <p:spPr>
          <a:xfrm>
            <a:off x="3214539" y="750094"/>
            <a:ext cx="1312364" cy="29170"/>
          </a:xfrm>
          <a:custGeom>
            <a:avLst/>
            <a:gdLst/>
            <a:ahLst/>
            <a:cxnLst/>
            <a:rect l="l" t="t" r="r" b="b"/>
            <a:pathLst>
              <a:path w="1312364" h="29170">
                <a:moveTo>
                  <a:pt x="57150" y="0"/>
                </a:moveTo>
                <a:lnTo>
                  <a:pt x="1255214" y="0"/>
                </a:lnTo>
                <a:lnTo>
                  <a:pt x="1275301" y="3646"/>
                </a:lnTo>
                <a:lnTo>
                  <a:pt x="1283149" y="7293"/>
                </a:lnTo>
                <a:lnTo>
                  <a:pt x="1288839" y="10939"/>
                </a:lnTo>
                <a:lnTo>
                  <a:pt x="1293350" y="14585"/>
                </a:lnTo>
                <a:lnTo>
                  <a:pt x="1297065" y="18231"/>
                </a:lnTo>
                <a:lnTo>
                  <a:pt x="1300181" y="21878"/>
                </a:lnTo>
                <a:lnTo>
                  <a:pt x="1302816" y="25524"/>
                </a:lnTo>
                <a:lnTo>
                  <a:pt x="1305046" y="29170"/>
                </a:lnTo>
                <a:lnTo>
                  <a:pt x="7318" y="29170"/>
                </a:lnTo>
                <a:lnTo>
                  <a:pt x="9548" y="25524"/>
                </a:lnTo>
                <a:lnTo>
                  <a:pt x="12183" y="21878"/>
                </a:lnTo>
                <a:lnTo>
                  <a:pt x="15299" y="18231"/>
                </a:lnTo>
                <a:lnTo>
                  <a:pt x="19014" y="14585"/>
                </a:lnTo>
                <a:lnTo>
                  <a:pt x="23525" y="10939"/>
                </a:lnTo>
                <a:lnTo>
                  <a:pt x="29215" y="7293"/>
                </a:lnTo>
                <a:lnTo>
                  <a:pt x="37063" y="3646"/>
                </a:lnTo>
                <a:close/>
              </a:path>
            </a:pathLst>
          </a:custGeom>
          <a:solidFill>
            <a:srgbClr val="3A9E6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4" name="Text 89"/>
          <p:cNvSpPr/>
          <p:nvPr/>
        </p:nvSpPr>
        <p:spPr>
          <a:xfrm>
            <a:off x="4616946" y="750094"/>
            <a:ext cx="1312516" cy="29170"/>
          </a:xfrm>
          <a:custGeom>
            <a:avLst/>
            <a:gdLst/>
            <a:ahLst/>
            <a:cxnLst/>
            <a:rect l="l" t="t" r="r" b="b"/>
            <a:pathLst>
              <a:path w="1312516" h="29170">
                <a:moveTo>
                  <a:pt x="57150" y="0"/>
                </a:moveTo>
                <a:lnTo>
                  <a:pt x="1255366" y="0"/>
                </a:lnTo>
                <a:lnTo>
                  <a:pt x="1275453" y="3646"/>
                </a:lnTo>
                <a:lnTo>
                  <a:pt x="1283301" y="7293"/>
                </a:lnTo>
                <a:lnTo>
                  <a:pt x="1288992" y="10939"/>
                </a:lnTo>
                <a:lnTo>
                  <a:pt x="1293502" y="14585"/>
                </a:lnTo>
                <a:lnTo>
                  <a:pt x="1297217" y="18231"/>
                </a:lnTo>
                <a:lnTo>
                  <a:pt x="1300333" y="21878"/>
                </a:lnTo>
                <a:lnTo>
                  <a:pt x="1302968" y="25524"/>
                </a:lnTo>
                <a:lnTo>
                  <a:pt x="1305199" y="29170"/>
                </a:lnTo>
                <a:lnTo>
                  <a:pt x="7318" y="29170"/>
                </a:lnTo>
                <a:lnTo>
                  <a:pt x="9548" y="25524"/>
                </a:lnTo>
                <a:lnTo>
                  <a:pt x="12183" y="21878"/>
                </a:lnTo>
                <a:lnTo>
                  <a:pt x="15299" y="18231"/>
                </a:lnTo>
                <a:lnTo>
                  <a:pt x="19014" y="14585"/>
                </a:lnTo>
                <a:lnTo>
                  <a:pt x="23525" y="10939"/>
                </a:lnTo>
                <a:lnTo>
                  <a:pt x="29215" y="7293"/>
                </a:lnTo>
                <a:lnTo>
                  <a:pt x="37063" y="3646"/>
                </a:lnTo>
                <a:close/>
              </a:path>
            </a:pathLst>
          </a:custGeom>
          <a:solidFill>
            <a:srgbClr val="D4A01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5" name="Text 90"/>
          <p:cNvSpPr/>
          <p:nvPr/>
        </p:nvSpPr>
        <p:spPr>
          <a:xfrm>
            <a:off x="6019502" y="750094"/>
            <a:ext cx="1312364" cy="29170"/>
          </a:xfrm>
          <a:custGeom>
            <a:avLst/>
            <a:gdLst/>
            <a:ahLst/>
            <a:cxnLst/>
            <a:rect l="l" t="t" r="r" b="b"/>
            <a:pathLst>
              <a:path w="1312364" h="29170">
                <a:moveTo>
                  <a:pt x="57150" y="0"/>
                </a:moveTo>
                <a:lnTo>
                  <a:pt x="1255214" y="0"/>
                </a:lnTo>
                <a:lnTo>
                  <a:pt x="1275301" y="3646"/>
                </a:lnTo>
                <a:lnTo>
                  <a:pt x="1283149" y="7293"/>
                </a:lnTo>
                <a:lnTo>
                  <a:pt x="1288839" y="10939"/>
                </a:lnTo>
                <a:lnTo>
                  <a:pt x="1293350" y="14585"/>
                </a:lnTo>
                <a:lnTo>
                  <a:pt x="1297065" y="18231"/>
                </a:lnTo>
                <a:lnTo>
                  <a:pt x="1300181" y="21878"/>
                </a:lnTo>
                <a:lnTo>
                  <a:pt x="1302816" y="25524"/>
                </a:lnTo>
                <a:lnTo>
                  <a:pt x="1305046" y="29170"/>
                </a:lnTo>
                <a:lnTo>
                  <a:pt x="7318" y="29170"/>
                </a:lnTo>
                <a:lnTo>
                  <a:pt x="9548" y="25524"/>
                </a:lnTo>
                <a:lnTo>
                  <a:pt x="12183" y="21878"/>
                </a:lnTo>
                <a:lnTo>
                  <a:pt x="15299" y="18231"/>
                </a:lnTo>
                <a:lnTo>
                  <a:pt x="19014" y="14585"/>
                </a:lnTo>
                <a:lnTo>
                  <a:pt x="23525" y="10939"/>
                </a:lnTo>
                <a:lnTo>
                  <a:pt x="29215" y="7293"/>
                </a:lnTo>
                <a:lnTo>
                  <a:pt x="37063" y="3646"/>
                </a:lnTo>
                <a:close/>
              </a:path>
            </a:pathLst>
          </a:custGeom>
          <a:solidFill>
            <a:srgbClr val="C95A2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6" name="Text 91"/>
          <p:cNvSpPr/>
          <p:nvPr/>
        </p:nvSpPr>
        <p:spPr>
          <a:xfrm>
            <a:off x="7421910" y="750094"/>
            <a:ext cx="1312516" cy="29170"/>
          </a:xfrm>
          <a:custGeom>
            <a:avLst/>
            <a:gdLst/>
            <a:ahLst/>
            <a:cxnLst/>
            <a:rect l="l" t="t" r="r" b="b"/>
            <a:pathLst>
              <a:path w="1312516" h="29170">
                <a:moveTo>
                  <a:pt x="57150" y="0"/>
                </a:moveTo>
                <a:lnTo>
                  <a:pt x="1255366" y="0"/>
                </a:lnTo>
                <a:lnTo>
                  <a:pt x="1275453" y="3646"/>
                </a:lnTo>
                <a:lnTo>
                  <a:pt x="1283301" y="7293"/>
                </a:lnTo>
                <a:lnTo>
                  <a:pt x="1288992" y="10939"/>
                </a:lnTo>
                <a:lnTo>
                  <a:pt x="1293502" y="14585"/>
                </a:lnTo>
                <a:lnTo>
                  <a:pt x="1297217" y="18231"/>
                </a:lnTo>
                <a:lnTo>
                  <a:pt x="1300333" y="21878"/>
                </a:lnTo>
                <a:lnTo>
                  <a:pt x="1302968" y="25524"/>
                </a:lnTo>
                <a:lnTo>
                  <a:pt x="1305199" y="29170"/>
                </a:lnTo>
                <a:lnTo>
                  <a:pt x="7318" y="29170"/>
                </a:lnTo>
                <a:lnTo>
                  <a:pt x="9548" y="25524"/>
                </a:lnTo>
                <a:lnTo>
                  <a:pt x="12183" y="21878"/>
                </a:lnTo>
                <a:lnTo>
                  <a:pt x="15299" y="18231"/>
                </a:lnTo>
                <a:lnTo>
                  <a:pt x="19014" y="14585"/>
                </a:lnTo>
                <a:lnTo>
                  <a:pt x="23525" y="10939"/>
                </a:lnTo>
                <a:lnTo>
                  <a:pt x="29215" y="7293"/>
                </a:lnTo>
                <a:lnTo>
                  <a:pt x="37063" y="3646"/>
                </a:lnTo>
                <a:close/>
              </a:path>
            </a:pathLst>
          </a:custGeom>
          <a:solidFill>
            <a:srgbClr val="2A9BA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94AFC8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94AFC8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E8A020"/>
              </a:gs>
              <a:gs pos="70000">
                <a:srgbClr val="E8A020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29170" cy="5143500"/>
          </a:xfrm>
          <a:prstGeom prst="rect">
            <a:avLst/>
          </a:prstGeom>
          <a:gradFill rotWithShape="1">
            <a:gsLst>
              <a:gs pos="0">
                <a:srgbClr val="E8A020"/>
              </a:gs>
              <a:gs pos="100000">
                <a:srgbClr val="E8A020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9000" y="1428750"/>
            <a:ext cx="2286000" cy="2286000"/>
          </a:xfrm>
          <a:prstGeom prst="ellipse">
            <a:avLst/>
          </a:prstGeom>
          <a:gradFill rotWithShape="1">
            <a:gsLst>
              <a:gs pos="0">
                <a:srgbClr val="E8A020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0050" y="1466106"/>
            <a:ext cx="840105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4000">
                <a:srgbClr val="94AFC8">
                  <a:alpha val="25000"/>
                </a:srgbClr>
              </a:gs>
              <a:gs pos="96000">
                <a:srgbClr val="94AFC8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7064" y="1273076"/>
            <a:ext cx="386060" cy="386060"/>
          </a:xfrm>
          <a:prstGeom prst="ellipse">
            <a:avLst/>
          </a:prstGeom>
          <a:solidFill>
            <a:srgbClr val="1A2E42"/>
          </a:solidFill>
          <a:ln w="9525">
            <a:solidFill>
              <a:srgbClr val="94AFC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725" y="1399737"/>
            <a:ext cx="132588" cy="1325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1988" y="1716286"/>
            <a:ext cx="19383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620" dirty="0"/>
          </a:p>
        </p:txBody>
      </p:sp>
      <p:sp>
        <p:nvSpPr>
          <p:cNvPr id="11" name="Text 8"/>
          <p:cNvSpPr/>
          <p:nvPr/>
        </p:nvSpPr>
        <p:spPr>
          <a:xfrm>
            <a:off x="436467" y="1869728"/>
            <a:ext cx="627105" cy="21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6"/>
              </a:lnSpc>
              <a:buNone/>
            </a:pPr>
            <a:r>
              <a:rPr lang="en-US" sz="590" dirty="0">
                <a:solidFill>
                  <a:srgbClr val="F0F4F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&amp; MFA</a:t>
            </a:r>
            <a:endParaRPr lang="en-US" sz="590" dirty="0"/>
          </a:p>
        </p:txBody>
      </p:sp>
      <p:sp>
        <p:nvSpPr>
          <p:cNvPr id="12" name="Text 9"/>
          <p:cNvSpPr/>
          <p:nvPr/>
        </p:nvSpPr>
        <p:spPr>
          <a:xfrm>
            <a:off x="1257151" y="1273076"/>
            <a:ext cx="386060" cy="386060"/>
          </a:xfrm>
          <a:prstGeom prst="ellipse">
            <a:avLst/>
          </a:prstGeom>
          <a:solidFill>
            <a:srgbClr val="1A2E42"/>
          </a:solidFill>
          <a:ln w="9525">
            <a:solidFill>
              <a:srgbClr val="94AFC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3813" y="1399737"/>
            <a:ext cx="132588" cy="1325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62075" y="1716286"/>
            <a:ext cx="19367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620" dirty="0"/>
          </a:p>
        </p:txBody>
      </p:sp>
      <p:sp>
        <p:nvSpPr>
          <p:cNvPr id="15" name="Text 11"/>
          <p:cNvSpPr/>
          <p:nvPr/>
        </p:nvSpPr>
        <p:spPr>
          <a:xfrm>
            <a:off x="1136554" y="1869728"/>
            <a:ext cx="627105" cy="21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6"/>
              </a:lnSpc>
              <a:buNone/>
            </a:pPr>
            <a:r>
              <a:rPr lang="en-US" sz="590" dirty="0">
                <a:solidFill>
                  <a:srgbClr val="F0F4F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&amp; Email Threats</a:t>
            </a:r>
            <a:endParaRPr lang="en-US" sz="590" dirty="0"/>
          </a:p>
        </p:txBody>
      </p:sp>
      <p:sp>
        <p:nvSpPr>
          <p:cNvPr id="16" name="Text 12"/>
          <p:cNvSpPr/>
          <p:nvPr/>
        </p:nvSpPr>
        <p:spPr>
          <a:xfrm>
            <a:off x="1957239" y="1273076"/>
            <a:ext cx="386060" cy="386060"/>
          </a:xfrm>
          <a:prstGeom prst="ellipse">
            <a:avLst/>
          </a:prstGeom>
          <a:solidFill>
            <a:srgbClr val="1A2E42"/>
          </a:solidFill>
          <a:ln w="9525">
            <a:solidFill>
              <a:srgbClr val="94AFC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83900" y="1399737"/>
            <a:ext cx="132588" cy="132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51298" y="1716286"/>
            <a:ext cx="21773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620" dirty="0"/>
          </a:p>
        </p:txBody>
      </p:sp>
      <p:sp>
        <p:nvSpPr>
          <p:cNvPr id="19" name="Text 14"/>
          <p:cNvSpPr/>
          <p:nvPr/>
        </p:nvSpPr>
        <p:spPr>
          <a:xfrm>
            <a:off x="1836642" y="1869728"/>
            <a:ext cx="627105" cy="21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6"/>
              </a:lnSpc>
              <a:buNone/>
            </a:pPr>
            <a:r>
              <a:rPr lang="en-US" sz="590" dirty="0">
                <a:solidFill>
                  <a:srgbClr val="F0F4F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&amp; Protection</a:t>
            </a:r>
            <a:endParaRPr lang="en-US" sz="590" dirty="0"/>
          </a:p>
        </p:txBody>
      </p:sp>
      <p:sp>
        <p:nvSpPr>
          <p:cNvPr id="20" name="Text 15"/>
          <p:cNvSpPr/>
          <p:nvPr/>
        </p:nvSpPr>
        <p:spPr>
          <a:xfrm>
            <a:off x="2657326" y="1273076"/>
            <a:ext cx="386060" cy="386060"/>
          </a:xfrm>
          <a:prstGeom prst="ellipse">
            <a:avLst/>
          </a:prstGeom>
          <a:solidFill>
            <a:srgbClr val="1A2E42"/>
          </a:solidFill>
          <a:ln w="9525">
            <a:solidFill>
              <a:srgbClr val="94AFC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83988" y="1399737"/>
            <a:ext cx="132588" cy="1325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757934" y="1716286"/>
            <a:ext cx="20332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620" dirty="0"/>
          </a:p>
        </p:txBody>
      </p:sp>
      <p:sp>
        <p:nvSpPr>
          <p:cNvPr id="23" name="Text 17"/>
          <p:cNvSpPr/>
          <p:nvPr/>
        </p:nvSpPr>
        <p:spPr>
          <a:xfrm>
            <a:off x="2536729" y="1869728"/>
            <a:ext cx="627105" cy="318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6"/>
              </a:lnSpc>
              <a:buNone/>
            </a:pPr>
            <a:r>
              <a:rPr lang="en-US" sz="590" dirty="0">
                <a:solidFill>
                  <a:srgbClr val="F0F4F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&amp; Fraud</a:t>
            </a:r>
            <a:endParaRPr lang="en-US" sz="590" dirty="0"/>
          </a:p>
        </p:txBody>
      </p:sp>
      <p:sp>
        <p:nvSpPr>
          <p:cNvPr id="24" name="Text 18"/>
          <p:cNvSpPr/>
          <p:nvPr/>
        </p:nvSpPr>
        <p:spPr>
          <a:xfrm>
            <a:off x="3295501" y="1115616"/>
            <a:ext cx="520083" cy="119211"/>
          </a:xfrm>
          <a:prstGeom prst="roundRect">
            <a:avLst>
              <a:gd name="adj" fmla="val 120383"/>
            </a:avLst>
          </a:prstGeom>
          <a:solidFill>
            <a:srgbClr val="E8A020"/>
          </a:solidFill>
          <a:ln/>
        </p:spPr>
        <p:txBody>
          <a:bodyPr wrap="none" lIns="57150" tIns="13970" rIns="57150" bIns="13970" rtlCol="0" anchor="t"/>
          <a:lstStyle/>
          <a:p>
            <a:pPr marL="0" indent="0" algn="l">
              <a:buNone/>
            </a:pPr>
            <a:r>
              <a:rPr lang="en-US" sz="480" b="1" kern="0" spc="48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MAY 2026</a:t>
            </a:r>
            <a:endParaRPr lang="en-US" sz="480" dirty="0"/>
          </a:p>
        </p:txBody>
      </p:sp>
      <p:sp>
        <p:nvSpPr>
          <p:cNvPr id="25" name="Text 19"/>
          <p:cNvSpPr/>
          <p:nvPr/>
        </p:nvSpPr>
        <p:spPr>
          <a:xfrm>
            <a:off x="3357414" y="1273076"/>
            <a:ext cx="386060" cy="386060"/>
          </a:xfrm>
          <a:prstGeom prst="ellipse">
            <a:avLst/>
          </a:prstGeom>
          <a:solidFill>
            <a:srgbClr val="E8A020"/>
          </a:solidFill>
          <a:ln w="9525">
            <a:solidFill>
              <a:srgbClr val="E8A020"/>
            </a:solidFill>
          </a:ln>
          <a:effectLst>
            <a:outerShdw blurRad="101600" dist="50800" dir="16200000" algn="bl" rotWithShape="0">
              <a:srgbClr val="E8A020">
                <a:alpha val="3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4075" y="1399737"/>
            <a:ext cx="132588" cy="1325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57277" y="1716286"/>
            <a:ext cx="20496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620" dirty="0"/>
          </a:p>
        </p:txBody>
      </p:sp>
      <p:sp>
        <p:nvSpPr>
          <p:cNvPr id="28" name="Text 21"/>
          <p:cNvSpPr/>
          <p:nvPr/>
        </p:nvSpPr>
        <p:spPr>
          <a:xfrm>
            <a:off x="3236817" y="1869728"/>
            <a:ext cx="627105" cy="21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6"/>
              </a:lnSpc>
              <a:buNone/>
            </a:pPr>
            <a:r>
              <a:rPr lang="en-US" sz="59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Threats &amp; Deepfakes</a:t>
            </a:r>
            <a:endParaRPr lang="en-US" sz="590" dirty="0"/>
          </a:p>
        </p:txBody>
      </p:sp>
      <p:sp>
        <p:nvSpPr>
          <p:cNvPr id="29" name="Text 22"/>
          <p:cNvSpPr/>
          <p:nvPr/>
        </p:nvSpPr>
        <p:spPr>
          <a:xfrm>
            <a:off x="4057501" y="1273076"/>
            <a:ext cx="386060" cy="386060"/>
          </a:xfrm>
          <a:prstGeom prst="ellipse">
            <a:avLst/>
          </a:prstGeom>
          <a:solidFill>
            <a:srgbClr val="1A2E42"/>
          </a:solidFill>
          <a:ln w="9525">
            <a:solidFill>
              <a:srgbClr val="94AFC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84163" y="1399737"/>
            <a:ext cx="132588" cy="13258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162425" y="1716286"/>
            <a:ext cx="19383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620" dirty="0"/>
          </a:p>
        </p:txBody>
      </p:sp>
      <p:sp>
        <p:nvSpPr>
          <p:cNvPr id="32" name="Text 24"/>
          <p:cNvSpPr/>
          <p:nvPr/>
        </p:nvSpPr>
        <p:spPr>
          <a:xfrm>
            <a:off x="3936904" y="1869728"/>
            <a:ext cx="627105" cy="21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6"/>
              </a:lnSpc>
              <a:buNone/>
            </a:pPr>
            <a:r>
              <a:rPr lang="en-US" sz="590" dirty="0">
                <a:solidFill>
                  <a:srgbClr val="F0F4F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Remote Work Security</a:t>
            </a:r>
            <a:endParaRPr lang="en-US" sz="590" dirty="0"/>
          </a:p>
        </p:txBody>
      </p:sp>
      <p:sp>
        <p:nvSpPr>
          <p:cNvPr id="33" name="Text 25"/>
          <p:cNvSpPr/>
          <p:nvPr/>
        </p:nvSpPr>
        <p:spPr>
          <a:xfrm>
            <a:off x="4757589" y="1273076"/>
            <a:ext cx="386060" cy="386060"/>
          </a:xfrm>
          <a:prstGeom prst="ellipse">
            <a:avLst/>
          </a:prstGeom>
          <a:solidFill>
            <a:srgbClr val="1A2E42"/>
          </a:solidFill>
          <a:ln w="9525">
            <a:solidFill>
              <a:srgbClr val="94AFC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84250" y="1399737"/>
            <a:ext cx="132588" cy="13258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866829" y="1716286"/>
            <a:ext cx="18417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620" dirty="0"/>
          </a:p>
        </p:txBody>
      </p:sp>
      <p:sp>
        <p:nvSpPr>
          <p:cNvPr id="36" name="Text 27"/>
          <p:cNvSpPr/>
          <p:nvPr/>
        </p:nvSpPr>
        <p:spPr>
          <a:xfrm>
            <a:off x="4636992" y="1869728"/>
            <a:ext cx="627105" cy="21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6"/>
              </a:lnSpc>
              <a:buNone/>
            </a:pPr>
            <a:r>
              <a:rPr lang="en-US" sz="590" dirty="0">
                <a:solidFill>
                  <a:srgbClr val="F0F4F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Threats &amp; Behavioral Risk</a:t>
            </a:r>
            <a:endParaRPr lang="en-US" sz="590" dirty="0"/>
          </a:p>
        </p:txBody>
      </p:sp>
      <p:sp>
        <p:nvSpPr>
          <p:cNvPr id="37" name="Text 28"/>
          <p:cNvSpPr/>
          <p:nvPr/>
        </p:nvSpPr>
        <p:spPr>
          <a:xfrm>
            <a:off x="5457676" y="1273076"/>
            <a:ext cx="386060" cy="386060"/>
          </a:xfrm>
          <a:prstGeom prst="ellipse">
            <a:avLst/>
          </a:prstGeom>
          <a:solidFill>
            <a:srgbClr val="1A2E42"/>
          </a:solidFill>
          <a:ln w="9525">
            <a:solidFill>
              <a:srgbClr val="94AFC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84338" y="1399737"/>
            <a:ext cx="132588" cy="13258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553819" y="1716286"/>
            <a:ext cx="21298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620" dirty="0"/>
          </a:p>
        </p:txBody>
      </p:sp>
      <p:sp>
        <p:nvSpPr>
          <p:cNvPr id="40" name="Text 30"/>
          <p:cNvSpPr/>
          <p:nvPr/>
        </p:nvSpPr>
        <p:spPr>
          <a:xfrm>
            <a:off x="5337079" y="1869728"/>
            <a:ext cx="627105" cy="318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6"/>
              </a:lnSpc>
              <a:buNone/>
            </a:pPr>
            <a:r>
              <a:rPr lang="en-US" sz="590" dirty="0">
                <a:solidFill>
                  <a:srgbClr val="F0F4F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&amp; Business Continuity</a:t>
            </a:r>
            <a:endParaRPr lang="en-US" sz="590" dirty="0"/>
          </a:p>
        </p:txBody>
      </p:sp>
      <p:sp>
        <p:nvSpPr>
          <p:cNvPr id="41" name="Text 31"/>
          <p:cNvSpPr/>
          <p:nvPr/>
        </p:nvSpPr>
        <p:spPr>
          <a:xfrm>
            <a:off x="6157764" y="1273076"/>
            <a:ext cx="386060" cy="386060"/>
          </a:xfrm>
          <a:prstGeom prst="ellipse">
            <a:avLst/>
          </a:prstGeom>
          <a:solidFill>
            <a:srgbClr val="1A2E42"/>
          </a:solidFill>
          <a:ln w="9525">
            <a:solidFill>
              <a:srgbClr val="94AFC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84425" y="1399737"/>
            <a:ext cx="132588" cy="13258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6262688" y="1716286"/>
            <a:ext cx="19383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620" dirty="0"/>
          </a:p>
        </p:txBody>
      </p:sp>
      <p:sp>
        <p:nvSpPr>
          <p:cNvPr id="44" name="Text 33"/>
          <p:cNvSpPr/>
          <p:nvPr/>
        </p:nvSpPr>
        <p:spPr>
          <a:xfrm>
            <a:off x="6037167" y="1869728"/>
            <a:ext cx="627105" cy="21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6"/>
              </a:lnSpc>
              <a:buNone/>
            </a:pPr>
            <a:r>
              <a:rPr lang="en-US" sz="590" dirty="0">
                <a:solidFill>
                  <a:srgbClr val="F0F4F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&amp; Vendor Risk</a:t>
            </a:r>
            <a:endParaRPr lang="en-US" sz="590" dirty="0"/>
          </a:p>
        </p:txBody>
      </p:sp>
      <p:sp>
        <p:nvSpPr>
          <p:cNvPr id="45" name="Text 34"/>
          <p:cNvSpPr/>
          <p:nvPr/>
        </p:nvSpPr>
        <p:spPr>
          <a:xfrm>
            <a:off x="6857851" y="1273076"/>
            <a:ext cx="386060" cy="386060"/>
          </a:xfrm>
          <a:prstGeom prst="ellipse">
            <a:avLst/>
          </a:prstGeom>
          <a:solidFill>
            <a:srgbClr val="E8A020">
              <a:alpha val="8000"/>
            </a:srgbClr>
          </a:solidFill>
          <a:ln w="9525">
            <a:solidFill>
              <a:srgbClr val="E8A020">
                <a:alpha val="4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84513" y="1399737"/>
            <a:ext cx="132588" cy="132588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6958459" y="1716286"/>
            <a:ext cx="20332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0" dirty="0">
                <a:solidFill>
                  <a:srgbClr val="E8A02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620" dirty="0"/>
          </a:p>
        </p:txBody>
      </p:sp>
      <p:sp>
        <p:nvSpPr>
          <p:cNvPr id="48" name="Text 36"/>
          <p:cNvSpPr/>
          <p:nvPr/>
        </p:nvSpPr>
        <p:spPr>
          <a:xfrm>
            <a:off x="6737254" y="1869728"/>
            <a:ext cx="627105" cy="318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6"/>
              </a:lnSpc>
              <a:buNone/>
            </a:pPr>
            <a:r>
              <a:rPr lang="en-US" sz="590" b="1" dirty="0">
                <a:solidFill>
                  <a:srgbClr val="E8A02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Awareness Month</a:t>
            </a:r>
            <a:endParaRPr lang="en-US" sz="590" dirty="0"/>
          </a:p>
        </p:txBody>
      </p:sp>
      <p:sp>
        <p:nvSpPr>
          <p:cNvPr id="49" name="Text 37"/>
          <p:cNvSpPr/>
          <p:nvPr/>
        </p:nvSpPr>
        <p:spPr>
          <a:xfrm>
            <a:off x="6837090" y="2146548"/>
            <a:ext cx="427583" cy="130452"/>
          </a:xfrm>
          <a:prstGeom prst="roundRect">
            <a:avLst>
              <a:gd name="adj" fmla="val 54518"/>
            </a:avLst>
          </a:prstGeom>
          <a:solidFill>
            <a:srgbClr val="E8A020">
              <a:alpha val="18000"/>
            </a:srgbClr>
          </a:solidFill>
          <a:ln w="9525">
            <a:solidFill>
              <a:srgbClr val="E8A020">
                <a:alpha val="40000"/>
              </a:srgbClr>
            </a:solidFill>
          </a:ln>
        </p:spPr>
        <p:txBody>
          <a:bodyPr wrap="none" lIns="43180" tIns="13970" rIns="43180" bIns="13970" rtlCol="0" anchor="t"/>
          <a:lstStyle/>
          <a:p>
            <a:pPr marL="0" indent="0" algn="l">
              <a:buNone/>
            </a:pPr>
            <a:r>
              <a:rPr lang="en-US" sz="420" b="1" kern="0" spc="25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SPECIAL</a:t>
            </a:r>
            <a:endParaRPr lang="en-US" sz="420" dirty="0"/>
          </a:p>
        </p:txBody>
      </p:sp>
      <p:sp>
        <p:nvSpPr>
          <p:cNvPr id="50" name="Text 38"/>
          <p:cNvSpPr/>
          <p:nvPr/>
        </p:nvSpPr>
        <p:spPr>
          <a:xfrm>
            <a:off x="7557939" y="1273076"/>
            <a:ext cx="386060" cy="386060"/>
          </a:xfrm>
          <a:prstGeom prst="ellipse">
            <a:avLst/>
          </a:prstGeom>
          <a:solidFill>
            <a:srgbClr val="1A2E42"/>
          </a:solidFill>
          <a:ln w="9525">
            <a:solidFill>
              <a:srgbClr val="94AFC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84600" y="1399737"/>
            <a:ext cx="132588" cy="132588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7656314" y="1716286"/>
            <a:ext cx="20824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620" dirty="0"/>
          </a:p>
        </p:txBody>
      </p:sp>
      <p:sp>
        <p:nvSpPr>
          <p:cNvPr id="53" name="Text 40"/>
          <p:cNvSpPr/>
          <p:nvPr/>
        </p:nvSpPr>
        <p:spPr>
          <a:xfrm>
            <a:off x="7437342" y="1869728"/>
            <a:ext cx="627105" cy="21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6"/>
              </a:lnSpc>
              <a:buNone/>
            </a:pPr>
            <a:r>
              <a:rPr lang="en-US" sz="590" dirty="0">
                <a:solidFill>
                  <a:srgbClr val="F0F4F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 &amp; Wire Fraud</a:t>
            </a:r>
            <a:endParaRPr lang="en-US" sz="590" dirty="0"/>
          </a:p>
        </p:txBody>
      </p:sp>
      <p:sp>
        <p:nvSpPr>
          <p:cNvPr id="54" name="Text 41"/>
          <p:cNvSpPr/>
          <p:nvPr/>
        </p:nvSpPr>
        <p:spPr>
          <a:xfrm>
            <a:off x="8258026" y="1273076"/>
            <a:ext cx="386060" cy="386060"/>
          </a:xfrm>
          <a:prstGeom prst="ellipse">
            <a:avLst/>
          </a:prstGeom>
          <a:solidFill>
            <a:srgbClr val="1A2E42"/>
          </a:solidFill>
          <a:ln w="9525">
            <a:solidFill>
              <a:srgbClr val="94AFC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5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384688" y="1399737"/>
            <a:ext cx="132588" cy="132588"/>
          </a:xfrm>
          <a:prstGeom prst="rect">
            <a:avLst/>
          </a:prstGeom>
        </p:spPr>
      </p:pic>
      <p:sp>
        <p:nvSpPr>
          <p:cNvPr id="56" name="Text 42"/>
          <p:cNvSpPr/>
          <p:nvPr/>
        </p:nvSpPr>
        <p:spPr>
          <a:xfrm>
            <a:off x="8358634" y="1716286"/>
            <a:ext cx="20332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620" dirty="0"/>
          </a:p>
        </p:txBody>
      </p:sp>
      <p:sp>
        <p:nvSpPr>
          <p:cNvPr id="57" name="Text 43"/>
          <p:cNvSpPr/>
          <p:nvPr/>
        </p:nvSpPr>
        <p:spPr>
          <a:xfrm>
            <a:off x="8137429" y="1869728"/>
            <a:ext cx="627105" cy="21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6"/>
              </a:lnSpc>
              <a:buNone/>
            </a:pPr>
            <a:r>
              <a:rPr lang="en-US" sz="590" dirty="0">
                <a:solidFill>
                  <a:srgbClr val="F0F4F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Review &amp; Holiday Scams</a:t>
            </a:r>
            <a:endParaRPr lang="en-US" sz="590" dirty="0"/>
          </a:p>
        </p:txBody>
      </p:sp>
      <p:sp>
        <p:nvSpPr>
          <p:cNvPr id="58" name="Text 44"/>
          <p:cNvSpPr/>
          <p:nvPr/>
        </p:nvSpPr>
        <p:spPr>
          <a:xfrm>
            <a:off x="400050" y="309860"/>
            <a:ext cx="200620" cy="13841"/>
          </a:xfrm>
          <a:prstGeom prst="roundRect">
            <a:avLst>
              <a:gd name="adj" fmla="val 100932"/>
            </a:avLst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45"/>
          <p:cNvSpPr/>
          <p:nvPr/>
        </p:nvSpPr>
        <p:spPr>
          <a:xfrm>
            <a:off x="686991" y="257770"/>
            <a:ext cx="145015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PROGRAM ROADMAP</a:t>
            </a:r>
            <a:endParaRPr lang="en-US" sz="620" dirty="0"/>
          </a:p>
        </p:txBody>
      </p:sp>
      <p:sp>
        <p:nvSpPr>
          <p:cNvPr id="60" name="Text 46"/>
          <p:cNvSpPr/>
          <p:nvPr/>
        </p:nvSpPr>
        <p:spPr>
          <a:xfrm>
            <a:off x="400050" y="404961"/>
            <a:ext cx="8989124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kern="0" spc="-18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 Monthly Webinar Schedule </a:t>
            </a:r>
            <a:r>
              <a:rPr lang="en-US" sz="1800" kern="0" spc="-18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At a Glance</a:t>
            </a:r>
            <a:endParaRPr lang="en-US" sz="1800" dirty="0"/>
          </a:p>
        </p:txBody>
      </p:sp>
      <p:sp>
        <p:nvSpPr>
          <p:cNvPr id="61" name="Text 47"/>
          <p:cNvSpPr/>
          <p:nvPr/>
        </p:nvSpPr>
        <p:spPr>
          <a:xfrm>
            <a:off x="400050" y="710952"/>
            <a:ext cx="924115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spcBef>
                <a:spcPts val="340"/>
              </a:spcBef>
              <a:buNone/>
            </a:pPr>
            <a:r>
              <a:rPr lang="en-US" sz="7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sessions · CTI-informed · Role-based · Framework-aligned</a:t>
            </a:r>
            <a:endParaRPr lang="en-US" sz="790" dirty="0"/>
          </a:p>
        </p:txBody>
      </p:sp>
      <p:sp>
        <p:nvSpPr>
          <p:cNvPr id="62" name="Text 48"/>
          <p:cNvSpPr/>
          <p:nvPr/>
        </p:nvSpPr>
        <p:spPr>
          <a:xfrm>
            <a:off x="1394036" y="1062038"/>
            <a:ext cx="11214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94AFC8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510" dirty="0"/>
          </a:p>
        </p:txBody>
      </p:sp>
      <p:sp>
        <p:nvSpPr>
          <p:cNvPr id="63" name="Text 49"/>
          <p:cNvSpPr/>
          <p:nvPr/>
        </p:nvSpPr>
        <p:spPr>
          <a:xfrm>
            <a:off x="557510" y="1188244"/>
            <a:ext cx="1785193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64A0DC">
                  <a:alpha val="50000"/>
                </a:srgbClr>
              </a:gs>
              <a:gs pos="100000">
                <a:srgbClr val="64A0DC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0"/>
          <p:cNvSpPr/>
          <p:nvPr/>
        </p:nvSpPr>
        <p:spPr>
          <a:xfrm>
            <a:off x="3222047" y="1062038"/>
            <a:ext cx="656645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E8A020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CURRENT</a:t>
            </a:r>
            <a:endParaRPr lang="en-US" sz="510" dirty="0"/>
          </a:p>
        </p:txBody>
      </p:sp>
      <p:sp>
        <p:nvSpPr>
          <p:cNvPr id="65" name="Text 51"/>
          <p:cNvSpPr/>
          <p:nvPr/>
        </p:nvSpPr>
        <p:spPr>
          <a:xfrm>
            <a:off x="2657773" y="1188244"/>
            <a:ext cx="1785193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E8A020">
                  <a:alpha val="50000"/>
                </a:srgbClr>
              </a:gs>
              <a:gs pos="100000">
                <a:srgbClr val="E8A020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2"/>
          <p:cNvSpPr/>
          <p:nvPr/>
        </p:nvSpPr>
        <p:spPr>
          <a:xfrm>
            <a:off x="5594561" y="1062038"/>
            <a:ext cx="11214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94AFC8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510" dirty="0"/>
          </a:p>
        </p:txBody>
      </p:sp>
      <p:sp>
        <p:nvSpPr>
          <p:cNvPr id="67" name="Text 53"/>
          <p:cNvSpPr/>
          <p:nvPr/>
        </p:nvSpPr>
        <p:spPr>
          <a:xfrm>
            <a:off x="4758035" y="1188244"/>
            <a:ext cx="1785193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64A0DC">
                  <a:alpha val="50000"/>
                </a:srgbClr>
              </a:gs>
              <a:gs pos="100000">
                <a:srgbClr val="64A0DC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54"/>
          <p:cNvSpPr/>
          <p:nvPr/>
        </p:nvSpPr>
        <p:spPr>
          <a:xfrm>
            <a:off x="7694823" y="1062038"/>
            <a:ext cx="11214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94AFC8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510" dirty="0"/>
          </a:p>
        </p:txBody>
      </p:sp>
      <p:sp>
        <p:nvSpPr>
          <p:cNvPr id="69" name="Text 55"/>
          <p:cNvSpPr/>
          <p:nvPr/>
        </p:nvSpPr>
        <p:spPr>
          <a:xfrm>
            <a:off x="6858298" y="1188244"/>
            <a:ext cx="1785193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64A0DC">
                  <a:alpha val="50000"/>
                </a:srgbClr>
              </a:gs>
              <a:gs pos="100000">
                <a:srgbClr val="64A0DC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56"/>
          <p:cNvSpPr/>
          <p:nvPr/>
        </p:nvSpPr>
        <p:spPr>
          <a:xfrm>
            <a:off x="400050" y="4600724"/>
            <a:ext cx="8401050" cy="9525"/>
          </a:xfrm>
          <a:prstGeom prst="rect">
            <a:avLst/>
          </a:prstGeom>
          <a:solidFill>
            <a:srgbClr val="94AFC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57"/>
          <p:cNvSpPr/>
          <p:nvPr/>
        </p:nvSpPr>
        <p:spPr>
          <a:xfrm>
            <a:off x="400050" y="4726335"/>
            <a:ext cx="86320" cy="86320"/>
          </a:xfrm>
          <a:prstGeom prst="ellipse">
            <a:avLst/>
          </a:prstGeom>
          <a:solidFill>
            <a:srgbClr val="E8A020"/>
          </a:solidFill>
          <a:ln/>
          <a:effectLst>
            <a:outerShdw blurRad="43180" dist="50800" dir="16200000" algn="bl" rotWithShape="0">
              <a:srgbClr val="E8A020">
                <a:alpha val="3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58"/>
          <p:cNvSpPr/>
          <p:nvPr/>
        </p:nvSpPr>
        <p:spPr>
          <a:xfrm>
            <a:off x="529530" y="4710559"/>
            <a:ext cx="79743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Month (May)</a:t>
            </a:r>
            <a:endParaRPr lang="en-US" sz="620" dirty="0"/>
          </a:p>
        </p:txBody>
      </p:sp>
      <p:sp>
        <p:nvSpPr>
          <p:cNvPr id="73" name="Text 59"/>
          <p:cNvSpPr/>
          <p:nvPr/>
        </p:nvSpPr>
        <p:spPr>
          <a:xfrm>
            <a:off x="1397943" y="4726335"/>
            <a:ext cx="86320" cy="86320"/>
          </a:xfrm>
          <a:prstGeom prst="ellipse">
            <a:avLst/>
          </a:prstGeom>
          <a:solidFill>
            <a:srgbClr val="E8A020">
              <a:alpha val="8000"/>
            </a:srgbClr>
          </a:solidFill>
          <a:ln w="9525">
            <a:solidFill>
              <a:srgbClr val="E8A020">
                <a:alpha val="4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60"/>
          <p:cNvSpPr/>
          <p:nvPr/>
        </p:nvSpPr>
        <p:spPr>
          <a:xfrm>
            <a:off x="1527423" y="4710559"/>
            <a:ext cx="52862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Event</a:t>
            </a:r>
            <a:endParaRPr lang="en-US" sz="620" dirty="0"/>
          </a:p>
        </p:txBody>
      </p:sp>
      <p:sp>
        <p:nvSpPr>
          <p:cNvPr id="75" name="Text 61"/>
          <p:cNvSpPr/>
          <p:nvPr/>
        </p:nvSpPr>
        <p:spPr>
          <a:xfrm>
            <a:off x="2151459" y="4726335"/>
            <a:ext cx="86320" cy="86320"/>
          </a:xfrm>
          <a:prstGeom prst="ellipse">
            <a:avLst/>
          </a:prstGeom>
          <a:solidFill>
            <a:srgbClr val="1A2E42"/>
          </a:solidFill>
          <a:ln w="9525">
            <a:solidFill>
              <a:srgbClr val="94AFC8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62"/>
          <p:cNvSpPr/>
          <p:nvPr/>
        </p:nvSpPr>
        <p:spPr>
          <a:xfrm>
            <a:off x="2280940" y="4710559"/>
            <a:ext cx="72081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Session</a:t>
            </a:r>
            <a:endParaRPr lang="en-US" sz="620" dirty="0"/>
          </a:p>
        </p:txBody>
      </p:sp>
      <p:pic>
        <p:nvPicPr>
          <p:cNvPr id="77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236527" y="4703275"/>
            <a:ext cx="132588" cy="132588"/>
          </a:xfrm>
          <a:prstGeom prst="rect">
            <a:avLst/>
          </a:prstGeom>
        </p:spPr>
      </p:pic>
      <p:sp>
        <p:nvSpPr>
          <p:cNvPr id="78" name="Text 63"/>
          <p:cNvSpPr/>
          <p:nvPr/>
        </p:nvSpPr>
        <p:spPr>
          <a:xfrm>
            <a:off x="5378351" y="4710559"/>
            <a:ext cx="222237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Profile v2.2 · NIST CSF 2.0 · Human Risk Framework</a:t>
            </a:r>
            <a:endParaRPr lang="en-US" sz="620" dirty="0"/>
          </a:p>
        </p:txBody>
      </p:sp>
      <p:sp>
        <p:nvSpPr>
          <p:cNvPr id="79" name="Text 64"/>
          <p:cNvSpPr/>
          <p:nvPr/>
        </p:nvSpPr>
        <p:spPr>
          <a:xfrm>
            <a:off x="7512993" y="4726335"/>
            <a:ext cx="7590" cy="86320"/>
          </a:xfrm>
          <a:prstGeom prst="rect">
            <a:avLst/>
          </a:prstGeom>
          <a:solidFill>
            <a:srgbClr val="94AFC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65"/>
          <p:cNvSpPr/>
          <p:nvPr/>
        </p:nvSpPr>
        <p:spPr>
          <a:xfrm>
            <a:off x="7634883" y="4710559"/>
            <a:ext cx="12828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Sessions · Live &amp; On-Demand</a:t>
            </a:r>
            <a:endParaRPr lang="en-US" sz="6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2563EB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80000" t="50000" r="2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20000" t="70000" r="80000" b="3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E9F6E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40000" t="10000" r="60000" b="9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94AFC8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94AFC8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44644" y="921097"/>
            <a:ext cx="3345066" cy="7590"/>
          </a:xfrm>
          <a:prstGeom prst="rect">
            <a:avLst/>
          </a:prstGeom>
          <a:solidFill>
            <a:srgbClr val="94AFC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230832"/>
            <a:ext cx="1128364" cy="180231"/>
          </a:xfrm>
          <a:prstGeom prst="roundRect">
            <a:avLst>
              <a:gd name="adj" fmla="val 79626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lIns="86360" tIns="21590" rIns="86360" bIns="21590" rtlCol="0" anchor="t"/>
          <a:lstStyle/>
          <a:p>
            <a:pPr marL="0" indent="0" algn="l">
              <a:buNone/>
            </a:pPr>
            <a:r>
              <a:rPr lang="en-US" sz="620" b="1" kern="0" spc="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JAN – MAR 2026</a:t>
            </a:r>
            <a:endParaRPr lang="en-US" sz="620" dirty="0"/>
          </a:p>
        </p:txBody>
      </p:sp>
      <p:sp>
        <p:nvSpPr>
          <p:cNvPr id="9" name="Text 7"/>
          <p:cNvSpPr/>
          <p:nvPr/>
        </p:nvSpPr>
        <p:spPr>
          <a:xfrm>
            <a:off x="1620589" y="200620"/>
            <a:ext cx="5205436" cy="2406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96"/>
              </a:lnSpc>
              <a:buNone/>
            </a:pPr>
            <a:r>
              <a:rPr lang="en-US" sz="1580" kern="0" spc="-16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Q1 Themes: </a:t>
            </a:r>
            <a:r>
              <a:rPr lang="en-US" sz="1580" b="1" kern="0" spc="-16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Access Control, Phishing</a:t>
            </a:r>
            <a:r>
              <a:rPr lang="en-US" sz="1580" kern="0" spc="-16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&amp; Data Privacy</a:t>
            </a:r>
            <a:endParaRPr lang="en-US" sz="1580" dirty="0"/>
          </a:p>
        </p:txBody>
      </p:sp>
      <p:sp>
        <p:nvSpPr>
          <p:cNvPr id="10" name="Text 8"/>
          <p:cNvSpPr/>
          <p:nvPr/>
        </p:nvSpPr>
        <p:spPr>
          <a:xfrm>
            <a:off x="6599783" y="317153"/>
            <a:ext cx="965448" cy="7590"/>
          </a:xfrm>
          <a:prstGeom prst="rect">
            <a:avLst/>
          </a:prstGeom>
          <a:gradFill rotWithShape="1">
            <a:gsLst>
              <a:gs pos="0">
                <a:srgbClr val="E8A020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50816" y="254654"/>
            <a:ext cx="132588" cy="1325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90111" y="261937"/>
            <a:ext cx="104922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v2.2 · NIST CSF 2.0</a:t>
            </a:r>
            <a:endParaRPr lang="en-US" sz="620" dirty="0"/>
          </a:p>
        </p:txBody>
      </p:sp>
      <p:sp>
        <p:nvSpPr>
          <p:cNvPr id="13" name="Text 10"/>
          <p:cNvSpPr/>
          <p:nvPr/>
        </p:nvSpPr>
        <p:spPr>
          <a:xfrm>
            <a:off x="400050" y="555575"/>
            <a:ext cx="576560" cy="198254"/>
          </a:xfrm>
          <a:prstGeom prst="roundRect">
            <a:avLst>
              <a:gd name="adj" fmla="val 21780"/>
            </a:avLst>
          </a:prstGeom>
          <a:solidFill>
            <a:srgbClr val="2563EB">
              <a:alpha val="20000"/>
            </a:srgbClr>
          </a:solidFill>
          <a:ln w="9525">
            <a:solidFill>
              <a:srgbClr val="2563EB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</a:t>
            </a:r>
            <a:endParaRPr lang="en-US" sz="620" dirty="0"/>
          </a:p>
        </p:txBody>
      </p:sp>
      <p:sp>
        <p:nvSpPr>
          <p:cNvPr id="14" name="Text 11"/>
          <p:cNvSpPr/>
          <p:nvPr/>
        </p:nvSpPr>
        <p:spPr>
          <a:xfrm>
            <a:off x="1047601" y="565696"/>
            <a:ext cx="1280547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Access Control &amp; MFA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400050" y="871538"/>
            <a:ext cx="66155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CONTENT</a:t>
            </a:r>
            <a:endParaRPr lang="en-US" sz="560" dirty="0"/>
          </a:p>
        </p:txBody>
      </p:sp>
      <p:sp>
        <p:nvSpPr>
          <p:cNvPr id="16" name="Text 13"/>
          <p:cNvSpPr/>
          <p:nvPr/>
        </p:nvSpPr>
        <p:spPr>
          <a:xfrm>
            <a:off x="400050" y="1042839"/>
            <a:ext cx="35421" cy="35421"/>
          </a:xfrm>
          <a:prstGeom prst="ellipse">
            <a:avLst/>
          </a:prstGeom>
          <a:solidFill>
            <a:srgbClr val="60A5F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84882" y="1007418"/>
            <a:ext cx="4110618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Hygiene — enforce complexity, ban reuse, mandate rotation for privileged accounts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00050" y="1196280"/>
            <a:ext cx="35421" cy="35421"/>
          </a:xfrm>
          <a:prstGeom prst="ellipse">
            <a:avLst/>
          </a:prstGeom>
          <a:solidFill>
            <a:srgbClr val="60A5F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84882" y="1160859"/>
            <a:ext cx="3941668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Enrollment — all staff required; IT prioritizes phishing-resistant FIDO2 hardware keys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00050" y="1349722"/>
            <a:ext cx="35421" cy="35421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84882" y="1314301"/>
            <a:ext cx="3982900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Desk Social Engineering — attackers impersonate staff to reset MFA; verify via callback protocol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00050" y="1627584"/>
            <a:ext cx="3989636" cy="670620"/>
          </a:xfrm>
          <a:prstGeom prst="roundRect">
            <a:avLst>
              <a:gd name="adj" fmla="val 8522"/>
            </a:avLst>
          </a:prstGeom>
          <a:gradFill rotWithShape="1">
            <a:gsLst>
              <a:gs pos="0">
                <a:srgbClr val="E8A020">
                  <a:alpha val="7000"/>
                </a:srgbClr>
              </a:gs>
              <a:gs pos="50000">
                <a:srgbClr val="1A2E42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00050" y="1627584"/>
            <a:ext cx="19050" cy="670620"/>
          </a:xfrm>
          <a:custGeom>
            <a:avLst/>
            <a:gdLst/>
            <a:ahLst/>
            <a:cxnLst/>
            <a:rect l="l" t="t" r="r" b="b"/>
            <a:pathLst>
              <a:path w="19050" h="670620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656067"/>
                </a:lnTo>
                <a:lnTo>
                  <a:pt x="16669" y="653810"/>
                </a:lnTo>
                <a:lnTo>
                  <a:pt x="14288" y="651271"/>
                </a:lnTo>
                <a:lnTo>
                  <a:pt x="11906" y="648386"/>
                </a:lnTo>
                <a:lnTo>
                  <a:pt x="9525" y="645060"/>
                </a:lnTo>
                <a:lnTo>
                  <a:pt x="7144" y="641137"/>
                </a:lnTo>
                <a:lnTo>
                  <a:pt x="4763" y="636310"/>
                </a:lnTo>
                <a:lnTo>
                  <a:pt x="2381" y="629795"/>
                </a:lnTo>
                <a:lnTo>
                  <a:pt x="0" y="613470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99777" y="1701850"/>
            <a:ext cx="125238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56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 REAL-WORLD EXAMPLE</a:t>
            </a:r>
            <a:endParaRPr lang="en-US" sz="56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594" y="1688836"/>
            <a:ext cx="132588" cy="13258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05420" y="1837730"/>
            <a:ext cx="3864188" cy="405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 Resorts (2023)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Attacker sourced employee info via </a:t>
            </a:r>
            <a:r>
              <a:rPr lang="en-US" sz="7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called the Help Desk impersonating an employee to trigger MFA reset — granting full access.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malware needed.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400050" y="2362944"/>
            <a:ext cx="3989636" cy="670620"/>
          </a:xfrm>
          <a:prstGeom prst="roundRect">
            <a:avLst>
              <a:gd name="adj" fmla="val 8522"/>
            </a:avLst>
          </a:prstGeom>
          <a:gradFill rotWithShape="1">
            <a:gsLst>
              <a:gs pos="0">
                <a:srgbClr val="2563EB">
                  <a:alpha val="7000"/>
                </a:srgbClr>
              </a:gs>
              <a:gs pos="50000">
                <a:srgbClr val="1A2E42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00050" y="2362944"/>
            <a:ext cx="19050" cy="670620"/>
          </a:xfrm>
          <a:custGeom>
            <a:avLst/>
            <a:gdLst/>
            <a:ahLst/>
            <a:cxnLst/>
            <a:rect l="l" t="t" r="r" b="b"/>
            <a:pathLst>
              <a:path w="19050" h="670620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656067"/>
                </a:lnTo>
                <a:lnTo>
                  <a:pt x="16669" y="653810"/>
                </a:lnTo>
                <a:lnTo>
                  <a:pt x="14288" y="651271"/>
                </a:lnTo>
                <a:lnTo>
                  <a:pt x="11906" y="648386"/>
                </a:lnTo>
                <a:lnTo>
                  <a:pt x="9525" y="645060"/>
                </a:lnTo>
                <a:lnTo>
                  <a:pt x="7144" y="641137"/>
                </a:lnTo>
                <a:lnTo>
                  <a:pt x="4763" y="636310"/>
                </a:lnTo>
                <a:lnTo>
                  <a:pt x="2381" y="629795"/>
                </a:lnTo>
                <a:lnTo>
                  <a:pt x="0" y="613470"/>
                </a:lnTo>
                <a:close/>
              </a:path>
            </a:pathLst>
          </a:custGeom>
          <a:solidFill>
            <a:srgbClr val="60A5F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599777" y="2437209"/>
            <a:ext cx="75683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56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GUIDANCE</a:t>
            </a:r>
            <a:endParaRPr lang="en-US" sz="56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594" y="2424196"/>
            <a:ext cx="132588" cy="13258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05420" y="2573089"/>
            <a:ext cx="3864188" cy="405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Staff: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Enroll MFA before Jan 15 deadline |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IT/Security: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Enforce FIDO2 phishing-resistant keys for privileged users |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Desk: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Mandatory callback verification before any credential reset</a:t>
            </a:r>
            <a:endParaRPr lang="en-US" sz="700" dirty="0"/>
          </a:p>
        </p:txBody>
      </p:sp>
      <p:sp>
        <p:nvSpPr>
          <p:cNvPr id="32" name="Text 27"/>
          <p:cNvSpPr/>
          <p:nvPr/>
        </p:nvSpPr>
        <p:spPr>
          <a:xfrm>
            <a:off x="400050" y="3098304"/>
            <a:ext cx="3989636" cy="449163"/>
          </a:xfrm>
          <a:prstGeom prst="roundRect">
            <a:avLst>
              <a:gd name="adj" fmla="val 12724"/>
            </a:avLst>
          </a:prstGeom>
          <a:gradFill rotWithShape="1">
            <a:gsLst>
              <a:gs pos="0">
                <a:srgbClr val="7C3AED">
                  <a:alpha val="7000"/>
                </a:srgbClr>
              </a:gs>
              <a:gs pos="50000">
                <a:srgbClr val="1A2E42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400050" y="3098304"/>
            <a:ext cx="19050" cy="449163"/>
          </a:xfrm>
          <a:custGeom>
            <a:avLst/>
            <a:gdLst/>
            <a:ahLst/>
            <a:cxnLst/>
            <a:rect l="l" t="t" r="r" b="b"/>
            <a:pathLst>
              <a:path w="19050" h="449163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434610"/>
                </a:lnTo>
                <a:lnTo>
                  <a:pt x="16669" y="432354"/>
                </a:lnTo>
                <a:lnTo>
                  <a:pt x="14288" y="429814"/>
                </a:lnTo>
                <a:lnTo>
                  <a:pt x="11906" y="426929"/>
                </a:lnTo>
                <a:lnTo>
                  <a:pt x="9525" y="423604"/>
                </a:lnTo>
                <a:lnTo>
                  <a:pt x="7144" y="419681"/>
                </a:lnTo>
                <a:lnTo>
                  <a:pt x="4763" y="414853"/>
                </a:lnTo>
                <a:lnTo>
                  <a:pt x="2381" y="408338"/>
                </a:lnTo>
                <a:lnTo>
                  <a:pt x="0" y="392013"/>
                </a:lnTo>
                <a:close/>
              </a:path>
            </a:pathLst>
          </a:custGeom>
          <a:solidFill>
            <a:srgbClr val="A78BF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599777" y="3172569"/>
            <a:ext cx="90450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56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/ NIST MAPPING</a:t>
            </a:r>
            <a:endParaRPr lang="en-US" sz="56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8594" y="3159556"/>
            <a:ext cx="132588" cy="13258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05420" y="3308449"/>
            <a:ext cx="464641" cy="181228"/>
          </a:xfrm>
          <a:prstGeom prst="roundRect">
            <a:avLst>
              <a:gd name="adj" fmla="val 16118"/>
            </a:avLst>
          </a:prstGeom>
          <a:solidFill>
            <a:srgbClr val="7C3AED">
              <a:alpha val="18000"/>
            </a:srgbClr>
          </a:solidFill>
          <a:ln w="9525">
            <a:solidFill>
              <a:srgbClr val="7C3AED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PR.AC-1</a:t>
            </a:r>
            <a:endParaRPr lang="en-US" sz="620" dirty="0"/>
          </a:p>
        </p:txBody>
      </p:sp>
      <p:sp>
        <p:nvSpPr>
          <p:cNvPr id="37" name="Text 31"/>
          <p:cNvSpPr/>
          <p:nvPr/>
        </p:nvSpPr>
        <p:spPr>
          <a:xfrm>
            <a:off x="1013222" y="3308449"/>
            <a:ext cx="322659" cy="181228"/>
          </a:xfrm>
          <a:prstGeom prst="roundRect">
            <a:avLst>
              <a:gd name="adj" fmla="val 16118"/>
            </a:avLst>
          </a:prstGeom>
          <a:solidFill>
            <a:srgbClr val="7C3AED">
              <a:alpha val="18000"/>
            </a:srgbClr>
          </a:solidFill>
          <a:ln w="9525">
            <a:solidFill>
              <a:srgbClr val="7C3AED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IA-2</a:t>
            </a:r>
            <a:endParaRPr lang="en-US" sz="620" dirty="0"/>
          </a:p>
        </p:txBody>
      </p:sp>
      <p:sp>
        <p:nvSpPr>
          <p:cNvPr id="38" name="Text 32"/>
          <p:cNvSpPr/>
          <p:nvPr/>
        </p:nvSpPr>
        <p:spPr>
          <a:xfrm>
            <a:off x="1379041" y="3308449"/>
            <a:ext cx="464641" cy="181228"/>
          </a:xfrm>
          <a:prstGeom prst="roundRect">
            <a:avLst>
              <a:gd name="adj" fmla="val 16118"/>
            </a:avLst>
          </a:prstGeom>
          <a:solidFill>
            <a:srgbClr val="7C3AED">
              <a:alpha val="18000"/>
            </a:srgbClr>
          </a:solidFill>
          <a:ln w="9525">
            <a:solidFill>
              <a:srgbClr val="7C3AED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PR.AT-1</a:t>
            </a:r>
            <a:endParaRPr lang="en-US" sz="620" dirty="0"/>
          </a:p>
        </p:txBody>
      </p:sp>
      <p:sp>
        <p:nvSpPr>
          <p:cNvPr id="39" name="Text 33"/>
          <p:cNvSpPr/>
          <p:nvPr/>
        </p:nvSpPr>
        <p:spPr>
          <a:xfrm>
            <a:off x="1886843" y="3308449"/>
            <a:ext cx="464641" cy="181228"/>
          </a:xfrm>
          <a:prstGeom prst="roundRect">
            <a:avLst>
              <a:gd name="adj" fmla="val 16118"/>
            </a:avLst>
          </a:prstGeom>
          <a:solidFill>
            <a:srgbClr val="7C3AED">
              <a:alpha val="18000"/>
            </a:srgbClr>
          </a:solidFill>
          <a:ln w="9525">
            <a:solidFill>
              <a:srgbClr val="7C3AED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</a:t>
            </a:r>
            <a:endParaRPr lang="en-US" sz="620" dirty="0"/>
          </a:p>
        </p:txBody>
      </p:sp>
      <p:sp>
        <p:nvSpPr>
          <p:cNvPr id="40" name="Text 34"/>
          <p:cNvSpPr/>
          <p:nvPr/>
        </p:nvSpPr>
        <p:spPr>
          <a:xfrm>
            <a:off x="4561136" y="612725"/>
            <a:ext cx="21580" cy="38290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5000">
                <a:srgbClr val="E8A020">
                  <a:alpha val="35000"/>
                </a:srgbClr>
              </a:gs>
              <a:gs pos="85000">
                <a:srgbClr val="E8A020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4754166" y="555575"/>
            <a:ext cx="638919" cy="198254"/>
          </a:xfrm>
          <a:prstGeom prst="roundRect">
            <a:avLst>
              <a:gd name="adj" fmla="val 21780"/>
            </a:avLst>
          </a:prstGeom>
          <a:solidFill>
            <a:srgbClr val="7C3AED">
              <a:alpha val="20000"/>
            </a:srgbClr>
          </a:solidFill>
          <a:ln w="9525">
            <a:solidFill>
              <a:srgbClr val="7C3AED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</a:t>
            </a:r>
            <a:endParaRPr lang="en-US" sz="620" dirty="0"/>
          </a:p>
        </p:txBody>
      </p:sp>
      <p:sp>
        <p:nvSpPr>
          <p:cNvPr id="42" name="Text 36"/>
          <p:cNvSpPr/>
          <p:nvPr/>
        </p:nvSpPr>
        <p:spPr>
          <a:xfrm>
            <a:off x="5464076" y="565696"/>
            <a:ext cx="144163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Phishing &amp; Email Threats</a:t>
            </a:r>
            <a:endParaRPr lang="en-US" sz="840" dirty="0"/>
          </a:p>
        </p:txBody>
      </p:sp>
      <p:sp>
        <p:nvSpPr>
          <p:cNvPr id="43" name="Text 37"/>
          <p:cNvSpPr/>
          <p:nvPr/>
        </p:nvSpPr>
        <p:spPr>
          <a:xfrm>
            <a:off x="6845647" y="576114"/>
            <a:ext cx="5959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730" dirty="0"/>
          </a:p>
        </p:txBody>
      </p:sp>
      <p:sp>
        <p:nvSpPr>
          <p:cNvPr id="44" name="Text 38"/>
          <p:cNvSpPr/>
          <p:nvPr/>
        </p:nvSpPr>
        <p:spPr>
          <a:xfrm>
            <a:off x="6970812" y="555575"/>
            <a:ext cx="481161" cy="198254"/>
          </a:xfrm>
          <a:prstGeom prst="roundRect">
            <a:avLst>
              <a:gd name="adj" fmla="val 21780"/>
            </a:avLst>
          </a:prstGeom>
          <a:solidFill>
            <a:srgbClr val="0E9F6E">
              <a:alpha val="20000"/>
            </a:srgbClr>
          </a:solidFill>
          <a:ln w="9525">
            <a:solidFill>
              <a:srgbClr val="0E9F6E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</a:t>
            </a:r>
            <a:endParaRPr lang="en-US" sz="620" dirty="0"/>
          </a:p>
        </p:txBody>
      </p:sp>
      <p:sp>
        <p:nvSpPr>
          <p:cNvPr id="45" name="Text 39"/>
          <p:cNvSpPr/>
          <p:nvPr/>
        </p:nvSpPr>
        <p:spPr>
          <a:xfrm>
            <a:off x="7522964" y="565696"/>
            <a:ext cx="71787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Privacy</a:t>
            </a:r>
            <a:endParaRPr lang="en-US" sz="840" dirty="0"/>
          </a:p>
        </p:txBody>
      </p:sp>
      <p:sp>
        <p:nvSpPr>
          <p:cNvPr id="46" name="Text 40"/>
          <p:cNvSpPr/>
          <p:nvPr/>
        </p:nvSpPr>
        <p:spPr>
          <a:xfrm>
            <a:off x="4754166" y="856208"/>
            <a:ext cx="3989784" cy="1141512"/>
          </a:xfrm>
          <a:prstGeom prst="roundRect">
            <a:avLst>
              <a:gd name="adj" fmla="val 5007"/>
            </a:avLst>
          </a:prstGeom>
          <a:solidFill>
            <a:srgbClr val="162438"/>
          </a:solidFill>
          <a:ln w="9525">
            <a:solidFill>
              <a:srgbClr val="94AFC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13706" y="933310"/>
            <a:ext cx="132588" cy="132588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4974729" y="934789"/>
            <a:ext cx="179590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— Phishing &amp; Email Threats</a:t>
            </a:r>
            <a:endParaRPr lang="en-US" sz="680" dirty="0"/>
          </a:p>
        </p:txBody>
      </p:sp>
      <p:sp>
        <p:nvSpPr>
          <p:cNvPr id="49" name="Text 42"/>
          <p:cNvSpPr/>
          <p:nvPr/>
        </p:nvSpPr>
        <p:spPr>
          <a:xfrm>
            <a:off x="7702153" y="922883"/>
            <a:ext cx="953542" cy="168786"/>
          </a:xfrm>
          <a:prstGeom prst="roundRect">
            <a:avLst>
              <a:gd name="adj" fmla="val 17306"/>
            </a:avLst>
          </a:prstGeom>
          <a:solidFill>
            <a:srgbClr val="E8A020">
              <a:alpha val="15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148% AI Phishing Rise</a:t>
            </a:r>
            <a:endParaRPr lang="en-US" sz="560" dirty="0"/>
          </a:p>
        </p:txBody>
      </p:sp>
      <p:sp>
        <p:nvSpPr>
          <p:cNvPr id="50" name="Text 43"/>
          <p:cNvSpPr/>
          <p:nvPr/>
        </p:nvSpPr>
        <p:spPr>
          <a:xfrm>
            <a:off x="4842421" y="1154906"/>
            <a:ext cx="35421" cy="35421"/>
          </a:xfrm>
          <a:prstGeom prst="ellipse">
            <a:avLst/>
          </a:prstGeom>
          <a:solidFill>
            <a:srgbClr val="A78BF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4"/>
          <p:cNvSpPr/>
          <p:nvPr/>
        </p:nvSpPr>
        <p:spPr>
          <a:xfrm>
            <a:off x="4927253" y="1119485"/>
            <a:ext cx="3803011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AI-Crafted Spear-Phishing — LLM-generated emails with perfect grammar, OSINT-informed personalization targeting financial staff</a:t>
            </a:r>
            <a:endParaRPr lang="en-US" sz="700" dirty="0"/>
          </a:p>
        </p:txBody>
      </p:sp>
      <p:sp>
        <p:nvSpPr>
          <p:cNvPr id="52" name="Text 45"/>
          <p:cNvSpPr/>
          <p:nvPr/>
        </p:nvSpPr>
        <p:spPr>
          <a:xfrm>
            <a:off x="4842421" y="1432620"/>
            <a:ext cx="35421" cy="35421"/>
          </a:xfrm>
          <a:prstGeom prst="ellipse">
            <a:avLst/>
          </a:prstGeom>
          <a:solidFill>
            <a:srgbClr val="A78BF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6"/>
          <p:cNvSpPr/>
          <p:nvPr/>
        </p:nvSpPr>
        <p:spPr>
          <a:xfrm>
            <a:off x="4927253" y="1397198"/>
            <a:ext cx="3803011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Phishing (Quishing) — malicious QR codes bypassing email filters; increasingly targeting mobile banking staff</a:t>
            </a:r>
            <a:endParaRPr lang="en-US" sz="700" dirty="0"/>
          </a:p>
        </p:txBody>
      </p:sp>
      <p:sp>
        <p:nvSpPr>
          <p:cNvPr id="54" name="Text 47"/>
          <p:cNvSpPr/>
          <p:nvPr/>
        </p:nvSpPr>
        <p:spPr>
          <a:xfrm>
            <a:off x="4842421" y="1710333"/>
            <a:ext cx="35421" cy="35421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8"/>
          <p:cNvSpPr/>
          <p:nvPr/>
        </p:nvSpPr>
        <p:spPr>
          <a:xfrm>
            <a:off x="4927253" y="1674912"/>
            <a:ext cx="3803011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Attachment-Based Lures — weaponized PDFs, macro-enabled Office docs disguised as statements or compliance alerts</a:t>
            </a:r>
            <a:endParaRPr lang="en-US" sz="700" dirty="0"/>
          </a:p>
        </p:txBody>
      </p:sp>
      <p:sp>
        <p:nvSpPr>
          <p:cNvPr id="56" name="Text 49"/>
          <p:cNvSpPr/>
          <p:nvPr/>
        </p:nvSpPr>
        <p:spPr>
          <a:xfrm>
            <a:off x="4754166" y="2047131"/>
            <a:ext cx="3989784" cy="1117550"/>
          </a:xfrm>
          <a:prstGeom prst="roundRect">
            <a:avLst>
              <a:gd name="adj" fmla="val 5114"/>
            </a:avLst>
          </a:prstGeom>
          <a:solidFill>
            <a:srgbClr val="162438"/>
          </a:solidFill>
          <a:ln w="9525">
            <a:solidFill>
              <a:srgbClr val="94AFC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13706" y="2112178"/>
            <a:ext cx="132588" cy="132588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4974729" y="2113806"/>
            <a:ext cx="167967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— Data Privacy &amp; Protection</a:t>
            </a:r>
            <a:endParaRPr lang="en-US" sz="680" dirty="0"/>
          </a:p>
        </p:txBody>
      </p:sp>
      <p:sp>
        <p:nvSpPr>
          <p:cNvPr id="59" name="Text 51"/>
          <p:cNvSpPr/>
          <p:nvPr/>
        </p:nvSpPr>
        <p:spPr>
          <a:xfrm>
            <a:off x="4842421" y="2321868"/>
            <a:ext cx="35421" cy="35421"/>
          </a:xfrm>
          <a:prstGeom prst="ellipse">
            <a:avLst/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2"/>
          <p:cNvSpPr/>
          <p:nvPr/>
        </p:nvSpPr>
        <p:spPr>
          <a:xfrm>
            <a:off x="4927253" y="2286446"/>
            <a:ext cx="3803011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Handling — identify, label, and restrict access to customer personally identifiable information</a:t>
            </a:r>
            <a:endParaRPr lang="en-US" sz="700" dirty="0"/>
          </a:p>
        </p:txBody>
      </p:sp>
      <p:sp>
        <p:nvSpPr>
          <p:cNvPr id="61" name="Text 53"/>
          <p:cNvSpPr/>
          <p:nvPr/>
        </p:nvSpPr>
        <p:spPr>
          <a:xfrm>
            <a:off x="4842421" y="2599581"/>
            <a:ext cx="35421" cy="35421"/>
          </a:xfrm>
          <a:prstGeom prst="ellipse">
            <a:avLst/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4"/>
          <p:cNvSpPr/>
          <p:nvPr/>
        </p:nvSpPr>
        <p:spPr>
          <a:xfrm>
            <a:off x="4927253" y="2564160"/>
            <a:ext cx="3803011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 — Confidential / Restricted / Internal labeling for all files, emails, and exports</a:t>
            </a:r>
            <a:endParaRPr lang="en-US" sz="700" dirty="0"/>
          </a:p>
        </p:txBody>
      </p:sp>
      <p:sp>
        <p:nvSpPr>
          <p:cNvPr id="63" name="Text 55"/>
          <p:cNvSpPr/>
          <p:nvPr/>
        </p:nvSpPr>
        <p:spPr>
          <a:xfrm>
            <a:off x="4842421" y="2877294"/>
            <a:ext cx="35421" cy="35421"/>
          </a:xfrm>
          <a:prstGeom prst="ellipse">
            <a:avLst/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6"/>
          <p:cNvSpPr/>
          <p:nvPr/>
        </p:nvSpPr>
        <p:spPr>
          <a:xfrm>
            <a:off x="4927253" y="2841873"/>
            <a:ext cx="3803011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Be Forgotten — regulatory obligations under CCPA/GLBA; staff escalation procedures for data deletion requests</a:t>
            </a:r>
            <a:endParaRPr lang="en-US" sz="700" dirty="0"/>
          </a:p>
        </p:txBody>
      </p:sp>
      <p:sp>
        <p:nvSpPr>
          <p:cNvPr id="65" name="Text 57"/>
          <p:cNvSpPr/>
          <p:nvPr/>
        </p:nvSpPr>
        <p:spPr>
          <a:xfrm>
            <a:off x="4754166" y="3214092"/>
            <a:ext cx="3989784" cy="511225"/>
          </a:xfrm>
          <a:prstGeom prst="roundRect">
            <a:avLst>
              <a:gd name="adj" fmla="val 11179"/>
            </a:avLst>
          </a:prstGeom>
          <a:gradFill rotWithShape="1">
            <a:gsLst>
              <a:gs pos="0">
                <a:srgbClr val="E8A020">
                  <a:alpha val="7000"/>
                </a:srgbClr>
              </a:gs>
              <a:gs pos="50000">
                <a:srgbClr val="1A2E42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8"/>
          <p:cNvSpPr/>
          <p:nvPr/>
        </p:nvSpPr>
        <p:spPr>
          <a:xfrm>
            <a:off x="4754166" y="3214092"/>
            <a:ext cx="19050" cy="511225"/>
          </a:xfrm>
          <a:custGeom>
            <a:avLst/>
            <a:gdLst/>
            <a:ahLst/>
            <a:cxnLst/>
            <a:rect l="l" t="t" r="r" b="b"/>
            <a:pathLst>
              <a:path w="19050" h="511225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496672"/>
                </a:lnTo>
                <a:lnTo>
                  <a:pt x="16669" y="494416"/>
                </a:lnTo>
                <a:lnTo>
                  <a:pt x="14288" y="491876"/>
                </a:lnTo>
                <a:lnTo>
                  <a:pt x="11906" y="488991"/>
                </a:lnTo>
                <a:lnTo>
                  <a:pt x="9525" y="485665"/>
                </a:lnTo>
                <a:lnTo>
                  <a:pt x="7144" y="481742"/>
                </a:lnTo>
                <a:lnTo>
                  <a:pt x="4763" y="476915"/>
                </a:lnTo>
                <a:lnTo>
                  <a:pt x="2381" y="470400"/>
                </a:lnTo>
                <a:lnTo>
                  <a:pt x="0" y="454075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9"/>
          <p:cNvSpPr/>
          <p:nvPr/>
        </p:nvSpPr>
        <p:spPr>
          <a:xfrm>
            <a:off x="4953893" y="3273028"/>
            <a:ext cx="84540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56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 INTELLIGENCE</a:t>
            </a:r>
            <a:endParaRPr lang="en-US" sz="560" dirty="0"/>
          </a:p>
        </p:txBody>
      </p:sp>
      <p:pic>
        <p:nvPicPr>
          <p:cNvPr id="6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22710" y="3260015"/>
            <a:ext cx="132588" cy="132588"/>
          </a:xfrm>
          <a:prstGeom prst="rect">
            <a:avLst/>
          </a:prstGeom>
        </p:spPr>
      </p:pic>
      <p:sp>
        <p:nvSpPr>
          <p:cNvPr id="69" name="Text 60"/>
          <p:cNvSpPr/>
          <p:nvPr/>
        </p:nvSpPr>
        <p:spPr>
          <a:xfrm>
            <a:off x="4859536" y="3408908"/>
            <a:ext cx="3864340" cy="270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148% surge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AI-generated phishing attacks targeting financial services staff in 2026 — adversaries now use LLMs to craft hyper-personalized lures at scale with zero grammar errors.</a:t>
            </a:r>
            <a:endParaRPr lang="en-US" sz="700" dirty="0"/>
          </a:p>
        </p:txBody>
      </p:sp>
      <p:sp>
        <p:nvSpPr>
          <p:cNvPr id="70" name="Text 61"/>
          <p:cNvSpPr/>
          <p:nvPr/>
        </p:nvSpPr>
        <p:spPr>
          <a:xfrm>
            <a:off x="4754166" y="3803749"/>
            <a:ext cx="108065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FEB/MAR CRI MAPPING:</a:t>
            </a:r>
            <a:endParaRPr lang="en-US" sz="560" dirty="0"/>
          </a:p>
        </p:txBody>
      </p:sp>
      <p:sp>
        <p:nvSpPr>
          <p:cNvPr id="71" name="Text 62"/>
          <p:cNvSpPr/>
          <p:nvPr/>
        </p:nvSpPr>
        <p:spPr>
          <a:xfrm>
            <a:off x="5793730" y="3774728"/>
            <a:ext cx="464641" cy="181228"/>
          </a:xfrm>
          <a:prstGeom prst="roundRect">
            <a:avLst>
              <a:gd name="adj" fmla="val 16118"/>
            </a:avLst>
          </a:prstGeom>
          <a:solidFill>
            <a:srgbClr val="7C3AED">
              <a:alpha val="18000"/>
            </a:srgbClr>
          </a:solidFill>
          <a:ln w="9525">
            <a:solidFill>
              <a:srgbClr val="7C3AED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PR.AT-1</a:t>
            </a:r>
            <a:endParaRPr lang="en-US" sz="620" dirty="0"/>
          </a:p>
        </p:txBody>
      </p:sp>
      <p:sp>
        <p:nvSpPr>
          <p:cNvPr id="72" name="Text 63"/>
          <p:cNvSpPr/>
          <p:nvPr/>
        </p:nvSpPr>
        <p:spPr>
          <a:xfrm>
            <a:off x="6301532" y="3774728"/>
            <a:ext cx="606475" cy="181228"/>
          </a:xfrm>
          <a:prstGeom prst="roundRect">
            <a:avLst>
              <a:gd name="adj" fmla="val 16118"/>
            </a:avLst>
          </a:prstGeom>
          <a:solidFill>
            <a:srgbClr val="7C3AED">
              <a:alpha val="18000"/>
            </a:srgbClr>
          </a:solidFill>
          <a:ln w="9525">
            <a:solidFill>
              <a:srgbClr val="7C3AED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PR.AT-1(b)</a:t>
            </a:r>
            <a:endParaRPr lang="en-US" sz="620" dirty="0"/>
          </a:p>
        </p:txBody>
      </p:sp>
      <p:sp>
        <p:nvSpPr>
          <p:cNvPr id="73" name="Text 64"/>
          <p:cNvSpPr/>
          <p:nvPr/>
        </p:nvSpPr>
        <p:spPr>
          <a:xfrm>
            <a:off x="6951166" y="3774728"/>
            <a:ext cx="464641" cy="181228"/>
          </a:xfrm>
          <a:prstGeom prst="roundRect">
            <a:avLst>
              <a:gd name="adj" fmla="val 16118"/>
            </a:avLst>
          </a:prstGeom>
          <a:solidFill>
            <a:srgbClr val="7C3AED">
              <a:alpha val="18000"/>
            </a:srgbClr>
          </a:solidFill>
          <a:ln w="9525">
            <a:solidFill>
              <a:srgbClr val="7C3AED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DE.CM-1</a:t>
            </a:r>
            <a:endParaRPr lang="en-US" sz="620" dirty="0"/>
          </a:p>
        </p:txBody>
      </p:sp>
      <p:sp>
        <p:nvSpPr>
          <p:cNvPr id="74" name="Text 65"/>
          <p:cNvSpPr/>
          <p:nvPr/>
        </p:nvSpPr>
        <p:spPr>
          <a:xfrm>
            <a:off x="7458968" y="3774728"/>
            <a:ext cx="464641" cy="181228"/>
          </a:xfrm>
          <a:prstGeom prst="roundRect">
            <a:avLst>
              <a:gd name="adj" fmla="val 16118"/>
            </a:avLst>
          </a:prstGeom>
          <a:solidFill>
            <a:srgbClr val="7C3AED">
              <a:alpha val="18000"/>
            </a:srgbClr>
          </a:solidFill>
          <a:ln w="9525">
            <a:solidFill>
              <a:srgbClr val="7C3AED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</a:t>
            </a:r>
            <a:endParaRPr lang="en-US" sz="620" dirty="0"/>
          </a:p>
        </p:txBody>
      </p:sp>
      <p:sp>
        <p:nvSpPr>
          <p:cNvPr id="75" name="Text 66"/>
          <p:cNvSpPr/>
          <p:nvPr/>
        </p:nvSpPr>
        <p:spPr>
          <a:xfrm>
            <a:off x="7966770" y="3774728"/>
            <a:ext cx="511969" cy="181228"/>
          </a:xfrm>
          <a:prstGeom prst="roundRect">
            <a:avLst>
              <a:gd name="adj" fmla="val 16118"/>
            </a:avLst>
          </a:prstGeom>
          <a:solidFill>
            <a:srgbClr val="0E9F6E">
              <a:alpha val="15000"/>
            </a:srgbClr>
          </a:solidFill>
          <a:ln w="9525">
            <a:solidFill>
              <a:srgbClr val="0E9F6E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IDENTIFY</a:t>
            </a:r>
            <a:endParaRPr lang="en-US" sz="620" dirty="0"/>
          </a:p>
        </p:txBody>
      </p:sp>
      <p:sp>
        <p:nvSpPr>
          <p:cNvPr id="76" name="Text 67"/>
          <p:cNvSpPr/>
          <p:nvPr/>
        </p:nvSpPr>
        <p:spPr>
          <a:xfrm>
            <a:off x="0" y="4771430"/>
            <a:ext cx="9144000" cy="372070"/>
          </a:xfrm>
          <a:prstGeom prst="rect">
            <a:avLst/>
          </a:prstGeom>
          <a:gradFill rotWithShape="1">
            <a:gsLst>
              <a:gs pos="0">
                <a:srgbClr val="E8A020">
                  <a:alpha val="13000"/>
                </a:srgbClr>
              </a:gs>
              <a:gs pos="100000">
                <a:srgbClr val="1A2E42">
                  <a:alpha val="95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68"/>
          <p:cNvSpPr/>
          <p:nvPr/>
        </p:nvSpPr>
        <p:spPr>
          <a:xfrm>
            <a:off x="0" y="4771430"/>
            <a:ext cx="9144000" cy="9525"/>
          </a:xfrm>
          <a:prstGeom prst="rect">
            <a:avLst/>
          </a:prstGeom>
          <a:solidFill>
            <a:srgbClr val="E8A020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69"/>
          <p:cNvSpPr/>
          <p:nvPr/>
        </p:nvSpPr>
        <p:spPr>
          <a:xfrm>
            <a:off x="512713" y="4903143"/>
            <a:ext cx="90483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62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ACTION STEPS</a:t>
            </a:r>
            <a:endParaRPr lang="en-US" sz="620" dirty="0"/>
          </a:p>
        </p:txBody>
      </p:sp>
      <p:pic>
        <p:nvPicPr>
          <p:cNvPr id="7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8507" y="4895859"/>
            <a:ext cx="132588" cy="132588"/>
          </a:xfrm>
          <a:prstGeom prst="rect">
            <a:avLst/>
          </a:prstGeom>
        </p:spPr>
      </p:pic>
      <p:sp>
        <p:nvSpPr>
          <p:cNvPr id="80" name="Text 70"/>
          <p:cNvSpPr/>
          <p:nvPr/>
        </p:nvSpPr>
        <p:spPr>
          <a:xfrm>
            <a:off x="1535906" y="4898082"/>
            <a:ext cx="128141" cy="140955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60" dirty="0"/>
          </a:p>
        </p:txBody>
      </p:sp>
      <p:sp>
        <p:nvSpPr>
          <p:cNvPr id="81" name="Text 71"/>
          <p:cNvSpPr/>
          <p:nvPr/>
        </p:nvSpPr>
        <p:spPr>
          <a:xfrm>
            <a:off x="1707207" y="4768007"/>
            <a:ext cx="1192122" cy="407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MFA before Jan 15 deadline — FIDO2 keys for IT/privileged roles</a:t>
            </a:r>
            <a:endParaRPr lang="en-US" sz="680" dirty="0"/>
          </a:p>
        </p:txBody>
      </p:sp>
      <p:sp>
        <p:nvSpPr>
          <p:cNvPr id="82" name="Text 72"/>
          <p:cNvSpPr/>
          <p:nvPr/>
        </p:nvSpPr>
        <p:spPr>
          <a:xfrm>
            <a:off x="3019425" y="4898082"/>
            <a:ext cx="128141" cy="140955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60" dirty="0"/>
          </a:p>
        </p:txBody>
      </p:sp>
      <p:sp>
        <p:nvSpPr>
          <p:cNvPr id="83" name="Text 73"/>
          <p:cNvSpPr/>
          <p:nvPr/>
        </p:nvSpPr>
        <p:spPr>
          <a:xfrm>
            <a:off x="3190726" y="4768007"/>
            <a:ext cx="1824692" cy="407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 — use the Phishing Report Button; never click QR codes from unknown senders</a:t>
            </a:r>
            <a:endParaRPr lang="en-US" sz="680" dirty="0"/>
          </a:p>
        </p:txBody>
      </p:sp>
      <p:sp>
        <p:nvSpPr>
          <p:cNvPr id="84" name="Text 74"/>
          <p:cNvSpPr/>
          <p:nvPr/>
        </p:nvSpPr>
        <p:spPr>
          <a:xfrm>
            <a:off x="5123111" y="4898082"/>
            <a:ext cx="128141" cy="140955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" dirty="0"/>
          </a:p>
        </p:txBody>
      </p:sp>
      <p:sp>
        <p:nvSpPr>
          <p:cNvPr id="85" name="Text 75"/>
          <p:cNvSpPr/>
          <p:nvPr/>
        </p:nvSpPr>
        <p:spPr>
          <a:xfrm>
            <a:off x="5294412" y="4768007"/>
            <a:ext cx="1559793" cy="407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all data — apply Confidential/Restricted tags to PII files and customer communications</a:t>
            </a:r>
            <a:endParaRPr lang="en-US" sz="680" dirty="0"/>
          </a:p>
        </p:txBody>
      </p:sp>
      <p:sp>
        <p:nvSpPr>
          <p:cNvPr id="86" name="Text 76"/>
          <p:cNvSpPr/>
          <p:nvPr/>
        </p:nvSpPr>
        <p:spPr>
          <a:xfrm>
            <a:off x="6967091" y="4898082"/>
            <a:ext cx="128141" cy="140955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60" dirty="0"/>
          </a:p>
        </p:txBody>
      </p:sp>
      <p:sp>
        <p:nvSpPr>
          <p:cNvPr id="87" name="Text 77"/>
          <p:cNvSpPr/>
          <p:nvPr/>
        </p:nvSpPr>
        <p:spPr>
          <a:xfrm>
            <a:off x="7138392" y="4768007"/>
            <a:ext cx="1637669" cy="407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before reset — Help Desk must use callback protocol for all MFA/credential reset requests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FFFFF">
                  <a:alpha val="2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FFFFF">
                  <a:alpha val="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286000" cy="2286000"/>
          </a:xfrm>
          <a:prstGeom prst="ellipse">
            <a:avLst/>
          </a:prstGeom>
          <a:gradFill rotWithShape="1">
            <a:gsLst>
              <a:gs pos="0">
                <a:srgbClr val="E8A020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0" y="0"/>
            <a:ext cx="1500188" cy="10715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72070" y="611217"/>
            <a:ext cx="29170" cy="235148"/>
          </a:xfrm>
          <a:prstGeom prst="roundRect">
            <a:avLst>
              <a:gd name="adj" fmla="val 47892"/>
            </a:avLst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72070" y="271760"/>
            <a:ext cx="1113532" cy="201216"/>
          </a:xfrm>
          <a:prstGeom prst="roundRect">
            <a:avLst>
              <a:gd name="adj" fmla="val 71322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363" y="306000"/>
            <a:ext cx="132588" cy="132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8558" y="310455"/>
            <a:ext cx="84393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515541" y="597247"/>
            <a:ext cx="4565904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kern="0" spc="-18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Recognizing &amp; Defeating </a:t>
            </a:r>
            <a:r>
              <a:rPr lang="en-US" sz="1800" b="1" kern="0" spc="-18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Phishing</a:t>
            </a:r>
            <a:r>
              <a:rPr lang="en-US" sz="1800" kern="0" spc="-18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in 2026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750969" y="543967"/>
            <a:ext cx="1020961" cy="369540"/>
          </a:xfrm>
          <a:prstGeom prst="roundRect">
            <a:avLst>
              <a:gd name="adj" fmla="val 15465"/>
            </a:avLst>
          </a:prstGeom>
          <a:solidFill>
            <a:srgbClr val="E05555">
              <a:alpha val="10000"/>
            </a:srgbClr>
          </a:solidFill>
          <a:ln w="9525">
            <a:solidFill>
              <a:srgbClr val="E05555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51362" y="662369"/>
            <a:ext cx="132588" cy="1325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31510" y="610642"/>
            <a:ext cx="67825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56" dirty="0">
                <a:solidFill>
                  <a:srgbClr val="E0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LEVEL</a:t>
            </a:r>
            <a:endParaRPr lang="en-US" sz="560" dirty="0"/>
          </a:p>
        </p:txBody>
      </p:sp>
      <p:sp>
        <p:nvSpPr>
          <p:cNvPr id="14" name="Text 9"/>
          <p:cNvSpPr/>
          <p:nvPr/>
        </p:nvSpPr>
        <p:spPr>
          <a:xfrm>
            <a:off x="8031510" y="717352"/>
            <a:ext cx="67825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34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80" dirty="0"/>
          </a:p>
        </p:txBody>
      </p:sp>
      <p:sp>
        <p:nvSpPr>
          <p:cNvPr id="15" name="Text 10"/>
          <p:cNvSpPr/>
          <p:nvPr/>
        </p:nvSpPr>
        <p:spPr>
          <a:xfrm>
            <a:off x="372070" y="1070967"/>
            <a:ext cx="4142780" cy="832842"/>
          </a:xfrm>
          <a:prstGeom prst="roundRect">
            <a:avLst>
              <a:gd name="adj" fmla="val 8539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372070" y="1070967"/>
            <a:ext cx="19050" cy="832842"/>
          </a:xfrm>
          <a:custGeom>
            <a:avLst/>
            <a:gdLst/>
            <a:ahLst/>
            <a:cxnLst/>
            <a:rect l="l" t="t" r="r" b="b"/>
            <a:pathLst>
              <a:path w="19050" h="832842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810166"/>
                </a:lnTo>
                <a:lnTo>
                  <a:pt x="16669" y="807473"/>
                </a:lnTo>
                <a:lnTo>
                  <a:pt x="14288" y="804479"/>
                </a:lnTo>
                <a:lnTo>
                  <a:pt x="11906" y="801115"/>
                </a:lnTo>
                <a:lnTo>
                  <a:pt x="9525" y="797276"/>
                </a:lnTo>
                <a:lnTo>
                  <a:pt x="7144" y="792788"/>
                </a:lnTo>
                <a:lnTo>
                  <a:pt x="4763" y="787310"/>
                </a:lnTo>
                <a:lnTo>
                  <a:pt x="2381" y="779972"/>
                </a:lnTo>
                <a:lnTo>
                  <a:pt x="0" y="761722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333970" y="1023342"/>
            <a:ext cx="157460" cy="173206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20" dirty="0"/>
          </a:p>
        </p:txBody>
      </p:sp>
      <p:sp>
        <p:nvSpPr>
          <p:cNvPr id="18" name="Text 13"/>
          <p:cNvSpPr/>
          <p:nvPr/>
        </p:nvSpPr>
        <p:spPr>
          <a:xfrm>
            <a:off x="519261" y="1180802"/>
            <a:ext cx="328910" cy="328910"/>
          </a:xfrm>
          <a:prstGeom prst="roundRect">
            <a:avLst>
              <a:gd name="adj" fmla="val 21623"/>
            </a:avLst>
          </a:prstGeom>
          <a:solidFill>
            <a:srgbClr val="E8A020">
              <a:alpha val="13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422" y="1278963"/>
            <a:ext cx="132588" cy="132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2471" y="1180802"/>
            <a:ext cx="37561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9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Spear Phishing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962471" y="1373832"/>
            <a:ext cx="3483007" cy="441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Hyper-personalized emails crafted by LLMs — perfect grammar, contextual OSINT, and tone-matching internal communications to deceive even vigilant staff.</a:t>
            </a:r>
            <a:endParaRPr lang="en-US" sz="760" dirty="0"/>
          </a:p>
        </p:txBody>
      </p:sp>
      <p:sp>
        <p:nvSpPr>
          <p:cNvPr id="22" name="Text 16"/>
          <p:cNvSpPr/>
          <p:nvPr/>
        </p:nvSpPr>
        <p:spPr>
          <a:xfrm>
            <a:off x="4000351" y="1151483"/>
            <a:ext cx="412757" cy="153442"/>
          </a:xfrm>
          <a:prstGeom prst="roundRect">
            <a:avLst>
              <a:gd name="adj" fmla="val 93527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40000"/>
              </a:srgbClr>
            </a:solidFill>
          </a:ln>
        </p:spPr>
        <p:txBody>
          <a:bodyPr wrap="none" lIns="57150" tIns="13970" rIns="57150" bIns="1397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45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560" dirty="0"/>
          </a:p>
        </p:txBody>
      </p:sp>
      <p:sp>
        <p:nvSpPr>
          <p:cNvPr id="23" name="Text 17"/>
          <p:cNvSpPr/>
          <p:nvPr/>
        </p:nvSpPr>
        <p:spPr>
          <a:xfrm>
            <a:off x="372070" y="1990130"/>
            <a:ext cx="4142780" cy="832842"/>
          </a:xfrm>
          <a:prstGeom prst="roundRect">
            <a:avLst>
              <a:gd name="adj" fmla="val 8539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333970" y="1942505"/>
            <a:ext cx="157460" cy="173206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20" dirty="0"/>
          </a:p>
        </p:txBody>
      </p:sp>
      <p:sp>
        <p:nvSpPr>
          <p:cNvPr id="25" name="Text 19"/>
          <p:cNvSpPr/>
          <p:nvPr/>
        </p:nvSpPr>
        <p:spPr>
          <a:xfrm>
            <a:off x="519261" y="2099965"/>
            <a:ext cx="328910" cy="328910"/>
          </a:xfrm>
          <a:prstGeom prst="roundRect">
            <a:avLst>
              <a:gd name="adj" fmla="val 21623"/>
            </a:avLst>
          </a:prstGeom>
          <a:solidFill>
            <a:srgbClr val="63B4FF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422" y="2198126"/>
            <a:ext cx="132588" cy="1325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2471" y="2099965"/>
            <a:ext cx="37561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kern="0" spc="9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Phishing </a:t>
            </a:r>
            <a:r>
              <a:rPr lang="en-US" sz="680" kern="0" spc="9" dirty="0">
                <a:solidFill>
                  <a:srgbClr val="63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(Quishing)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962471" y="2292995"/>
            <a:ext cx="3483007" cy="441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QR codes embedded in emails and documents bypass traditional email filters — targeting mobile banking staff and customers on unmanaged devices.</a:t>
            </a:r>
            <a:endParaRPr lang="en-US" sz="760" dirty="0"/>
          </a:p>
        </p:txBody>
      </p:sp>
      <p:sp>
        <p:nvSpPr>
          <p:cNvPr id="29" name="Text 22"/>
          <p:cNvSpPr/>
          <p:nvPr/>
        </p:nvSpPr>
        <p:spPr>
          <a:xfrm>
            <a:off x="4000351" y="2070646"/>
            <a:ext cx="412757" cy="153442"/>
          </a:xfrm>
          <a:prstGeom prst="roundRect">
            <a:avLst>
              <a:gd name="adj" fmla="val 93527"/>
            </a:avLst>
          </a:prstGeom>
          <a:solidFill>
            <a:srgbClr val="63B4FF">
              <a:alpha val="10000"/>
            </a:srgbClr>
          </a:solidFill>
          <a:ln w="9525">
            <a:solidFill>
              <a:srgbClr val="63B4FF">
                <a:alpha val="35000"/>
              </a:srgbClr>
            </a:solidFill>
          </a:ln>
        </p:spPr>
        <p:txBody>
          <a:bodyPr wrap="none" lIns="57150" tIns="13970" rIns="57150" bIns="1397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45" dirty="0">
                <a:solidFill>
                  <a:srgbClr val="63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560" dirty="0"/>
          </a:p>
        </p:txBody>
      </p:sp>
      <p:sp>
        <p:nvSpPr>
          <p:cNvPr id="30" name="Text 23"/>
          <p:cNvSpPr/>
          <p:nvPr/>
        </p:nvSpPr>
        <p:spPr>
          <a:xfrm>
            <a:off x="372070" y="2909292"/>
            <a:ext cx="4142780" cy="692795"/>
          </a:xfrm>
          <a:prstGeom prst="roundRect">
            <a:avLst>
              <a:gd name="adj" fmla="val 10266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333970" y="2861667"/>
            <a:ext cx="157460" cy="173206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20" dirty="0"/>
          </a:p>
        </p:txBody>
      </p:sp>
      <p:sp>
        <p:nvSpPr>
          <p:cNvPr id="32" name="Text 25"/>
          <p:cNvSpPr/>
          <p:nvPr/>
        </p:nvSpPr>
        <p:spPr>
          <a:xfrm>
            <a:off x="519261" y="3019127"/>
            <a:ext cx="328910" cy="328910"/>
          </a:xfrm>
          <a:prstGeom prst="roundRect">
            <a:avLst>
              <a:gd name="adj" fmla="val 21623"/>
            </a:avLst>
          </a:prstGeom>
          <a:solidFill>
            <a:srgbClr val="C878FF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422" y="3117288"/>
            <a:ext cx="132588" cy="13258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62471" y="3019127"/>
            <a:ext cx="37561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9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 &amp; Voice Cloning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962471" y="3212157"/>
            <a:ext cx="3483007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voice clones of executives used over phone calls to authorize emergency wire transfers — indistinguishable from the genuine executive.</a:t>
            </a:r>
            <a:endParaRPr lang="en-US" sz="760" dirty="0"/>
          </a:p>
        </p:txBody>
      </p:sp>
      <p:sp>
        <p:nvSpPr>
          <p:cNvPr id="36" name="Text 28"/>
          <p:cNvSpPr/>
          <p:nvPr/>
        </p:nvSpPr>
        <p:spPr>
          <a:xfrm>
            <a:off x="3823841" y="2989808"/>
            <a:ext cx="592797" cy="153442"/>
          </a:xfrm>
          <a:prstGeom prst="roundRect">
            <a:avLst>
              <a:gd name="adj" fmla="val 93527"/>
            </a:avLst>
          </a:prstGeom>
          <a:solidFill>
            <a:srgbClr val="C878FF">
              <a:alpha val="10000"/>
            </a:srgbClr>
          </a:solidFill>
          <a:ln w="9525">
            <a:solidFill>
              <a:srgbClr val="C878FF">
                <a:alpha val="35000"/>
              </a:srgbClr>
            </a:solidFill>
          </a:ln>
        </p:spPr>
        <p:txBody>
          <a:bodyPr wrap="none" lIns="57150" tIns="13970" rIns="57150" bIns="1397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45" dirty="0">
                <a:solidFill>
                  <a:srgbClr val="C87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560" dirty="0"/>
          </a:p>
        </p:txBody>
      </p:sp>
      <p:sp>
        <p:nvSpPr>
          <p:cNvPr id="37" name="Text 29"/>
          <p:cNvSpPr/>
          <p:nvPr/>
        </p:nvSpPr>
        <p:spPr>
          <a:xfrm>
            <a:off x="4629150" y="1070967"/>
            <a:ext cx="4142780" cy="832842"/>
          </a:xfrm>
          <a:prstGeom prst="roundRect">
            <a:avLst>
              <a:gd name="adj" fmla="val 8539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4591050" y="1023342"/>
            <a:ext cx="157460" cy="173206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20" dirty="0"/>
          </a:p>
        </p:txBody>
      </p:sp>
      <p:sp>
        <p:nvSpPr>
          <p:cNvPr id="39" name="Text 31"/>
          <p:cNvSpPr/>
          <p:nvPr/>
        </p:nvSpPr>
        <p:spPr>
          <a:xfrm>
            <a:off x="4776341" y="1180802"/>
            <a:ext cx="328910" cy="328910"/>
          </a:xfrm>
          <a:prstGeom prst="roundRect">
            <a:avLst>
              <a:gd name="adj" fmla="val 21623"/>
            </a:avLst>
          </a:prstGeom>
          <a:solidFill>
            <a:srgbClr val="FFA050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74502" y="1278963"/>
            <a:ext cx="132588" cy="13258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219551" y="1180802"/>
            <a:ext cx="37561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9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Smishing</a:t>
            </a:r>
            <a:endParaRPr lang="en-US" sz="900" dirty="0"/>
          </a:p>
        </p:txBody>
      </p:sp>
      <p:sp>
        <p:nvSpPr>
          <p:cNvPr id="42" name="Text 33"/>
          <p:cNvSpPr/>
          <p:nvPr/>
        </p:nvSpPr>
        <p:spPr>
          <a:xfrm>
            <a:off x="5219551" y="1373832"/>
            <a:ext cx="3483007" cy="441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bank alerts and OTP harvest messages sent via SMS — targeting customer-facing tellers and advisors into surrendering authentication codes or credentials.</a:t>
            </a:r>
            <a:endParaRPr lang="en-US" sz="760" dirty="0"/>
          </a:p>
        </p:txBody>
      </p:sp>
      <p:sp>
        <p:nvSpPr>
          <p:cNvPr id="43" name="Text 34"/>
          <p:cNvSpPr/>
          <p:nvPr/>
        </p:nvSpPr>
        <p:spPr>
          <a:xfrm>
            <a:off x="8044011" y="1151483"/>
            <a:ext cx="630445" cy="153442"/>
          </a:xfrm>
          <a:prstGeom prst="roundRect">
            <a:avLst>
              <a:gd name="adj" fmla="val 93527"/>
            </a:avLst>
          </a:prstGeom>
          <a:solidFill>
            <a:srgbClr val="FFA050">
              <a:alpha val="10000"/>
            </a:srgbClr>
          </a:solidFill>
          <a:ln w="9525">
            <a:solidFill>
              <a:srgbClr val="FFA050">
                <a:alpha val="35000"/>
              </a:srgbClr>
            </a:solidFill>
          </a:ln>
        </p:spPr>
        <p:txBody>
          <a:bodyPr wrap="none" lIns="57150" tIns="13970" rIns="57150" bIns="1397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45" dirty="0">
                <a:solidFill>
                  <a:srgbClr val="FF9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</a:t>
            </a:r>
            <a:endParaRPr lang="en-US" sz="560" dirty="0"/>
          </a:p>
        </p:txBody>
      </p:sp>
      <p:sp>
        <p:nvSpPr>
          <p:cNvPr id="44" name="Text 35"/>
          <p:cNvSpPr/>
          <p:nvPr/>
        </p:nvSpPr>
        <p:spPr>
          <a:xfrm>
            <a:off x="4629150" y="1990130"/>
            <a:ext cx="4142780" cy="692795"/>
          </a:xfrm>
          <a:prstGeom prst="roundRect">
            <a:avLst>
              <a:gd name="adj" fmla="val 10266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6"/>
          <p:cNvSpPr/>
          <p:nvPr/>
        </p:nvSpPr>
        <p:spPr>
          <a:xfrm>
            <a:off x="4591050" y="1942505"/>
            <a:ext cx="157460" cy="173206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20" dirty="0"/>
          </a:p>
        </p:txBody>
      </p:sp>
      <p:sp>
        <p:nvSpPr>
          <p:cNvPr id="46" name="Text 37"/>
          <p:cNvSpPr/>
          <p:nvPr/>
        </p:nvSpPr>
        <p:spPr>
          <a:xfrm>
            <a:off x="4776341" y="2099965"/>
            <a:ext cx="328910" cy="328910"/>
          </a:xfrm>
          <a:prstGeom prst="roundRect">
            <a:avLst>
              <a:gd name="adj" fmla="val 21623"/>
            </a:avLst>
          </a:prstGeom>
          <a:solidFill>
            <a:srgbClr val="E05555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74502" y="2198126"/>
            <a:ext cx="132588" cy="13258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5219551" y="2099965"/>
            <a:ext cx="37561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kern="0" spc="9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Email Compromise </a:t>
            </a:r>
            <a:r>
              <a:rPr lang="en-US" sz="680" b="1" kern="0" spc="9" dirty="0">
                <a:solidFill>
                  <a:srgbClr val="E0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(BEC)</a:t>
            </a:r>
            <a:endParaRPr lang="en-US" sz="900" dirty="0"/>
          </a:p>
        </p:txBody>
      </p:sp>
      <p:sp>
        <p:nvSpPr>
          <p:cNvPr id="49" name="Text 39"/>
          <p:cNvSpPr/>
          <p:nvPr/>
        </p:nvSpPr>
        <p:spPr>
          <a:xfrm>
            <a:off x="5219551" y="2292995"/>
            <a:ext cx="3483007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actors impersonate the CFO, CEO, or trusted vendors via spoofed email domains to redirect high-value wire transfers or alter payment instructions.</a:t>
            </a:r>
            <a:endParaRPr lang="en-US" sz="760" dirty="0"/>
          </a:p>
        </p:txBody>
      </p:sp>
      <p:sp>
        <p:nvSpPr>
          <p:cNvPr id="50" name="Text 40"/>
          <p:cNvSpPr/>
          <p:nvPr/>
        </p:nvSpPr>
        <p:spPr>
          <a:xfrm>
            <a:off x="8080921" y="2070646"/>
            <a:ext cx="592797" cy="153442"/>
          </a:xfrm>
          <a:prstGeom prst="roundRect">
            <a:avLst>
              <a:gd name="adj" fmla="val 93527"/>
            </a:avLst>
          </a:prstGeom>
          <a:solidFill>
            <a:srgbClr val="E05555">
              <a:alpha val="10000"/>
            </a:srgbClr>
          </a:solidFill>
          <a:ln w="9525">
            <a:solidFill>
              <a:srgbClr val="E05555">
                <a:alpha val="35000"/>
              </a:srgbClr>
            </a:solidFill>
          </a:ln>
        </p:spPr>
        <p:txBody>
          <a:bodyPr wrap="none" lIns="57150" tIns="13970" rIns="57150" bIns="1397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45" dirty="0">
                <a:solidFill>
                  <a:srgbClr val="E0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560" dirty="0"/>
          </a:p>
        </p:txBody>
      </p:sp>
      <p:sp>
        <p:nvSpPr>
          <p:cNvPr id="51" name="Text 41"/>
          <p:cNvSpPr/>
          <p:nvPr/>
        </p:nvSpPr>
        <p:spPr>
          <a:xfrm>
            <a:off x="4629150" y="2769245"/>
            <a:ext cx="4142780" cy="594866"/>
          </a:xfrm>
          <a:prstGeom prst="roundRect">
            <a:avLst>
              <a:gd name="adj" fmla="val 11956"/>
            </a:avLst>
          </a:prstGeom>
          <a:gradFill rotWithShape="1">
            <a:gsLst>
              <a:gs pos="0">
                <a:srgbClr val="1A2E42">
                  <a:alpha val="90000"/>
                </a:srgbClr>
              </a:gs>
              <a:gs pos="100000">
                <a:srgbClr val="0D1B2A">
                  <a:alpha val="90000"/>
                </a:srgbClr>
              </a:gs>
            </a:gsLst>
            <a:lin ang="2700000" scaled="1"/>
          </a:gra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2"/>
          <p:cNvSpPr/>
          <p:nvPr/>
        </p:nvSpPr>
        <p:spPr>
          <a:xfrm>
            <a:off x="4735599" y="2896344"/>
            <a:ext cx="954362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69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148%</a:t>
            </a:r>
            <a:endParaRPr lang="en-US" sz="1690" dirty="0"/>
          </a:p>
        </p:txBody>
      </p:sp>
      <p:sp>
        <p:nvSpPr>
          <p:cNvPr id="53" name="Text 43"/>
          <p:cNvSpPr/>
          <p:nvPr/>
        </p:nvSpPr>
        <p:spPr>
          <a:xfrm>
            <a:off x="4722220" y="3124795"/>
            <a:ext cx="981120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85"/>
              </a:lnSpc>
              <a:buNone/>
            </a:pPr>
            <a:r>
              <a:rPr lang="en-US" sz="590" kern="0" spc="24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IN AI PHISHING</a:t>
            </a:r>
            <a:endParaRPr lang="en-US" sz="590" dirty="0"/>
          </a:p>
        </p:txBody>
      </p:sp>
      <p:sp>
        <p:nvSpPr>
          <p:cNvPr id="54" name="Text 44"/>
          <p:cNvSpPr/>
          <p:nvPr/>
        </p:nvSpPr>
        <p:spPr>
          <a:xfrm>
            <a:off x="5802213" y="2923729"/>
            <a:ext cx="7590" cy="2857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5"/>
          <p:cNvSpPr/>
          <p:nvPr/>
        </p:nvSpPr>
        <p:spPr>
          <a:xfrm>
            <a:off x="5953274" y="2865090"/>
            <a:ext cx="2734610" cy="423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phishing attacks targeting financial sector staff surged </a:t>
            </a:r>
            <a:r>
              <a:rPr lang="en-US" sz="73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148% in 2026</a:t>
            </a: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no signs of slowing. Every suspicious message must be reported — not clicked.</a:t>
            </a:r>
            <a:endParaRPr lang="en-US" sz="730" dirty="0"/>
          </a:p>
        </p:txBody>
      </p:sp>
      <p:sp>
        <p:nvSpPr>
          <p:cNvPr id="56" name="Text 46"/>
          <p:cNvSpPr/>
          <p:nvPr/>
        </p:nvSpPr>
        <p:spPr>
          <a:xfrm>
            <a:off x="372070" y="4403229"/>
            <a:ext cx="8399859" cy="511671"/>
          </a:xfrm>
          <a:prstGeom prst="roundRect">
            <a:avLst>
              <a:gd name="adj" fmla="val 13900"/>
            </a:avLst>
          </a:prstGeom>
          <a:gradFill rotWithShape="1">
            <a:gsLst>
              <a:gs pos="0">
                <a:srgbClr val="E8A020">
                  <a:alpha val="18000"/>
                </a:srgbClr>
              </a:gs>
              <a:gs pos="100000">
                <a:srgbClr val="E8A020">
                  <a:alpha val="8000"/>
                </a:srgbClr>
              </a:gs>
            </a:gsLst>
            <a:lin ang="2700000" scaled="1"/>
          </a:gradFill>
          <a:ln w="9525">
            <a:solidFill>
              <a:srgbClr val="E8A020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7"/>
          <p:cNvSpPr/>
          <p:nvPr/>
        </p:nvSpPr>
        <p:spPr>
          <a:xfrm>
            <a:off x="582216" y="4516189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8722" y="4592696"/>
            <a:ext cx="132588" cy="132588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1011436" y="4554141"/>
            <a:ext cx="1462183" cy="209848"/>
          </a:xfrm>
          <a:prstGeom prst="roundRect">
            <a:avLst>
              <a:gd name="adj" fmla="val 68388"/>
            </a:avLst>
          </a:prstGeom>
          <a:solidFill>
            <a:srgbClr val="E8A020"/>
          </a:solidFill>
          <a:ln/>
        </p:spPr>
        <p:txBody>
          <a:bodyPr wrap="none" lIns="100330" tIns="35560" rIns="100330" bIns="35560" rtlCol="0" anchor="t"/>
          <a:lstStyle/>
          <a:p>
            <a:pPr marL="0" indent="0" algn="l">
              <a:buNone/>
            </a:pPr>
            <a:r>
              <a:rPr lang="en-US" sz="730" b="1" kern="0" spc="29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→ DON'T REACT</a:t>
            </a:r>
            <a:endParaRPr lang="en-US" sz="730" dirty="0"/>
          </a:p>
        </p:txBody>
      </p:sp>
      <p:sp>
        <p:nvSpPr>
          <p:cNvPr id="60" name="Text 49"/>
          <p:cNvSpPr/>
          <p:nvPr/>
        </p:nvSpPr>
        <p:spPr>
          <a:xfrm>
            <a:off x="2588419" y="4499074"/>
            <a:ext cx="4443779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kern="0" spc="8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</a:t>
            </a:r>
            <a:r>
              <a:rPr lang="en-US" sz="840" b="1" kern="0" spc="8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Report Button</a:t>
            </a:r>
            <a:r>
              <a:rPr lang="en-US" sz="840" kern="0" spc="8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every suspicious email — do not click, reply, or forward. When in doubt, </a:t>
            </a:r>
            <a:r>
              <a:rPr lang="en-US" sz="840" b="1" kern="0" spc="8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 Out.</a:t>
            </a:r>
            <a:endParaRPr lang="en-US" sz="840" dirty="0"/>
          </a:p>
        </p:txBody>
      </p:sp>
      <p:pic>
        <p:nvPicPr>
          <p:cNvPr id="61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65103" y="4592770"/>
            <a:ext cx="132588" cy="132588"/>
          </a:xfrm>
          <a:prstGeom prst="rect">
            <a:avLst/>
          </a:prstGeom>
        </p:spPr>
      </p:pic>
      <p:sp>
        <p:nvSpPr>
          <p:cNvPr id="62" name="Text 50"/>
          <p:cNvSpPr/>
          <p:nvPr/>
        </p:nvSpPr>
        <p:spPr>
          <a:xfrm>
            <a:off x="7231410" y="4594324"/>
            <a:ext cx="146341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PR.AT-1(b) | NIST PR.AT-1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429470" cy="2429470"/>
          </a:xfrm>
          <a:prstGeom prst="rect">
            <a:avLst/>
          </a:prstGeom>
          <a:gradFill rotWithShape="1">
            <a:gsLst>
              <a:gs pos="0">
                <a:srgbClr val="3A7BD5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0" y="2857500"/>
            <a:ext cx="2286000" cy="2286000"/>
          </a:xfrm>
          <a:prstGeom prst="rect">
            <a:avLst/>
          </a:prstGeom>
          <a:gradFill rotWithShape="1">
            <a:gsLst>
              <a:gs pos="0">
                <a:srgbClr val="2EB88A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14540" y="1465808"/>
            <a:ext cx="314920" cy="314920"/>
          </a:xfrm>
          <a:prstGeom prst="ellipse">
            <a:avLst/>
          </a:prstGeom>
          <a:solidFill>
            <a:srgbClr val="3A7BD5">
              <a:alpha val="20000"/>
            </a:srgbClr>
          </a:solidFill>
          <a:ln w="9525">
            <a:solidFill>
              <a:srgbClr val="3A7BD5"/>
            </a:solidFill>
          </a:ln>
          <a:effectLst>
            <a:outerShdw blurRad="114300" dist="50800" dir="16200000" algn="bl" rotWithShape="0">
              <a:srgbClr val="3A7BD5">
                <a:alpha val="2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5632" y="1556900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14540" y="3638996"/>
            <a:ext cx="314920" cy="314920"/>
          </a:xfrm>
          <a:prstGeom prst="ellipse">
            <a:avLst/>
          </a:prstGeom>
          <a:solidFill>
            <a:srgbClr val="E8A020">
              <a:alpha val="20000"/>
            </a:srgbClr>
          </a:solidFill>
          <a:ln w="9525">
            <a:solidFill>
              <a:srgbClr val="E8A020"/>
            </a:solidFill>
          </a:ln>
          <a:effectLst>
            <a:outerShdw blurRad="143510" dist="50800" dir="16200000" algn="bl" rotWithShape="0">
              <a:srgbClr val="E8A020">
                <a:alpha val="3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5632" y="3730088"/>
            <a:ext cx="132588" cy="132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0050" y="221754"/>
            <a:ext cx="539800" cy="198254"/>
          </a:xfrm>
          <a:prstGeom prst="roundRect">
            <a:avLst>
              <a:gd name="adj" fmla="val 14734"/>
            </a:avLst>
          </a:prstGeom>
          <a:solidFill>
            <a:srgbClr val="E8A020">
              <a:alpha val="15000"/>
            </a:srgbClr>
          </a:solidFill>
          <a:ln w="9525">
            <a:solidFill>
              <a:srgbClr val="E8A020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620" dirty="0"/>
          </a:p>
        </p:txBody>
      </p:sp>
      <p:sp>
        <p:nvSpPr>
          <p:cNvPr id="11" name="Text 7"/>
          <p:cNvSpPr/>
          <p:nvPr/>
        </p:nvSpPr>
        <p:spPr>
          <a:xfrm>
            <a:off x="1054150" y="200620"/>
            <a:ext cx="5568358" cy="222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52"/>
              </a:lnSpc>
              <a:buNone/>
            </a:pPr>
            <a:r>
              <a:rPr lang="en-US" sz="1460" b="1" kern="0" spc="15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Q2 Themes:</a:t>
            </a:r>
            <a:r>
              <a:rPr lang="en-US" sz="1460" kern="0" spc="15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Social Engineering, AI Threats &amp; Mobile Security</a:t>
            </a:r>
            <a:endParaRPr lang="en-US" sz="1460" dirty="0"/>
          </a:p>
        </p:txBody>
      </p:sp>
      <p:sp>
        <p:nvSpPr>
          <p:cNvPr id="12" name="Text 8"/>
          <p:cNvSpPr/>
          <p:nvPr/>
        </p:nvSpPr>
        <p:spPr>
          <a:xfrm>
            <a:off x="6372523" y="308074"/>
            <a:ext cx="2139107" cy="7590"/>
          </a:xfrm>
          <a:prstGeom prst="rect">
            <a:avLst/>
          </a:prstGeom>
          <a:gradFill rotWithShape="1">
            <a:gsLst>
              <a:gs pos="0">
                <a:srgbClr val="E8A020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18646" y="245575"/>
            <a:ext cx="132588" cy="132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65079" y="423118"/>
            <a:ext cx="13841" cy="4720382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">
                <a:srgbClr val="E8A020">
                  <a:alpha val="35000"/>
                </a:srgbClr>
              </a:gs>
              <a:gs pos="90000">
                <a:srgbClr val="E8A020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400050" y="551259"/>
            <a:ext cx="3728145" cy="2144018"/>
          </a:xfrm>
          <a:prstGeom prst="roundRect">
            <a:avLst>
              <a:gd name="adj" fmla="val 3317"/>
            </a:avLst>
          </a:prstGeom>
          <a:solidFill>
            <a:srgbClr val="1A2E4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3466356" y="675084"/>
            <a:ext cx="519020" cy="180231"/>
          </a:xfrm>
          <a:prstGeom prst="roundRect">
            <a:avLst>
              <a:gd name="adj" fmla="val 79626"/>
            </a:avLst>
          </a:prstGeom>
          <a:solidFill>
            <a:srgbClr val="3A7BD5">
              <a:alpha val="18000"/>
            </a:srgbClr>
          </a:solidFill>
          <a:ln w="9525">
            <a:solidFill>
              <a:srgbClr val="3A7BD5">
                <a:alpha val="30000"/>
              </a:srgbClr>
            </a:solidFill>
          </a:ln>
        </p:spPr>
        <p:txBody>
          <a:bodyPr wrap="none" lIns="43180" tIns="21590" rIns="71120" bIns="2159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74" dirty="0">
                <a:solidFill>
                  <a:srgbClr val="6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</a:t>
            </a:r>
            <a:endParaRPr lang="en-US" sz="620" dirty="0"/>
          </a:p>
        </p:txBody>
      </p:sp>
      <p:sp>
        <p:nvSpPr>
          <p:cNvPr id="17" name="Text 12"/>
          <p:cNvSpPr/>
          <p:nvPr/>
        </p:nvSpPr>
        <p:spPr>
          <a:xfrm>
            <a:off x="210830" y="969615"/>
            <a:ext cx="3764369" cy="138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Social Engineering &amp; Fraud Prevention</a:t>
            </a:r>
            <a:endParaRPr lang="en-US" sz="840" dirty="0"/>
          </a:p>
        </p:txBody>
      </p:sp>
      <p:sp>
        <p:nvSpPr>
          <p:cNvPr id="18" name="Text 13"/>
          <p:cNvSpPr/>
          <p:nvPr/>
        </p:nvSpPr>
        <p:spPr>
          <a:xfrm>
            <a:off x="1299418" y="1151483"/>
            <a:ext cx="2611189" cy="13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8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Pretexting, vishing &amp; romance scams targeting financial staff</a:t>
            </a:r>
            <a:endParaRPr lang="en-US" sz="700" dirty="0"/>
          </a:p>
        </p:txBody>
      </p:sp>
      <p:sp>
        <p:nvSpPr>
          <p:cNvPr id="19" name="Text 14"/>
          <p:cNvSpPr/>
          <p:nvPr/>
        </p:nvSpPr>
        <p:spPr>
          <a:xfrm>
            <a:off x="3946029" y="1194643"/>
            <a:ext cx="29170" cy="29170"/>
          </a:xfrm>
          <a:prstGeom prst="ellipse">
            <a:avLst/>
          </a:prstGeom>
          <a:solidFill>
            <a:srgbClr val="94AFC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1520264" y="1289149"/>
            <a:ext cx="2390343" cy="13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8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desk impersonation &amp; identity manipulation tactics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3946029" y="1332309"/>
            <a:ext cx="29170" cy="29170"/>
          </a:xfrm>
          <a:prstGeom prst="ellipse">
            <a:avLst/>
          </a:prstGeom>
          <a:solidFill>
            <a:srgbClr val="94AFC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1737673" y="1426815"/>
            <a:ext cx="2172935" cy="13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8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fraud vectors &amp; account takeover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3946029" y="1469975"/>
            <a:ext cx="29170" cy="29170"/>
          </a:xfrm>
          <a:prstGeom prst="ellipse">
            <a:avLst/>
          </a:prstGeom>
          <a:solidFill>
            <a:srgbClr val="94AFC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553045" y="1621631"/>
            <a:ext cx="3422154" cy="457200"/>
          </a:xfrm>
          <a:prstGeom prst="roundRect">
            <a:avLst>
              <a:gd name="adj" fmla="val 9444"/>
            </a:avLst>
          </a:prstGeom>
          <a:solidFill>
            <a:srgbClr val="E8A020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3965674" y="1621631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16127"/>
                </a:moveTo>
                <a:lnTo>
                  <a:pt x="1191" y="17679"/>
                </a:lnTo>
                <a:lnTo>
                  <a:pt x="2381" y="19391"/>
                </a:lnTo>
                <a:lnTo>
                  <a:pt x="3572" y="21301"/>
                </a:lnTo>
                <a:lnTo>
                  <a:pt x="4763" y="23467"/>
                </a:lnTo>
                <a:lnTo>
                  <a:pt x="5953" y="25984"/>
                </a:lnTo>
                <a:lnTo>
                  <a:pt x="7144" y="29039"/>
                </a:lnTo>
                <a:lnTo>
                  <a:pt x="8334" y="33110"/>
                </a:lnTo>
                <a:lnTo>
                  <a:pt x="9525" y="43180"/>
                </a:lnTo>
                <a:lnTo>
                  <a:pt x="9525" y="414020"/>
                </a:lnTo>
                <a:lnTo>
                  <a:pt x="8334" y="424090"/>
                </a:lnTo>
                <a:lnTo>
                  <a:pt x="7144" y="428161"/>
                </a:lnTo>
                <a:lnTo>
                  <a:pt x="5953" y="431216"/>
                </a:lnTo>
                <a:lnTo>
                  <a:pt x="4763" y="433733"/>
                </a:lnTo>
                <a:lnTo>
                  <a:pt x="3572" y="435899"/>
                </a:lnTo>
                <a:lnTo>
                  <a:pt x="2381" y="437809"/>
                </a:lnTo>
                <a:lnTo>
                  <a:pt x="1191" y="439521"/>
                </a:lnTo>
                <a:lnTo>
                  <a:pt x="0" y="441073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3187779" y="1671042"/>
            <a:ext cx="706904" cy="974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769"/>
              </a:lnSpc>
              <a:buNone/>
            </a:pPr>
            <a:r>
              <a:rPr lang="en-US" sz="530" b="1" kern="0" spc="64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 SPOTLIGHT</a:t>
            </a:r>
            <a:endParaRPr lang="en-US" sz="53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37529" y="1653489"/>
            <a:ext cx="132588" cy="1325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8623" y="1790105"/>
            <a:ext cx="3336060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943"/>
              </a:lnSpc>
              <a:buNone/>
            </a:pPr>
            <a:r>
              <a:rPr lang="en-US" sz="65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FIN7 threat group leveraging social engineering for initial access at US financial institutions — targeting help desk &amp; frontline staff</a:t>
            </a:r>
            <a:endParaRPr lang="en-US" sz="650" dirty="0"/>
          </a:p>
        </p:txBody>
      </p:sp>
      <p:sp>
        <p:nvSpPr>
          <p:cNvPr id="29" name="Text 23"/>
          <p:cNvSpPr/>
          <p:nvPr/>
        </p:nvSpPr>
        <p:spPr>
          <a:xfrm>
            <a:off x="553045" y="2114252"/>
            <a:ext cx="3422154" cy="457200"/>
          </a:xfrm>
          <a:prstGeom prst="roundRect">
            <a:avLst>
              <a:gd name="adj" fmla="val 9444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3965674" y="2114252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16127"/>
                </a:moveTo>
                <a:lnTo>
                  <a:pt x="1191" y="17679"/>
                </a:lnTo>
                <a:lnTo>
                  <a:pt x="2381" y="19391"/>
                </a:lnTo>
                <a:lnTo>
                  <a:pt x="3572" y="21301"/>
                </a:lnTo>
                <a:lnTo>
                  <a:pt x="4763" y="23467"/>
                </a:lnTo>
                <a:lnTo>
                  <a:pt x="5953" y="25984"/>
                </a:lnTo>
                <a:lnTo>
                  <a:pt x="7144" y="29039"/>
                </a:lnTo>
                <a:lnTo>
                  <a:pt x="8334" y="33110"/>
                </a:lnTo>
                <a:lnTo>
                  <a:pt x="9525" y="43180"/>
                </a:lnTo>
                <a:lnTo>
                  <a:pt x="9525" y="414020"/>
                </a:lnTo>
                <a:lnTo>
                  <a:pt x="8334" y="424090"/>
                </a:lnTo>
                <a:lnTo>
                  <a:pt x="7144" y="428161"/>
                </a:lnTo>
                <a:lnTo>
                  <a:pt x="5953" y="431216"/>
                </a:lnTo>
                <a:lnTo>
                  <a:pt x="4763" y="433733"/>
                </a:lnTo>
                <a:lnTo>
                  <a:pt x="3572" y="435899"/>
                </a:lnTo>
                <a:lnTo>
                  <a:pt x="2381" y="437809"/>
                </a:lnTo>
                <a:lnTo>
                  <a:pt x="1191" y="439521"/>
                </a:lnTo>
                <a:lnTo>
                  <a:pt x="0" y="441073"/>
                </a:lnTo>
                <a:close/>
              </a:path>
            </a:pathLst>
          </a:custGeom>
          <a:solidFill>
            <a:srgbClr val="FFFFFF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3400276" y="2163663"/>
            <a:ext cx="494407" cy="974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769"/>
              </a:lnSpc>
              <a:buNone/>
            </a:pPr>
            <a:r>
              <a:rPr lang="en-US" sz="530" b="1" kern="0" spc="64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53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30708" y="2146110"/>
            <a:ext cx="132588" cy="13258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58623" y="2282726"/>
            <a:ext cx="3336060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943"/>
              </a:lnSpc>
              <a:buNone/>
            </a:pPr>
            <a:r>
              <a:rPr lang="en-US" sz="6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Verify-before-act protocol</a:t>
            </a:r>
            <a:r>
              <a:rPr lang="en-US" sz="65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all wire transfers require callback to registered number before processing</a:t>
            </a:r>
            <a:endParaRPr lang="en-US" sz="650" dirty="0"/>
          </a:p>
        </p:txBody>
      </p:sp>
      <p:sp>
        <p:nvSpPr>
          <p:cNvPr id="34" name="Text 27"/>
          <p:cNvSpPr/>
          <p:nvPr/>
        </p:nvSpPr>
        <p:spPr>
          <a:xfrm>
            <a:off x="4128195" y="1623268"/>
            <a:ext cx="257770" cy="7590"/>
          </a:xfrm>
          <a:prstGeom prst="rect">
            <a:avLst/>
          </a:prstGeom>
          <a:solidFill>
            <a:srgbClr val="3A7BD5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5015805" y="2724448"/>
            <a:ext cx="3728145" cy="2144018"/>
          </a:xfrm>
          <a:prstGeom prst="roundRect">
            <a:avLst>
              <a:gd name="adj" fmla="val 3317"/>
            </a:avLst>
          </a:prstGeom>
          <a:solidFill>
            <a:srgbClr val="1A2E4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5025330" y="2733973"/>
            <a:ext cx="3709095" cy="2124968"/>
          </a:xfrm>
          <a:prstGeom prst="roundRect">
            <a:avLst>
              <a:gd name="adj" fmla="val 3347"/>
            </a:avLst>
          </a:prstGeom>
          <a:noFill/>
          <a:ln w="9525">
            <a:solidFill>
              <a:srgbClr val="E8A020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0"/>
          <p:cNvSpPr/>
          <p:nvPr/>
        </p:nvSpPr>
        <p:spPr>
          <a:xfrm>
            <a:off x="7849791" y="2662982"/>
            <a:ext cx="785741" cy="124718"/>
          </a:xfrm>
          <a:prstGeom prst="roundRect">
            <a:avLst>
              <a:gd name="adj" fmla="val 57025"/>
            </a:avLst>
          </a:prstGeom>
          <a:solidFill>
            <a:srgbClr val="E8A020"/>
          </a:solidFill>
          <a:ln/>
        </p:spPr>
        <p:txBody>
          <a:bodyPr wrap="none" lIns="57150" tIns="13970" rIns="57150" bIns="13970" rtlCol="0" anchor="t"/>
          <a:lstStyle/>
          <a:p>
            <a:pPr marL="0" indent="0" algn="l">
              <a:buNone/>
            </a:pPr>
            <a:r>
              <a:rPr lang="en-US" sz="510" b="1" kern="0" spc="5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MONTH</a:t>
            </a:r>
            <a:endParaRPr lang="en-US" sz="510" dirty="0"/>
          </a:p>
        </p:txBody>
      </p:sp>
      <p:sp>
        <p:nvSpPr>
          <p:cNvPr id="38" name="Text 31"/>
          <p:cNvSpPr/>
          <p:nvPr/>
        </p:nvSpPr>
        <p:spPr>
          <a:xfrm>
            <a:off x="5168801" y="2848273"/>
            <a:ext cx="430063" cy="180231"/>
          </a:xfrm>
          <a:prstGeom prst="roundRect">
            <a:avLst>
              <a:gd name="adj" fmla="val 79626"/>
            </a:avLst>
          </a:prstGeom>
          <a:solidFill>
            <a:srgbClr val="E8A020">
              <a:alpha val="18000"/>
            </a:srgbClr>
          </a:solidFill>
          <a:ln w="9525">
            <a:solidFill>
              <a:srgbClr val="E8A020">
                <a:alpha val="30000"/>
              </a:srgbClr>
            </a:solidFill>
          </a:ln>
        </p:spPr>
        <p:txBody>
          <a:bodyPr wrap="none" lIns="43180" tIns="21590" rIns="71120" bIns="2159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74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620" dirty="0"/>
          </a:p>
        </p:txBody>
      </p:sp>
      <p:sp>
        <p:nvSpPr>
          <p:cNvPr id="39" name="Text 32"/>
          <p:cNvSpPr/>
          <p:nvPr/>
        </p:nvSpPr>
        <p:spPr>
          <a:xfrm>
            <a:off x="5168801" y="3142804"/>
            <a:ext cx="3764369" cy="138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Threats &amp; Deepfake Awareness</a:t>
            </a:r>
            <a:endParaRPr lang="en-US" sz="840" dirty="0"/>
          </a:p>
        </p:txBody>
      </p:sp>
      <p:sp>
        <p:nvSpPr>
          <p:cNvPr id="40" name="Text 33"/>
          <p:cNvSpPr/>
          <p:nvPr/>
        </p:nvSpPr>
        <p:spPr>
          <a:xfrm>
            <a:off x="5233392" y="3324671"/>
            <a:ext cx="2727261" cy="13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video &amp; audio used for CEO/CFO fraud authorization</a:t>
            </a:r>
            <a:endParaRPr lang="en-US" sz="700" dirty="0"/>
          </a:p>
        </p:txBody>
      </p:sp>
      <p:sp>
        <p:nvSpPr>
          <p:cNvPr id="41" name="Text 34"/>
          <p:cNvSpPr/>
          <p:nvPr/>
        </p:nvSpPr>
        <p:spPr>
          <a:xfrm>
            <a:off x="5168801" y="3367832"/>
            <a:ext cx="29170" cy="29170"/>
          </a:xfrm>
          <a:prstGeom prst="ellipse">
            <a:avLst/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5233392" y="3462338"/>
            <a:ext cx="2157055" cy="13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identity fraud via AI-generated personas</a:t>
            </a:r>
            <a:endParaRPr lang="en-US" sz="700" dirty="0"/>
          </a:p>
        </p:txBody>
      </p:sp>
      <p:sp>
        <p:nvSpPr>
          <p:cNvPr id="43" name="Text 36"/>
          <p:cNvSpPr/>
          <p:nvPr/>
        </p:nvSpPr>
        <p:spPr>
          <a:xfrm>
            <a:off x="5168801" y="3505498"/>
            <a:ext cx="29170" cy="29170"/>
          </a:xfrm>
          <a:prstGeom prst="ellipse">
            <a:avLst/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7"/>
          <p:cNvSpPr/>
          <p:nvPr/>
        </p:nvSpPr>
        <p:spPr>
          <a:xfrm>
            <a:off x="5233392" y="3600004"/>
            <a:ext cx="2308979" cy="13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malware &amp; LLM-powered phishing lures</a:t>
            </a:r>
            <a:endParaRPr lang="en-US" sz="700" dirty="0"/>
          </a:p>
        </p:txBody>
      </p:sp>
      <p:sp>
        <p:nvSpPr>
          <p:cNvPr id="45" name="Text 38"/>
          <p:cNvSpPr/>
          <p:nvPr/>
        </p:nvSpPr>
        <p:spPr>
          <a:xfrm>
            <a:off x="5168801" y="3643164"/>
            <a:ext cx="29170" cy="29170"/>
          </a:xfrm>
          <a:prstGeom prst="ellipse">
            <a:avLst/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9"/>
          <p:cNvSpPr/>
          <p:nvPr/>
        </p:nvSpPr>
        <p:spPr>
          <a:xfrm>
            <a:off x="5168801" y="3794820"/>
            <a:ext cx="3422154" cy="457200"/>
          </a:xfrm>
          <a:prstGeom prst="roundRect">
            <a:avLst>
              <a:gd name="adj" fmla="val 9444"/>
            </a:avLst>
          </a:prstGeom>
          <a:solidFill>
            <a:srgbClr val="E8A020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0"/>
          <p:cNvSpPr/>
          <p:nvPr/>
        </p:nvSpPr>
        <p:spPr>
          <a:xfrm>
            <a:off x="5168801" y="379482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441073"/>
                </a:lnTo>
                <a:lnTo>
                  <a:pt x="8334" y="439521"/>
                </a:lnTo>
                <a:lnTo>
                  <a:pt x="7144" y="437809"/>
                </a:lnTo>
                <a:lnTo>
                  <a:pt x="5953" y="435899"/>
                </a:lnTo>
                <a:lnTo>
                  <a:pt x="4763" y="433733"/>
                </a:lnTo>
                <a:lnTo>
                  <a:pt x="3572" y="431216"/>
                </a:lnTo>
                <a:lnTo>
                  <a:pt x="2381" y="428161"/>
                </a:lnTo>
                <a:lnTo>
                  <a:pt x="1191" y="424090"/>
                </a:lnTo>
                <a:lnTo>
                  <a:pt x="0" y="414020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1"/>
          <p:cNvSpPr/>
          <p:nvPr/>
        </p:nvSpPr>
        <p:spPr>
          <a:xfrm>
            <a:off x="5324177" y="3844230"/>
            <a:ext cx="706904" cy="974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9"/>
              </a:lnSpc>
              <a:buNone/>
            </a:pPr>
            <a:r>
              <a:rPr lang="en-US" sz="530" b="1" kern="0" spc="64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 SPOTLIGHT</a:t>
            </a:r>
            <a:endParaRPr lang="en-US" sz="530" dirty="0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09663" y="3826678"/>
            <a:ext cx="132588" cy="132588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5249317" y="3963293"/>
            <a:ext cx="3336060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voice cloning used in </a:t>
            </a:r>
            <a:r>
              <a:rPr lang="en-US" sz="6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$25M deepfake CFO fraud</a:t>
            </a:r>
            <a:r>
              <a:rPr lang="en-US" sz="65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Hong Kong, 2024 — employee authorized transfer after fake video call</a:t>
            </a:r>
            <a:endParaRPr lang="en-US" sz="650" dirty="0"/>
          </a:p>
        </p:txBody>
      </p:sp>
      <p:sp>
        <p:nvSpPr>
          <p:cNvPr id="51" name="Text 43"/>
          <p:cNvSpPr/>
          <p:nvPr/>
        </p:nvSpPr>
        <p:spPr>
          <a:xfrm>
            <a:off x="5168801" y="4287441"/>
            <a:ext cx="3422154" cy="457200"/>
          </a:xfrm>
          <a:prstGeom prst="roundRect">
            <a:avLst>
              <a:gd name="adj" fmla="val 9444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4"/>
          <p:cNvSpPr/>
          <p:nvPr/>
        </p:nvSpPr>
        <p:spPr>
          <a:xfrm>
            <a:off x="5168801" y="4287441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441073"/>
                </a:lnTo>
                <a:lnTo>
                  <a:pt x="8334" y="439521"/>
                </a:lnTo>
                <a:lnTo>
                  <a:pt x="7144" y="437809"/>
                </a:lnTo>
                <a:lnTo>
                  <a:pt x="5953" y="435899"/>
                </a:lnTo>
                <a:lnTo>
                  <a:pt x="4763" y="433733"/>
                </a:lnTo>
                <a:lnTo>
                  <a:pt x="3572" y="431216"/>
                </a:lnTo>
                <a:lnTo>
                  <a:pt x="2381" y="428161"/>
                </a:lnTo>
                <a:lnTo>
                  <a:pt x="1191" y="424090"/>
                </a:lnTo>
                <a:lnTo>
                  <a:pt x="0" y="414020"/>
                </a:lnTo>
                <a:close/>
              </a:path>
            </a:pathLst>
          </a:custGeom>
          <a:solidFill>
            <a:srgbClr val="FFFFFF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5"/>
          <p:cNvSpPr/>
          <p:nvPr/>
        </p:nvSpPr>
        <p:spPr>
          <a:xfrm>
            <a:off x="5324177" y="4336852"/>
            <a:ext cx="494407" cy="974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9"/>
              </a:lnSpc>
              <a:buNone/>
            </a:pPr>
            <a:r>
              <a:rPr lang="en-US" sz="530" b="1" kern="0" spc="64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530" dirty="0"/>
          </a:p>
        </p:txBody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09663" y="4319299"/>
            <a:ext cx="132588" cy="132588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5249317" y="4455914"/>
            <a:ext cx="3336060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Out-of-band verification</a:t>
            </a:r>
            <a:r>
              <a:rPr lang="en-US" sz="65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mandatory for all wire requests over threshold — use pre-registered callback numbers only</a:t>
            </a:r>
            <a:endParaRPr lang="en-US" sz="650" dirty="0"/>
          </a:p>
        </p:txBody>
      </p:sp>
      <p:sp>
        <p:nvSpPr>
          <p:cNvPr id="56" name="Text 47"/>
          <p:cNvSpPr/>
          <p:nvPr/>
        </p:nvSpPr>
        <p:spPr>
          <a:xfrm>
            <a:off x="4758035" y="3796457"/>
            <a:ext cx="257770" cy="7590"/>
          </a:xfrm>
          <a:prstGeom prst="rect">
            <a:avLst/>
          </a:prstGeom>
          <a:solidFill>
            <a:srgbClr val="E8A020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8"/>
          <p:cNvSpPr/>
          <p:nvPr/>
        </p:nvSpPr>
        <p:spPr>
          <a:xfrm>
            <a:off x="400050" y="4897636"/>
            <a:ext cx="3728145" cy="245864"/>
          </a:xfrm>
          <a:prstGeom prst="roundRect">
            <a:avLst>
              <a:gd name="adj" fmla="val 28927"/>
            </a:avLst>
          </a:prstGeom>
          <a:solidFill>
            <a:srgbClr val="1A2E4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49"/>
          <p:cNvSpPr/>
          <p:nvPr/>
        </p:nvSpPr>
        <p:spPr>
          <a:xfrm>
            <a:off x="3501926" y="5021461"/>
            <a:ext cx="482739" cy="180231"/>
          </a:xfrm>
          <a:prstGeom prst="roundRect">
            <a:avLst>
              <a:gd name="adj" fmla="val 79626"/>
            </a:avLst>
          </a:prstGeom>
          <a:solidFill>
            <a:srgbClr val="2EB88A">
              <a:alpha val="18000"/>
            </a:srgbClr>
          </a:solidFill>
          <a:ln w="9525">
            <a:solidFill>
              <a:srgbClr val="2EB88A">
                <a:alpha val="30000"/>
              </a:srgbClr>
            </a:solidFill>
          </a:ln>
        </p:spPr>
        <p:txBody>
          <a:bodyPr wrap="none" lIns="43180" tIns="21590" rIns="71120" bIns="2159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74" dirty="0">
                <a:solidFill>
                  <a:srgbClr val="4D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</a:t>
            </a:r>
            <a:endParaRPr lang="en-US" sz="620" dirty="0"/>
          </a:p>
        </p:txBody>
      </p:sp>
      <p:sp>
        <p:nvSpPr>
          <p:cNvPr id="59" name="Text 50"/>
          <p:cNvSpPr/>
          <p:nvPr/>
        </p:nvSpPr>
        <p:spPr>
          <a:xfrm>
            <a:off x="210830" y="5315992"/>
            <a:ext cx="3764369" cy="138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Mobile &amp; Remote Work Security</a:t>
            </a:r>
            <a:endParaRPr lang="en-US" sz="840" dirty="0"/>
          </a:p>
        </p:txBody>
      </p:sp>
      <p:sp>
        <p:nvSpPr>
          <p:cNvPr id="60" name="Text 51"/>
          <p:cNvSpPr/>
          <p:nvPr/>
        </p:nvSpPr>
        <p:spPr>
          <a:xfrm>
            <a:off x="3400276" y="6017419"/>
            <a:ext cx="494407" cy="974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769"/>
              </a:lnSpc>
              <a:buNone/>
            </a:pPr>
            <a:r>
              <a:rPr lang="en-US" sz="530" b="1" kern="0" spc="64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530" dirty="0"/>
          </a:p>
        </p:txBody>
      </p:sp>
      <p:sp>
        <p:nvSpPr>
          <p:cNvPr id="61" name="Text 52"/>
          <p:cNvSpPr/>
          <p:nvPr/>
        </p:nvSpPr>
        <p:spPr>
          <a:xfrm>
            <a:off x="558623" y="6136481"/>
            <a:ext cx="3336060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943"/>
              </a:lnSpc>
              <a:buNone/>
            </a:pPr>
            <a:r>
              <a:rPr lang="en-US" sz="6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mandatory</a:t>
            </a:r>
            <a:r>
              <a:rPr lang="en-US" sz="65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all non-corporate networks · Zero-trust endpoint policy · MDM enrollment required before data access</a:t>
            </a:r>
            <a:endParaRPr lang="en-US" sz="650" dirty="0"/>
          </a:p>
        </p:txBody>
      </p:sp>
      <p:sp>
        <p:nvSpPr>
          <p:cNvPr id="62" name="Text 53"/>
          <p:cNvSpPr/>
          <p:nvPr/>
        </p:nvSpPr>
        <p:spPr>
          <a:xfrm>
            <a:off x="0" y="4827240"/>
            <a:ext cx="9144000" cy="316260"/>
          </a:xfrm>
          <a:prstGeom prst="rect">
            <a:avLst/>
          </a:prstGeom>
          <a:solidFill>
            <a:srgbClr val="0D1B2A">
              <a:alpha val="9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4"/>
          <p:cNvSpPr/>
          <p:nvPr/>
        </p:nvSpPr>
        <p:spPr>
          <a:xfrm>
            <a:off x="0" y="4827240"/>
            <a:ext cx="914400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5"/>
          <p:cNvSpPr/>
          <p:nvPr/>
        </p:nvSpPr>
        <p:spPr>
          <a:xfrm>
            <a:off x="400050" y="4931122"/>
            <a:ext cx="397506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Program 2026  |  Financial Institutions  |  CRI Profile v2.2 · NIST CSF 2.0</a:t>
            </a:r>
            <a:endParaRPr lang="en-US" sz="620" dirty="0"/>
          </a:p>
        </p:txBody>
      </p:sp>
      <p:sp>
        <p:nvSpPr>
          <p:cNvPr id="65" name="Text 56"/>
          <p:cNvSpPr/>
          <p:nvPr/>
        </p:nvSpPr>
        <p:spPr>
          <a:xfrm>
            <a:off x="7506891" y="4907756"/>
            <a:ext cx="322957" cy="181228"/>
          </a:xfrm>
          <a:prstGeom prst="roundRect">
            <a:avLst>
              <a:gd name="adj" fmla="val 16118"/>
            </a:avLst>
          </a:prstGeom>
          <a:solidFill>
            <a:srgbClr val="E8A020">
              <a:alpha val="15000"/>
            </a:srgbClr>
          </a:solidFill>
          <a:ln w="9525">
            <a:solidFill>
              <a:srgbClr val="E8A020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620" dirty="0"/>
          </a:p>
        </p:txBody>
      </p:sp>
      <p:sp>
        <p:nvSpPr>
          <p:cNvPr id="66" name="Text 57"/>
          <p:cNvSpPr/>
          <p:nvPr/>
        </p:nvSpPr>
        <p:spPr>
          <a:xfrm>
            <a:off x="7916168" y="4907756"/>
            <a:ext cx="427286" cy="181228"/>
          </a:xfrm>
          <a:prstGeom prst="roundRect">
            <a:avLst>
              <a:gd name="adj" fmla="val 16118"/>
            </a:avLst>
          </a:prstGeom>
          <a:solidFill>
            <a:srgbClr val="E8A020">
              <a:alpha val="25000"/>
            </a:srgbClr>
          </a:solidFill>
          <a:ln w="9525">
            <a:solidFill>
              <a:srgbClr val="E8A020">
                <a:alpha val="5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★</a:t>
            </a:r>
            <a:endParaRPr lang="en-US" sz="620" dirty="0"/>
          </a:p>
        </p:txBody>
      </p:sp>
      <p:sp>
        <p:nvSpPr>
          <p:cNvPr id="67" name="Text 58"/>
          <p:cNvSpPr/>
          <p:nvPr/>
        </p:nvSpPr>
        <p:spPr>
          <a:xfrm>
            <a:off x="8429774" y="4907756"/>
            <a:ext cx="314176" cy="181228"/>
          </a:xfrm>
          <a:prstGeom prst="roundRect">
            <a:avLst>
              <a:gd name="adj" fmla="val 16118"/>
            </a:avLst>
          </a:prstGeom>
          <a:solidFill>
            <a:srgbClr val="2EB88A">
              <a:alpha val="15000"/>
            </a:srgbClr>
          </a:solidFill>
          <a:ln w="9525">
            <a:solidFill>
              <a:srgbClr val="2EB88A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4D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6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90000" t="100000" r="1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A82C8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10000" t="20000" r="90000" b="8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50790" y="840284"/>
            <a:ext cx="27215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E8A020">
                    <a:alpha val="1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593854" y="840284"/>
            <a:ext cx="27215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E85454">
                    <a:alpha val="1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36918" y="840284"/>
            <a:ext cx="27215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A9EFF">
                    <a:alpha val="1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50790" y="2035969"/>
            <a:ext cx="27215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A855F7">
                    <a:alpha val="1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593854" y="2035969"/>
            <a:ext cx="27215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4B8A6">
                    <a:alpha val="1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36918" y="2035969"/>
            <a:ext cx="27215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43F5E">
                    <a:alpha val="1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425" y="739973"/>
            <a:ext cx="2753020" cy="21580"/>
          </a:xfrm>
          <a:custGeom>
            <a:avLst/>
            <a:gdLst/>
            <a:ahLst/>
            <a:cxnLst/>
            <a:rect l="l" t="t" r="r" b="b"/>
            <a:pathLst>
              <a:path w="2753020" h="21580">
                <a:moveTo>
                  <a:pt x="71120" y="0"/>
                </a:moveTo>
                <a:lnTo>
                  <a:pt x="2681900" y="0"/>
                </a:lnTo>
                <a:lnTo>
                  <a:pt x="2701302" y="2698"/>
                </a:lnTo>
                <a:lnTo>
                  <a:pt x="2709072" y="5395"/>
                </a:lnTo>
                <a:lnTo>
                  <a:pt x="2714849" y="8093"/>
                </a:lnTo>
                <a:lnTo>
                  <a:pt x="2719561" y="10790"/>
                </a:lnTo>
                <a:lnTo>
                  <a:pt x="2723572" y="13488"/>
                </a:lnTo>
                <a:lnTo>
                  <a:pt x="2727069" y="16185"/>
                </a:lnTo>
                <a:lnTo>
                  <a:pt x="2730163" y="18883"/>
                </a:lnTo>
                <a:lnTo>
                  <a:pt x="2732928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2425" y="739973"/>
            <a:ext cx="2753020" cy="1105643"/>
          </a:xfrm>
          <a:prstGeom prst="roundRect">
            <a:avLst>
              <a:gd name="adj" fmla="val 6432"/>
            </a:avLst>
          </a:prstGeom>
          <a:gradFill rotWithShape="1">
            <a:gsLst>
              <a:gs pos="0">
                <a:srgbClr val="E8A020">
                  <a:alpha val="8000"/>
                </a:srgbClr>
              </a:gs>
              <a:gs pos="80000">
                <a:srgbClr val="000000">
                  <a:alpha val="0"/>
                </a:srgbClr>
              </a:gs>
            </a:gsLst>
            <a:path path="circle">
              <a:fillToRect l="90000" t="100000" r="1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195489" y="739973"/>
            <a:ext cx="2753020" cy="21580"/>
          </a:xfrm>
          <a:custGeom>
            <a:avLst/>
            <a:gdLst/>
            <a:ahLst/>
            <a:cxnLst/>
            <a:rect l="l" t="t" r="r" b="b"/>
            <a:pathLst>
              <a:path w="2753020" h="21580">
                <a:moveTo>
                  <a:pt x="71120" y="0"/>
                </a:moveTo>
                <a:lnTo>
                  <a:pt x="2681900" y="0"/>
                </a:lnTo>
                <a:lnTo>
                  <a:pt x="2701302" y="2698"/>
                </a:lnTo>
                <a:lnTo>
                  <a:pt x="2709072" y="5395"/>
                </a:lnTo>
                <a:lnTo>
                  <a:pt x="2714849" y="8093"/>
                </a:lnTo>
                <a:lnTo>
                  <a:pt x="2719561" y="10790"/>
                </a:lnTo>
                <a:lnTo>
                  <a:pt x="2723572" y="13488"/>
                </a:lnTo>
                <a:lnTo>
                  <a:pt x="2727069" y="16185"/>
                </a:lnTo>
                <a:lnTo>
                  <a:pt x="2730163" y="18883"/>
                </a:lnTo>
                <a:lnTo>
                  <a:pt x="2732928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solidFill>
            <a:srgbClr val="E8545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195489" y="739973"/>
            <a:ext cx="2753020" cy="1105643"/>
          </a:xfrm>
          <a:prstGeom prst="roundRect">
            <a:avLst>
              <a:gd name="adj" fmla="val 6432"/>
            </a:avLst>
          </a:prstGeom>
          <a:gradFill rotWithShape="1">
            <a:gsLst>
              <a:gs pos="0">
                <a:srgbClr val="E85454">
                  <a:alpha val="8000"/>
                </a:srgbClr>
              </a:gs>
              <a:gs pos="80000">
                <a:srgbClr val="000000">
                  <a:alpha val="0"/>
                </a:srgbClr>
              </a:gs>
            </a:gsLst>
            <a:path path="circle">
              <a:fillToRect l="90000" t="100000" r="1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38552" y="739973"/>
            <a:ext cx="2753020" cy="21580"/>
          </a:xfrm>
          <a:custGeom>
            <a:avLst/>
            <a:gdLst/>
            <a:ahLst/>
            <a:cxnLst/>
            <a:rect l="l" t="t" r="r" b="b"/>
            <a:pathLst>
              <a:path w="2753020" h="21580">
                <a:moveTo>
                  <a:pt x="71120" y="0"/>
                </a:moveTo>
                <a:lnTo>
                  <a:pt x="2681900" y="0"/>
                </a:lnTo>
                <a:lnTo>
                  <a:pt x="2701302" y="2698"/>
                </a:lnTo>
                <a:lnTo>
                  <a:pt x="2709072" y="5395"/>
                </a:lnTo>
                <a:lnTo>
                  <a:pt x="2714849" y="8093"/>
                </a:lnTo>
                <a:lnTo>
                  <a:pt x="2719561" y="10790"/>
                </a:lnTo>
                <a:lnTo>
                  <a:pt x="2723572" y="13488"/>
                </a:lnTo>
                <a:lnTo>
                  <a:pt x="2727069" y="16185"/>
                </a:lnTo>
                <a:lnTo>
                  <a:pt x="2730163" y="18883"/>
                </a:lnTo>
                <a:lnTo>
                  <a:pt x="2732928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solidFill>
            <a:srgbClr val="4A9E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38552" y="739973"/>
            <a:ext cx="2753020" cy="1105643"/>
          </a:xfrm>
          <a:prstGeom prst="roundRect">
            <a:avLst>
              <a:gd name="adj" fmla="val 6432"/>
            </a:avLst>
          </a:prstGeom>
          <a:gradFill rotWithShape="1">
            <a:gsLst>
              <a:gs pos="0">
                <a:srgbClr val="4A9EFF">
                  <a:alpha val="8000"/>
                </a:srgbClr>
              </a:gs>
              <a:gs pos="80000">
                <a:srgbClr val="000000">
                  <a:alpha val="0"/>
                </a:srgbClr>
              </a:gs>
            </a:gsLst>
            <a:path path="circle">
              <a:fillToRect l="90000" t="100000" r="1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2425" y="1935659"/>
            <a:ext cx="2753020" cy="21580"/>
          </a:xfrm>
          <a:custGeom>
            <a:avLst/>
            <a:gdLst/>
            <a:ahLst/>
            <a:cxnLst/>
            <a:rect l="l" t="t" r="r" b="b"/>
            <a:pathLst>
              <a:path w="2753020" h="21580">
                <a:moveTo>
                  <a:pt x="71120" y="0"/>
                </a:moveTo>
                <a:lnTo>
                  <a:pt x="2681900" y="0"/>
                </a:lnTo>
                <a:lnTo>
                  <a:pt x="2701302" y="2698"/>
                </a:lnTo>
                <a:lnTo>
                  <a:pt x="2709072" y="5395"/>
                </a:lnTo>
                <a:lnTo>
                  <a:pt x="2714849" y="8093"/>
                </a:lnTo>
                <a:lnTo>
                  <a:pt x="2719561" y="10790"/>
                </a:lnTo>
                <a:lnTo>
                  <a:pt x="2723572" y="13488"/>
                </a:lnTo>
                <a:lnTo>
                  <a:pt x="2727069" y="16185"/>
                </a:lnTo>
                <a:lnTo>
                  <a:pt x="2730163" y="18883"/>
                </a:lnTo>
                <a:lnTo>
                  <a:pt x="2732928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52425" y="1935659"/>
            <a:ext cx="2753020" cy="1105643"/>
          </a:xfrm>
          <a:prstGeom prst="roundRect">
            <a:avLst>
              <a:gd name="adj" fmla="val 6432"/>
            </a:avLst>
          </a:prstGeom>
          <a:gradFill rotWithShape="1">
            <a:gsLst>
              <a:gs pos="0">
                <a:srgbClr val="A855F7">
                  <a:alpha val="8000"/>
                </a:srgbClr>
              </a:gs>
              <a:gs pos="80000">
                <a:srgbClr val="000000">
                  <a:alpha val="0"/>
                </a:srgbClr>
              </a:gs>
            </a:gsLst>
            <a:path path="circle">
              <a:fillToRect l="90000" t="100000" r="1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195489" y="1935659"/>
            <a:ext cx="2753020" cy="21580"/>
          </a:xfrm>
          <a:custGeom>
            <a:avLst/>
            <a:gdLst/>
            <a:ahLst/>
            <a:cxnLst/>
            <a:rect l="l" t="t" r="r" b="b"/>
            <a:pathLst>
              <a:path w="2753020" h="21580">
                <a:moveTo>
                  <a:pt x="71120" y="0"/>
                </a:moveTo>
                <a:lnTo>
                  <a:pt x="2681900" y="0"/>
                </a:lnTo>
                <a:lnTo>
                  <a:pt x="2701302" y="2698"/>
                </a:lnTo>
                <a:lnTo>
                  <a:pt x="2709072" y="5395"/>
                </a:lnTo>
                <a:lnTo>
                  <a:pt x="2714849" y="8093"/>
                </a:lnTo>
                <a:lnTo>
                  <a:pt x="2719561" y="10790"/>
                </a:lnTo>
                <a:lnTo>
                  <a:pt x="2723572" y="13488"/>
                </a:lnTo>
                <a:lnTo>
                  <a:pt x="2727069" y="16185"/>
                </a:lnTo>
                <a:lnTo>
                  <a:pt x="2730163" y="18883"/>
                </a:lnTo>
                <a:lnTo>
                  <a:pt x="2732928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195489" y="1935659"/>
            <a:ext cx="2753020" cy="1105643"/>
          </a:xfrm>
          <a:prstGeom prst="roundRect">
            <a:avLst>
              <a:gd name="adj" fmla="val 6432"/>
            </a:avLst>
          </a:prstGeom>
          <a:gradFill rotWithShape="1">
            <a:gsLst>
              <a:gs pos="0">
                <a:srgbClr val="14B8A6">
                  <a:alpha val="8000"/>
                </a:srgbClr>
              </a:gs>
              <a:gs pos="80000">
                <a:srgbClr val="000000">
                  <a:alpha val="0"/>
                </a:srgbClr>
              </a:gs>
            </a:gsLst>
            <a:path path="circle">
              <a:fillToRect l="90000" t="100000" r="1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38552" y="1935659"/>
            <a:ext cx="2753020" cy="21580"/>
          </a:xfrm>
          <a:custGeom>
            <a:avLst/>
            <a:gdLst/>
            <a:ahLst/>
            <a:cxnLst/>
            <a:rect l="l" t="t" r="r" b="b"/>
            <a:pathLst>
              <a:path w="2753020" h="21580">
                <a:moveTo>
                  <a:pt x="71120" y="0"/>
                </a:moveTo>
                <a:lnTo>
                  <a:pt x="2681900" y="0"/>
                </a:lnTo>
                <a:lnTo>
                  <a:pt x="2701302" y="2698"/>
                </a:lnTo>
                <a:lnTo>
                  <a:pt x="2709072" y="5395"/>
                </a:lnTo>
                <a:lnTo>
                  <a:pt x="2714849" y="8093"/>
                </a:lnTo>
                <a:lnTo>
                  <a:pt x="2719561" y="10790"/>
                </a:lnTo>
                <a:lnTo>
                  <a:pt x="2723572" y="13488"/>
                </a:lnTo>
                <a:lnTo>
                  <a:pt x="2727069" y="16185"/>
                </a:lnTo>
                <a:lnTo>
                  <a:pt x="2730163" y="18883"/>
                </a:lnTo>
                <a:lnTo>
                  <a:pt x="2732928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solidFill>
            <a:srgbClr val="F43F5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38552" y="1935659"/>
            <a:ext cx="2753020" cy="1105643"/>
          </a:xfrm>
          <a:prstGeom prst="roundRect">
            <a:avLst>
              <a:gd name="adj" fmla="val 6432"/>
            </a:avLst>
          </a:prstGeom>
          <a:gradFill rotWithShape="1">
            <a:gsLst>
              <a:gs pos="0">
                <a:srgbClr val="F43F5E">
                  <a:alpha val="8000"/>
                </a:srgbClr>
              </a:gs>
              <a:gs pos="80000">
                <a:srgbClr val="000000">
                  <a:alpha val="0"/>
                </a:srgbClr>
              </a:gs>
            </a:gsLst>
            <a:path path="circle">
              <a:fillToRect l="90000" t="100000" r="1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2900" y="209550"/>
            <a:ext cx="171450" cy="13841"/>
          </a:xfrm>
          <a:prstGeom prst="roundRect">
            <a:avLst>
              <a:gd name="adj" fmla="val 100932"/>
            </a:avLst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71500" y="157460"/>
            <a:ext cx="242128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12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SPOTLIGHT — AI THREAT SERIES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342900" y="304651"/>
            <a:ext cx="4518767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3"/>
              </a:lnSpc>
              <a:buNone/>
            </a:pPr>
            <a:r>
              <a:rPr lang="en-US" sz="1690" b="1" kern="0" spc="-17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&amp; Deepfake Threats</a:t>
            </a:r>
            <a:r>
              <a:rPr lang="en-US" sz="1690" kern="0" spc="-17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The 2026 Frontier</a:t>
            </a:r>
            <a:endParaRPr lang="en-US" sz="1690" dirty="0"/>
          </a:p>
        </p:txBody>
      </p:sp>
      <p:sp>
        <p:nvSpPr>
          <p:cNvPr id="27" name="Text 25"/>
          <p:cNvSpPr/>
          <p:nvPr/>
        </p:nvSpPr>
        <p:spPr>
          <a:xfrm>
            <a:off x="342900" y="608558"/>
            <a:ext cx="4000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E8A020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042523" y="157460"/>
            <a:ext cx="758577" cy="357485"/>
          </a:xfrm>
          <a:prstGeom prst="roundRect">
            <a:avLst>
              <a:gd name="adj" fmla="val 19895"/>
            </a:avLst>
          </a:pr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170664" y="214610"/>
            <a:ext cx="552524" cy="71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560" b="1" kern="0" spc="84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</a:t>
            </a:r>
            <a:endParaRPr lang="en-US" sz="560" dirty="0"/>
          </a:p>
        </p:txBody>
      </p:sp>
      <p:sp>
        <p:nvSpPr>
          <p:cNvPr id="30" name="Text 28"/>
          <p:cNvSpPr/>
          <p:nvPr/>
        </p:nvSpPr>
        <p:spPr>
          <a:xfrm>
            <a:off x="8269039" y="285750"/>
            <a:ext cx="335935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342900" y="730448"/>
            <a:ext cx="2772073" cy="1124694"/>
          </a:xfrm>
          <a:prstGeom prst="roundRect">
            <a:avLst>
              <a:gd name="adj" fmla="val 6324"/>
            </a:avLst>
          </a:prstGeom>
          <a:solidFill>
            <a:srgbClr val="1A2E4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66725" y="840284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E8A020">
              <a:alpha val="1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237" y="909795"/>
            <a:ext cx="132588" cy="13258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809476" y="916037"/>
            <a:ext cx="2399839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CEO/CFO</a:t>
            </a:r>
            <a:r>
              <a:rPr lang="en-US" sz="79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Voice Cloning</a:t>
            </a:r>
            <a:endParaRPr lang="en-US" sz="790" dirty="0"/>
          </a:p>
        </p:txBody>
      </p:sp>
      <p:sp>
        <p:nvSpPr>
          <p:cNvPr id="35" name="Text 32"/>
          <p:cNvSpPr/>
          <p:nvPr/>
        </p:nvSpPr>
        <p:spPr>
          <a:xfrm>
            <a:off x="466725" y="1161455"/>
            <a:ext cx="2574911" cy="40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voice impersonation over phone calls — attackers clone executive voices to authorize fraudulent wire transfers. Indistinguishable from genuine calls.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466725" y="1610916"/>
            <a:ext cx="795305" cy="134392"/>
          </a:xfrm>
          <a:prstGeom prst="roundRect">
            <a:avLst>
              <a:gd name="adj" fmla="val 21735"/>
            </a:avLst>
          </a:prstGeom>
          <a:solidFill>
            <a:srgbClr val="E8A020">
              <a:alpha val="15000"/>
            </a:srgbClr>
          </a:solidFill>
          <a:ln/>
        </p:spPr>
        <p:txBody>
          <a:bodyPr wrap="none" lIns="129223" tIns="13970" rIns="57150" bIns="13970" rtlCol="0" anchor="ctr"/>
          <a:lstStyle/>
          <a:p>
            <a:pPr marL="0" indent="0" algn="l">
              <a:buNone/>
            </a:pPr>
            <a:r>
              <a:rPr lang="en-US" sz="560" b="1" kern="0" spc="45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</a:t>
            </a:r>
            <a:endParaRPr lang="en-US" sz="560" dirty="0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9012" y="1611743"/>
            <a:ext cx="132588" cy="132588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3185964" y="730448"/>
            <a:ext cx="2772073" cy="1124694"/>
          </a:xfrm>
          <a:prstGeom prst="roundRect">
            <a:avLst>
              <a:gd name="adj" fmla="val 6324"/>
            </a:avLst>
          </a:prstGeom>
          <a:solidFill>
            <a:srgbClr val="1A2E4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3309789" y="840284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E85454">
              <a:alpha val="1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9300" y="909795"/>
            <a:ext cx="132588" cy="132588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3652540" y="916037"/>
            <a:ext cx="2399839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</a:t>
            </a:r>
            <a:r>
              <a:rPr lang="en-US" sz="79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Video Conferencing</a:t>
            </a:r>
            <a:endParaRPr lang="en-US" sz="790" dirty="0"/>
          </a:p>
        </p:txBody>
      </p:sp>
      <p:sp>
        <p:nvSpPr>
          <p:cNvPr id="42" name="Text 37"/>
          <p:cNvSpPr/>
          <p:nvPr/>
        </p:nvSpPr>
        <p:spPr>
          <a:xfrm>
            <a:off x="3309789" y="1161455"/>
            <a:ext cx="2574911" cy="40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video of executives injected into Teams or Zoom calls. Used to authorize payments, manipulate staff decisions, and conduct high-stakes CEO fraud in real time.</a:t>
            </a:r>
            <a:endParaRPr lang="en-US" sz="700" dirty="0"/>
          </a:p>
        </p:txBody>
      </p:sp>
      <p:sp>
        <p:nvSpPr>
          <p:cNvPr id="43" name="Text 38"/>
          <p:cNvSpPr/>
          <p:nvPr/>
        </p:nvSpPr>
        <p:spPr>
          <a:xfrm>
            <a:off x="3309789" y="1610916"/>
            <a:ext cx="979899" cy="134392"/>
          </a:xfrm>
          <a:prstGeom prst="roundRect">
            <a:avLst>
              <a:gd name="adj" fmla="val 21735"/>
            </a:avLst>
          </a:prstGeom>
          <a:solidFill>
            <a:srgbClr val="E85454">
              <a:alpha val="15000"/>
            </a:srgbClr>
          </a:solidFill>
          <a:ln/>
        </p:spPr>
        <p:txBody>
          <a:bodyPr wrap="none" lIns="129223" tIns="13970" rIns="57150" bIns="13970" rtlCol="0" anchor="ctr"/>
          <a:lstStyle/>
          <a:p>
            <a:pPr marL="0" indent="0" algn="l">
              <a:buNone/>
            </a:pPr>
            <a:r>
              <a:rPr lang="en-US" sz="560" b="1" kern="0" spc="45" dirty="0">
                <a:solidFill>
                  <a:srgbClr val="E8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THREAT</a:t>
            </a:r>
            <a:endParaRPr lang="en-US" sz="560" dirty="0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22076" y="1611743"/>
            <a:ext cx="132588" cy="132588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6029027" y="730448"/>
            <a:ext cx="2772073" cy="1124694"/>
          </a:xfrm>
          <a:prstGeom prst="roundRect">
            <a:avLst>
              <a:gd name="adj" fmla="val 6324"/>
            </a:avLst>
          </a:prstGeom>
          <a:solidFill>
            <a:srgbClr val="1A2E4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6152852" y="840284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4A9EFF">
              <a:alpha val="1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22364" y="909795"/>
            <a:ext cx="132588" cy="132588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6495604" y="916037"/>
            <a:ext cx="2399839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en-US" sz="79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Spear Phishing</a:t>
            </a:r>
            <a:endParaRPr lang="en-US" sz="790" dirty="0"/>
          </a:p>
        </p:txBody>
      </p:sp>
      <p:sp>
        <p:nvSpPr>
          <p:cNvPr id="49" name="Text 42"/>
          <p:cNvSpPr/>
          <p:nvPr/>
        </p:nvSpPr>
        <p:spPr>
          <a:xfrm>
            <a:off x="6152852" y="1161455"/>
            <a:ext cx="2574911" cy="40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emails with perfect grammar, tone-matching, and contextual OSINT. Mimics internal communications flawlessly — no spelling errors, no obvious tells.</a:t>
            </a:r>
            <a:endParaRPr lang="en-US" sz="700" dirty="0"/>
          </a:p>
        </p:txBody>
      </p:sp>
      <p:sp>
        <p:nvSpPr>
          <p:cNvPr id="50" name="Text 43"/>
          <p:cNvSpPr/>
          <p:nvPr/>
        </p:nvSpPr>
        <p:spPr>
          <a:xfrm>
            <a:off x="6152852" y="1610916"/>
            <a:ext cx="764944" cy="134392"/>
          </a:xfrm>
          <a:prstGeom prst="roundRect">
            <a:avLst>
              <a:gd name="adj" fmla="val 21735"/>
            </a:avLst>
          </a:prstGeom>
          <a:solidFill>
            <a:srgbClr val="4A9EFF">
              <a:alpha val="15000"/>
            </a:srgbClr>
          </a:solidFill>
          <a:ln/>
        </p:spPr>
        <p:txBody>
          <a:bodyPr wrap="none" lIns="129223" tIns="13970" rIns="57150" bIns="13970" rtlCol="0" anchor="ctr"/>
          <a:lstStyle/>
          <a:p>
            <a:pPr marL="0" indent="0" algn="l">
              <a:buNone/>
            </a:pPr>
            <a:r>
              <a:rPr lang="en-US" sz="560" b="1" kern="0" spc="45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</a:t>
            </a:r>
            <a:endParaRPr lang="en-US" sz="560" dirty="0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65140" y="1611743"/>
            <a:ext cx="132588" cy="132588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342900" y="1926134"/>
            <a:ext cx="2772073" cy="1124694"/>
          </a:xfrm>
          <a:prstGeom prst="roundRect">
            <a:avLst>
              <a:gd name="adj" fmla="val 6324"/>
            </a:avLst>
          </a:prstGeom>
          <a:solidFill>
            <a:srgbClr val="1A2E4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5"/>
          <p:cNvSpPr/>
          <p:nvPr/>
        </p:nvSpPr>
        <p:spPr>
          <a:xfrm>
            <a:off x="466725" y="2035969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A855F7">
              <a:alpha val="1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6237" y="2105480"/>
            <a:ext cx="132588" cy="132588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809476" y="2111722"/>
            <a:ext cx="2399839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r>
              <a:rPr lang="en-US" sz="79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Identity Fraud</a:t>
            </a:r>
            <a:endParaRPr lang="en-US" sz="790" dirty="0"/>
          </a:p>
        </p:txBody>
      </p:sp>
      <p:sp>
        <p:nvSpPr>
          <p:cNvPr id="56" name="Text 47"/>
          <p:cNvSpPr/>
          <p:nvPr/>
        </p:nvSpPr>
        <p:spPr>
          <a:xfrm>
            <a:off x="466725" y="2357140"/>
            <a:ext cx="2574911" cy="40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fabricates realistic fake identities — blending real and fictitious PII — to open accounts at scale. Targets onboarding processes at banks and credit unions.</a:t>
            </a:r>
            <a:endParaRPr lang="en-US" sz="700" dirty="0"/>
          </a:p>
        </p:txBody>
      </p:sp>
      <p:sp>
        <p:nvSpPr>
          <p:cNvPr id="57" name="Text 48"/>
          <p:cNvSpPr/>
          <p:nvPr/>
        </p:nvSpPr>
        <p:spPr>
          <a:xfrm>
            <a:off x="466725" y="2806601"/>
            <a:ext cx="809423" cy="134392"/>
          </a:xfrm>
          <a:prstGeom prst="roundRect">
            <a:avLst>
              <a:gd name="adj" fmla="val 21735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none" lIns="129223" tIns="13970" rIns="57150" bIns="13970" rtlCol="0" anchor="ctr"/>
          <a:lstStyle/>
          <a:p>
            <a:pPr marL="0" indent="0" algn="l">
              <a:buNone/>
            </a:pPr>
            <a:r>
              <a:rPr lang="en-US" sz="560" b="1" kern="0" spc="45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ATTACK</a:t>
            </a:r>
            <a:endParaRPr lang="en-US" sz="560" dirty="0"/>
          </a:p>
        </p:txBody>
      </p:sp>
      <p:pic>
        <p:nvPicPr>
          <p:cNvPr id="5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9012" y="2807428"/>
            <a:ext cx="132588" cy="132588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3185964" y="1926134"/>
            <a:ext cx="2772073" cy="1124694"/>
          </a:xfrm>
          <a:prstGeom prst="roundRect">
            <a:avLst>
              <a:gd name="adj" fmla="val 6324"/>
            </a:avLst>
          </a:prstGeom>
          <a:solidFill>
            <a:srgbClr val="1A2E4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0"/>
          <p:cNvSpPr/>
          <p:nvPr/>
        </p:nvSpPr>
        <p:spPr>
          <a:xfrm>
            <a:off x="3309789" y="2035969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14B8A6">
              <a:alpha val="1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79300" y="2105480"/>
            <a:ext cx="132588" cy="132588"/>
          </a:xfrm>
          <a:prstGeom prst="rect">
            <a:avLst/>
          </a:prstGeom>
        </p:spPr>
      </p:pic>
      <p:sp>
        <p:nvSpPr>
          <p:cNvPr id="62" name="Text 51"/>
          <p:cNvSpPr/>
          <p:nvPr/>
        </p:nvSpPr>
        <p:spPr>
          <a:xfrm>
            <a:off x="3652540" y="2111722"/>
            <a:ext cx="2399839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r>
              <a:rPr lang="en-US" sz="79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Injection Attacks</a:t>
            </a:r>
            <a:endParaRPr lang="en-US" sz="790" dirty="0"/>
          </a:p>
        </p:txBody>
      </p:sp>
      <p:sp>
        <p:nvSpPr>
          <p:cNvPr id="63" name="Text 52"/>
          <p:cNvSpPr/>
          <p:nvPr/>
        </p:nvSpPr>
        <p:spPr>
          <a:xfrm>
            <a:off x="3309789" y="2357140"/>
            <a:ext cx="2574911" cy="40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inputs embedded in documents or data manipulate enterprise AI assistants into exfiltrating sensitive data, bypassing controls, or executing unauthorized actions.</a:t>
            </a:r>
            <a:endParaRPr lang="en-US" sz="700" dirty="0"/>
          </a:p>
        </p:txBody>
      </p:sp>
      <p:sp>
        <p:nvSpPr>
          <p:cNvPr id="64" name="Text 53"/>
          <p:cNvSpPr/>
          <p:nvPr/>
        </p:nvSpPr>
        <p:spPr>
          <a:xfrm>
            <a:off x="3309789" y="2806601"/>
            <a:ext cx="684487" cy="134392"/>
          </a:xfrm>
          <a:prstGeom prst="roundRect">
            <a:avLst>
              <a:gd name="adj" fmla="val 21735"/>
            </a:avLst>
          </a:prstGeom>
          <a:solidFill>
            <a:srgbClr val="14B8A6">
              <a:alpha val="15000"/>
            </a:srgbClr>
          </a:solidFill>
          <a:ln/>
        </p:spPr>
        <p:txBody>
          <a:bodyPr wrap="none" lIns="129223" tIns="13970" rIns="57150" bIns="13970" rtlCol="0" anchor="ctr"/>
          <a:lstStyle/>
          <a:p>
            <a:pPr marL="0" indent="0" algn="l">
              <a:buNone/>
            </a:pPr>
            <a:r>
              <a:rPr lang="en-US" sz="560" b="1" kern="0" spc="45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AI-SPECIFIC</a:t>
            </a:r>
            <a:endParaRPr lang="en-US" sz="560" dirty="0"/>
          </a:p>
        </p:txBody>
      </p:sp>
      <p:pic>
        <p:nvPicPr>
          <p:cNvPr id="6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22076" y="2807428"/>
            <a:ext cx="132588" cy="132588"/>
          </a:xfrm>
          <a:prstGeom prst="rect">
            <a:avLst/>
          </a:prstGeom>
        </p:spPr>
      </p:pic>
      <p:sp>
        <p:nvSpPr>
          <p:cNvPr id="66" name="Text 54"/>
          <p:cNvSpPr/>
          <p:nvPr/>
        </p:nvSpPr>
        <p:spPr>
          <a:xfrm>
            <a:off x="6029027" y="1926134"/>
            <a:ext cx="2772073" cy="1124694"/>
          </a:xfrm>
          <a:prstGeom prst="roundRect">
            <a:avLst>
              <a:gd name="adj" fmla="val 6324"/>
            </a:avLst>
          </a:prstGeom>
          <a:solidFill>
            <a:srgbClr val="1A2E4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5"/>
          <p:cNvSpPr/>
          <p:nvPr/>
        </p:nvSpPr>
        <p:spPr>
          <a:xfrm>
            <a:off x="6152852" y="2035969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F43F5E">
              <a:alpha val="1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8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22364" y="2105480"/>
            <a:ext cx="132588" cy="132588"/>
          </a:xfrm>
          <a:prstGeom prst="rect">
            <a:avLst/>
          </a:prstGeom>
        </p:spPr>
      </p:pic>
      <p:sp>
        <p:nvSpPr>
          <p:cNvPr id="69" name="Text 56"/>
          <p:cNvSpPr/>
          <p:nvPr/>
        </p:nvSpPr>
        <p:spPr>
          <a:xfrm>
            <a:off x="6495604" y="2111722"/>
            <a:ext cx="2399839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r>
              <a:rPr lang="en-US" sz="79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Credential Stuffing</a:t>
            </a:r>
            <a:endParaRPr lang="en-US" sz="790" dirty="0"/>
          </a:p>
        </p:txBody>
      </p:sp>
      <p:sp>
        <p:nvSpPr>
          <p:cNvPr id="70" name="Text 57"/>
          <p:cNvSpPr/>
          <p:nvPr/>
        </p:nvSpPr>
        <p:spPr>
          <a:xfrm>
            <a:off x="6152852" y="2357140"/>
            <a:ext cx="2574911" cy="40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attacks using breached credential lists, AI-optimized for financial portals. Rotates IPs, bypasses CAPTCHAs, and executes account takeover at machine speed.</a:t>
            </a:r>
            <a:endParaRPr lang="en-US" sz="700" dirty="0"/>
          </a:p>
        </p:txBody>
      </p:sp>
      <p:sp>
        <p:nvSpPr>
          <p:cNvPr id="71" name="Text 58"/>
          <p:cNvSpPr/>
          <p:nvPr/>
        </p:nvSpPr>
        <p:spPr>
          <a:xfrm>
            <a:off x="6152852" y="2806601"/>
            <a:ext cx="698302" cy="134392"/>
          </a:xfrm>
          <a:prstGeom prst="roundRect">
            <a:avLst>
              <a:gd name="adj" fmla="val 21735"/>
            </a:avLst>
          </a:prstGeom>
          <a:solidFill>
            <a:srgbClr val="F43F5E">
              <a:alpha val="15000"/>
            </a:srgbClr>
          </a:solidFill>
          <a:ln/>
        </p:spPr>
        <p:txBody>
          <a:bodyPr wrap="none" lIns="129223" tIns="13970" rIns="57150" bIns="13970" rtlCol="0" anchor="ctr"/>
          <a:lstStyle/>
          <a:p>
            <a:pPr marL="0" indent="0" algn="l">
              <a:buNone/>
            </a:pPr>
            <a:r>
              <a:rPr lang="en-US" sz="560" b="1" kern="0" spc="45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560" dirty="0"/>
          </a:p>
        </p:txBody>
      </p:sp>
      <p:pic>
        <p:nvPicPr>
          <p:cNvPr id="72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65140" y="2807428"/>
            <a:ext cx="132588" cy="132588"/>
          </a:xfrm>
          <a:prstGeom prst="rect">
            <a:avLst/>
          </a:prstGeom>
        </p:spPr>
      </p:pic>
      <p:sp>
        <p:nvSpPr>
          <p:cNvPr id="73" name="Text 59"/>
          <p:cNvSpPr/>
          <p:nvPr/>
        </p:nvSpPr>
        <p:spPr>
          <a:xfrm>
            <a:off x="0" y="4771430"/>
            <a:ext cx="9144000" cy="372070"/>
          </a:xfrm>
          <a:prstGeom prst="rect">
            <a:avLst/>
          </a:prstGeom>
          <a:gradFill rotWithShape="1">
            <a:gsLst>
              <a:gs pos="0">
                <a:srgbClr val="1C1000"/>
              </a:gs>
              <a:gs pos="30000">
                <a:srgbClr val="2A1A00"/>
              </a:gs>
              <a:gs pos="100000">
                <a:srgbClr val="1C1000"/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60"/>
          <p:cNvSpPr/>
          <p:nvPr/>
        </p:nvSpPr>
        <p:spPr>
          <a:xfrm>
            <a:off x="0" y="4771430"/>
            <a:ext cx="9144000" cy="9525"/>
          </a:xfrm>
          <a:prstGeom prst="rect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61"/>
          <p:cNvSpPr/>
          <p:nvPr/>
        </p:nvSpPr>
        <p:spPr>
          <a:xfrm>
            <a:off x="342900" y="4854922"/>
            <a:ext cx="214610" cy="214610"/>
          </a:xfrm>
          <a:prstGeom prst="roundRect">
            <a:avLst>
              <a:gd name="adj" fmla="val 20120"/>
            </a:avLst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6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3911" y="4895933"/>
            <a:ext cx="132588" cy="132588"/>
          </a:xfrm>
          <a:prstGeom prst="rect">
            <a:avLst/>
          </a:prstGeom>
        </p:spPr>
      </p:pic>
      <p:sp>
        <p:nvSpPr>
          <p:cNvPr id="77" name="Text 62"/>
          <p:cNvSpPr/>
          <p:nvPr/>
        </p:nvSpPr>
        <p:spPr>
          <a:xfrm>
            <a:off x="671810" y="4903143"/>
            <a:ext cx="49326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87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lang="en-US" sz="620" dirty="0"/>
          </a:p>
        </p:txBody>
      </p:sp>
      <p:sp>
        <p:nvSpPr>
          <p:cNvPr id="78" name="Text 63"/>
          <p:cNvSpPr/>
          <p:nvPr/>
        </p:nvSpPr>
        <p:spPr>
          <a:xfrm>
            <a:off x="1234529" y="4876502"/>
            <a:ext cx="7590" cy="171450"/>
          </a:xfrm>
          <a:prstGeom prst="rect">
            <a:avLst/>
          </a:prstGeom>
          <a:solidFill>
            <a:srgbClr val="E8A020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64"/>
          <p:cNvSpPr/>
          <p:nvPr/>
        </p:nvSpPr>
        <p:spPr>
          <a:xfrm>
            <a:off x="1356420" y="4841825"/>
            <a:ext cx="7593574" cy="25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3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verbal code words</a:t>
            </a:r>
            <a:r>
              <a:rPr lang="en-US" sz="730" dirty="0">
                <a:solidFill>
                  <a:srgbClr val="F0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executive payment authorization · </a:t>
            </a:r>
            <a:r>
              <a:rPr lang="en-US" sz="73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via secondary channel</a:t>
            </a:r>
            <a:r>
              <a:rPr lang="en-US" sz="730" dirty="0">
                <a:solidFill>
                  <a:srgbClr val="F0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never act on a single voice or video request · </a:t>
            </a:r>
            <a:r>
              <a:rPr lang="en-US" sz="73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all AI-suspected incidents</a:t>
            </a:r>
            <a:r>
              <a:rPr lang="en-US" sz="730" dirty="0">
                <a:solidFill>
                  <a:srgbClr val="F0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your Security Team immediately</a:t>
            </a:r>
            <a:endParaRPr lang="en-US" sz="7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85000" t="20000" r="15000" b="8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B3FA0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15000" t="80000" r="85000" b="2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E8A020"/>
              </a:gs>
              <a:gs pos="50000">
                <a:srgbClr val="B87010"/>
              </a:gs>
              <a:gs pos="100000">
                <a:srgbClr val="7B3FA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183207"/>
            <a:ext cx="681186" cy="177299"/>
          </a:xfrm>
          <a:prstGeom prst="roundRect">
            <a:avLst>
              <a:gd name="adj" fmla="val 12177"/>
            </a:avLst>
          </a:prstGeom>
          <a:solidFill>
            <a:srgbClr val="E8A02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Q3 THEMES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1195536" y="157311"/>
            <a:ext cx="4414302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79"/>
              </a:lnSpc>
              <a:buNone/>
            </a:pPr>
            <a:r>
              <a:rPr lang="en-US" sz="1460" kern="0" spc="15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Insider Threats, </a:t>
            </a:r>
            <a:r>
              <a:rPr lang="en-US" sz="1460" b="1" kern="0" spc="15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Ransomware</a:t>
            </a:r>
            <a:r>
              <a:rPr lang="en-US" sz="1460" kern="0" spc="15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&amp; Third-Party Risk</a:t>
            </a:r>
            <a:endParaRPr lang="en-US" sz="1460" dirty="0"/>
          </a:p>
        </p:txBody>
      </p:sp>
      <p:sp>
        <p:nvSpPr>
          <p:cNvPr id="7" name="Text 5"/>
          <p:cNvSpPr/>
          <p:nvPr/>
        </p:nvSpPr>
        <p:spPr>
          <a:xfrm>
            <a:off x="7557790" y="173682"/>
            <a:ext cx="387557" cy="180231"/>
          </a:xfrm>
          <a:prstGeom prst="roundRect">
            <a:avLst>
              <a:gd name="adj" fmla="val 16207"/>
            </a:avLst>
          </a:prstGeom>
          <a:solidFill>
            <a:srgbClr val="C0392B">
              <a:alpha val="15000"/>
            </a:srgbClr>
          </a:solidFill>
          <a:ln w="9525">
            <a:solidFill>
              <a:srgbClr val="C0392B">
                <a:alpha val="40000"/>
              </a:srgbClr>
            </a:solidFill>
          </a:ln>
        </p:spPr>
        <p:txBody>
          <a:bodyPr wrap="none" lIns="71120" tIns="21590" rIns="71120" bIns="21590" rtlCol="0" anchor="t"/>
          <a:lstStyle/>
          <a:p>
            <a:pPr marL="0" indent="0" algn="l">
              <a:buNone/>
            </a:pPr>
            <a:r>
              <a:rPr lang="en-US" sz="620" b="1" kern="0" spc="50" dirty="0">
                <a:solidFill>
                  <a:srgbClr val="E8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7994898" y="173682"/>
            <a:ext cx="361751" cy="180231"/>
          </a:xfrm>
          <a:prstGeom prst="roundRect">
            <a:avLst>
              <a:gd name="adj" fmla="val 16207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lIns="71120" tIns="21590" rIns="71120" bIns="21590" rtlCol="0" anchor="t"/>
          <a:lstStyle/>
          <a:p>
            <a:pPr marL="0" indent="0" algn="l">
              <a:buNone/>
            </a:pPr>
            <a:r>
              <a:rPr lang="en-US" sz="620" b="1" kern="0" spc="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620" dirty="0"/>
          </a:p>
        </p:txBody>
      </p:sp>
      <p:sp>
        <p:nvSpPr>
          <p:cNvPr id="9" name="Text 7"/>
          <p:cNvSpPr/>
          <p:nvPr/>
        </p:nvSpPr>
        <p:spPr>
          <a:xfrm>
            <a:off x="8406705" y="173682"/>
            <a:ext cx="343989" cy="180231"/>
          </a:xfrm>
          <a:prstGeom prst="roundRect">
            <a:avLst>
              <a:gd name="adj" fmla="val 16207"/>
            </a:avLst>
          </a:prstGeom>
          <a:solidFill>
            <a:srgbClr val="7B3FA0">
              <a:alpha val="15000"/>
            </a:srgbClr>
          </a:solidFill>
          <a:ln w="9525">
            <a:solidFill>
              <a:srgbClr val="7B3FA0">
                <a:alpha val="40000"/>
              </a:srgbClr>
            </a:solidFill>
          </a:ln>
        </p:spPr>
        <p:txBody>
          <a:bodyPr wrap="none" lIns="71120" tIns="21590" rIns="71120" bIns="21590" rtlCol="0" anchor="t"/>
          <a:lstStyle/>
          <a:p>
            <a:pPr marL="0" indent="0" algn="l">
              <a:buNone/>
            </a:pPr>
            <a:r>
              <a:rPr lang="en-US" sz="620" b="1" kern="0" spc="50" dirty="0">
                <a:solidFill>
                  <a:srgbClr val="B06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400050" y="456754"/>
            <a:ext cx="8343900" cy="7590"/>
          </a:xfrm>
          <a:prstGeom prst="rect">
            <a:avLst/>
          </a:prstGeom>
          <a:gradFill rotWithShape="1">
            <a:gsLst>
              <a:gs pos="0">
                <a:srgbClr val="E8A020">
                  <a:alpha val="40000"/>
                </a:srgbClr>
              </a:gs>
              <a:gs pos="50000">
                <a:srgbClr val="94AFC8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3891" y="593824"/>
            <a:ext cx="70991" cy="70991"/>
          </a:xfrm>
          <a:prstGeom prst="ellipse">
            <a:avLst/>
          </a:prstGeom>
          <a:solidFill>
            <a:srgbClr val="E85C4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5873" y="564654"/>
            <a:ext cx="147945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94AF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· BEHAVIORAL RISK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413891" y="780455"/>
            <a:ext cx="442527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12"/>
              </a:lnSpc>
              <a:buNone/>
            </a:pPr>
            <a:r>
              <a:rPr lang="en-US" sz="101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Insider Threats &amp; Behavioral Risk</a:t>
            </a:r>
            <a:endParaRPr lang="en-US" sz="1010" dirty="0"/>
          </a:p>
        </p:txBody>
      </p:sp>
      <p:sp>
        <p:nvSpPr>
          <p:cNvPr id="14" name="Text 12"/>
          <p:cNvSpPr/>
          <p:nvPr/>
        </p:nvSpPr>
        <p:spPr>
          <a:xfrm>
            <a:off x="413891" y="1020663"/>
            <a:ext cx="4022973" cy="444252"/>
          </a:xfrm>
          <a:prstGeom prst="roundRect">
            <a:avLst>
              <a:gd name="adj" fmla="val 9720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3891" y="1020663"/>
            <a:ext cx="19050" cy="444252"/>
          </a:xfrm>
          <a:custGeom>
            <a:avLst/>
            <a:gdLst/>
            <a:ahLst/>
            <a:cxnLst/>
            <a:rect l="l" t="t" r="r" b="b"/>
            <a:pathLst>
              <a:path w="19050" h="444252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36881"/>
                </a:lnTo>
                <a:lnTo>
                  <a:pt x="16669" y="435155"/>
                </a:lnTo>
                <a:lnTo>
                  <a:pt x="14288" y="433161"/>
                </a:lnTo>
                <a:lnTo>
                  <a:pt x="11906" y="430846"/>
                </a:lnTo>
                <a:lnTo>
                  <a:pt x="9525" y="428125"/>
                </a:lnTo>
                <a:lnTo>
                  <a:pt x="7144" y="424861"/>
                </a:lnTo>
                <a:lnTo>
                  <a:pt x="4763" y="420785"/>
                </a:lnTo>
                <a:lnTo>
                  <a:pt x="2381" y="415213"/>
                </a:lnTo>
                <a:lnTo>
                  <a:pt x="0" y="401072"/>
                </a:lnTo>
                <a:close/>
              </a:path>
            </a:pathLst>
          </a:custGeom>
          <a:solidFill>
            <a:srgbClr val="C0392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501" y="1054233"/>
            <a:ext cx="132588" cy="13258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6807" y="1070074"/>
            <a:ext cx="4090973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Insiders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46807" y="1184225"/>
            <a:ext cx="3793447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or contractors with privileged access intentionally exfiltrating data for financial gain or to benefit a competitor.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413891" y="1522065"/>
            <a:ext cx="4022973" cy="444252"/>
          </a:xfrm>
          <a:prstGeom prst="roundRect">
            <a:avLst>
              <a:gd name="adj" fmla="val 9720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13891" y="1522065"/>
            <a:ext cx="19050" cy="444252"/>
          </a:xfrm>
          <a:custGeom>
            <a:avLst/>
            <a:gdLst/>
            <a:ahLst/>
            <a:cxnLst/>
            <a:rect l="l" t="t" r="r" b="b"/>
            <a:pathLst>
              <a:path w="19050" h="444252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36881"/>
                </a:lnTo>
                <a:lnTo>
                  <a:pt x="16669" y="435155"/>
                </a:lnTo>
                <a:lnTo>
                  <a:pt x="14288" y="433161"/>
                </a:lnTo>
                <a:lnTo>
                  <a:pt x="11906" y="430846"/>
                </a:lnTo>
                <a:lnTo>
                  <a:pt x="9525" y="428125"/>
                </a:lnTo>
                <a:lnTo>
                  <a:pt x="7144" y="424861"/>
                </a:lnTo>
                <a:lnTo>
                  <a:pt x="4763" y="420785"/>
                </a:lnTo>
                <a:lnTo>
                  <a:pt x="2381" y="415213"/>
                </a:lnTo>
                <a:lnTo>
                  <a:pt x="0" y="401072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501" y="1555635"/>
            <a:ext cx="132588" cy="13258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46807" y="1571476"/>
            <a:ext cx="4090973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Negligent Data Handling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646807" y="1685627"/>
            <a:ext cx="3793447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 PII exposure, unsecured email attachments, misdirected transmissions of sensitive financial records.</a:t>
            </a:r>
            <a:endParaRPr lang="en-US" sz="650" dirty="0"/>
          </a:p>
        </p:txBody>
      </p:sp>
      <p:sp>
        <p:nvSpPr>
          <p:cNvPr id="24" name="Text 20"/>
          <p:cNvSpPr/>
          <p:nvPr/>
        </p:nvSpPr>
        <p:spPr>
          <a:xfrm>
            <a:off x="413891" y="2023467"/>
            <a:ext cx="4022973" cy="444252"/>
          </a:xfrm>
          <a:prstGeom prst="roundRect">
            <a:avLst>
              <a:gd name="adj" fmla="val 9720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13891" y="2023467"/>
            <a:ext cx="19050" cy="444252"/>
          </a:xfrm>
          <a:custGeom>
            <a:avLst/>
            <a:gdLst/>
            <a:ahLst/>
            <a:cxnLst/>
            <a:rect l="l" t="t" r="r" b="b"/>
            <a:pathLst>
              <a:path w="19050" h="444252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36881"/>
                </a:lnTo>
                <a:lnTo>
                  <a:pt x="16669" y="435155"/>
                </a:lnTo>
                <a:lnTo>
                  <a:pt x="14288" y="433161"/>
                </a:lnTo>
                <a:lnTo>
                  <a:pt x="11906" y="430846"/>
                </a:lnTo>
                <a:lnTo>
                  <a:pt x="9525" y="428125"/>
                </a:lnTo>
                <a:lnTo>
                  <a:pt x="7144" y="424861"/>
                </a:lnTo>
                <a:lnTo>
                  <a:pt x="4763" y="420785"/>
                </a:lnTo>
                <a:lnTo>
                  <a:pt x="2381" y="415213"/>
                </a:lnTo>
                <a:lnTo>
                  <a:pt x="0" y="401072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501" y="2057037"/>
            <a:ext cx="132588" cy="13258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46807" y="2072878"/>
            <a:ext cx="4090973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Departing Employee Risk</a:t>
            </a:r>
            <a:endParaRPr lang="en-US" sz="700" dirty="0"/>
          </a:p>
        </p:txBody>
      </p:sp>
      <p:sp>
        <p:nvSpPr>
          <p:cNvPr id="28" name="Text 23"/>
          <p:cNvSpPr/>
          <p:nvPr/>
        </p:nvSpPr>
        <p:spPr>
          <a:xfrm>
            <a:off x="646807" y="2187029"/>
            <a:ext cx="3793447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downloads before resignation; access not revoked within SLA; unauthorized data transfers to personal cloud storage.</a:t>
            </a:r>
            <a:endParaRPr lang="en-US" sz="650" dirty="0"/>
          </a:p>
        </p:txBody>
      </p:sp>
      <p:sp>
        <p:nvSpPr>
          <p:cNvPr id="29" name="Text 24"/>
          <p:cNvSpPr/>
          <p:nvPr/>
        </p:nvSpPr>
        <p:spPr>
          <a:xfrm>
            <a:off x="413891" y="2524869"/>
            <a:ext cx="4022973" cy="349151"/>
          </a:xfrm>
          <a:prstGeom prst="roundRect">
            <a:avLst>
              <a:gd name="adj" fmla="val 12367"/>
            </a:avLst>
          </a:prstGeom>
          <a:solidFill>
            <a:srgbClr val="E8A020">
              <a:alpha val="7000"/>
            </a:srgbClr>
          </a:solidFill>
          <a:ln w="9525">
            <a:solidFill>
              <a:srgbClr val="E8A020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494407" y="2591395"/>
            <a:ext cx="14930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</a:t>
            </a:r>
            <a:endParaRPr lang="en-US" sz="560" dirty="0"/>
          </a:p>
        </p:txBody>
      </p:sp>
      <p:sp>
        <p:nvSpPr>
          <p:cNvPr id="31" name="Text 26"/>
          <p:cNvSpPr/>
          <p:nvPr/>
        </p:nvSpPr>
        <p:spPr>
          <a:xfrm>
            <a:off x="687288" y="2583805"/>
            <a:ext cx="3742441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at a major financial firm exfiltrated customer PII and account data to a direct competitor — discovered via anomalous mass-download alert flagged by DLP tooling.</a:t>
            </a:r>
            <a:endParaRPr lang="en-US" sz="650" dirty="0"/>
          </a:p>
        </p:txBody>
      </p:sp>
      <p:sp>
        <p:nvSpPr>
          <p:cNvPr id="32" name="Text 27"/>
          <p:cNvSpPr/>
          <p:nvPr/>
        </p:nvSpPr>
        <p:spPr>
          <a:xfrm>
            <a:off x="413891" y="2931170"/>
            <a:ext cx="1069009" cy="174427"/>
          </a:xfrm>
          <a:prstGeom prst="roundRect">
            <a:avLst>
              <a:gd name="adj" fmla="val 16746"/>
            </a:avLst>
          </a:prstGeom>
          <a:solidFill>
            <a:srgbClr val="C0392B">
              <a:alpha val="12000"/>
            </a:srgbClr>
          </a:solidFill>
          <a:ln w="9525">
            <a:solidFill>
              <a:srgbClr val="C0392B">
                <a:alpha val="25000"/>
              </a:srgbClr>
            </a:solidFill>
          </a:ln>
        </p:spPr>
        <p:txBody>
          <a:bodyPr wrap="none" lIns="139641" tIns="21590" rIns="57150" bIns="21590" rtlCol="0" anchor="ctr"/>
          <a:lstStyle/>
          <a:p>
            <a:pPr marL="0" indent="0" algn="l">
              <a:buNone/>
            </a:pPr>
            <a:r>
              <a:rPr lang="en-US" sz="590" dirty="0">
                <a:solidFill>
                  <a:srgbClr val="E8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Access Patterns</a:t>
            </a:r>
            <a:endParaRPr lang="en-US" sz="59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0912" y="2952089"/>
            <a:ext cx="132588" cy="13258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497360" y="2931170"/>
            <a:ext cx="801529" cy="174427"/>
          </a:xfrm>
          <a:prstGeom prst="roundRect">
            <a:avLst>
              <a:gd name="adj" fmla="val 16746"/>
            </a:avLst>
          </a:prstGeom>
          <a:solidFill>
            <a:srgbClr val="C0392B">
              <a:alpha val="12000"/>
            </a:srgbClr>
          </a:solidFill>
          <a:ln w="9525">
            <a:solidFill>
              <a:srgbClr val="C0392B">
                <a:alpha val="25000"/>
              </a:srgbClr>
            </a:solidFill>
          </a:ln>
        </p:spPr>
        <p:txBody>
          <a:bodyPr wrap="none" lIns="139641" tIns="21590" rIns="57150" bIns="21590" rtlCol="0" anchor="ctr"/>
          <a:lstStyle/>
          <a:p>
            <a:pPr marL="0" indent="0" algn="l">
              <a:buNone/>
            </a:pPr>
            <a:r>
              <a:rPr lang="en-US" sz="590" dirty="0">
                <a:solidFill>
                  <a:srgbClr val="E8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Downloads</a:t>
            </a:r>
            <a:endParaRPr lang="en-US" sz="59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24381" y="2952089"/>
            <a:ext cx="132588" cy="13258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2318593" y="2931170"/>
            <a:ext cx="869385" cy="174427"/>
          </a:xfrm>
          <a:prstGeom prst="roundRect">
            <a:avLst>
              <a:gd name="adj" fmla="val 16746"/>
            </a:avLst>
          </a:prstGeom>
          <a:solidFill>
            <a:srgbClr val="C0392B">
              <a:alpha val="12000"/>
            </a:srgbClr>
          </a:solidFill>
          <a:ln w="9525">
            <a:solidFill>
              <a:srgbClr val="C0392B">
                <a:alpha val="25000"/>
              </a:srgbClr>
            </a:solidFill>
          </a:ln>
        </p:spPr>
        <p:txBody>
          <a:bodyPr wrap="none" lIns="139641" tIns="21590" rIns="57150" bIns="21590" rtlCol="0" anchor="ctr"/>
          <a:lstStyle/>
          <a:p>
            <a:pPr marL="0" indent="0" algn="l">
              <a:buNone/>
            </a:pPr>
            <a:r>
              <a:rPr lang="en-US" sz="590" dirty="0">
                <a:solidFill>
                  <a:srgbClr val="E8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After-Hours Activity</a:t>
            </a:r>
            <a:endParaRPr lang="en-US" sz="59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45615" y="2952089"/>
            <a:ext cx="132588" cy="13258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13891" y="3188791"/>
            <a:ext cx="640601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MAPPING:</a:t>
            </a:r>
            <a:endParaRPr lang="en-US" sz="560" dirty="0"/>
          </a:p>
        </p:txBody>
      </p:sp>
      <p:sp>
        <p:nvSpPr>
          <p:cNvPr id="39" name="Text 31"/>
          <p:cNvSpPr/>
          <p:nvPr/>
        </p:nvSpPr>
        <p:spPr>
          <a:xfrm>
            <a:off x="1053405" y="3162746"/>
            <a:ext cx="433388" cy="174843"/>
          </a:xfrm>
          <a:prstGeom prst="roundRect">
            <a:avLst>
              <a:gd name="adj" fmla="val 12348"/>
            </a:avLst>
          </a:prstGeom>
          <a:solidFill>
            <a:srgbClr val="94AFC8">
              <a:alpha val="12000"/>
            </a:srgbClr>
          </a:solidFill>
          <a:ln w="9525">
            <a:solidFill>
              <a:srgbClr val="94AFC8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 dirty="0">
                <a:solidFill>
                  <a:srgbClr val="94A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DE.CM-3</a:t>
            </a:r>
            <a:endParaRPr lang="en-US" sz="590" dirty="0"/>
          </a:p>
        </p:txBody>
      </p:sp>
      <p:sp>
        <p:nvSpPr>
          <p:cNvPr id="40" name="Text 32"/>
          <p:cNvSpPr/>
          <p:nvPr/>
        </p:nvSpPr>
        <p:spPr>
          <a:xfrm>
            <a:off x="1522214" y="3162746"/>
            <a:ext cx="433388" cy="174843"/>
          </a:xfrm>
          <a:prstGeom prst="roundRect">
            <a:avLst>
              <a:gd name="adj" fmla="val 12348"/>
            </a:avLst>
          </a:prstGeom>
          <a:solidFill>
            <a:srgbClr val="94AFC8">
              <a:alpha val="12000"/>
            </a:srgbClr>
          </a:solidFill>
          <a:ln w="9525">
            <a:solidFill>
              <a:srgbClr val="94AFC8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 dirty="0">
                <a:solidFill>
                  <a:srgbClr val="94A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PR.AC-4</a:t>
            </a:r>
            <a:endParaRPr lang="en-US" sz="590" dirty="0"/>
          </a:p>
        </p:txBody>
      </p:sp>
      <p:sp>
        <p:nvSpPr>
          <p:cNvPr id="41" name="Text 33"/>
          <p:cNvSpPr/>
          <p:nvPr/>
        </p:nvSpPr>
        <p:spPr>
          <a:xfrm>
            <a:off x="4565005" y="621804"/>
            <a:ext cx="13841" cy="41421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94AFC8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4"/>
          <p:cNvSpPr/>
          <p:nvPr/>
        </p:nvSpPr>
        <p:spPr>
          <a:xfrm>
            <a:off x="4706987" y="593824"/>
            <a:ext cx="70991" cy="70991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4848969" y="564654"/>
            <a:ext cx="144278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94AF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AUGUST · RANSOMWARE</a:t>
            </a:r>
            <a:endParaRPr lang="en-US" sz="680" dirty="0"/>
          </a:p>
        </p:txBody>
      </p:sp>
      <p:sp>
        <p:nvSpPr>
          <p:cNvPr id="44" name="Text 36"/>
          <p:cNvSpPr/>
          <p:nvPr/>
        </p:nvSpPr>
        <p:spPr>
          <a:xfrm>
            <a:off x="4706987" y="780455"/>
            <a:ext cx="4425434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Ransomware &amp; Business Continuity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4706987" y="1003846"/>
            <a:ext cx="4023122" cy="444252"/>
          </a:xfrm>
          <a:prstGeom prst="roundRect">
            <a:avLst>
              <a:gd name="adj" fmla="val 9720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8"/>
          <p:cNvSpPr/>
          <p:nvPr/>
        </p:nvSpPr>
        <p:spPr>
          <a:xfrm>
            <a:off x="4706987" y="1003846"/>
            <a:ext cx="19050" cy="444252"/>
          </a:xfrm>
          <a:custGeom>
            <a:avLst/>
            <a:gdLst/>
            <a:ahLst/>
            <a:cxnLst/>
            <a:rect l="l" t="t" r="r" b="b"/>
            <a:pathLst>
              <a:path w="19050" h="444252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36881"/>
                </a:lnTo>
                <a:lnTo>
                  <a:pt x="16669" y="435155"/>
                </a:lnTo>
                <a:lnTo>
                  <a:pt x="14288" y="433161"/>
                </a:lnTo>
                <a:lnTo>
                  <a:pt x="11906" y="430846"/>
                </a:lnTo>
                <a:lnTo>
                  <a:pt x="9525" y="428125"/>
                </a:lnTo>
                <a:lnTo>
                  <a:pt x="7144" y="424861"/>
                </a:lnTo>
                <a:lnTo>
                  <a:pt x="4763" y="420785"/>
                </a:lnTo>
                <a:lnTo>
                  <a:pt x="2381" y="415213"/>
                </a:lnTo>
                <a:lnTo>
                  <a:pt x="0" y="401072"/>
                </a:lnTo>
                <a:close/>
              </a:path>
            </a:pathLst>
          </a:custGeom>
          <a:solidFill>
            <a:srgbClr val="C0392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73597" y="1037415"/>
            <a:ext cx="132588" cy="132588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4939903" y="1053257"/>
            <a:ext cx="4091136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Double-Extortion Model — Financial Sector Is #1 Target</a:t>
            </a:r>
            <a:endParaRPr lang="en-US" sz="700" dirty="0"/>
          </a:p>
        </p:txBody>
      </p:sp>
      <p:sp>
        <p:nvSpPr>
          <p:cNvPr id="49" name="Text 40"/>
          <p:cNvSpPr/>
          <p:nvPr/>
        </p:nvSpPr>
        <p:spPr>
          <a:xfrm>
            <a:off x="4939903" y="1167408"/>
            <a:ext cx="3793599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encrypt </a:t>
            </a:r>
            <a:r>
              <a:rPr lang="en-US" sz="65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exfiltrate data; financial institutions face ransom + regulatory exposure. LockBit 3.0 &amp; ALPHV actively targeted banks in 2025.</a:t>
            </a:r>
            <a:endParaRPr lang="en-US" sz="650" dirty="0"/>
          </a:p>
        </p:txBody>
      </p:sp>
      <p:sp>
        <p:nvSpPr>
          <p:cNvPr id="50" name="Text 41"/>
          <p:cNvSpPr/>
          <p:nvPr/>
        </p:nvSpPr>
        <p:spPr>
          <a:xfrm>
            <a:off x="4706987" y="1505248"/>
            <a:ext cx="4023122" cy="321171"/>
          </a:xfrm>
          <a:prstGeom prst="roundRect">
            <a:avLst>
              <a:gd name="adj" fmla="val 13445"/>
            </a:avLst>
          </a:prstGeom>
          <a:solidFill>
            <a:srgbClr val="E8A020">
              <a:alpha val="7000"/>
            </a:srgbClr>
          </a:solidFill>
          <a:ln w="9525">
            <a:solidFill>
              <a:srgbClr val="E8A020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2"/>
          <p:cNvSpPr/>
          <p:nvPr/>
        </p:nvSpPr>
        <p:spPr>
          <a:xfrm>
            <a:off x="4787503" y="1557784"/>
            <a:ext cx="14930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</a:t>
            </a:r>
            <a:endParaRPr lang="en-US" sz="560" dirty="0"/>
          </a:p>
        </p:txBody>
      </p:sp>
      <p:sp>
        <p:nvSpPr>
          <p:cNvPr id="52" name="Text 43"/>
          <p:cNvSpPr/>
          <p:nvPr/>
        </p:nvSpPr>
        <p:spPr>
          <a:xfrm>
            <a:off x="4980384" y="1550194"/>
            <a:ext cx="3742593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LockBit 3.0 and ALPHV/BlackCat named financial institutions as primary targets in 2025 campaigns — using stolen credentials for initial access before deploying encryption payloads.</a:t>
            </a:r>
            <a:endParaRPr lang="en-US" sz="650" dirty="0"/>
          </a:p>
        </p:txBody>
      </p:sp>
      <p:sp>
        <p:nvSpPr>
          <p:cNvPr id="53" name="Text 44"/>
          <p:cNvSpPr/>
          <p:nvPr/>
        </p:nvSpPr>
        <p:spPr>
          <a:xfrm>
            <a:off x="4706987" y="1883569"/>
            <a:ext cx="890790" cy="174427"/>
          </a:xfrm>
          <a:prstGeom prst="roundRect">
            <a:avLst>
              <a:gd name="adj" fmla="val 16746"/>
            </a:avLst>
          </a:prstGeom>
          <a:solidFill>
            <a:srgbClr val="1ABC9C">
              <a:alpha val="10000"/>
            </a:srgbClr>
          </a:solidFill>
          <a:ln w="9525">
            <a:solidFill>
              <a:srgbClr val="1ABC9C">
                <a:alpha val="30000"/>
              </a:srgbClr>
            </a:solidFill>
          </a:ln>
        </p:spPr>
        <p:txBody>
          <a:bodyPr wrap="none" lIns="139641" tIns="21590" rIns="57150" bIns="21590" rtlCol="0" anchor="ctr"/>
          <a:lstStyle/>
          <a:p>
            <a:pPr marL="0" indent="0" algn="l">
              <a:buNone/>
            </a:pPr>
            <a:r>
              <a:rPr lang="en-US" sz="59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Backups</a:t>
            </a:r>
            <a:endParaRPr lang="en-US" sz="590" dirty="0"/>
          </a:p>
        </p:txBody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34008" y="1904488"/>
            <a:ext cx="132588" cy="132588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5615732" y="1883569"/>
            <a:ext cx="822630" cy="174427"/>
          </a:xfrm>
          <a:prstGeom prst="roundRect">
            <a:avLst>
              <a:gd name="adj" fmla="val 16746"/>
            </a:avLst>
          </a:prstGeom>
          <a:solidFill>
            <a:srgbClr val="1ABC9C">
              <a:alpha val="10000"/>
            </a:srgbClr>
          </a:solidFill>
          <a:ln w="9525">
            <a:solidFill>
              <a:srgbClr val="1ABC9C">
                <a:alpha val="30000"/>
              </a:srgbClr>
            </a:solidFill>
          </a:ln>
        </p:spPr>
        <p:txBody>
          <a:bodyPr wrap="none" lIns="139641" tIns="21590" rIns="57150" bIns="21590" rtlCol="0" anchor="ctr"/>
          <a:lstStyle/>
          <a:p>
            <a:pPr marL="0" indent="0" algn="l">
              <a:buNone/>
            </a:pPr>
            <a:r>
              <a:rPr lang="en-US" sz="59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Drills Quarterly</a:t>
            </a:r>
            <a:endParaRPr lang="en-US" sz="590" dirty="0"/>
          </a:p>
        </p:txBody>
      </p:sp>
      <p:pic>
        <p:nvPicPr>
          <p:cNvPr id="56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42753" y="1904488"/>
            <a:ext cx="132588" cy="132588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6457652" y="1883569"/>
            <a:ext cx="954396" cy="174427"/>
          </a:xfrm>
          <a:prstGeom prst="roundRect">
            <a:avLst>
              <a:gd name="adj" fmla="val 16746"/>
            </a:avLst>
          </a:prstGeom>
          <a:solidFill>
            <a:srgbClr val="1ABC9C">
              <a:alpha val="10000"/>
            </a:srgbClr>
          </a:solidFill>
          <a:ln w="9525">
            <a:solidFill>
              <a:srgbClr val="1ABC9C">
                <a:alpha val="30000"/>
              </a:srgbClr>
            </a:solidFill>
          </a:ln>
        </p:spPr>
        <p:txBody>
          <a:bodyPr wrap="none" lIns="139641" tIns="21590" rIns="57150" bIns="21590" rtlCol="0" anchor="ctr"/>
          <a:lstStyle/>
          <a:p>
            <a:pPr marL="0" indent="0" algn="l">
              <a:buNone/>
            </a:pPr>
            <a:r>
              <a:rPr lang="en-US" sz="59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Recovery</a:t>
            </a:r>
            <a:endParaRPr lang="en-US" sz="590" dirty="0"/>
          </a:p>
        </p:txBody>
      </p:sp>
      <p:pic>
        <p:nvPicPr>
          <p:cNvPr id="58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84674" y="1904488"/>
            <a:ext cx="132588" cy="132588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4706987" y="2144316"/>
            <a:ext cx="4023122" cy="7590"/>
          </a:xfrm>
          <a:prstGeom prst="rect">
            <a:avLst/>
          </a:prstGeom>
          <a:solidFill>
            <a:srgbClr val="94AFC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48"/>
          <p:cNvSpPr/>
          <p:nvPr/>
        </p:nvSpPr>
        <p:spPr>
          <a:xfrm>
            <a:off x="4706987" y="2281238"/>
            <a:ext cx="70991" cy="70991"/>
          </a:xfrm>
          <a:prstGeom prst="ellipse">
            <a:avLst/>
          </a:prstGeom>
          <a:solidFill>
            <a:srgbClr val="B06AD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49"/>
          <p:cNvSpPr/>
          <p:nvPr/>
        </p:nvSpPr>
        <p:spPr>
          <a:xfrm>
            <a:off x="4848969" y="2252067"/>
            <a:ext cx="163841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94AF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SEPTEMBER · VENDOR RISK</a:t>
            </a:r>
            <a:endParaRPr lang="en-US" sz="680" dirty="0"/>
          </a:p>
        </p:txBody>
      </p:sp>
      <p:sp>
        <p:nvSpPr>
          <p:cNvPr id="62" name="Text 50"/>
          <p:cNvSpPr/>
          <p:nvPr/>
        </p:nvSpPr>
        <p:spPr>
          <a:xfrm>
            <a:off x="4706987" y="2467868"/>
            <a:ext cx="4425434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Third-Party &amp; Supply Chain Risk</a:t>
            </a:r>
            <a:endParaRPr lang="en-US" sz="900" dirty="0"/>
          </a:p>
        </p:txBody>
      </p:sp>
      <p:sp>
        <p:nvSpPr>
          <p:cNvPr id="63" name="Text 51"/>
          <p:cNvSpPr/>
          <p:nvPr/>
        </p:nvSpPr>
        <p:spPr>
          <a:xfrm>
            <a:off x="4706987" y="2691259"/>
            <a:ext cx="4023122" cy="444252"/>
          </a:xfrm>
          <a:prstGeom prst="roundRect">
            <a:avLst>
              <a:gd name="adj" fmla="val 9720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2"/>
          <p:cNvSpPr/>
          <p:nvPr/>
        </p:nvSpPr>
        <p:spPr>
          <a:xfrm>
            <a:off x="4706987" y="2691259"/>
            <a:ext cx="19050" cy="444252"/>
          </a:xfrm>
          <a:custGeom>
            <a:avLst/>
            <a:gdLst/>
            <a:ahLst/>
            <a:cxnLst/>
            <a:rect l="l" t="t" r="r" b="b"/>
            <a:pathLst>
              <a:path w="19050" h="444252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36881"/>
                </a:lnTo>
                <a:lnTo>
                  <a:pt x="16669" y="435155"/>
                </a:lnTo>
                <a:lnTo>
                  <a:pt x="14288" y="433161"/>
                </a:lnTo>
                <a:lnTo>
                  <a:pt x="11906" y="430846"/>
                </a:lnTo>
                <a:lnTo>
                  <a:pt x="9525" y="428125"/>
                </a:lnTo>
                <a:lnTo>
                  <a:pt x="7144" y="424861"/>
                </a:lnTo>
                <a:lnTo>
                  <a:pt x="4763" y="420785"/>
                </a:lnTo>
                <a:lnTo>
                  <a:pt x="2381" y="415213"/>
                </a:lnTo>
                <a:lnTo>
                  <a:pt x="0" y="401072"/>
                </a:lnTo>
                <a:close/>
              </a:path>
            </a:pathLst>
          </a:custGeom>
          <a:solidFill>
            <a:srgbClr val="7B3FA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5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73597" y="2724829"/>
            <a:ext cx="132588" cy="132588"/>
          </a:xfrm>
          <a:prstGeom prst="rect">
            <a:avLst/>
          </a:prstGeom>
        </p:spPr>
      </p:pic>
      <p:sp>
        <p:nvSpPr>
          <p:cNvPr id="66" name="Text 53"/>
          <p:cNvSpPr/>
          <p:nvPr/>
        </p:nvSpPr>
        <p:spPr>
          <a:xfrm>
            <a:off x="4939903" y="2740670"/>
            <a:ext cx="4091136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Supply Chain &amp; Fourth-Party Risk</a:t>
            </a:r>
            <a:endParaRPr lang="en-US" sz="700" dirty="0"/>
          </a:p>
        </p:txBody>
      </p:sp>
      <p:sp>
        <p:nvSpPr>
          <p:cNvPr id="67" name="Text 54"/>
          <p:cNvSpPr/>
          <p:nvPr/>
        </p:nvSpPr>
        <p:spPr>
          <a:xfrm>
            <a:off x="4939903" y="2854821"/>
            <a:ext cx="3793599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tool vulnerabilities propagate into financial institution environments; fourth-party exposure compounds risk across the ecosystem.</a:t>
            </a:r>
            <a:endParaRPr lang="en-US" sz="650" dirty="0"/>
          </a:p>
        </p:txBody>
      </p:sp>
      <p:sp>
        <p:nvSpPr>
          <p:cNvPr id="68" name="Text 55"/>
          <p:cNvSpPr/>
          <p:nvPr/>
        </p:nvSpPr>
        <p:spPr>
          <a:xfrm>
            <a:off x="4706987" y="3192661"/>
            <a:ext cx="4023122" cy="321171"/>
          </a:xfrm>
          <a:prstGeom prst="roundRect">
            <a:avLst>
              <a:gd name="adj" fmla="val 13445"/>
            </a:avLst>
          </a:prstGeom>
          <a:solidFill>
            <a:srgbClr val="E8A020">
              <a:alpha val="7000"/>
            </a:srgbClr>
          </a:solidFill>
          <a:ln w="9525">
            <a:solidFill>
              <a:srgbClr val="E8A020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56"/>
          <p:cNvSpPr/>
          <p:nvPr/>
        </p:nvSpPr>
        <p:spPr>
          <a:xfrm>
            <a:off x="4787503" y="3245197"/>
            <a:ext cx="14930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</a:t>
            </a:r>
            <a:endParaRPr lang="en-US" sz="560" dirty="0"/>
          </a:p>
        </p:txBody>
      </p:sp>
      <p:sp>
        <p:nvSpPr>
          <p:cNvPr id="70" name="Text 57"/>
          <p:cNvSpPr/>
          <p:nvPr/>
        </p:nvSpPr>
        <p:spPr>
          <a:xfrm>
            <a:off x="4980384" y="3237607"/>
            <a:ext cx="3742593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MOVEit-style managed file transfer tool vulnerabilities exposed hundreds of financial institutions via a single compromised vendor integration in 2024–2025.</a:t>
            </a:r>
            <a:endParaRPr lang="en-US" sz="650" dirty="0"/>
          </a:p>
        </p:txBody>
      </p:sp>
      <p:sp>
        <p:nvSpPr>
          <p:cNvPr id="71" name="Text 58"/>
          <p:cNvSpPr/>
          <p:nvPr/>
        </p:nvSpPr>
        <p:spPr>
          <a:xfrm>
            <a:off x="4706987" y="3570982"/>
            <a:ext cx="997053" cy="174427"/>
          </a:xfrm>
          <a:prstGeom prst="roundRect">
            <a:avLst>
              <a:gd name="adj" fmla="val 16746"/>
            </a:avLst>
          </a:prstGeom>
          <a:solidFill>
            <a:srgbClr val="7B3FA0">
              <a:alpha val="12000"/>
            </a:srgbClr>
          </a:solidFill>
          <a:ln w="9525">
            <a:solidFill>
              <a:srgbClr val="7B3FA0">
                <a:alpha val="30000"/>
              </a:srgbClr>
            </a:solidFill>
          </a:ln>
        </p:spPr>
        <p:txBody>
          <a:bodyPr wrap="none" lIns="139641" tIns="21590" rIns="57150" bIns="21590" rtlCol="0" anchor="ctr"/>
          <a:lstStyle/>
          <a:p>
            <a:pPr marL="0" indent="0" algn="l">
              <a:buNone/>
            </a:pPr>
            <a:r>
              <a:rPr lang="en-US" sz="590" dirty="0">
                <a:solidFill>
                  <a:srgbClr val="B06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Questionnaires</a:t>
            </a:r>
            <a:endParaRPr lang="en-US" sz="590" dirty="0"/>
          </a:p>
        </p:txBody>
      </p:sp>
      <p:pic>
        <p:nvPicPr>
          <p:cNvPr id="72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34008" y="3591901"/>
            <a:ext cx="132588" cy="132588"/>
          </a:xfrm>
          <a:prstGeom prst="rect">
            <a:avLst/>
          </a:prstGeom>
        </p:spPr>
      </p:pic>
      <p:sp>
        <p:nvSpPr>
          <p:cNvPr id="73" name="Text 59"/>
          <p:cNvSpPr/>
          <p:nvPr/>
        </p:nvSpPr>
        <p:spPr>
          <a:xfrm>
            <a:off x="5719911" y="3570982"/>
            <a:ext cx="984150" cy="174427"/>
          </a:xfrm>
          <a:prstGeom prst="roundRect">
            <a:avLst>
              <a:gd name="adj" fmla="val 16746"/>
            </a:avLst>
          </a:prstGeom>
          <a:solidFill>
            <a:srgbClr val="7B3FA0">
              <a:alpha val="12000"/>
            </a:srgbClr>
          </a:solidFill>
          <a:ln w="9525">
            <a:solidFill>
              <a:srgbClr val="7B3FA0">
                <a:alpha val="30000"/>
              </a:srgbClr>
            </a:solidFill>
          </a:ln>
        </p:spPr>
        <p:txBody>
          <a:bodyPr wrap="none" lIns="139641" tIns="21590" rIns="57150" bIns="21590" rtlCol="0" anchor="ctr"/>
          <a:lstStyle/>
          <a:p>
            <a:pPr marL="0" indent="0" algn="l">
              <a:buNone/>
            </a:pPr>
            <a:r>
              <a:rPr lang="en-US" sz="590" dirty="0">
                <a:solidFill>
                  <a:srgbClr val="B06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590" dirty="0"/>
          </a:p>
        </p:txBody>
      </p:sp>
      <p:pic>
        <p:nvPicPr>
          <p:cNvPr id="74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746933" y="3591901"/>
            <a:ext cx="132588" cy="132588"/>
          </a:xfrm>
          <a:prstGeom prst="rect">
            <a:avLst/>
          </a:prstGeom>
        </p:spPr>
      </p:pic>
      <p:sp>
        <p:nvSpPr>
          <p:cNvPr id="75" name="Text 60"/>
          <p:cNvSpPr/>
          <p:nvPr/>
        </p:nvSpPr>
        <p:spPr>
          <a:xfrm>
            <a:off x="6720185" y="3570982"/>
            <a:ext cx="962897" cy="174427"/>
          </a:xfrm>
          <a:prstGeom prst="roundRect">
            <a:avLst>
              <a:gd name="adj" fmla="val 16746"/>
            </a:avLst>
          </a:prstGeom>
          <a:solidFill>
            <a:srgbClr val="7B3FA0">
              <a:alpha val="12000"/>
            </a:srgbClr>
          </a:solidFill>
          <a:ln w="9525">
            <a:solidFill>
              <a:srgbClr val="7B3FA0">
                <a:alpha val="30000"/>
              </a:srgbClr>
            </a:solidFill>
          </a:ln>
        </p:spPr>
        <p:txBody>
          <a:bodyPr wrap="none" lIns="139641" tIns="21590" rIns="57150" bIns="21590" rtlCol="0" anchor="ctr"/>
          <a:lstStyle/>
          <a:p>
            <a:pPr marL="0" indent="0" algn="l">
              <a:buNone/>
            </a:pPr>
            <a:r>
              <a:rPr lang="en-US" sz="590" dirty="0">
                <a:solidFill>
                  <a:srgbClr val="B06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4th-Party Assessment</a:t>
            </a:r>
            <a:endParaRPr lang="en-US" sz="590" dirty="0"/>
          </a:p>
        </p:txBody>
      </p:sp>
      <p:pic>
        <p:nvPicPr>
          <p:cNvPr id="76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47206" y="3591901"/>
            <a:ext cx="132588" cy="132588"/>
          </a:xfrm>
          <a:prstGeom prst="rect">
            <a:avLst/>
          </a:prstGeom>
        </p:spPr>
      </p:pic>
      <p:sp>
        <p:nvSpPr>
          <p:cNvPr id="77" name="Text 61"/>
          <p:cNvSpPr/>
          <p:nvPr/>
        </p:nvSpPr>
        <p:spPr>
          <a:xfrm>
            <a:off x="0" y="4907459"/>
            <a:ext cx="9144000" cy="9525"/>
          </a:xfrm>
          <a:prstGeom prst="rect">
            <a:avLst/>
          </a:prstGeom>
          <a:solidFill>
            <a:srgbClr val="94AFC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8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8507" y="4963873"/>
            <a:ext cx="132588" cy="132588"/>
          </a:xfrm>
          <a:prstGeom prst="rect">
            <a:avLst/>
          </a:prstGeom>
        </p:spPr>
      </p:pic>
      <p:sp>
        <p:nvSpPr>
          <p:cNvPr id="79" name="Text 62"/>
          <p:cNvSpPr/>
          <p:nvPr/>
        </p:nvSpPr>
        <p:spPr>
          <a:xfrm>
            <a:off x="540544" y="4974134"/>
            <a:ext cx="3207097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IBM X-Force 2025/2026 · Verizon DBIR 2025 · CISA Alerts · CRI Profile v2.2</a:t>
            </a:r>
            <a:endParaRPr lang="en-US" sz="590" dirty="0"/>
          </a:p>
        </p:txBody>
      </p:sp>
      <p:sp>
        <p:nvSpPr>
          <p:cNvPr id="80" name="Text 63"/>
          <p:cNvSpPr/>
          <p:nvPr/>
        </p:nvSpPr>
        <p:spPr>
          <a:xfrm>
            <a:off x="6624489" y="4974134"/>
            <a:ext cx="2331407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94AFC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Security Awareness Webinar Series · Financial Institutions</a:t>
            </a:r>
            <a:endParaRPr lang="en-US" sz="5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595" y="829419"/>
            <a:ext cx="1995192" cy="21580"/>
          </a:xfrm>
          <a:custGeom>
            <a:avLst/>
            <a:gdLst/>
            <a:ahLst/>
            <a:cxnLst/>
            <a:rect l="l" t="t" r="r" b="b"/>
            <a:pathLst>
              <a:path w="1995192" h="21580">
                <a:moveTo>
                  <a:pt x="86360" y="0"/>
                </a:moveTo>
                <a:lnTo>
                  <a:pt x="1908832" y="0"/>
                </a:lnTo>
                <a:lnTo>
                  <a:pt x="1930248" y="2698"/>
                </a:lnTo>
                <a:lnTo>
                  <a:pt x="1938877" y="5395"/>
                </a:lnTo>
                <a:lnTo>
                  <a:pt x="1945332" y="8093"/>
                </a:lnTo>
                <a:lnTo>
                  <a:pt x="1950632" y="10790"/>
                </a:lnTo>
                <a:lnTo>
                  <a:pt x="1955175" y="13488"/>
                </a:lnTo>
                <a:lnTo>
                  <a:pt x="1959166" y="16185"/>
                </a:lnTo>
                <a:lnTo>
                  <a:pt x="1962729" y="18883"/>
                </a:lnTo>
                <a:lnTo>
                  <a:pt x="196594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E8A020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76430" y="3322883"/>
            <a:ext cx="714970" cy="714970"/>
          </a:xfrm>
          <a:prstGeom prst="ellipse">
            <a:avLst/>
          </a:prstGeom>
          <a:gradFill rotWithShape="1">
            <a:gsLst>
              <a:gs pos="0">
                <a:srgbClr val="E8A020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10135" y="829419"/>
            <a:ext cx="1995192" cy="21580"/>
          </a:xfrm>
          <a:custGeom>
            <a:avLst/>
            <a:gdLst/>
            <a:ahLst/>
            <a:cxnLst/>
            <a:rect l="l" t="t" r="r" b="b"/>
            <a:pathLst>
              <a:path w="1995192" h="21580">
                <a:moveTo>
                  <a:pt x="86360" y="0"/>
                </a:moveTo>
                <a:lnTo>
                  <a:pt x="1908832" y="0"/>
                </a:lnTo>
                <a:lnTo>
                  <a:pt x="1930248" y="2698"/>
                </a:lnTo>
                <a:lnTo>
                  <a:pt x="1938877" y="5395"/>
                </a:lnTo>
                <a:lnTo>
                  <a:pt x="1945332" y="8093"/>
                </a:lnTo>
                <a:lnTo>
                  <a:pt x="1950632" y="10790"/>
                </a:lnTo>
                <a:lnTo>
                  <a:pt x="1955175" y="13488"/>
                </a:lnTo>
                <a:lnTo>
                  <a:pt x="1959166" y="16185"/>
                </a:lnTo>
                <a:lnTo>
                  <a:pt x="1962729" y="18883"/>
                </a:lnTo>
                <a:lnTo>
                  <a:pt x="196594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E8A020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04970" y="3322883"/>
            <a:ext cx="714970" cy="714970"/>
          </a:xfrm>
          <a:prstGeom prst="ellipse">
            <a:avLst/>
          </a:prstGeom>
          <a:gradFill rotWithShape="1">
            <a:gsLst>
              <a:gs pos="0">
                <a:srgbClr val="E8A020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38675" y="829419"/>
            <a:ext cx="1995192" cy="21580"/>
          </a:xfrm>
          <a:custGeom>
            <a:avLst/>
            <a:gdLst/>
            <a:ahLst/>
            <a:cxnLst/>
            <a:rect l="l" t="t" r="r" b="b"/>
            <a:pathLst>
              <a:path w="1995192" h="21580">
                <a:moveTo>
                  <a:pt x="86360" y="0"/>
                </a:moveTo>
                <a:lnTo>
                  <a:pt x="1908832" y="0"/>
                </a:lnTo>
                <a:lnTo>
                  <a:pt x="1930248" y="2698"/>
                </a:lnTo>
                <a:lnTo>
                  <a:pt x="1938877" y="5395"/>
                </a:lnTo>
                <a:lnTo>
                  <a:pt x="1945332" y="8093"/>
                </a:lnTo>
                <a:lnTo>
                  <a:pt x="1950632" y="10790"/>
                </a:lnTo>
                <a:lnTo>
                  <a:pt x="1955175" y="13488"/>
                </a:lnTo>
                <a:lnTo>
                  <a:pt x="1959166" y="16185"/>
                </a:lnTo>
                <a:lnTo>
                  <a:pt x="1962729" y="18883"/>
                </a:lnTo>
                <a:lnTo>
                  <a:pt x="196594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E8A020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33509" y="3322883"/>
            <a:ext cx="714970" cy="714970"/>
          </a:xfrm>
          <a:prstGeom prst="ellipse">
            <a:avLst/>
          </a:prstGeom>
          <a:gradFill rotWithShape="1">
            <a:gsLst>
              <a:gs pos="0">
                <a:srgbClr val="E8A020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67215" y="829419"/>
            <a:ext cx="1995192" cy="21580"/>
          </a:xfrm>
          <a:custGeom>
            <a:avLst/>
            <a:gdLst/>
            <a:ahLst/>
            <a:cxnLst/>
            <a:rect l="l" t="t" r="r" b="b"/>
            <a:pathLst>
              <a:path w="1995192" h="21580">
                <a:moveTo>
                  <a:pt x="86360" y="0"/>
                </a:moveTo>
                <a:lnTo>
                  <a:pt x="1908832" y="0"/>
                </a:lnTo>
                <a:lnTo>
                  <a:pt x="1930248" y="2698"/>
                </a:lnTo>
                <a:lnTo>
                  <a:pt x="1938877" y="5395"/>
                </a:lnTo>
                <a:lnTo>
                  <a:pt x="1945332" y="8093"/>
                </a:lnTo>
                <a:lnTo>
                  <a:pt x="1950632" y="10790"/>
                </a:lnTo>
                <a:lnTo>
                  <a:pt x="1955175" y="13488"/>
                </a:lnTo>
                <a:lnTo>
                  <a:pt x="1959166" y="16185"/>
                </a:lnTo>
                <a:lnTo>
                  <a:pt x="1962729" y="18883"/>
                </a:lnTo>
                <a:lnTo>
                  <a:pt x="196594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E8A020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62049" y="3322883"/>
            <a:ext cx="714970" cy="714970"/>
          </a:xfrm>
          <a:prstGeom prst="ellipse">
            <a:avLst/>
          </a:prstGeom>
          <a:gradFill rotWithShape="1">
            <a:gsLst>
              <a:gs pos="0">
                <a:srgbClr val="E8A020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81595" y="3970437"/>
            <a:ext cx="29170" cy="652016"/>
          </a:xfrm>
          <a:custGeom>
            <a:avLst/>
            <a:gdLst/>
            <a:ahLst/>
            <a:cxnLst/>
            <a:rect l="l" t="t" r="r" b="b"/>
            <a:pathLst>
              <a:path w="29170" h="652016">
                <a:moveTo>
                  <a:pt x="0" y="71120"/>
                </a:moveTo>
                <a:lnTo>
                  <a:pt x="3646" y="48640"/>
                </a:lnTo>
                <a:lnTo>
                  <a:pt x="7293" y="39749"/>
                </a:lnTo>
                <a:lnTo>
                  <a:pt x="10939" y="33222"/>
                </a:lnTo>
                <a:lnTo>
                  <a:pt x="14585" y="27971"/>
                </a:lnTo>
                <a:lnTo>
                  <a:pt x="18231" y="23572"/>
                </a:lnTo>
                <a:lnTo>
                  <a:pt x="21878" y="19805"/>
                </a:lnTo>
                <a:lnTo>
                  <a:pt x="25524" y="16539"/>
                </a:lnTo>
                <a:lnTo>
                  <a:pt x="29170" y="13689"/>
                </a:lnTo>
                <a:lnTo>
                  <a:pt x="29170" y="638326"/>
                </a:lnTo>
                <a:lnTo>
                  <a:pt x="25524" y="635477"/>
                </a:lnTo>
                <a:lnTo>
                  <a:pt x="21878" y="632211"/>
                </a:lnTo>
                <a:lnTo>
                  <a:pt x="18231" y="628444"/>
                </a:lnTo>
                <a:lnTo>
                  <a:pt x="14585" y="624045"/>
                </a:lnTo>
                <a:lnTo>
                  <a:pt x="10939" y="618794"/>
                </a:lnTo>
                <a:lnTo>
                  <a:pt x="7293" y="612266"/>
                </a:lnTo>
                <a:lnTo>
                  <a:pt x="3646" y="603376"/>
                </a:lnTo>
                <a:lnTo>
                  <a:pt x="0" y="580896"/>
                </a:lnTo>
                <a:close/>
              </a:path>
            </a:pathLst>
          </a:custGeom>
          <a:solidFill>
            <a:srgbClr val="C0392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72070" y="324892"/>
            <a:ext cx="35421" cy="299591"/>
          </a:xfrm>
          <a:prstGeom prst="roundRect">
            <a:avLst>
              <a:gd name="adj" fmla="val 60953"/>
            </a:avLst>
          </a:prstGeom>
          <a:gradFill rotWithShape="1">
            <a:gsLst>
              <a:gs pos="0">
                <a:srgbClr val="E8A020"/>
              </a:gs>
              <a:gs pos="100000">
                <a:srgbClr val="C0392B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7802" y="257770"/>
            <a:ext cx="984349" cy="153442"/>
          </a:xfrm>
          <a:prstGeom prst="roundRect">
            <a:avLst>
              <a:gd name="adj" fmla="val 19037"/>
            </a:avLst>
          </a:prstGeom>
          <a:solidFill>
            <a:srgbClr val="C0392B">
              <a:alpha val="20000"/>
            </a:srgbClr>
          </a:solidFill>
          <a:ln w="9525">
            <a:solidFill>
              <a:srgbClr val="C0392B">
                <a:alpha val="4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492" y="268123"/>
            <a:ext cx="132588" cy="13258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0414" y="281136"/>
            <a:ext cx="79334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E0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ALERT</a:t>
            </a:r>
            <a:endParaRPr lang="en-US" sz="560" dirty="0"/>
          </a:p>
        </p:txBody>
      </p:sp>
      <p:sp>
        <p:nvSpPr>
          <p:cNvPr id="17" name="Text 14"/>
          <p:cNvSpPr/>
          <p:nvPr/>
        </p:nvSpPr>
        <p:spPr>
          <a:xfrm>
            <a:off x="1549301" y="281136"/>
            <a:ext cx="178641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THREAT FOCUS · IBM X-FORCE 2026</a:t>
            </a:r>
            <a:endParaRPr lang="en-US" sz="560" dirty="0"/>
          </a:p>
        </p:txBody>
      </p:sp>
      <p:sp>
        <p:nvSpPr>
          <p:cNvPr id="18" name="Text 15"/>
          <p:cNvSpPr/>
          <p:nvPr/>
        </p:nvSpPr>
        <p:spPr>
          <a:xfrm>
            <a:off x="507802" y="440382"/>
            <a:ext cx="4908124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kern="0" spc="-2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Ransomware Targeting </a:t>
            </a:r>
            <a:r>
              <a:rPr lang="en-US" sz="1800" b="1" kern="0" spc="-20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Financial Institutions</a:t>
            </a:r>
            <a:endParaRPr lang="en-US" sz="18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alphaModFix amt="12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6167" y="281880"/>
            <a:ext cx="385763" cy="38576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72070" y="819894"/>
            <a:ext cx="2014240" cy="3012877"/>
          </a:xfrm>
          <a:prstGeom prst="roundRect">
            <a:avLst>
              <a:gd name="adj" fmla="val 4287"/>
            </a:avLst>
          </a:prstGeom>
          <a:solidFill>
            <a:srgbClr val="1A2E4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3045" y="1030039"/>
            <a:ext cx="139005" cy="13900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53045" y="1241375"/>
            <a:ext cx="1734904" cy="443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90"/>
              </a:lnSpc>
              <a:buNone/>
            </a:pPr>
            <a:r>
              <a:rPr lang="en-US" sz="3490" b="1" kern="0" spc="-60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#1</a:t>
            </a:r>
            <a:endParaRPr lang="en-US" sz="3490" dirty="0"/>
          </a:p>
        </p:txBody>
      </p:sp>
      <p:sp>
        <p:nvSpPr>
          <p:cNvPr id="23" name="Text 18"/>
          <p:cNvSpPr/>
          <p:nvPr/>
        </p:nvSpPr>
        <p:spPr>
          <a:xfrm>
            <a:off x="553045" y="1741587"/>
            <a:ext cx="1817519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3"/>
              </a:lnSpc>
              <a:buNone/>
            </a:pPr>
            <a:r>
              <a:rPr lang="en-US" sz="73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Most-Targeted Sector</a:t>
            </a:r>
            <a:endParaRPr lang="en-US" sz="730" dirty="0"/>
          </a:p>
        </p:txBody>
      </p:sp>
      <p:sp>
        <p:nvSpPr>
          <p:cNvPr id="24" name="Text 19"/>
          <p:cNvSpPr/>
          <p:nvPr/>
        </p:nvSpPr>
        <p:spPr>
          <a:xfrm>
            <a:off x="553045" y="1929705"/>
            <a:ext cx="1685336" cy="475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"Financial services is the most-targeted sector for ransomware globally"</a:t>
            </a:r>
            <a:endParaRPr lang="en-US" sz="820" dirty="0"/>
          </a:p>
        </p:txBody>
      </p:sp>
      <p:sp>
        <p:nvSpPr>
          <p:cNvPr id="25" name="Text 20"/>
          <p:cNvSpPr/>
          <p:nvPr/>
        </p:nvSpPr>
        <p:spPr>
          <a:xfrm>
            <a:off x="553045" y="2469207"/>
            <a:ext cx="181751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0" dirty="0">
                <a:solidFill>
                  <a:srgbClr val="94AFC8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X-FORCE 2026</a:t>
            </a:r>
            <a:endParaRPr lang="en-US" sz="620" dirty="0"/>
          </a:p>
        </p:txBody>
      </p:sp>
      <p:sp>
        <p:nvSpPr>
          <p:cNvPr id="26" name="Text 21"/>
          <p:cNvSpPr/>
          <p:nvPr/>
        </p:nvSpPr>
        <p:spPr>
          <a:xfrm>
            <a:off x="2500610" y="819894"/>
            <a:ext cx="2014240" cy="3012877"/>
          </a:xfrm>
          <a:prstGeom prst="roundRect">
            <a:avLst>
              <a:gd name="adj" fmla="val 4287"/>
            </a:avLst>
          </a:prstGeom>
          <a:solidFill>
            <a:srgbClr val="1A2E4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81585" y="1030039"/>
            <a:ext cx="139005" cy="13900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681585" y="1241375"/>
            <a:ext cx="1734904" cy="443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90"/>
              </a:lnSpc>
              <a:buNone/>
            </a:pPr>
            <a:r>
              <a:rPr lang="en-US" sz="3490" b="1" kern="0" spc="-60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</a:t>
            </a:r>
            <a:endParaRPr lang="en-US" sz="3490" dirty="0"/>
          </a:p>
        </p:txBody>
      </p:sp>
      <p:sp>
        <p:nvSpPr>
          <p:cNvPr id="29" name="Text 23"/>
          <p:cNvSpPr/>
          <p:nvPr/>
        </p:nvSpPr>
        <p:spPr>
          <a:xfrm>
            <a:off x="2681585" y="1741587"/>
            <a:ext cx="1817519" cy="117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3"/>
              </a:lnSpc>
              <a:buNone/>
            </a:pPr>
            <a:r>
              <a:rPr lang="en-US" sz="73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Recover </a:t>
            </a: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(avg)</a:t>
            </a:r>
            <a:endParaRPr lang="en-US" sz="730" dirty="0"/>
          </a:p>
        </p:txBody>
      </p:sp>
      <p:sp>
        <p:nvSpPr>
          <p:cNvPr id="30" name="Text 24"/>
          <p:cNvSpPr/>
          <p:nvPr/>
        </p:nvSpPr>
        <p:spPr>
          <a:xfrm>
            <a:off x="2681585" y="1931343"/>
            <a:ext cx="1685336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ransomware recovery time for financial institutions</a:t>
            </a:r>
            <a:endParaRPr lang="en-US" sz="820" dirty="0"/>
          </a:p>
        </p:txBody>
      </p:sp>
      <p:sp>
        <p:nvSpPr>
          <p:cNvPr id="31" name="Text 25"/>
          <p:cNvSpPr/>
          <p:nvPr/>
        </p:nvSpPr>
        <p:spPr>
          <a:xfrm>
            <a:off x="2681585" y="2319784"/>
            <a:ext cx="181751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0" dirty="0">
                <a:solidFill>
                  <a:srgbClr val="94AFC8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COMPOSITE 2025–2026</a:t>
            </a:r>
            <a:endParaRPr lang="en-US" sz="620" dirty="0"/>
          </a:p>
        </p:txBody>
      </p:sp>
      <p:sp>
        <p:nvSpPr>
          <p:cNvPr id="32" name="Text 26"/>
          <p:cNvSpPr/>
          <p:nvPr/>
        </p:nvSpPr>
        <p:spPr>
          <a:xfrm>
            <a:off x="4629150" y="819894"/>
            <a:ext cx="2014240" cy="3012877"/>
          </a:xfrm>
          <a:prstGeom prst="roundRect">
            <a:avLst>
              <a:gd name="adj" fmla="val 4287"/>
            </a:avLst>
          </a:prstGeom>
          <a:solidFill>
            <a:srgbClr val="1A2E4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10125" y="1030039"/>
            <a:ext cx="139005" cy="139005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810125" y="1241375"/>
            <a:ext cx="1734904" cy="443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90"/>
              </a:lnSpc>
              <a:buNone/>
            </a:pPr>
            <a:r>
              <a:rPr lang="en-US" sz="3490" b="1" kern="0" spc="-60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$5.2M</a:t>
            </a:r>
            <a:endParaRPr lang="en-US" sz="3490" dirty="0"/>
          </a:p>
        </p:txBody>
      </p:sp>
      <p:sp>
        <p:nvSpPr>
          <p:cNvPr id="35" name="Text 28"/>
          <p:cNvSpPr/>
          <p:nvPr/>
        </p:nvSpPr>
        <p:spPr>
          <a:xfrm>
            <a:off x="4810125" y="1741587"/>
            <a:ext cx="1817519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3"/>
              </a:lnSpc>
              <a:buNone/>
            </a:pPr>
            <a:r>
              <a:rPr lang="en-US" sz="73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Ransom Demand</a:t>
            </a:r>
            <a:endParaRPr lang="en-US" sz="730" dirty="0"/>
          </a:p>
        </p:txBody>
      </p:sp>
      <p:sp>
        <p:nvSpPr>
          <p:cNvPr id="36" name="Text 29"/>
          <p:cNvSpPr/>
          <p:nvPr/>
        </p:nvSpPr>
        <p:spPr>
          <a:xfrm>
            <a:off x="4810125" y="1929705"/>
            <a:ext cx="1685336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ransom demand for financial sector targets in 2026</a:t>
            </a:r>
            <a:endParaRPr lang="en-US" sz="820" dirty="0"/>
          </a:p>
        </p:txBody>
      </p:sp>
      <p:sp>
        <p:nvSpPr>
          <p:cNvPr id="37" name="Text 30"/>
          <p:cNvSpPr/>
          <p:nvPr/>
        </p:nvSpPr>
        <p:spPr>
          <a:xfrm>
            <a:off x="4810125" y="2318147"/>
            <a:ext cx="181751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0" dirty="0">
                <a:solidFill>
                  <a:srgbClr val="94AFC8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ZEROFOX / IBM X-FORCE 2026</a:t>
            </a:r>
            <a:endParaRPr lang="en-US" sz="620" dirty="0"/>
          </a:p>
        </p:txBody>
      </p:sp>
      <p:sp>
        <p:nvSpPr>
          <p:cNvPr id="38" name="Text 31"/>
          <p:cNvSpPr/>
          <p:nvPr/>
        </p:nvSpPr>
        <p:spPr>
          <a:xfrm>
            <a:off x="6757690" y="819894"/>
            <a:ext cx="2014240" cy="3012877"/>
          </a:xfrm>
          <a:prstGeom prst="roundRect">
            <a:avLst>
              <a:gd name="adj" fmla="val 4287"/>
            </a:avLst>
          </a:prstGeom>
          <a:solidFill>
            <a:srgbClr val="1A2E4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38665" y="1030039"/>
            <a:ext cx="139005" cy="139005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938665" y="1241375"/>
            <a:ext cx="1734904" cy="443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90"/>
              </a:lnSpc>
              <a:buNone/>
            </a:pPr>
            <a:r>
              <a:rPr lang="en-US" sz="3490" b="1" kern="0" spc="-60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62%</a:t>
            </a:r>
            <a:endParaRPr lang="en-US" sz="3490" dirty="0"/>
          </a:p>
        </p:txBody>
      </p:sp>
      <p:sp>
        <p:nvSpPr>
          <p:cNvPr id="41" name="Text 33"/>
          <p:cNvSpPr/>
          <p:nvPr/>
        </p:nvSpPr>
        <p:spPr>
          <a:xfrm>
            <a:off x="6938665" y="1741587"/>
            <a:ext cx="1817519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3"/>
              </a:lnSpc>
              <a:buNone/>
            </a:pPr>
            <a:r>
              <a:rPr lang="en-US" sz="73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Credential-Linked</a:t>
            </a:r>
            <a:endParaRPr lang="en-US" sz="730" dirty="0"/>
          </a:p>
        </p:txBody>
      </p:sp>
      <p:sp>
        <p:nvSpPr>
          <p:cNvPr id="42" name="Text 34"/>
          <p:cNvSpPr/>
          <p:nvPr/>
        </p:nvSpPr>
        <p:spPr>
          <a:xfrm>
            <a:off x="6938665" y="1929705"/>
            <a:ext cx="1685336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ransomware incidents involved compromised employee credentials</a:t>
            </a:r>
            <a:endParaRPr lang="en-US" sz="820" dirty="0"/>
          </a:p>
        </p:txBody>
      </p:sp>
      <p:sp>
        <p:nvSpPr>
          <p:cNvPr id="43" name="Text 35"/>
          <p:cNvSpPr/>
          <p:nvPr/>
        </p:nvSpPr>
        <p:spPr>
          <a:xfrm>
            <a:off x="6938665" y="2318147"/>
            <a:ext cx="181751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0" dirty="0">
                <a:solidFill>
                  <a:srgbClr val="94AFC8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VERIZON DBIR 2025</a:t>
            </a:r>
            <a:endParaRPr lang="en-US" sz="620" dirty="0"/>
          </a:p>
        </p:txBody>
      </p:sp>
      <p:sp>
        <p:nvSpPr>
          <p:cNvPr id="44" name="Text 36"/>
          <p:cNvSpPr/>
          <p:nvPr/>
        </p:nvSpPr>
        <p:spPr>
          <a:xfrm>
            <a:off x="372070" y="3960912"/>
            <a:ext cx="8399859" cy="671066"/>
          </a:xfrm>
          <a:prstGeom prst="roundRect">
            <a:avLst>
              <a:gd name="adj" fmla="val 10598"/>
            </a:avLst>
          </a:prstGeom>
          <a:gradFill rotWithShape="1">
            <a:gsLst>
              <a:gs pos="0">
                <a:srgbClr val="C0392B">
                  <a:alpha val="18000"/>
                </a:srgbClr>
              </a:gs>
              <a:gs pos="60000">
                <a:srgbClr val="1A2E42">
                  <a:alpha val="95000"/>
                </a:srgbClr>
              </a:gs>
            </a:gsLst>
            <a:lin ang="2700000" scaled="1"/>
          </a:gradFill>
          <a:ln w="9525">
            <a:solidFill>
              <a:srgbClr val="C0392B">
                <a:alpha val="4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5882" y="4063463"/>
            <a:ext cx="132588" cy="132588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719286" y="4070747"/>
            <a:ext cx="228900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E0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THINGS EVERY EMPLOYEE MUST KNOW</a:t>
            </a:r>
            <a:endParaRPr lang="en-US" sz="620" dirty="0"/>
          </a:p>
        </p:txBody>
      </p:sp>
      <p:sp>
        <p:nvSpPr>
          <p:cNvPr id="47" name="Text 38"/>
          <p:cNvSpPr/>
          <p:nvPr/>
        </p:nvSpPr>
        <p:spPr>
          <a:xfrm>
            <a:off x="745927" y="4216450"/>
            <a:ext cx="225970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Defense Essentials</a:t>
            </a:r>
            <a:endParaRPr lang="en-US" sz="650" dirty="0"/>
          </a:p>
        </p:txBody>
      </p:sp>
      <p:sp>
        <p:nvSpPr>
          <p:cNvPr id="48" name="Text 39"/>
          <p:cNvSpPr/>
          <p:nvPr/>
        </p:nvSpPr>
        <p:spPr>
          <a:xfrm>
            <a:off x="3028801" y="4070747"/>
            <a:ext cx="7590" cy="451396"/>
          </a:xfrm>
          <a:prstGeom prst="rect">
            <a:avLst/>
          </a:prstGeom>
          <a:solidFill>
            <a:srgbClr val="C0392B">
              <a:alpha val="3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0"/>
          <p:cNvSpPr/>
          <p:nvPr/>
        </p:nvSpPr>
        <p:spPr>
          <a:xfrm>
            <a:off x="3264991" y="4217640"/>
            <a:ext cx="157460" cy="173206"/>
          </a:xfrm>
          <a:prstGeom prst="ellipse">
            <a:avLst/>
          </a:prstGeom>
          <a:solidFill>
            <a:srgbClr val="C0392B">
              <a:alpha val="25000"/>
            </a:srgbClr>
          </a:solidFill>
          <a:ln w="9525">
            <a:solidFill>
              <a:srgbClr val="C0392B">
                <a:alpha val="5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20" dirty="0"/>
          </a:p>
        </p:txBody>
      </p:sp>
      <p:sp>
        <p:nvSpPr>
          <p:cNvPr id="50" name="Text 41"/>
          <p:cNvSpPr/>
          <p:nvPr/>
        </p:nvSpPr>
        <p:spPr>
          <a:xfrm>
            <a:off x="3493443" y="4070747"/>
            <a:ext cx="1348936" cy="47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open unexpected macros or scripts — even from known senders</a:t>
            </a:r>
            <a:endParaRPr lang="en-US" sz="790" dirty="0"/>
          </a:p>
        </p:txBody>
      </p:sp>
      <p:sp>
        <p:nvSpPr>
          <p:cNvPr id="51" name="Text 42"/>
          <p:cNvSpPr/>
          <p:nvPr/>
        </p:nvSpPr>
        <p:spPr>
          <a:xfrm>
            <a:off x="4987379" y="4070747"/>
            <a:ext cx="7590" cy="451396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3"/>
          <p:cNvSpPr/>
          <p:nvPr/>
        </p:nvSpPr>
        <p:spPr>
          <a:xfrm>
            <a:off x="5166420" y="4217640"/>
            <a:ext cx="157460" cy="173206"/>
          </a:xfrm>
          <a:prstGeom prst="ellipse">
            <a:avLst/>
          </a:prstGeom>
          <a:solidFill>
            <a:srgbClr val="C0392B">
              <a:alpha val="25000"/>
            </a:srgbClr>
          </a:solidFill>
          <a:ln w="9525">
            <a:solidFill>
              <a:srgbClr val="C0392B">
                <a:alpha val="5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20" dirty="0"/>
          </a:p>
        </p:txBody>
      </p:sp>
      <p:sp>
        <p:nvSpPr>
          <p:cNvPr id="53" name="Text 44"/>
          <p:cNvSpPr/>
          <p:nvPr/>
        </p:nvSpPr>
        <p:spPr>
          <a:xfrm>
            <a:off x="5394871" y="4070747"/>
            <a:ext cx="1349088" cy="47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system slowdowns or locked files to IT immediately — don't wait</a:t>
            </a:r>
            <a:endParaRPr lang="en-US" sz="790" dirty="0"/>
          </a:p>
        </p:txBody>
      </p:sp>
      <p:sp>
        <p:nvSpPr>
          <p:cNvPr id="54" name="Text 45"/>
          <p:cNvSpPr/>
          <p:nvPr/>
        </p:nvSpPr>
        <p:spPr>
          <a:xfrm>
            <a:off x="6888956" y="4070747"/>
            <a:ext cx="7590" cy="451396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6"/>
          <p:cNvSpPr/>
          <p:nvPr/>
        </p:nvSpPr>
        <p:spPr>
          <a:xfrm>
            <a:off x="7067996" y="4217640"/>
            <a:ext cx="157460" cy="173206"/>
          </a:xfrm>
          <a:prstGeom prst="ellipse">
            <a:avLst/>
          </a:prstGeom>
          <a:solidFill>
            <a:srgbClr val="C0392B">
              <a:alpha val="25000"/>
            </a:srgbClr>
          </a:solidFill>
          <a:ln w="9525">
            <a:solidFill>
              <a:srgbClr val="C0392B">
                <a:alpha val="5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20" dirty="0"/>
          </a:p>
        </p:txBody>
      </p:sp>
      <p:sp>
        <p:nvSpPr>
          <p:cNvPr id="56" name="Text 47"/>
          <p:cNvSpPr/>
          <p:nvPr/>
        </p:nvSpPr>
        <p:spPr>
          <a:xfrm>
            <a:off x="7296448" y="4070747"/>
            <a:ext cx="1348936" cy="47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incident response contact before you ever need them</a:t>
            </a:r>
            <a:endParaRPr lang="en-US" sz="790" dirty="0"/>
          </a:p>
        </p:txBody>
      </p:sp>
      <p:sp>
        <p:nvSpPr>
          <p:cNvPr id="57" name="Text 48"/>
          <p:cNvSpPr/>
          <p:nvPr/>
        </p:nvSpPr>
        <p:spPr>
          <a:xfrm>
            <a:off x="372070" y="4799409"/>
            <a:ext cx="458308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IBM X-Force Threat Intelligence Index 2026 · Verizon DBIR 2025 · ZeroFox 2026 · Industry Composite</a:t>
            </a:r>
            <a:endParaRPr lang="en-US" sz="620" dirty="0"/>
          </a:p>
        </p:txBody>
      </p:sp>
      <p:sp>
        <p:nvSpPr>
          <p:cNvPr id="58" name="Text 49"/>
          <p:cNvSpPr/>
          <p:nvPr/>
        </p:nvSpPr>
        <p:spPr>
          <a:xfrm>
            <a:off x="6170563" y="4805065"/>
            <a:ext cx="124944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94AFC8">
                    <a:alpha val="3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PR.RC · NIST CSF RE.M</a:t>
            </a:r>
            <a:endParaRPr lang="en-US" sz="560" dirty="0"/>
          </a:p>
        </p:txBody>
      </p:sp>
      <p:sp>
        <p:nvSpPr>
          <p:cNvPr id="59" name="Text 50"/>
          <p:cNvSpPr/>
          <p:nvPr/>
        </p:nvSpPr>
        <p:spPr>
          <a:xfrm>
            <a:off x="7420719" y="4773960"/>
            <a:ext cx="1351211" cy="168920"/>
          </a:xfrm>
          <a:prstGeom prst="roundRect">
            <a:avLst>
              <a:gd name="adj" fmla="val 17292"/>
            </a:avLst>
          </a:prstGeom>
          <a:solidFill>
            <a:srgbClr val="E8A020">
              <a:alpha val="8000"/>
            </a:srgbClr>
          </a:solidFill>
          <a:ln w="9525">
            <a:solidFill>
              <a:srgbClr val="E8A020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61581" y="4792051"/>
            <a:ext cx="132588" cy="132588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7597676" y="4805065"/>
            <a:ext cx="120311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2026</a:t>
            </a:r>
            <a:endParaRPr lang="en-US" sz="560" dirty="0"/>
          </a:p>
        </p:txBody>
      </p:sp>
      <p:sp>
        <p:nvSpPr>
          <p:cNvPr id="62" name="Text 52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50000">
                <a:srgbClr val="E8A020"/>
              </a:gs>
              <a:gs pos="100000">
                <a:srgbClr val="C0392B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E85A20"/>
              </a:gs>
              <a:gs pos="50000">
                <a:srgbClr val="E8A020"/>
              </a:gs>
              <a:gs pos="100000">
                <a:srgbClr val="3BA5D4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2900" y="215801"/>
            <a:ext cx="582171" cy="191691"/>
          </a:xfrm>
          <a:prstGeom prst="roundRect">
            <a:avLst>
              <a:gd name="adj" fmla="val 22526"/>
            </a:avLst>
          </a:prstGeom>
          <a:solidFill>
            <a:srgbClr val="E8A020">
              <a:alpha val="15000"/>
            </a:srgbClr>
          </a:solidFill>
          <a:ln w="9525">
            <a:solidFill>
              <a:srgbClr val="E8A020">
                <a:alpha val="30000"/>
              </a:srgbClr>
            </a:solidFill>
          </a:ln>
        </p:spPr>
        <p:txBody>
          <a:bodyPr wrap="none" lIns="86360" tIns="21590" rIns="86360" bIns="21590" rtlCol="0" anchor="t"/>
          <a:lstStyle/>
          <a:p>
            <a:pPr marL="0" indent="0" algn="l">
              <a:buNone/>
            </a:pPr>
            <a:r>
              <a:rPr lang="en-US" sz="680" b="1" kern="0" spc="54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999976" y="172641"/>
            <a:ext cx="6535778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90"/>
              </a:lnSpc>
              <a:buNone/>
            </a:pPr>
            <a:r>
              <a:rPr lang="en-US" sz="1460" kern="0" spc="-15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Q4 Themes: </a:t>
            </a:r>
            <a:r>
              <a:rPr lang="en-US" sz="1460" b="1" kern="0" spc="-15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BEC</a:t>
            </a:r>
            <a:r>
              <a:rPr lang="en-US" sz="1460" kern="0" spc="-15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</a:t>
            </a:r>
            <a:r>
              <a:rPr lang="en-US" sz="1460" b="1" kern="0" spc="-15" dirty="0">
                <a:solidFill>
                  <a:srgbClr val="E85A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Cybersecurity Awareness Month</a:t>
            </a:r>
            <a:r>
              <a:rPr lang="en-US" sz="1460" kern="0" spc="-15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&amp; </a:t>
            </a:r>
            <a:r>
              <a:rPr lang="en-US" sz="1460" b="1" kern="0" spc="-15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Year-End Hygiene</a:t>
            </a:r>
            <a:endParaRPr lang="en-US" sz="1460" dirty="0"/>
          </a:p>
        </p:txBody>
      </p:sp>
      <p:sp>
        <p:nvSpPr>
          <p:cNvPr id="7" name="Text 5"/>
          <p:cNvSpPr/>
          <p:nvPr/>
        </p:nvSpPr>
        <p:spPr>
          <a:xfrm>
            <a:off x="342900" y="479971"/>
            <a:ext cx="930402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· November · December — Final Quarter Focus: Awareness Campaign, BEC Defense &amp; Year-End Security Hygiene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342900" y="730746"/>
            <a:ext cx="2743200" cy="3785443"/>
          </a:xfrm>
          <a:prstGeom prst="roundRect">
            <a:avLst>
              <a:gd name="adj" fmla="val 3148"/>
            </a:avLst>
          </a:prstGeom>
          <a:solidFill>
            <a:srgbClr val="1A2E4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2425" y="740271"/>
            <a:ext cx="2724150" cy="21580"/>
          </a:xfrm>
          <a:prstGeom prst="rect">
            <a:avLst/>
          </a:prstGeom>
          <a:solidFill>
            <a:srgbClr val="E85A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0566" y="968276"/>
            <a:ext cx="770334" cy="206603"/>
          </a:xfrm>
          <a:prstGeom prst="roundRect">
            <a:avLst>
              <a:gd name="adj" fmla="val 69462"/>
            </a:avLst>
          </a:prstGeom>
          <a:solidFill>
            <a:srgbClr val="E85A20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E8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</a:t>
            </a:r>
            <a:endParaRPr lang="en-US" sz="68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962" y="995818"/>
            <a:ext cx="132588" cy="1325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76364" y="876151"/>
            <a:ext cx="372070" cy="372070"/>
          </a:xfrm>
          <a:prstGeom prst="ellipse">
            <a:avLst/>
          </a:prstGeom>
          <a:solidFill>
            <a:srgbClr val="E85A20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2896" y="992684"/>
            <a:ext cx="139005" cy="13900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0566" y="1334542"/>
            <a:ext cx="27146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Awareness Month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80566" y="1527572"/>
            <a:ext cx="271465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48" dirty="0">
                <a:solidFill>
                  <a:srgbClr val="E8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FULL-ORG CAMPAIGN · ALL STAFF</a:t>
            </a:r>
            <a:endParaRPr lang="en-US" sz="680" dirty="0"/>
          </a:p>
        </p:txBody>
      </p:sp>
      <p:sp>
        <p:nvSpPr>
          <p:cNvPr id="16" name="Text 12"/>
          <p:cNvSpPr/>
          <p:nvPr/>
        </p:nvSpPr>
        <p:spPr>
          <a:xfrm>
            <a:off x="480566" y="1728043"/>
            <a:ext cx="2467868" cy="759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80566" y="1842195"/>
            <a:ext cx="43160" cy="43160"/>
          </a:xfrm>
          <a:prstGeom prst="ellipse">
            <a:avLst/>
          </a:prstGeom>
          <a:solidFill>
            <a:srgbClr val="E85A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80876" y="1792784"/>
            <a:ext cx="2414909" cy="279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Full-organization phishing simulation campaign with baseline metrics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480566" y="2144018"/>
            <a:ext cx="43160" cy="43160"/>
          </a:xfrm>
          <a:prstGeom prst="ellipse">
            <a:avLst/>
          </a:prstGeom>
          <a:solidFill>
            <a:srgbClr val="E85A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80876" y="2094607"/>
            <a:ext cx="2414909" cy="279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Champions Program formal launch &amp; champion recognition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480566" y="2445841"/>
            <a:ext cx="43160" cy="43160"/>
          </a:xfrm>
          <a:prstGeom prst="ellipse">
            <a:avLst/>
          </a:prstGeom>
          <a:solidFill>
            <a:srgbClr val="E85A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580876" y="2396430"/>
            <a:ext cx="2453372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communications: CEO/CISO all-staff message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480566" y="2614464"/>
            <a:ext cx="43160" cy="43160"/>
          </a:xfrm>
          <a:prstGeom prst="ellipse">
            <a:avLst/>
          </a:prstGeom>
          <a:solidFill>
            <a:srgbClr val="E85A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80876" y="2565053"/>
            <a:ext cx="2428324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Micro-learning modules, posters &amp; digital signage rollout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480566" y="2769245"/>
            <a:ext cx="2467868" cy="392311"/>
          </a:xfrm>
          <a:prstGeom prst="roundRect">
            <a:avLst>
              <a:gd name="adj" fmla="val 14568"/>
            </a:avLst>
          </a:prstGeom>
          <a:solidFill>
            <a:srgbClr val="E85A20">
              <a:alpha val="12000"/>
            </a:srgbClr>
          </a:solidFill>
          <a:ln w="9525">
            <a:solidFill>
              <a:srgbClr val="E85A20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189" y="2899106"/>
            <a:ext cx="132588" cy="13258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29704" y="2835920"/>
            <a:ext cx="2165342" cy="27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"See Something, Say Something" — Campaign Theme 2026</a:t>
            </a:r>
            <a:endParaRPr lang="en-US" sz="680" dirty="0"/>
          </a:p>
        </p:txBody>
      </p:sp>
      <p:sp>
        <p:nvSpPr>
          <p:cNvPr id="28" name="Text 23"/>
          <p:cNvSpPr/>
          <p:nvPr/>
        </p:nvSpPr>
        <p:spPr>
          <a:xfrm>
            <a:off x="352425" y="4248448"/>
            <a:ext cx="2724150" cy="258217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352425" y="4248448"/>
            <a:ext cx="272415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480566" y="4315123"/>
            <a:ext cx="365820" cy="147831"/>
          </a:xfrm>
          <a:prstGeom prst="roundRect">
            <a:avLst>
              <a:gd name="adj" fmla="val 19759"/>
            </a:avLst>
          </a:prstGeom>
          <a:solidFill>
            <a:srgbClr val="E85A20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E8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PR.AT-1</a:t>
            </a:r>
            <a:endParaRPr lang="en-US" sz="560" dirty="0"/>
          </a:p>
        </p:txBody>
      </p:sp>
      <p:sp>
        <p:nvSpPr>
          <p:cNvPr id="31" name="Text 26"/>
          <p:cNvSpPr/>
          <p:nvPr/>
        </p:nvSpPr>
        <p:spPr>
          <a:xfrm>
            <a:off x="889546" y="4315123"/>
            <a:ext cx="380256" cy="147831"/>
          </a:xfrm>
          <a:prstGeom prst="roundRect">
            <a:avLst>
              <a:gd name="adj" fmla="val 19759"/>
            </a:avLst>
          </a:prstGeom>
          <a:solidFill>
            <a:srgbClr val="E85A20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E8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GV.RR-1</a:t>
            </a:r>
            <a:endParaRPr lang="en-US" sz="560" dirty="0"/>
          </a:p>
        </p:txBody>
      </p:sp>
      <p:sp>
        <p:nvSpPr>
          <p:cNvPr id="32" name="Text 27"/>
          <p:cNvSpPr/>
          <p:nvPr/>
        </p:nvSpPr>
        <p:spPr>
          <a:xfrm>
            <a:off x="2090886" y="4323308"/>
            <a:ext cx="94330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 | CRI v2.2</a:t>
            </a:r>
            <a:endParaRPr lang="en-US" sz="620" dirty="0"/>
          </a:p>
        </p:txBody>
      </p:sp>
      <p:sp>
        <p:nvSpPr>
          <p:cNvPr id="33" name="Text 28"/>
          <p:cNvSpPr/>
          <p:nvPr/>
        </p:nvSpPr>
        <p:spPr>
          <a:xfrm>
            <a:off x="3200400" y="730746"/>
            <a:ext cx="2743200" cy="3785443"/>
          </a:xfrm>
          <a:prstGeom prst="roundRect">
            <a:avLst>
              <a:gd name="adj" fmla="val 3148"/>
            </a:avLst>
          </a:prstGeom>
          <a:solidFill>
            <a:srgbClr val="1A2E4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3209925" y="740271"/>
            <a:ext cx="2724150" cy="21580"/>
          </a:xfrm>
          <a:prstGeom prst="rect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3338066" y="968276"/>
            <a:ext cx="847576" cy="206603"/>
          </a:xfrm>
          <a:prstGeom prst="roundRect">
            <a:avLst>
              <a:gd name="adj" fmla="val 69462"/>
            </a:avLst>
          </a:prstGeom>
          <a:solidFill>
            <a:srgbClr val="E8A020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</a:t>
            </a:r>
            <a:endParaRPr lang="en-US" sz="68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90462" y="995818"/>
            <a:ext cx="132588" cy="13258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433864" y="876151"/>
            <a:ext cx="372070" cy="372070"/>
          </a:xfrm>
          <a:prstGeom prst="ellipse">
            <a:avLst/>
          </a:prstGeom>
          <a:solidFill>
            <a:srgbClr val="E8A020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50396" y="992684"/>
            <a:ext cx="139005" cy="139005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3338066" y="1334542"/>
            <a:ext cx="27146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Email Compromise &amp; Wire Fraud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3338066" y="1527572"/>
            <a:ext cx="2517225" cy="271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48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BEC · PAYMENT FRAUD · PAYROLL DIVERSION</a:t>
            </a:r>
            <a:endParaRPr lang="en-US" sz="680" dirty="0"/>
          </a:p>
        </p:txBody>
      </p:sp>
      <p:sp>
        <p:nvSpPr>
          <p:cNvPr id="41" name="Text 34"/>
          <p:cNvSpPr/>
          <p:nvPr/>
        </p:nvSpPr>
        <p:spPr>
          <a:xfrm>
            <a:off x="3338066" y="1857524"/>
            <a:ext cx="2467868" cy="759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3338066" y="1971675"/>
            <a:ext cx="43160" cy="43160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6"/>
          <p:cNvSpPr/>
          <p:nvPr/>
        </p:nvSpPr>
        <p:spPr>
          <a:xfrm>
            <a:off x="3438376" y="1922264"/>
            <a:ext cx="2414909" cy="279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BEC: LLM-crafted emails mimicking CFO &amp; executives</a:t>
            </a:r>
            <a:endParaRPr lang="en-US" sz="700" dirty="0"/>
          </a:p>
        </p:txBody>
      </p:sp>
      <p:sp>
        <p:nvSpPr>
          <p:cNvPr id="44" name="Text 37"/>
          <p:cNvSpPr/>
          <p:nvPr/>
        </p:nvSpPr>
        <p:spPr>
          <a:xfrm>
            <a:off x="3338066" y="2273498"/>
            <a:ext cx="43160" cy="43160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8"/>
          <p:cNvSpPr/>
          <p:nvPr/>
        </p:nvSpPr>
        <p:spPr>
          <a:xfrm>
            <a:off x="3438376" y="2224088"/>
            <a:ext cx="2414909" cy="279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payment fraud &amp; payroll diversion via email compromise</a:t>
            </a:r>
            <a:endParaRPr lang="en-US" sz="700" dirty="0"/>
          </a:p>
        </p:txBody>
      </p:sp>
      <p:sp>
        <p:nvSpPr>
          <p:cNvPr id="46" name="Text 39"/>
          <p:cNvSpPr/>
          <p:nvPr/>
        </p:nvSpPr>
        <p:spPr>
          <a:xfrm>
            <a:off x="3338066" y="2575322"/>
            <a:ext cx="43160" cy="43160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0"/>
          <p:cNvSpPr/>
          <p:nvPr/>
        </p:nvSpPr>
        <p:spPr>
          <a:xfrm>
            <a:off x="3438376" y="2525911"/>
            <a:ext cx="2414909" cy="279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authorization required for all wire transfers over threshold</a:t>
            </a:r>
            <a:endParaRPr lang="en-US" sz="700" dirty="0"/>
          </a:p>
        </p:txBody>
      </p:sp>
      <p:sp>
        <p:nvSpPr>
          <p:cNvPr id="48" name="Text 41"/>
          <p:cNvSpPr/>
          <p:nvPr/>
        </p:nvSpPr>
        <p:spPr>
          <a:xfrm>
            <a:off x="3338066" y="2863304"/>
            <a:ext cx="2467868" cy="327127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square" lIns="71120" tIns="43180" rIns="71120" bIns="4318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 · FBI IC3 2025:</a:t>
            </a: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 losses exceeded </a:t>
            </a:r>
            <a:r>
              <a:rPr lang="en-US" sz="6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 billion</a:t>
            </a: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US alone — #1 cybercrime category by financial loss</a:t>
            </a:r>
            <a:endParaRPr lang="en-US" sz="650" dirty="0"/>
          </a:p>
        </p:txBody>
      </p:sp>
      <p:sp>
        <p:nvSpPr>
          <p:cNvPr id="49" name="Text 42"/>
          <p:cNvSpPr/>
          <p:nvPr/>
        </p:nvSpPr>
        <p:spPr>
          <a:xfrm>
            <a:off x="3338066" y="2863304"/>
            <a:ext cx="19050" cy="317599"/>
          </a:xfrm>
          <a:prstGeom prst="rect">
            <a:avLst/>
          </a:pr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3"/>
          <p:cNvSpPr/>
          <p:nvPr/>
        </p:nvSpPr>
        <p:spPr>
          <a:xfrm>
            <a:off x="3338066" y="3251895"/>
            <a:ext cx="931962" cy="193997"/>
          </a:xfrm>
          <a:prstGeom prst="roundRect">
            <a:avLst>
              <a:gd name="adj" fmla="val 22258"/>
            </a:avLst>
          </a:prstGeom>
          <a:solidFill>
            <a:srgbClr val="E8A020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Authorization</a:t>
            </a:r>
            <a:endParaRPr lang="en-US" sz="620" dirty="0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72231" y="3273707"/>
            <a:ext cx="132588" cy="132588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4313188" y="3251895"/>
            <a:ext cx="1005036" cy="193997"/>
          </a:xfrm>
          <a:prstGeom prst="roundRect">
            <a:avLst>
              <a:gd name="adj" fmla="val 22258"/>
            </a:avLst>
          </a:prstGeom>
          <a:solidFill>
            <a:srgbClr val="E8A020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Verification</a:t>
            </a:r>
            <a:endParaRPr lang="en-US" sz="620" dirty="0"/>
          </a:p>
        </p:txBody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47353" y="3273707"/>
            <a:ext cx="132588" cy="132588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3338066" y="3471416"/>
            <a:ext cx="1017687" cy="193997"/>
          </a:xfrm>
          <a:prstGeom prst="roundRect">
            <a:avLst>
              <a:gd name="adj" fmla="val 22258"/>
            </a:avLst>
          </a:prstGeom>
          <a:solidFill>
            <a:srgbClr val="E8A020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Out-of-Band Confirm</a:t>
            </a:r>
            <a:endParaRPr lang="en-US" sz="620" dirty="0"/>
          </a:p>
        </p:txBody>
      </p:sp>
      <p:pic>
        <p:nvPicPr>
          <p:cNvPr id="5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72231" y="3493228"/>
            <a:ext cx="132588" cy="132588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3209925" y="4248448"/>
            <a:ext cx="2724150" cy="258217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7"/>
          <p:cNvSpPr/>
          <p:nvPr/>
        </p:nvSpPr>
        <p:spPr>
          <a:xfrm>
            <a:off x="3209925" y="4248448"/>
            <a:ext cx="272415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48"/>
          <p:cNvSpPr/>
          <p:nvPr/>
        </p:nvSpPr>
        <p:spPr>
          <a:xfrm>
            <a:off x="3338066" y="4315123"/>
            <a:ext cx="382935" cy="147831"/>
          </a:xfrm>
          <a:prstGeom prst="roundRect">
            <a:avLst>
              <a:gd name="adj" fmla="val 19759"/>
            </a:avLst>
          </a:prstGeom>
          <a:solidFill>
            <a:srgbClr val="E8A020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PR.AC-3</a:t>
            </a:r>
            <a:endParaRPr lang="en-US" sz="560" dirty="0"/>
          </a:p>
        </p:txBody>
      </p:sp>
      <p:sp>
        <p:nvSpPr>
          <p:cNvPr id="59" name="Text 49"/>
          <p:cNvSpPr/>
          <p:nvPr/>
        </p:nvSpPr>
        <p:spPr>
          <a:xfrm>
            <a:off x="3764161" y="4315123"/>
            <a:ext cx="386804" cy="147831"/>
          </a:xfrm>
          <a:prstGeom prst="roundRect">
            <a:avLst>
              <a:gd name="adj" fmla="val 19759"/>
            </a:avLst>
          </a:prstGeom>
          <a:solidFill>
            <a:srgbClr val="E8A020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RS.CO-2</a:t>
            </a:r>
            <a:endParaRPr lang="en-US" sz="560" dirty="0"/>
          </a:p>
        </p:txBody>
      </p:sp>
      <p:sp>
        <p:nvSpPr>
          <p:cNvPr id="60" name="Text 50"/>
          <p:cNvSpPr/>
          <p:nvPr/>
        </p:nvSpPr>
        <p:spPr>
          <a:xfrm>
            <a:off x="4194125" y="4315123"/>
            <a:ext cx="390823" cy="147831"/>
          </a:xfrm>
          <a:prstGeom prst="roundRect">
            <a:avLst>
              <a:gd name="adj" fmla="val 19759"/>
            </a:avLst>
          </a:prstGeom>
          <a:solidFill>
            <a:srgbClr val="E8A020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DE.CM-1</a:t>
            </a:r>
            <a:endParaRPr lang="en-US" sz="560" dirty="0"/>
          </a:p>
        </p:txBody>
      </p:sp>
      <p:sp>
        <p:nvSpPr>
          <p:cNvPr id="61" name="Text 51"/>
          <p:cNvSpPr/>
          <p:nvPr/>
        </p:nvSpPr>
        <p:spPr>
          <a:xfrm>
            <a:off x="4948386" y="4323308"/>
            <a:ext cx="94330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 | CRI v2.2</a:t>
            </a:r>
            <a:endParaRPr lang="en-US" sz="620" dirty="0"/>
          </a:p>
        </p:txBody>
      </p:sp>
      <p:sp>
        <p:nvSpPr>
          <p:cNvPr id="62" name="Text 52"/>
          <p:cNvSpPr/>
          <p:nvPr/>
        </p:nvSpPr>
        <p:spPr>
          <a:xfrm>
            <a:off x="6057900" y="730746"/>
            <a:ext cx="2743200" cy="3785443"/>
          </a:xfrm>
          <a:prstGeom prst="roundRect">
            <a:avLst>
              <a:gd name="adj" fmla="val 3148"/>
            </a:avLst>
          </a:prstGeom>
          <a:solidFill>
            <a:srgbClr val="1A2E4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3"/>
          <p:cNvSpPr/>
          <p:nvPr/>
        </p:nvSpPr>
        <p:spPr>
          <a:xfrm>
            <a:off x="6067425" y="740271"/>
            <a:ext cx="2724150" cy="21580"/>
          </a:xfrm>
          <a:prstGeom prst="rect">
            <a:avLst/>
          </a:prstGeom>
          <a:solidFill>
            <a:srgbClr val="3BA5D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4"/>
          <p:cNvSpPr/>
          <p:nvPr/>
        </p:nvSpPr>
        <p:spPr>
          <a:xfrm>
            <a:off x="6195566" y="968276"/>
            <a:ext cx="842814" cy="206603"/>
          </a:xfrm>
          <a:prstGeom prst="roundRect">
            <a:avLst>
              <a:gd name="adj" fmla="val 69462"/>
            </a:avLst>
          </a:prstGeom>
          <a:solidFill>
            <a:srgbClr val="3BA5D4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3BA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</a:t>
            </a:r>
            <a:endParaRPr lang="en-US" sz="680" dirty="0"/>
          </a:p>
        </p:txBody>
      </p:sp>
      <p:pic>
        <p:nvPicPr>
          <p:cNvPr id="65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7962" y="995818"/>
            <a:ext cx="132588" cy="132588"/>
          </a:xfrm>
          <a:prstGeom prst="rect">
            <a:avLst/>
          </a:prstGeom>
        </p:spPr>
      </p:pic>
      <p:sp>
        <p:nvSpPr>
          <p:cNvPr id="66" name="Text 55"/>
          <p:cNvSpPr/>
          <p:nvPr/>
        </p:nvSpPr>
        <p:spPr>
          <a:xfrm>
            <a:off x="8291364" y="876151"/>
            <a:ext cx="372070" cy="372070"/>
          </a:xfrm>
          <a:prstGeom prst="ellipse">
            <a:avLst/>
          </a:prstGeom>
          <a:solidFill>
            <a:srgbClr val="3BA5D4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7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07896" y="992684"/>
            <a:ext cx="139005" cy="139005"/>
          </a:xfrm>
          <a:prstGeom prst="rect">
            <a:avLst/>
          </a:prstGeom>
        </p:spPr>
      </p:pic>
      <p:sp>
        <p:nvSpPr>
          <p:cNvPr id="68" name="Text 56"/>
          <p:cNvSpPr/>
          <p:nvPr/>
        </p:nvSpPr>
        <p:spPr>
          <a:xfrm>
            <a:off x="6195566" y="1334542"/>
            <a:ext cx="27146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Review &amp; Holiday Scams</a:t>
            </a:r>
            <a:endParaRPr lang="en-US" sz="900" dirty="0"/>
          </a:p>
        </p:txBody>
      </p:sp>
      <p:sp>
        <p:nvSpPr>
          <p:cNvPr id="69" name="Text 57"/>
          <p:cNvSpPr/>
          <p:nvPr/>
        </p:nvSpPr>
        <p:spPr>
          <a:xfrm>
            <a:off x="6195566" y="1527572"/>
            <a:ext cx="2517225" cy="271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48" dirty="0">
                <a:solidFill>
                  <a:srgbClr val="3BA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THREATS · GIFT CARD SCAMS · E-COMMERCE FRAUD</a:t>
            </a:r>
            <a:endParaRPr lang="en-US" sz="680" dirty="0"/>
          </a:p>
        </p:txBody>
      </p:sp>
      <p:sp>
        <p:nvSpPr>
          <p:cNvPr id="70" name="Text 58"/>
          <p:cNvSpPr/>
          <p:nvPr/>
        </p:nvSpPr>
        <p:spPr>
          <a:xfrm>
            <a:off x="6195566" y="1857524"/>
            <a:ext cx="2467868" cy="759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59"/>
          <p:cNvSpPr/>
          <p:nvPr/>
        </p:nvSpPr>
        <p:spPr>
          <a:xfrm>
            <a:off x="6195566" y="1971675"/>
            <a:ext cx="43160" cy="43160"/>
          </a:xfrm>
          <a:prstGeom prst="ellipse">
            <a:avLst/>
          </a:prstGeom>
          <a:solidFill>
            <a:srgbClr val="3BA5D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0"/>
          <p:cNvSpPr/>
          <p:nvPr/>
        </p:nvSpPr>
        <p:spPr>
          <a:xfrm>
            <a:off x="6295876" y="1922264"/>
            <a:ext cx="2414909" cy="279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spikes during tax season &amp; holiday shopping period</a:t>
            </a:r>
            <a:endParaRPr lang="en-US" sz="700" dirty="0"/>
          </a:p>
        </p:txBody>
      </p:sp>
      <p:sp>
        <p:nvSpPr>
          <p:cNvPr id="73" name="Text 61"/>
          <p:cNvSpPr/>
          <p:nvPr/>
        </p:nvSpPr>
        <p:spPr>
          <a:xfrm>
            <a:off x="6195566" y="2273498"/>
            <a:ext cx="43160" cy="43160"/>
          </a:xfrm>
          <a:prstGeom prst="ellipse">
            <a:avLst/>
          </a:prstGeom>
          <a:solidFill>
            <a:srgbClr val="3BA5D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62"/>
          <p:cNvSpPr/>
          <p:nvPr/>
        </p:nvSpPr>
        <p:spPr>
          <a:xfrm>
            <a:off x="6295876" y="2224088"/>
            <a:ext cx="2414909" cy="279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card scams: executive impersonation requesting gift card codes</a:t>
            </a:r>
            <a:endParaRPr lang="en-US" sz="700" dirty="0"/>
          </a:p>
        </p:txBody>
      </p:sp>
      <p:sp>
        <p:nvSpPr>
          <p:cNvPr id="75" name="Text 63"/>
          <p:cNvSpPr/>
          <p:nvPr/>
        </p:nvSpPr>
        <p:spPr>
          <a:xfrm>
            <a:off x="6195566" y="2575322"/>
            <a:ext cx="43160" cy="43160"/>
          </a:xfrm>
          <a:prstGeom prst="ellipse">
            <a:avLst/>
          </a:prstGeom>
          <a:solidFill>
            <a:srgbClr val="3BA5D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64"/>
          <p:cNvSpPr/>
          <p:nvPr/>
        </p:nvSpPr>
        <p:spPr>
          <a:xfrm>
            <a:off x="6295876" y="2525911"/>
            <a:ext cx="2414909" cy="279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fraud on work devices — shadow IT &amp; browser risk</a:t>
            </a:r>
            <a:endParaRPr lang="en-US" sz="700" dirty="0"/>
          </a:p>
        </p:txBody>
      </p:sp>
      <p:sp>
        <p:nvSpPr>
          <p:cNvPr id="77" name="Text 65"/>
          <p:cNvSpPr/>
          <p:nvPr/>
        </p:nvSpPr>
        <p:spPr>
          <a:xfrm>
            <a:off x="6195566" y="2863304"/>
            <a:ext cx="2467868" cy="875556"/>
          </a:xfrm>
          <a:prstGeom prst="roundRect">
            <a:avLst>
              <a:gd name="adj" fmla="val 6527"/>
            </a:avLst>
          </a:prstGeom>
          <a:solidFill>
            <a:srgbClr val="3BA5D4">
              <a:alpha val="8000"/>
            </a:srgbClr>
          </a:solidFill>
          <a:ln w="9525">
            <a:solidFill>
              <a:srgbClr val="3BA5D4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66"/>
          <p:cNvSpPr/>
          <p:nvPr/>
        </p:nvSpPr>
        <p:spPr>
          <a:xfrm>
            <a:off x="6391573" y="2943820"/>
            <a:ext cx="208518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0" dirty="0">
                <a:solidFill>
                  <a:srgbClr val="3BA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SECURITY HYGIENE CHECKLIST</a:t>
            </a:r>
            <a:endParaRPr lang="en-US" sz="620" dirty="0"/>
          </a:p>
        </p:txBody>
      </p:sp>
      <p:pic>
        <p:nvPicPr>
          <p:cNvPr id="79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57487" y="2936537"/>
            <a:ext cx="132588" cy="132588"/>
          </a:xfrm>
          <a:prstGeom prst="rect">
            <a:avLst/>
          </a:prstGeom>
        </p:spPr>
      </p:pic>
      <p:sp>
        <p:nvSpPr>
          <p:cNvPr id="80" name="Text 67"/>
          <p:cNvSpPr/>
          <p:nvPr/>
        </p:nvSpPr>
        <p:spPr>
          <a:xfrm>
            <a:off x="6393507" y="3111252"/>
            <a:ext cx="762211" cy="27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status review</a:t>
            </a:r>
            <a:endParaRPr lang="en-US" sz="680" dirty="0"/>
          </a:p>
        </p:txBody>
      </p:sp>
      <p:pic>
        <p:nvPicPr>
          <p:cNvPr id="81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54585" y="3174438"/>
            <a:ext cx="132588" cy="132588"/>
          </a:xfrm>
          <a:prstGeom prst="rect">
            <a:avLst/>
          </a:prstGeom>
        </p:spPr>
      </p:pic>
      <p:sp>
        <p:nvSpPr>
          <p:cNvPr id="82" name="Text 68"/>
          <p:cNvSpPr/>
          <p:nvPr/>
        </p:nvSpPr>
        <p:spPr>
          <a:xfrm>
            <a:off x="7554218" y="3111252"/>
            <a:ext cx="932992" cy="27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resets &amp; MFA audit</a:t>
            </a:r>
            <a:endParaRPr lang="en-US" sz="680" dirty="0"/>
          </a:p>
        </p:txBody>
      </p:sp>
      <p:pic>
        <p:nvPicPr>
          <p:cNvPr id="83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418272" y="3166990"/>
            <a:ext cx="132588" cy="147486"/>
          </a:xfrm>
          <a:prstGeom prst="rect">
            <a:avLst/>
          </a:prstGeom>
        </p:spPr>
      </p:pic>
      <p:sp>
        <p:nvSpPr>
          <p:cNvPr id="84" name="Text 69"/>
          <p:cNvSpPr/>
          <p:nvPr/>
        </p:nvSpPr>
        <p:spPr>
          <a:xfrm>
            <a:off x="6392763" y="3399383"/>
            <a:ext cx="718188" cy="27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privilege reviews</a:t>
            </a:r>
            <a:endParaRPr lang="en-US" sz="680" dirty="0"/>
          </a:p>
        </p:txBody>
      </p:sp>
      <p:pic>
        <p:nvPicPr>
          <p:cNvPr id="85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54213" y="3461722"/>
            <a:ext cx="132588" cy="134283"/>
          </a:xfrm>
          <a:prstGeom prst="rect">
            <a:avLst/>
          </a:prstGeom>
        </p:spPr>
      </p:pic>
      <p:sp>
        <p:nvSpPr>
          <p:cNvPr id="86" name="Text 70"/>
          <p:cNvSpPr/>
          <p:nvPr/>
        </p:nvSpPr>
        <p:spPr>
          <a:xfrm>
            <a:off x="7550200" y="3399383"/>
            <a:ext cx="786652" cy="27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Departing employee offboarding</a:t>
            </a:r>
            <a:endParaRPr lang="en-US" sz="680" dirty="0"/>
          </a:p>
        </p:txBody>
      </p:sp>
      <p:pic>
        <p:nvPicPr>
          <p:cNvPr id="87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416263" y="3449069"/>
            <a:ext cx="132588" cy="159589"/>
          </a:xfrm>
          <a:prstGeom prst="rect">
            <a:avLst/>
          </a:prstGeom>
        </p:spPr>
      </p:pic>
      <p:sp>
        <p:nvSpPr>
          <p:cNvPr id="88" name="Text 71"/>
          <p:cNvSpPr/>
          <p:nvPr/>
        </p:nvSpPr>
        <p:spPr>
          <a:xfrm>
            <a:off x="6067425" y="4248448"/>
            <a:ext cx="2724150" cy="258217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72"/>
          <p:cNvSpPr/>
          <p:nvPr/>
        </p:nvSpPr>
        <p:spPr>
          <a:xfrm>
            <a:off x="6067425" y="4248448"/>
            <a:ext cx="272415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73"/>
          <p:cNvSpPr/>
          <p:nvPr/>
        </p:nvSpPr>
        <p:spPr>
          <a:xfrm>
            <a:off x="6195566" y="4315123"/>
            <a:ext cx="365820" cy="147831"/>
          </a:xfrm>
          <a:prstGeom prst="roundRect">
            <a:avLst>
              <a:gd name="adj" fmla="val 19759"/>
            </a:avLst>
          </a:prstGeom>
          <a:solidFill>
            <a:srgbClr val="3BA5D4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3BA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PR.AT-1</a:t>
            </a:r>
            <a:endParaRPr lang="en-US" sz="560" dirty="0"/>
          </a:p>
        </p:txBody>
      </p:sp>
      <p:sp>
        <p:nvSpPr>
          <p:cNvPr id="91" name="Text 74"/>
          <p:cNvSpPr/>
          <p:nvPr/>
        </p:nvSpPr>
        <p:spPr>
          <a:xfrm>
            <a:off x="6604546" y="4315123"/>
            <a:ext cx="363141" cy="147831"/>
          </a:xfrm>
          <a:prstGeom prst="roundRect">
            <a:avLst>
              <a:gd name="adj" fmla="val 19759"/>
            </a:avLst>
          </a:prstGeom>
          <a:solidFill>
            <a:srgbClr val="3BA5D4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3BA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ID.AM-1</a:t>
            </a:r>
            <a:endParaRPr lang="en-US" sz="560" dirty="0"/>
          </a:p>
        </p:txBody>
      </p:sp>
      <p:sp>
        <p:nvSpPr>
          <p:cNvPr id="92" name="Text 75"/>
          <p:cNvSpPr/>
          <p:nvPr/>
        </p:nvSpPr>
        <p:spPr>
          <a:xfrm>
            <a:off x="7010846" y="4315123"/>
            <a:ext cx="363141" cy="147831"/>
          </a:xfrm>
          <a:prstGeom prst="roundRect">
            <a:avLst>
              <a:gd name="adj" fmla="val 19759"/>
            </a:avLst>
          </a:prstGeom>
          <a:solidFill>
            <a:srgbClr val="3BA5D4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3BA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RC.IM-1</a:t>
            </a:r>
            <a:endParaRPr lang="en-US" sz="560" dirty="0"/>
          </a:p>
        </p:txBody>
      </p:sp>
      <p:sp>
        <p:nvSpPr>
          <p:cNvPr id="93" name="Text 76"/>
          <p:cNvSpPr/>
          <p:nvPr/>
        </p:nvSpPr>
        <p:spPr>
          <a:xfrm>
            <a:off x="7805886" y="4323308"/>
            <a:ext cx="94330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 | CRI v2.2</a:t>
            </a:r>
            <a:endParaRPr lang="en-US" sz="620" dirty="0"/>
          </a:p>
        </p:txBody>
      </p:sp>
      <p:sp>
        <p:nvSpPr>
          <p:cNvPr id="94" name="Text 77"/>
          <p:cNvSpPr/>
          <p:nvPr/>
        </p:nvSpPr>
        <p:spPr>
          <a:xfrm>
            <a:off x="342900" y="4602510"/>
            <a:ext cx="8458200" cy="426541"/>
          </a:xfrm>
          <a:prstGeom prst="roundRect">
            <a:avLst>
              <a:gd name="adj" fmla="val 13398"/>
            </a:avLst>
          </a:prstGeom>
          <a:gradFill rotWithShape="1">
            <a:gsLst>
              <a:gs pos="0">
                <a:srgbClr val="E85A20">
                  <a:alpha val="10000"/>
                </a:srgbClr>
              </a:gs>
              <a:gs pos="50000">
                <a:srgbClr val="E8A020">
                  <a:alpha val="10000"/>
                </a:srgbClr>
              </a:gs>
              <a:gs pos="100000">
                <a:srgbClr val="3BA5D4">
                  <a:alpha val="10000"/>
                </a:srgbClr>
              </a:gs>
            </a:gsLst>
            <a:lin ang="0" scaled="1"/>
          </a:gra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5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3431" y="4743071"/>
            <a:ext cx="132588" cy="145419"/>
          </a:xfrm>
          <a:prstGeom prst="rect">
            <a:avLst/>
          </a:prstGeom>
        </p:spPr>
      </p:pic>
      <p:sp>
        <p:nvSpPr>
          <p:cNvPr id="96" name="Text 78"/>
          <p:cNvSpPr/>
          <p:nvPr/>
        </p:nvSpPr>
        <p:spPr>
          <a:xfrm>
            <a:off x="654546" y="4676775"/>
            <a:ext cx="805172" cy="291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Action Mandate:</a:t>
            </a:r>
            <a:endParaRPr lang="en-US" sz="730" dirty="0"/>
          </a:p>
        </p:txBody>
      </p:sp>
      <p:sp>
        <p:nvSpPr>
          <p:cNvPr id="97" name="Text 79"/>
          <p:cNvSpPr/>
          <p:nvPr/>
        </p:nvSpPr>
        <p:spPr>
          <a:xfrm>
            <a:off x="1514921" y="4676775"/>
            <a:ext cx="4463665" cy="291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all suspicious emails · Verify every payment out-of-band · Complete year-end hygiene checklist before Dec 31</a:t>
            </a:r>
            <a:endParaRPr lang="en-US" sz="730" dirty="0"/>
          </a:p>
        </p:txBody>
      </p:sp>
      <p:sp>
        <p:nvSpPr>
          <p:cNvPr id="98" name="Text 80"/>
          <p:cNvSpPr/>
          <p:nvPr/>
        </p:nvSpPr>
        <p:spPr>
          <a:xfrm>
            <a:off x="5891064" y="4756696"/>
            <a:ext cx="168638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FBI IC3 2025 Internet Crime Report</a:t>
            </a:r>
            <a:endParaRPr lang="en-US" sz="620" dirty="0"/>
          </a:p>
        </p:txBody>
      </p:sp>
      <p:sp>
        <p:nvSpPr>
          <p:cNvPr id="99" name="Text 81"/>
          <p:cNvSpPr/>
          <p:nvPr/>
        </p:nvSpPr>
        <p:spPr>
          <a:xfrm>
            <a:off x="7481292" y="4758482"/>
            <a:ext cx="7590" cy="1143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0" name="Text 82"/>
          <p:cNvSpPr/>
          <p:nvPr/>
        </p:nvSpPr>
        <p:spPr>
          <a:xfrm>
            <a:off x="7546032" y="4756696"/>
            <a:ext cx="121227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Profile v2.2 | NIST CSF 2.0</a:t>
            </a:r>
            <a:endParaRPr lang="en-US" sz="6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1143000"/>
            <a:ext cx="2000250" cy="2857500"/>
          </a:xfrm>
          <a:prstGeom prst="rect">
            <a:avLst/>
          </a:prstGeom>
          <a:gradFill rotWithShape="1">
            <a:gsLst>
              <a:gs pos="0">
                <a:srgbClr val="E8A020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E8A020"/>
              </a:gs>
              <a:gs pos="70000">
                <a:srgbClr val="E8A020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8795" y="1090761"/>
            <a:ext cx="904578" cy="208359"/>
          </a:xfrm>
          <a:custGeom>
            <a:avLst/>
            <a:gdLst/>
            <a:ahLst/>
            <a:cxnLst/>
            <a:rect l="l" t="t" r="r" b="b"/>
            <a:pathLst>
              <a:path w="904578" h="208359">
                <a:moveTo>
                  <a:pt x="35560" y="0"/>
                </a:moveTo>
                <a:lnTo>
                  <a:pt x="869018" y="0"/>
                </a:lnTo>
                <a:lnTo>
                  <a:pt x="869018" y="0"/>
                </a:lnTo>
                <a:lnTo>
                  <a:pt x="875955" y="683"/>
                </a:lnTo>
                <a:lnTo>
                  <a:pt x="882626" y="2707"/>
                </a:lnTo>
                <a:lnTo>
                  <a:pt x="888774" y="5993"/>
                </a:lnTo>
                <a:lnTo>
                  <a:pt x="894163" y="10415"/>
                </a:lnTo>
                <a:lnTo>
                  <a:pt x="898585" y="15804"/>
                </a:lnTo>
                <a:lnTo>
                  <a:pt x="901871" y="21952"/>
                </a:lnTo>
                <a:lnTo>
                  <a:pt x="903895" y="28623"/>
                </a:lnTo>
                <a:lnTo>
                  <a:pt x="904578" y="35560"/>
                </a:lnTo>
                <a:lnTo>
                  <a:pt x="904578" y="208359"/>
                </a:lnTo>
                <a:lnTo>
                  <a:pt x="0" y="208359"/>
                </a:lnTo>
                <a:lnTo>
                  <a:pt x="0" y="35560"/>
                </a:lnTo>
                <a:lnTo>
                  <a:pt x="35560" y="0"/>
                </a:lnTo>
                <a:lnTo>
                  <a:pt x="28623" y="683"/>
                </a:lnTo>
                <a:lnTo>
                  <a:pt x="21952" y="2707"/>
                </a:lnTo>
                <a:lnTo>
                  <a:pt x="15804" y="5993"/>
                </a:lnTo>
                <a:lnTo>
                  <a:pt x="10415" y="10415"/>
                </a:lnTo>
                <a:lnTo>
                  <a:pt x="5993" y="15804"/>
                </a:lnTo>
                <a:lnTo>
                  <a:pt x="2707" y="21952"/>
                </a:lnTo>
                <a:lnTo>
                  <a:pt x="683" y="28623"/>
                </a:lnTo>
                <a:lnTo>
                  <a:pt x="0" y="35560"/>
                </a:lnTo>
                <a:close/>
              </a:path>
            </a:pathLst>
          </a:custGeom>
          <a:gradFill rotWithShape="1">
            <a:gsLst>
              <a:gs pos="0">
                <a:srgbClr val="FFFFFF">
                  <a:alpha val="18000"/>
                </a:srgbClr>
              </a:gs>
              <a:gs pos="6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814364" y="1090761"/>
            <a:ext cx="904726" cy="208359"/>
          </a:xfrm>
          <a:custGeom>
            <a:avLst/>
            <a:gdLst/>
            <a:ahLst/>
            <a:cxnLst/>
            <a:rect l="l" t="t" r="r" b="b"/>
            <a:pathLst>
              <a:path w="904726" h="208359">
                <a:moveTo>
                  <a:pt x="35560" y="0"/>
                </a:moveTo>
                <a:lnTo>
                  <a:pt x="869166" y="0"/>
                </a:lnTo>
                <a:lnTo>
                  <a:pt x="869166" y="0"/>
                </a:lnTo>
                <a:lnTo>
                  <a:pt x="876104" y="683"/>
                </a:lnTo>
                <a:lnTo>
                  <a:pt x="882775" y="2707"/>
                </a:lnTo>
                <a:lnTo>
                  <a:pt x="888923" y="5993"/>
                </a:lnTo>
                <a:lnTo>
                  <a:pt x="894311" y="10415"/>
                </a:lnTo>
                <a:lnTo>
                  <a:pt x="898733" y="15804"/>
                </a:lnTo>
                <a:lnTo>
                  <a:pt x="902020" y="21952"/>
                </a:lnTo>
                <a:lnTo>
                  <a:pt x="904043" y="28623"/>
                </a:lnTo>
                <a:lnTo>
                  <a:pt x="904726" y="35560"/>
                </a:lnTo>
                <a:lnTo>
                  <a:pt x="904726" y="208359"/>
                </a:lnTo>
                <a:lnTo>
                  <a:pt x="0" y="208359"/>
                </a:lnTo>
                <a:lnTo>
                  <a:pt x="0" y="35560"/>
                </a:lnTo>
                <a:lnTo>
                  <a:pt x="35560" y="0"/>
                </a:lnTo>
                <a:lnTo>
                  <a:pt x="28623" y="683"/>
                </a:lnTo>
                <a:lnTo>
                  <a:pt x="21952" y="2707"/>
                </a:lnTo>
                <a:lnTo>
                  <a:pt x="15804" y="5993"/>
                </a:lnTo>
                <a:lnTo>
                  <a:pt x="10415" y="10415"/>
                </a:lnTo>
                <a:lnTo>
                  <a:pt x="5993" y="15804"/>
                </a:lnTo>
                <a:lnTo>
                  <a:pt x="2707" y="21952"/>
                </a:lnTo>
                <a:lnTo>
                  <a:pt x="683" y="28623"/>
                </a:lnTo>
                <a:lnTo>
                  <a:pt x="0" y="35560"/>
                </a:lnTo>
                <a:close/>
              </a:path>
            </a:pathLst>
          </a:custGeom>
          <a:gradFill rotWithShape="1">
            <a:gsLst>
              <a:gs pos="0">
                <a:srgbClr val="FFFFFF">
                  <a:alpha val="18000"/>
                </a:srgbClr>
              </a:gs>
              <a:gs pos="6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90081" y="1090761"/>
            <a:ext cx="904578" cy="208359"/>
          </a:xfrm>
          <a:custGeom>
            <a:avLst/>
            <a:gdLst/>
            <a:ahLst/>
            <a:cxnLst/>
            <a:rect l="l" t="t" r="r" b="b"/>
            <a:pathLst>
              <a:path w="904578" h="208359">
                <a:moveTo>
                  <a:pt x="35560" y="0"/>
                </a:moveTo>
                <a:lnTo>
                  <a:pt x="869018" y="0"/>
                </a:lnTo>
                <a:lnTo>
                  <a:pt x="869018" y="0"/>
                </a:lnTo>
                <a:lnTo>
                  <a:pt x="875955" y="683"/>
                </a:lnTo>
                <a:lnTo>
                  <a:pt x="882626" y="2707"/>
                </a:lnTo>
                <a:lnTo>
                  <a:pt x="888774" y="5993"/>
                </a:lnTo>
                <a:lnTo>
                  <a:pt x="894163" y="10415"/>
                </a:lnTo>
                <a:lnTo>
                  <a:pt x="898585" y="15804"/>
                </a:lnTo>
                <a:lnTo>
                  <a:pt x="901871" y="21952"/>
                </a:lnTo>
                <a:lnTo>
                  <a:pt x="903895" y="28623"/>
                </a:lnTo>
                <a:lnTo>
                  <a:pt x="904578" y="35560"/>
                </a:lnTo>
                <a:lnTo>
                  <a:pt x="904578" y="208359"/>
                </a:lnTo>
                <a:lnTo>
                  <a:pt x="0" y="208359"/>
                </a:lnTo>
                <a:lnTo>
                  <a:pt x="0" y="35560"/>
                </a:lnTo>
                <a:lnTo>
                  <a:pt x="35560" y="0"/>
                </a:lnTo>
                <a:lnTo>
                  <a:pt x="28623" y="683"/>
                </a:lnTo>
                <a:lnTo>
                  <a:pt x="21952" y="2707"/>
                </a:lnTo>
                <a:lnTo>
                  <a:pt x="15804" y="5993"/>
                </a:lnTo>
                <a:lnTo>
                  <a:pt x="10415" y="10415"/>
                </a:lnTo>
                <a:lnTo>
                  <a:pt x="5993" y="15804"/>
                </a:lnTo>
                <a:lnTo>
                  <a:pt x="2707" y="21952"/>
                </a:lnTo>
                <a:lnTo>
                  <a:pt x="683" y="28623"/>
                </a:lnTo>
                <a:lnTo>
                  <a:pt x="0" y="35560"/>
                </a:lnTo>
                <a:close/>
              </a:path>
            </a:pathLst>
          </a:custGeom>
          <a:gradFill rotWithShape="1">
            <a:gsLst>
              <a:gs pos="0">
                <a:srgbClr val="FFFFFF">
                  <a:alpha val="18000"/>
                </a:srgbClr>
              </a:gs>
              <a:gs pos="6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765649" y="1090761"/>
            <a:ext cx="904578" cy="208359"/>
          </a:xfrm>
          <a:custGeom>
            <a:avLst/>
            <a:gdLst/>
            <a:ahLst/>
            <a:cxnLst/>
            <a:rect l="l" t="t" r="r" b="b"/>
            <a:pathLst>
              <a:path w="904578" h="208359">
                <a:moveTo>
                  <a:pt x="35560" y="0"/>
                </a:moveTo>
                <a:lnTo>
                  <a:pt x="869018" y="0"/>
                </a:lnTo>
                <a:lnTo>
                  <a:pt x="869018" y="0"/>
                </a:lnTo>
                <a:lnTo>
                  <a:pt x="875955" y="683"/>
                </a:lnTo>
                <a:lnTo>
                  <a:pt x="882626" y="2707"/>
                </a:lnTo>
                <a:lnTo>
                  <a:pt x="888774" y="5993"/>
                </a:lnTo>
                <a:lnTo>
                  <a:pt x="894163" y="10415"/>
                </a:lnTo>
                <a:lnTo>
                  <a:pt x="898585" y="15804"/>
                </a:lnTo>
                <a:lnTo>
                  <a:pt x="901871" y="21952"/>
                </a:lnTo>
                <a:lnTo>
                  <a:pt x="903895" y="28623"/>
                </a:lnTo>
                <a:lnTo>
                  <a:pt x="904578" y="35560"/>
                </a:lnTo>
                <a:lnTo>
                  <a:pt x="904578" y="208359"/>
                </a:lnTo>
                <a:lnTo>
                  <a:pt x="0" y="208359"/>
                </a:lnTo>
                <a:lnTo>
                  <a:pt x="0" y="35560"/>
                </a:lnTo>
                <a:lnTo>
                  <a:pt x="35560" y="0"/>
                </a:lnTo>
                <a:lnTo>
                  <a:pt x="28623" y="683"/>
                </a:lnTo>
                <a:lnTo>
                  <a:pt x="21952" y="2707"/>
                </a:lnTo>
                <a:lnTo>
                  <a:pt x="15804" y="5993"/>
                </a:lnTo>
                <a:lnTo>
                  <a:pt x="10415" y="10415"/>
                </a:lnTo>
                <a:lnTo>
                  <a:pt x="5993" y="15804"/>
                </a:lnTo>
                <a:lnTo>
                  <a:pt x="2707" y="21952"/>
                </a:lnTo>
                <a:lnTo>
                  <a:pt x="683" y="28623"/>
                </a:lnTo>
                <a:lnTo>
                  <a:pt x="0" y="35560"/>
                </a:lnTo>
                <a:close/>
              </a:path>
            </a:pathLst>
          </a:custGeom>
          <a:gradFill rotWithShape="1">
            <a:gsLst>
              <a:gs pos="0">
                <a:srgbClr val="FFFFFF">
                  <a:alpha val="18000"/>
                </a:srgbClr>
              </a:gs>
              <a:gs pos="6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41218" y="1090761"/>
            <a:ext cx="904578" cy="208359"/>
          </a:xfrm>
          <a:custGeom>
            <a:avLst/>
            <a:gdLst/>
            <a:ahLst/>
            <a:cxnLst/>
            <a:rect l="l" t="t" r="r" b="b"/>
            <a:pathLst>
              <a:path w="904578" h="208359">
                <a:moveTo>
                  <a:pt x="35560" y="0"/>
                </a:moveTo>
                <a:lnTo>
                  <a:pt x="869018" y="0"/>
                </a:lnTo>
                <a:lnTo>
                  <a:pt x="869018" y="0"/>
                </a:lnTo>
                <a:lnTo>
                  <a:pt x="875955" y="683"/>
                </a:lnTo>
                <a:lnTo>
                  <a:pt x="882626" y="2707"/>
                </a:lnTo>
                <a:lnTo>
                  <a:pt x="888774" y="5993"/>
                </a:lnTo>
                <a:lnTo>
                  <a:pt x="894163" y="10415"/>
                </a:lnTo>
                <a:lnTo>
                  <a:pt x="898585" y="15804"/>
                </a:lnTo>
                <a:lnTo>
                  <a:pt x="901871" y="21952"/>
                </a:lnTo>
                <a:lnTo>
                  <a:pt x="903895" y="28623"/>
                </a:lnTo>
                <a:lnTo>
                  <a:pt x="904578" y="35560"/>
                </a:lnTo>
                <a:lnTo>
                  <a:pt x="904578" y="208359"/>
                </a:lnTo>
                <a:lnTo>
                  <a:pt x="0" y="208359"/>
                </a:lnTo>
                <a:lnTo>
                  <a:pt x="0" y="35560"/>
                </a:lnTo>
                <a:lnTo>
                  <a:pt x="35560" y="0"/>
                </a:lnTo>
                <a:lnTo>
                  <a:pt x="28623" y="683"/>
                </a:lnTo>
                <a:lnTo>
                  <a:pt x="21952" y="2707"/>
                </a:lnTo>
                <a:lnTo>
                  <a:pt x="15804" y="5993"/>
                </a:lnTo>
                <a:lnTo>
                  <a:pt x="10415" y="10415"/>
                </a:lnTo>
                <a:lnTo>
                  <a:pt x="5993" y="15804"/>
                </a:lnTo>
                <a:lnTo>
                  <a:pt x="2707" y="21952"/>
                </a:lnTo>
                <a:lnTo>
                  <a:pt x="683" y="28623"/>
                </a:lnTo>
                <a:lnTo>
                  <a:pt x="0" y="35560"/>
                </a:lnTo>
                <a:close/>
              </a:path>
            </a:pathLst>
          </a:custGeom>
          <a:gradFill rotWithShape="1">
            <a:gsLst>
              <a:gs pos="0">
                <a:srgbClr val="FFFFFF">
                  <a:alpha val="18000"/>
                </a:srgbClr>
              </a:gs>
              <a:gs pos="6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16786" y="1090761"/>
            <a:ext cx="904578" cy="208359"/>
          </a:xfrm>
          <a:custGeom>
            <a:avLst/>
            <a:gdLst/>
            <a:ahLst/>
            <a:cxnLst/>
            <a:rect l="l" t="t" r="r" b="b"/>
            <a:pathLst>
              <a:path w="904578" h="208359">
                <a:moveTo>
                  <a:pt x="35560" y="0"/>
                </a:moveTo>
                <a:lnTo>
                  <a:pt x="869018" y="0"/>
                </a:lnTo>
                <a:lnTo>
                  <a:pt x="869018" y="0"/>
                </a:lnTo>
                <a:lnTo>
                  <a:pt x="875955" y="683"/>
                </a:lnTo>
                <a:lnTo>
                  <a:pt x="882626" y="2707"/>
                </a:lnTo>
                <a:lnTo>
                  <a:pt x="888774" y="5993"/>
                </a:lnTo>
                <a:lnTo>
                  <a:pt x="894163" y="10415"/>
                </a:lnTo>
                <a:lnTo>
                  <a:pt x="898585" y="15804"/>
                </a:lnTo>
                <a:lnTo>
                  <a:pt x="901871" y="21952"/>
                </a:lnTo>
                <a:lnTo>
                  <a:pt x="903895" y="28623"/>
                </a:lnTo>
                <a:lnTo>
                  <a:pt x="904578" y="35560"/>
                </a:lnTo>
                <a:lnTo>
                  <a:pt x="904578" y="208359"/>
                </a:lnTo>
                <a:lnTo>
                  <a:pt x="0" y="208359"/>
                </a:lnTo>
                <a:lnTo>
                  <a:pt x="0" y="35560"/>
                </a:lnTo>
                <a:lnTo>
                  <a:pt x="35560" y="0"/>
                </a:lnTo>
                <a:lnTo>
                  <a:pt x="28623" y="683"/>
                </a:lnTo>
                <a:lnTo>
                  <a:pt x="21952" y="2707"/>
                </a:lnTo>
                <a:lnTo>
                  <a:pt x="15804" y="5993"/>
                </a:lnTo>
                <a:lnTo>
                  <a:pt x="10415" y="10415"/>
                </a:lnTo>
                <a:lnTo>
                  <a:pt x="5993" y="15804"/>
                </a:lnTo>
                <a:lnTo>
                  <a:pt x="2707" y="21952"/>
                </a:lnTo>
                <a:lnTo>
                  <a:pt x="683" y="28623"/>
                </a:lnTo>
                <a:lnTo>
                  <a:pt x="0" y="35560"/>
                </a:lnTo>
                <a:close/>
              </a:path>
            </a:pathLst>
          </a:custGeom>
          <a:gradFill rotWithShape="1">
            <a:gsLst>
              <a:gs pos="0">
                <a:srgbClr val="FFFFFF">
                  <a:alpha val="18000"/>
                </a:srgbClr>
              </a:gs>
              <a:gs pos="6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92354" y="1090761"/>
            <a:ext cx="904578" cy="208359"/>
          </a:xfrm>
          <a:custGeom>
            <a:avLst/>
            <a:gdLst/>
            <a:ahLst/>
            <a:cxnLst/>
            <a:rect l="l" t="t" r="r" b="b"/>
            <a:pathLst>
              <a:path w="904578" h="208359">
                <a:moveTo>
                  <a:pt x="35560" y="0"/>
                </a:moveTo>
                <a:lnTo>
                  <a:pt x="869018" y="0"/>
                </a:lnTo>
                <a:lnTo>
                  <a:pt x="869018" y="0"/>
                </a:lnTo>
                <a:lnTo>
                  <a:pt x="875955" y="683"/>
                </a:lnTo>
                <a:lnTo>
                  <a:pt x="882626" y="2707"/>
                </a:lnTo>
                <a:lnTo>
                  <a:pt x="888774" y="5993"/>
                </a:lnTo>
                <a:lnTo>
                  <a:pt x="894163" y="10415"/>
                </a:lnTo>
                <a:lnTo>
                  <a:pt x="898585" y="15804"/>
                </a:lnTo>
                <a:lnTo>
                  <a:pt x="901871" y="21952"/>
                </a:lnTo>
                <a:lnTo>
                  <a:pt x="903895" y="28623"/>
                </a:lnTo>
                <a:lnTo>
                  <a:pt x="904578" y="35560"/>
                </a:lnTo>
                <a:lnTo>
                  <a:pt x="904578" y="208359"/>
                </a:lnTo>
                <a:lnTo>
                  <a:pt x="0" y="208359"/>
                </a:lnTo>
                <a:lnTo>
                  <a:pt x="0" y="35560"/>
                </a:lnTo>
                <a:lnTo>
                  <a:pt x="35560" y="0"/>
                </a:lnTo>
                <a:lnTo>
                  <a:pt x="28623" y="683"/>
                </a:lnTo>
                <a:lnTo>
                  <a:pt x="21952" y="2707"/>
                </a:lnTo>
                <a:lnTo>
                  <a:pt x="15804" y="5993"/>
                </a:lnTo>
                <a:lnTo>
                  <a:pt x="10415" y="10415"/>
                </a:lnTo>
                <a:lnTo>
                  <a:pt x="5993" y="15804"/>
                </a:lnTo>
                <a:lnTo>
                  <a:pt x="2707" y="21952"/>
                </a:lnTo>
                <a:lnTo>
                  <a:pt x="683" y="28623"/>
                </a:lnTo>
                <a:lnTo>
                  <a:pt x="0" y="35560"/>
                </a:lnTo>
                <a:close/>
              </a:path>
            </a:pathLst>
          </a:custGeom>
          <a:gradFill rotWithShape="1">
            <a:gsLst>
              <a:gs pos="0">
                <a:srgbClr val="FFFFFF">
                  <a:alpha val="18000"/>
                </a:srgbClr>
              </a:gs>
              <a:gs pos="6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67923" y="1090761"/>
            <a:ext cx="904578" cy="208359"/>
          </a:xfrm>
          <a:custGeom>
            <a:avLst/>
            <a:gdLst/>
            <a:ahLst/>
            <a:cxnLst/>
            <a:rect l="l" t="t" r="r" b="b"/>
            <a:pathLst>
              <a:path w="904578" h="208359">
                <a:moveTo>
                  <a:pt x="35560" y="0"/>
                </a:moveTo>
                <a:lnTo>
                  <a:pt x="869018" y="0"/>
                </a:lnTo>
                <a:lnTo>
                  <a:pt x="869018" y="0"/>
                </a:lnTo>
                <a:lnTo>
                  <a:pt x="875955" y="683"/>
                </a:lnTo>
                <a:lnTo>
                  <a:pt x="882626" y="2707"/>
                </a:lnTo>
                <a:lnTo>
                  <a:pt x="888774" y="5993"/>
                </a:lnTo>
                <a:lnTo>
                  <a:pt x="894163" y="10415"/>
                </a:lnTo>
                <a:lnTo>
                  <a:pt x="898585" y="15804"/>
                </a:lnTo>
                <a:lnTo>
                  <a:pt x="901871" y="21952"/>
                </a:lnTo>
                <a:lnTo>
                  <a:pt x="903895" y="28623"/>
                </a:lnTo>
                <a:lnTo>
                  <a:pt x="904578" y="35560"/>
                </a:lnTo>
                <a:lnTo>
                  <a:pt x="904578" y="208359"/>
                </a:lnTo>
                <a:lnTo>
                  <a:pt x="0" y="208359"/>
                </a:lnTo>
                <a:lnTo>
                  <a:pt x="0" y="35560"/>
                </a:lnTo>
                <a:lnTo>
                  <a:pt x="35560" y="0"/>
                </a:lnTo>
                <a:lnTo>
                  <a:pt x="28623" y="683"/>
                </a:lnTo>
                <a:lnTo>
                  <a:pt x="21952" y="2707"/>
                </a:lnTo>
                <a:lnTo>
                  <a:pt x="15804" y="5993"/>
                </a:lnTo>
                <a:lnTo>
                  <a:pt x="10415" y="10415"/>
                </a:lnTo>
                <a:lnTo>
                  <a:pt x="5993" y="15804"/>
                </a:lnTo>
                <a:lnTo>
                  <a:pt x="2707" y="21952"/>
                </a:lnTo>
                <a:lnTo>
                  <a:pt x="683" y="28623"/>
                </a:lnTo>
                <a:lnTo>
                  <a:pt x="0" y="35560"/>
                </a:lnTo>
                <a:close/>
              </a:path>
            </a:pathLst>
          </a:custGeom>
          <a:gradFill rotWithShape="1">
            <a:gsLst>
              <a:gs pos="0">
                <a:srgbClr val="FFFFFF">
                  <a:alpha val="18000"/>
                </a:srgbClr>
              </a:gs>
              <a:gs pos="6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2475" y="1023640"/>
            <a:ext cx="7934325" cy="7590"/>
          </a:xfrm>
          <a:prstGeom prst="rect">
            <a:avLst/>
          </a:prstGeom>
          <a:solidFill>
            <a:srgbClr val="DC2626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17072" y="200620"/>
            <a:ext cx="1869728" cy="212080"/>
          </a:xfrm>
          <a:prstGeom prst="roundRect">
            <a:avLst>
              <a:gd name="adj" fmla="val 20360"/>
            </a:avLst>
          </a:prstGeom>
          <a:solidFill>
            <a:srgbClr val="E8A020">
              <a:alpha val="15000"/>
            </a:srgbClr>
          </a:solidFill>
          <a:ln w="9525">
            <a:solidFill>
              <a:srgbClr val="E8A020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78994" y="240366"/>
            <a:ext cx="132588" cy="13258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034808" y="253305"/>
            <a:ext cx="171176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 INTELLIGENCE COMPOSITE · 2026</a:t>
            </a:r>
            <a:endParaRPr lang="en-US" sz="560" dirty="0"/>
          </a:p>
        </p:txBody>
      </p:sp>
      <p:sp>
        <p:nvSpPr>
          <p:cNvPr id="18" name="Text 15"/>
          <p:cNvSpPr/>
          <p:nvPr/>
        </p:nvSpPr>
        <p:spPr>
          <a:xfrm>
            <a:off x="457200" y="230981"/>
            <a:ext cx="57150" cy="57150"/>
          </a:xfrm>
          <a:prstGeom prst="ellipse">
            <a:avLst/>
          </a:prstGeom>
          <a:solidFill>
            <a:srgbClr val="E8A020"/>
          </a:solidFill>
          <a:ln/>
          <a:effectLst>
            <a:outerShdw blurRad="57150" dist="50800" dir="16200000" algn="bl" rotWithShape="0">
              <a:srgbClr val="E8A020">
                <a:alpha val="3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85341" y="200620"/>
            <a:ext cx="187236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SPOTLIGHT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457200" y="361801"/>
            <a:ext cx="8805672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3"/>
              </a:lnSpc>
              <a:spcAft>
                <a:spcPts val="230"/>
              </a:spcAft>
              <a:buNone/>
            </a:pPr>
            <a:r>
              <a:rPr lang="en-US" sz="169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 Financial Sector Attack Trends</a:t>
            </a:r>
            <a:endParaRPr lang="en-US" sz="1690" dirty="0"/>
          </a:p>
        </p:txBody>
      </p:sp>
      <p:sp>
        <p:nvSpPr>
          <p:cNvPr id="21" name="Text 18"/>
          <p:cNvSpPr/>
          <p:nvPr/>
        </p:nvSpPr>
        <p:spPr>
          <a:xfrm>
            <a:off x="457200" y="637729"/>
            <a:ext cx="905256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kern="0" spc="8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Intelligence-driven training prioritizes your highest-risk threat vectors.</a:t>
            </a:r>
            <a:endParaRPr lang="en-US" sz="790" dirty="0"/>
          </a:p>
        </p:txBody>
      </p:sp>
      <p:sp>
        <p:nvSpPr>
          <p:cNvPr id="22" name="Text 19"/>
          <p:cNvSpPr/>
          <p:nvPr/>
        </p:nvSpPr>
        <p:spPr>
          <a:xfrm>
            <a:off x="457200" y="916335"/>
            <a:ext cx="291465" cy="1543943"/>
          </a:xfrm>
          <a:prstGeom prst="rect">
            <a:avLst/>
          </a:prstGeom>
          <a:noFill/>
          <a:ln/>
        </p:spPr>
        <p:txBody>
          <a:bodyPr wrap="square" lIns="0" tIns="0" rIns="71120" bIns="29972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
80
60
40
20
0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64196" y="774745"/>
            <a:ext cx="2700336" cy="20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56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SEVERITY INDEX (0–100)</a:t>
            </a:r>
            <a:endParaRPr lang="en-US" sz="560" dirty="0"/>
          </a:p>
        </p:txBody>
      </p:sp>
      <p:sp>
        <p:nvSpPr>
          <p:cNvPr id="24" name="Text 21"/>
          <p:cNvSpPr/>
          <p:nvPr/>
        </p:nvSpPr>
        <p:spPr>
          <a:xfrm>
            <a:off x="742950" y="916335"/>
            <a:ext cx="9525" cy="392311"/>
          </a:xfrm>
          <a:prstGeom prst="rect">
            <a:avLst/>
          </a:prstGeom>
          <a:solidFill>
            <a:srgbClr val="94AFC8">
              <a:alpha val="2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752475" y="1215033"/>
            <a:ext cx="7934325" cy="7590"/>
          </a:xfrm>
          <a:prstGeom prst="rect">
            <a:avLst/>
          </a:prstGeom>
          <a:solidFill>
            <a:srgbClr val="94AFC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52475" y="1138535"/>
            <a:ext cx="7934325" cy="7590"/>
          </a:xfrm>
          <a:prstGeom prst="rect">
            <a:avLst/>
          </a:prstGeom>
          <a:solidFill>
            <a:srgbClr val="94AFC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752475" y="1061889"/>
            <a:ext cx="7934325" cy="7590"/>
          </a:xfrm>
          <a:prstGeom prst="rect">
            <a:avLst/>
          </a:prstGeom>
          <a:solidFill>
            <a:srgbClr val="94AFC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752475" y="985391"/>
            <a:ext cx="7934325" cy="7590"/>
          </a:xfrm>
          <a:prstGeom prst="rect">
            <a:avLst/>
          </a:prstGeom>
          <a:solidFill>
            <a:srgbClr val="94AFC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8043416" y="905024"/>
            <a:ext cx="644857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31" dirty="0">
                <a:solidFill>
                  <a:srgbClr val="DC2626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▶ 70+</a:t>
            </a:r>
            <a:endParaRPr lang="en-US" sz="510" dirty="0"/>
          </a:p>
        </p:txBody>
      </p:sp>
      <p:sp>
        <p:nvSpPr>
          <p:cNvPr id="30" name="Text 27"/>
          <p:cNvSpPr/>
          <p:nvPr/>
        </p:nvSpPr>
        <p:spPr>
          <a:xfrm>
            <a:off x="1239589" y="916335"/>
            <a:ext cx="11328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730" dirty="0"/>
          </a:p>
        </p:txBody>
      </p:sp>
      <p:sp>
        <p:nvSpPr>
          <p:cNvPr id="31" name="Text 28"/>
          <p:cNvSpPr/>
          <p:nvPr/>
        </p:nvSpPr>
        <p:spPr>
          <a:xfrm>
            <a:off x="838795" y="1090761"/>
            <a:ext cx="904577" cy="208359"/>
          </a:xfrm>
          <a:prstGeom prst="roundRect">
            <a:avLst>
              <a:gd name="adj" fmla="val 17067"/>
            </a:avLst>
          </a:prstGeom>
          <a:gradFill rotWithShape="1">
            <a:gsLst>
              <a:gs pos="0">
                <a:srgbClr val="F5C842"/>
              </a:gs>
              <a:gs pos="60000">
                <a:srgbClr val="E8A020"/>
              </a:gs>
              <a:gs pos="100000">
                <a:srgbClr val="C47A10"/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838795" y="1277541"/>
            <a:ext cx="904577" cy="21580"/>
          </a:xfrm>
          <a:custGeom>
            <a:avLst/>
            <a:gdLst/>
            <a:ahLst/>
            <a:cxnLst/>
            <a:rect l="l" t="t" r="r" b="b"/>
            <a:pathLst>
              <a:path w="904577" h="21580">
                <a:moveTo>
                  <a:pt x="0" y="0"/>
                </a:moveTo>
                <a:lnTo>
                  <a:pt x="2707" y="0"/>
                </a:lnTo>
                <a:lnTo>
                  <a:pt x="5993" y="5776"/>
                </a:lnTo>
                <a:lnTo>
                  <a:pt x="10415" y="11165"/>
                </a:lnTo>
                <a:lnTo>
                  <a:pt x="15804" y="15587"/>
                </a:lnTo>
                <a:lnTo>
                  <a:pt x="21952" y="18873"/>
                </a:lnTo>
                <a:lnTo>
                  <a:pt x="28623" y="20897"/>
                </a:lnTo>
                <a:lnTo>
                  <a:pt x="35560" y="21580"/>
                </a:lnTo>
                <a:lnTo>
                  <a:pt x="869017" y="21580"/>
                </a:lnTo>
                <a:lnTo>
                  <a:pt x="875955" y="20897"/>
                </a:lnTo>
                <a:lnTo>
                  <a:pt x="882626" y="18873"/>
                </a:lnTo>
                <a:lnTo>
                  <a:pt x="888773" y="15587"/>
                </a:lnTo>
                <a:lnTo>
                  <a:pt x="894162" y="11165"/>
                </a:lnTo>
                <a:lnTo>
                  <a:pt x="898584" y="5776"/>
                </a:lnTo>
                <a:lnTo>
                  <a:pt x="901871" y="0"/>
                </a:lnTo>
                <a:lnTo>
                  <a:pt x="904577" y="0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1079525" y="1147911"/>
            <a:ext cx="423118" cy="158145"/>
          </a:xfrm>
          <a:prstGeom prst="roundRect">
            <a:avLst>
              <a:gd name="adj" fmla="val 13652"/>
            </a:avLst>
          </a:prstGeom>
          <a:solidFill>
            <a:srgbClr val="DC2626">
              <a:alpha val="25000"/>
            </a:srgbClr>
          </a:solidFill>
          <a:ln w="9525">
            <a:solidFill>
              <a:srgbClr val="DC2626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510" dirty="0"/>
          </a:p>
        </p:txBody>
      </p:sp>
      <p:sp>
        <p:nvSpPr>
          <p:cNvPr id="34" name="Text 31"/>
          <p:cNvSpPr/>
          <p:nvPr/>
        </p:nvSpPr>
        <p:spPr>
          <a:xfrm>
            <a:off x="2215158" y="916335"/>
            <a:ext cx="11328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730" dirty="0"/>
          </a:p>
        </p:txBody>
      </p:sp>
      <p:sp>
        <p:nvSpPr>
          <p:cNvPr id="35" name="Text 32"/>
          <p:cNvSpPr/>
          <p:nvPr/>
        </p:nvSpPr>
        <p:spPr>
          <a:xfrm>
            <a:off x="1814364" y="1090761"/>
            <a:ext cx="904726" cy="208359"/>
          </a:xfrm>
          <a:prstGeom prst="roundRect">
            <a:avLst>
              <a:gd name="adj" fmla="val 17067"/>
            </a:avLst>
          </a:prstGeom>
          <a:gradFill rotWithShape="1">
            <a:gsLst>
              <a:gs pos="0">
                <a:srgbClr val="F5C842"/>
              </a:gs>
              <a:gs pos="60000">
                <a:srgbClr val="E8A020"/>
              </a:gs>
              <a:gs pos="100000">
                <a:srgbClr val="C47A10"/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1814364" y="1277541"/>
            <a:ext cx="904726" cy="21580"/>
          </a:xfrm>
          <a:custGeom>
            <a:avLst/>
            <a:gdLst/>
            <a:ahLst/>
            <a:cxnLst/>
            <a:rect l="l" t="t" r="r" b="b"/>
            <a:pathLst>
              <a:path w="904726" h="21580">
                <a:moveTo>
                  <a:pt x="0" y="0"/>
                </a:moveTo>
                <a:lnTo>
                  <a:pt x="2707" y="0"/>
                </a:lnTo>
                <a:lnTo>
                  <a:pt x="5993" y="5776"/>
                </a:lnTo>
                <a:lnTo>
                  <a:pt x="10415" y="11165"/>
                </a:lnTo>
                <a:lnTo>
                  <a:pt x="15804" y="15587"/>
                </a:lnTo>
                <a:lnTo>
                  <a:pt x="21952" y="18873"/>
                </a:lnTo>
                <a:lnTo>
                  <a:pt x="28623" y="20897"/>
                </a:lnTo>
                <a:lnTo>
                  <a:pt x="35560" y="21580"/>
                </a:lnTo>
                <a:lnTo>
                  <a:pt x="869166" y="21580"/>
                </a:lnTo>
                <a:lnTo>
                  <a:pt x="876104" y="20897"/>
                </a:lnTo>
                <a:lnTo>
                  <a:pt x="882774" y="18873"/>
                </a:lnTo>
                <a:lnTo>
                  <a:pt x="888922" y="15587"/>
                </a:lnTo>
                <a:lnTo>
                  <a:pt x="894311" y="11165"/>
                </a:lnTo>
                <a:lnTo>
                  <a:pt x="898733" y="5776"/>
                </a:lnTo>
                <a:lnTo>
                  <a:pt x="902019" y="0"/>
                </a:lnTo>
                <a:lnTo>
                  <a:pt x="904726" y="0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2055093" y="1147911"/>
            <a:ext cx="423118" cy="158145"/>
          </a:xfrm>
          <a:prstGeom prst="roundRect">
            <a:avLst>
              <a:gd name="adj" fmla="val 13652"/>
            </a:avLst>
          </a:prstGeom>
          <a:solidFill>
            <a:srgbClr val="DC2626">
              <a:alpha val="25000"/>
            </a:srgbClr>
          </a:solidFill>
          <a:ln w="9525">
            <a:solidFill>
              <a:srgbClr val="DC2626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510" dirty="0"/>
          </a:p>
        </p:txBody>
      </p:sp>
      <p:sp>
        <p:nvSpPr>
          <p:cNvPr id="38" name="Text 35"/>
          <p:cNvSpPr/>
          <p:nvPr/>
        </p:nvSpPr>
        <p:spPr>
          <a:xfrm>
            <a:off x="3190875" y="916335"/>
            <a:ext cx="11328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730" dirty="0"/>
          </a:p>
        </p:txBody>
      </p:sp>
      <p:sp>
        <p:nvSpPr>
          <p:cNvPr id="39" name="Text 36"/>
          <p:cNvSpPr/>
          <p:nvPr/>
        </p:nvSpPr>
        <p:spPr>
          <a:xfrm>
            <a:off x="2790081" y="1090761"/>
            <a:ext cx="904577" cy="208359"/>
          </a:xfrm>
          <a:prstGeom prst="roundRect">
            <a:avLst>
              <a:gd name="adj" fmla="val 17067"/>
            </a:avLst>
          </a:prstGeom>
          <a:gradFill rotWithShape="1">
            <a:gsLst>
              <a:gs pos="0">
                <a:srgbClr val="F5C842"/>
              </a:gs>
              <a:gs pos="60000">
                <a:srgbClr val="E8A020"/>
              </a:gs>
              <a:gs pos="100000">
                <a:srgbClr val="C47A10"/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2790081" y="1277541"/>
            <a:ext cx="904577" cy="21580"/>
          </a:xfrm>
          <a:custGeom>
            <a:avLst/>
            <a:gdLst/>
            <a:ahLst/>
            <a:cxnLst/>
            <a:rect l="l" t="t" r="r" b="b"/>
            <a:pathLst>
              <a:path w="904577" h="21580">
                <a:moveTo>
                  <a:pt x="0" y="0"/>
                </a:moveTo>
                <a:lnTo>
                  <a:pt x="2707" y="0"/>
                </a:lnTo>
                <a:lnTo>
                  <a:pt x="5993" y="5776"/>
                </a:lnTo>
                <a:lnTo>
                  <a:pt x="10415" y="11165"/>
                </a:lnTo>
                <a:lnTo>
                  <a:pt x="15804" y="15587"/>
                </a:lnTo>
                <a:lnTo>
                  <a:pt x="21952" y="18873"/>
                </a:lnTo>
                <a:lnTo>
                  <a:pt x="28623" y="20897"/>
                </a:lnTo>
                <a:lnTo>
                  <a:pt x="35560" y="21580"/>
                </a:lnTo>
                <a:lnTo>
                  <a:pt x="869017" y="21580"/>
                </a:lnTo>
                <a:lnTo>
                  <a:pt x="875955" y="20897"/>
                </a:lnTo>
                <a:lnTo>
                  <a:pt x="882626" y="18873"/>
                </a:lnTo>
                <a:lnTo>
                  <a:pt x="888773" y="15587"/>
                </a:lnTo>
                <a:lnTo>
                  <a:pt x="894162" y="11165"/>
                </a:lnTo>
                <a:lnTo>
                  <a:pt x="898584" y="5776"/>
                </a:lnTo>
                <a:lnTo>
                  <a:pt x="901871" y="0"/>
                </a:lnTo>
                <a:lnTo>
                  <a:pt x="904577" y="0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3030810" y="1147911"/>
            <a:ext cx="423118" cy="158145"/>
          </a:xfrm>
          <a:prstGeom prst="roundRect">
            <a:avLst>
              <a:gd name="adj" fmla="val 13652"/>
            </a:avLst>
          </a:prstGeom>
          <a:solidFill>
            <a:srgbClr val="DC2626">
              <a:alpha val="25000"/>
            </a:srgbClr>
          </a:solidFill>
          <a:ln w="9525">
            <a:solidFill>
              <a:srgbClr val="DC2626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510" dirty="0"/>
          </a:p>
        </p:txBody>
      </p:sp>
      <p:sp>
        <p:nvSpPr>
          <p:cNvPr id="42" name="Text 39"/>
          <p:cNvSpPr/>
          <p:nvPr/>
        </p:nvSpPr>
        <p:spPr>
          <a:xfrm>
            <a:off x="4166443" y="916335"/>
            <a:ext cx="11328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730" dirty="0"/>
          </a:p>
        </p:txBody>
      </p:sp>
      <p:sp>
        <p:nvSpPr>
          <p:cNvPr id="43" name="Text 40"/>
          <p:cNvSpPr/>
          <p:nvPr/>
        </p:nvSpPr>
        <p:spPr>
          <a:xfrm>
            <a:off x="3765649" y="1090761"/>
            <a:ext cx="904577" cy="208359"/>
          </a:xfrm>
          <a:prstGeom prst="roundRect">
            <a:avLst>
              <a:gd name="adj" fmla="val 17067"/>
            </a:avLst>
          </a:prstGeom>
          <a:gradFill rotWithShape="1">
            <a:gsLst>
              <a:gs pos="0">
                <a:srgbClr val="E8A020"/>
              </a:gs>
              <a:gs pos="55000">
                <a:srgbClr val="C47A10"/>
              </a:gs>
              <a:gs pos="100000">
                <a:srgbClr val="A35F08"/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3765649" y="1277541"/>
            <a:ext cx="904577" cy="21580"/>
          </a:xfrm>
          <a:custGeom>
            <a:avLst/>
            <a:gdLst/>
            <a:ahLst/>
            <a:cxnLst/>
            <a:rect l="l" t="t" r="r" b="b"/>
            <a:pathLst>
              <a:path w="904577" h="21580">
                <a:moveTo>
                  <a:pt x="0" y="0"/>
                </a:moveTo>
                <a:lnTo>
                  <a:pt x="2707" y="0"/>
                </a:lnTo>
                <a:lnTo>
                  <a:pt x="5993" y="5776"/>
                </a:lnTo>
                <a:lnTo>
                  <a:pt x="10415" y="11165"/>
                </a:lnTo>
                <a:lnTo>
                  <a:pt x="15804" y="15587"/>
                </a:lnTo>
                <a:lnTo>
                  <a:pt x="21952" y="18873"/>
                </a:lnTo>
                <a:lnTo>
                  <a:pt x="28623" y="20897"/>
                </a:lnTo>
                <a:lnTo>
                  <a:pt x="35560" y="21580"/>
                </a:lnTo>
                <a:lnTo>
                  <a:pt x="869017" y="21580"/>
                </a:lnTo>
                <a:lnTo>
                  <a:pt x="875955" y="20897"/>
                </a:lnTo>
                <a:lnTo>
                  <a:pt x="882626" y="18873"/>
                </a:lnTo>
                <a:lnTo>
                  <a:pt x="888773" y="15587"/>
                </a:lnTo>
                <a:lnTo>
                  <a:pt x="894162" y="11165"/>
                </a:lnTo>
                <a:lnTo>
                  <a:pt x="898584" y="5776"/>
                </a:lnTo>
                <a:lnTo>
                  <a:pt x="901871" y="0"/>
                </a:lnTo>
                <a:lnTo>
                  <a:pt x="904577" y="0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4084290" y="1147911"/>
            <a:ext cx="267295" cy="158145"/>
          </a:xfrm>
          <a:prstGeom prst="roundRect">
            <a:avLst>
              <a:gd name="adj" fmla="val 13652"/>
            </a:avLst>
          </a:prstGeom>
          <a:solidFill>
            <a:srgbClr val="EA580C">
              <a:alpha val="25000"/>
            </a:srgbClr>
          </a:solidFill>
          <a:ln w="9525">
            <a:solidFill>
              <a:srgbClr val="EA580C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510" dirty="0"/>
          </a:p>
        </p:txBody>
      </p:sp>
      <p:sp>
        <p:nvSpPr>
          <p:cNvPr id="46" name="Text 43"/>
          <p:cNvSpPr/>
          <p:nvPr/>
        </p:nvSpPr>
        <p:spPr>
          <a:xfrm>
            <a:off x="5142012" y="916335"/>
            <a:ext cx="11328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730" dirty="0"/>
          </a:p>
        </p:txBody>
      </p:sp>
      <p:sp>
        <p:nvSpPr>
          <p:cNvPr id="47" name="Text 44"/>
          <p:cNvSpPr/>
          <p:nvPr/>
        </p:nvSpPr>
        <p:spPr>
          <a:xfrm>
            <a:off x="4741218" y="1090761"/>
            <a:ext cx="904577" cy="208359"/>
          </a:xfrm>
          <a:prstGeom prst="roundRect">
            <a:avLst>
              <a:gd name="adj" fmla="val 17067"/>
            </a:avLst>
          </a:prstGeom>
          <a:gradFill rotWithShape="1">
            <a:gsLst>
              <a:gs pos="0">
                <a:srgbClr val="E8A020"/>
              </a:gs>
              <a:gs pos="55000">
                <a:srgbClr val="C47A10"/>
              </a:gs>
              <a:gs pos="100000">
                <a:srgbClr val="A35F08"/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4741218" y="1277541"/>
            <a:ext cx="904577" cy="21580"/>
          </a:xfrm>
          <a:custGeom>
            <a:avLst/>
            <a:gdLst/>
            <a:ahLst/>
            <a:cxnLst/>
            <a:rect l="l" t="t" r="r" b="b"/>
            <a:pathLst>
              <a:path w="904577" h="21580">
                <a:moveTo>
                  <a:pt x="0" y="0"/>
                </a:moveTo>
                <a:lnTo>
                  <a:pt x="2707" y="0"/>
                </a:lnTo>
                <a:lnTo>
                  <a:pt x="5993" y="5776"/>
                </a:lnTo>
                <a:lnTo>
                  <a:pt x="10415" y="11165"/>
                </a:lnTo>
                <a:lnTo>
                  <a:pt x="15804" y="15587"/>
                </a:lnTo>
                <a:lnTo>
                  <a:pt x="21952" y="18873"/>
                </a:lnTo>
                <a:lnTo>
                  <a:pt x="28623" y="20897"/>
                </a:lnTo>
                <a:lnTo>
                  <a:pt x="35560" y="21580"/>
                </a:lnTo>
                <a:lnTo>
                  <a:pt x="869017" y="21580"/>
                </a:lnTo>
                <a:lnTo>
                  <a:pt x="875955" y="20897"/>
                </a:lnTo>
                <a:lnTo>
                  <a:pt x="882626" y="18873"/>
                </a:lnTo>
                <a:lnTo>
                  <a:pt x="888773" y="15587"/>
                </a:lnTo>
                <a:lnTo>
                  <a:pt x="894162" y="11165"/>
                </a:lnTo>
                <a:lnTo>
                  <a:pt x="898584" y="5776"/>
                </a:lnTo>
                <a:lnTo>
                  <a:pt x="901871" y="0"/>
                </a:lnTo>
                <a:lnTo>
                  <a:pt x="904577" y="0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5059859" y="1147911"/>
            <a:ext cx="267295" cy="158145"/>
          </a:xfrm>
          <a:prstGeom prst="roundRect">
            <a:avLst>
              <a:gd name="adj" fmla="val 13652"/>
            </a:avLst>
          </a:prstGeom>
          <a:solidFill>
            <a:srgbClr val="EA580C">
              <a:alpha val="25000"/>
            </a:srgbClr>
          </a:solidFill>
          <a:ln w="9525">
            <a:solidFill>
              <a:srgbClr val="EA580C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510" dirty="0"/>
          </a:p>
        </p:txBody>
      </p:sp>
      <p:sp>
        <p:nvSpPr>
          <p:cNvPr id="50" name="Text 47"/>
          <p:cNvSpPr/>
          <p:nvPr/>
        </p:nvSpPr>
        <p:spPr>
          <a:xfrm>
            <a:off x="6117580" y="916335"/>
            <a:ext cx="11328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730" dirty="0"/>
          </a:p>
        </p:txBody>
      </p:sp>
      <p:sp>
        <p:nvSpPr>
          <p:cNvPr id="51" name="Text 48"/>
          <p:cNvSpPr/>
          <p:nvPr/>
        </p:nvSpPr>
        <p:spPr>
          <a:xfrm>
            <a:off x="5716786" y="1090761"/>
            <a:ext cx="904577" cy="208359"/>
          </a:xfrm>
          <a:prstGeom prst="roundRect">
            <a:avLst>
              <a:gd name="adj" fmla="val 17067"/>
            </a:avLst>
          </a:prstGeom>
          <a:gradFill rotWithShape="1">
            <a:gsLst>
              <a:gs pos="0">
                <a:srgbClr val="C8942A"/>
              </a:gs>
              <a:gs pos="55000">
                <a:srgbClr val="9E6E10"/>
              </a:gs>
              <a:gs pos="100000">
                <a:srgbClr val="7A5208"/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5716786" y="1277541"/>
            <a:ext cx="904577" cy="21580"/>
          </a:xfrm>
          <a:custGeom>
            <a:avLst/>
            <a:gdLst/>
            <a:ahLst/>
            <a:cxnLst/>
            <a:rect l="l" t="t" r="r" b="b"/>
            <a:pathLst>
              <a:path w="904577" h="21580">
                <a:moveTo>
                  <a:pt x="0" y="0"/>
                </a:moveTo>
                <a:lnTo>
                  <a:pt x="2707" y="0"/>
                </a:lnTo>
                <a:lnTo>
                  <a:pt x="5993" y="5776"/>
                </a:lnTo>
                <a:lnTo>
                  <a:pt x="10415" y="11165"/>
                </a:lnTo>
                <a:lnTo>
                  <a:pt x="15804" y="15587"/>
                </a:lnTo>
                <a:lnTo>
                  <a:pt x="21952" y="18873"/>
                </a:lnTo>
                <a:lnTo>
                  <a:pt x="28623" y="20897"/>
                </a:lnTo>
                <a:lnTo>
                  <a:pt x="35560" y="21580"/>
                </a:lnTo>
                <a:lnTo>
                  <a:pt x="869017" y="21580"/>
                </a:lnTo>
                <a:lnTo>
                  <a:pt x="875955" y="20897"/>
                </a:lnTo>
                <a:lnTo>
                  <a:pt x="882626" y="18873"/>
                </a:lnTo>
                <a:lnTo>
                  <a:pt x="888773" y="15587"/>
                </a:lnTo>
                <a:lnTo>
                  <a:pt x="894162" y="11165"/>
                </a:lnTo>
                <a:lnTo>
                  <a:pt x="898584" y="5776"/>
                </a:lnTo>
                <a:lnTo>
                  <a:pt x="901871" y="0"/>
                </a:lnTo>
                <a:lnTo>
                  <a:pt x="904577" y="0"/>
                </a:lnTo>
                <a:close/>
              </a:path>
            </a:pathLst>
          </a:custGeom>
          <a:solidFill>
            <a:srgbClr val="C47A1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5944939" y="1147911"/>
            <a:ext cx="448270" cy="158145"/>
          </a:xfrm>
          <a:prstGeom prst="roundRect">
            <a:avLst>
              <a:gd name="adj" fmla="val 13652"/>
            </a:avLst>
          </a:prstGeom>
          <a:solidFill>
            <a:srgbClr val="CA8A04">
              <a:alpha val="20000"/>
            </a:srgbClr>
          </a:solidFill>
          <a:ln w="9525">
            <a:solidFill>
              <a:srgbClr val="CA8A04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MED-HIGH</a:t>
            </a:r>
            <a:endParaRPr lang="en-US" sz="510" dirty="0"/>
          </a:p>
        </p:txBody>
      </p:sp>
      <p:sp>
        <p:nvSpPr>
          <p:cNvPr id="54" name="Text 51"/>
          <p:cNvSpPr/>
          <p:nvPr/>
        </p:nvSpPr>
        <p:spPr>
          <a:xfrm>
            <a:off x="7093148" y="916335"/>
            <a:ext cx="11328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730" dirty="0"/>
          </a:p>
        </p:txBody>
      </p:sp>
      <p:sp>
        <p:nvSpPr>
          <p:cNvPr id="55" name="Text 52"/>
          <p:cNvSpPr/>
          <p:nvPr/>
        </p:nvSpPr>
        <p:spPr>
          <a:xfrm>
            <a:off x="6692354" y="1090761"/>
            <a:ext cx="904577" cy="208359"/>
          </a:xfrm>
          <a:prstGeom prst="roundRect">
            <a:avLst>
              <a:gd name="adj" fmla="val 17067"/>
            </a:avLst>
          </a:prstGeom>
          <a:gradFill rotWithShape="1">
            <a:gsLst>
              <a:gs pos="0">
                <a:srgbClr val="B5832A"/>
              </a:gs>
              <a:gs pos="55000">
                <a:srgbClr val="8A5E0E"/>
              </a:gs>
              <a:gs pos="100000">
                <a:srgbClr val="6A4808"/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6692354" y="1277541"/>
            <a:ext cx="904577" cy="21580"/>
          </a:xfrm>
          <a:custGeom>
            <a:avLst/>
            <a:gdLst/>
            <a:ahLst/>
            <a:cxnLst/>
            <a:rect l="l" t="t" r="r" b="b"/>
            <a:pathLst>
              <a:path w="904577" h="21580">
                <a:moveTo>
                  <a:pt x="0" y="0"/>
                </a:moveTo>
                <a:lnTo>
                  <a:pt x="2707" y="0"/>
                </a:lnTo>
                <a:lnTo>
                  <a:pt x="5993" y="5776"/>
                </a:lnTo>
                <a:lnTo>
                  <a:pt x="10415" y="11165"/>
                </a:lnTo>
                <a:lnTo>
                  <a:pt x="15804" y="15587"/>
                </a:lnTo>
                <a:lnTo>
                  <a:pt x="21952" y="18873"/>
                </a:lnTo>
                <a:lnTo>
                  <a:pt x="28623" y="20897"/>
                </a:lnTo>
                <a:lnTo>
                  <a:pt x="35560" y="21580"/>
                </a:lnTo>
                <a:lnTo>
                  <a:pt x="869017" y="21580"/>
                </a:lnTo>
                <a:lnTo>
                  <a:pt x="875955" y="20897"/>
                </a:lnTo>
                <a:lnTo>
                  <a:pt x="882626" y="18873"/>
                </a:lnTo>
                <a:lnTo>
                  <a:pt x="888773" y="15587"/>
                </a:lnTo>
                <a:lnTo>
                  <a:pt x="894162" y="11165"/>
                </a:lnTo>
                <a:lnTo>
                  <a:pt x="898584" y="5776"/>
                </a:lnTo>
                <a:lnTo>
                  <a:pt x="901871" y="0"/>
                </a:lnTo>
                <a:lnTo>
                  <a:pt x="904577" y="0"/>
                </a:lnTo>
                <a:close/>
              </a:path>
            </a:pathLst>
          </a:custGeom>
          <a:solidFill>
            <a:srgbClr val="A35F0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6956747" y="1147911"/>
            <a:ext cx="375791" cy="158145"/>
          </a:xfrm>
          <a:prstGeom prst="roundRect">
            <a:avLst>
              <a:gd name="adj" fmla="val 13652"/>
            </a:avLst>
          </a:prstGeom>
          <a:solidFill>
            <a:srgbClr val="CA8A04">
              <a:alpha val="20000"/>
            </a:srgbClr>
          </a:solidFill>
          <a:ln w="9525">
            <a:solidFill>
              <a:srgbClr val="CA8A04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510" dirty="0"/>
          </a:p>
        </p:txBody>
      </p:sp>
      <p:sp>
        <p:nvSpPr>
          <p:cNvPr id="58" name="Text 55"/>
          <p:cNvSpPr/>
          <p:nvPr/>
        </p:nvSpPr>
        <p:spPr>
          <a:xfrm>
            <a:off x="8068717" y="916335"/>
            <a:ext cx="11328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730" dirty="0"/>
          </a:p>
        </p:txBody>
      </p:sp>
      <p:sp>
        <p:nvSpPr>
          <p:cNvPr id="59" name="Text 56"/>
          <p:cNvSpPr/>
          <p:nvPr/>
        </p:nvSpPr>
        <p:spPr>
          <a:xfrm>
            <a:off x="7667923" y="1090761"/>
            <a:ext cx="904577" cy="208359"/>
          </a:xfrm>
          <a:prstGeom prst="roundRect">
            <a:avLst>
              <a:gd name="adj" fmla="val 17067"/>
            </a:avLst>
          </a:prstGeom>
          <a:gradFill rotWithShape="1">
            <a:gsLst>
              <a:gs pos="0">
                <a:srgbClr val="9E7224"/>
              </a:gs>
              <a:gs pos="55000">
                <a:srgbClr val="6E4E0C"/>
              </a:gs>
              <a:gs pos="100000">
                <a:srgbClr val="553C08"/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7667923" y="1277541"/>
            <a:ext cx="904577" cy="21580"/>
          </a:xfrm>
          <a:custGeom>
            <a:avLst/>
            <a:gdLst/>
            <a:ahLst/>
            <a:cxnLst/>
            <a:rect l="l" t="t" r="r" b="b"/>
            <a:pathLst>
              <a:path w="904577" h="21580">
                <a:moveTo>
                  <a:pt x="0" y="0"/>
                </a:moveTo>
                <a:lnTo>
                  <a:pt x="2707" y="0"/>
                </a:lnTo>
                <a:lnTo>
                  <a:pt x="5993" y="5776"/>
                </a:lnTo>
                <a:lnTo>
                  <a:pt x="10415" y="11165"/>
                </a:lnTo>
                <a:lnTo>
                  <a:pt x="15804" y="15587"/>
                </a:lnTo>
                <a:lnTo>
                  <a:pt x="21952" y="18873"/>
                </a:lnTo>
                <a:lnTo>
                  <a:pt x="28623" y="20897"/>
                </a:lnTo>
                <a:lnTo>
                  <a:pt x="35560" y="21580"/>
                </a:lnTo>
                <a:lnTo>
                  <a:pt x="869017" y="21580"/>
                </a:lnTo>
                <a:lnTo>
                  <a:pt x="875955" y="20897"/>
                </a:lnTo>
                <a:lnTo>
                  <a:pt x="882626" y="18873"/>
                </a:lnTo>
                <a:lnTo>
                  <a:pt x="888773" y="15587"/>
                </a:lnTo>
                <a:lnTo>
                  <a:pt x="894162" y="11165"/>
                </a:lnTo>
                <a:lnTo>
                  <a:pt x="898584" y="5776"/>
                </a:lnTo>
                <a:lnTo>
                  <a:pt x="901871" y="0"/>
                </a:lnTo>
                <a:lnTo>
                  <a:pt x="904577" y="0"/>
                </a:lnTo>
                <a:close/>
              </a:path>
            </a:pathLst>
          </a:custGeom>
          <a:solidFill>
            <a:srgbClr val="8A5E0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8"/>
          <p:cNvSpPr/>
          <p:nvPr/>
        </p:nvSpPr>
        <p:spPr>
          <a:xfrm>
            <a:off x="7932316" y="1147911"/>
            <a:ext cx="375791" cy="158145"/>
          </a:xfrm>
          <a:prstGeom prst="roundRect">
            <a:avLst>
              <a:gd name="adj" fmla="val 13652"/>
            </a:avLst>
          </a:prstGeom>
          <a:solidFill>
            <a:srgbClr val="CA8A04">
              <a:alpha val="20000"/>
            </a:srgbClr>
          </a:solidFill>
          <a:ln w="9525">
            <a:solidFill>
              <a:srgbClr val="CA8A04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510" dirty="0"/>
          </a:p>
        </p:txBody>
      </p:sp>
      <p:sp>
        <p:nvSpPr>
          <p:cNvPr id="62" name="Text 59"/>
          <p:cNvSpPr/>
          <p:nvPr/>
        </p:nvSpPr>
        <p:spPr>
          <a:xfrm>
            <a:off x="829270" y="1351806"/>
            <a:ext cx="996345" cy="1943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br/>
            <a:r>
              <a:rPr lang="en-US" sz="5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BEC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1806029" y="1351806"/>
            <a:ext cx="996508" cy="1943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</a:t>
            </a:r>
            <a:br/>
            <a:r>
              <a:rPr lang="en-US" sz="5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Eng.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2782937" y="1351806"/>
            <a:ext cx="996345" cy="1943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3759696" y="1351806"/>
            <a:ext cx="996345" cy="1943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br/>
            <a:r>
              <a:rPr lang="en-US" sz="5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Takeover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4736455" y="1351806"/>
            <a:ext cx="996345" cy="1943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</a:t>
            </a:r>
            <a:br/>
            <a:r>
              <a:rPr lang="en-US" sz="5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200" dirty="0"/>
          </a:p>
        </p:txBody>
      </p:sp>
      <p:sp>
        <p:nvSpPr>
          <p:cNvPr id="67" name="Text 64"/>
          <p:cNvSpPr/>
          <p:nvPr/>
        </p:nvSpPr>
        <p:spPr>
          <a:xfrm>
            <a:off x="5713214" y="1351806"/>
            <a:ext cx="996345" cy="1943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/</a:t>
            </a:r>
            <a:br/>
            <a:r>
              <a:rPr lang="en-US" sz="5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6689973" y="1351806"/>
            <a:ext cx="996345" cy="1943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br/>
            <a:r>
              <a:rPr lang="en-US" sz="5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7666732" y="1351806"/>
            <a:ext cx="996345" cy="1943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br/>
            <a:r>
              <a:rPr lang="en-US" sz="5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200" dirty="0"/>
          </a:p>
        </p:txBody>
      </p:sp>
      <p:sp>
        <p:nvSpPr>
          <p:cNvPr id="70" name="Text 67"/>
          <p:cNvSpPr/>
          <p:nvPr/>
        </p:nvSpPr>
        <p:spPr>
          <a:xfrm>
            <a:off x="345758" y="1581596"/>
            <a:ext cx="873823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560" b="1" kern="0" spc="56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CATEGORY</a:t>
            </a:r>
            <a:endParaRPr lang="en-US" sz="560" dirty="0"/>
          </a:p>
        </p:txBody>
      </p:sp>
      <p:sp>
        <p:nvSpPr>
          <p:cNvPr id="71" name="Text 68"/>
          <p:cNvSpPr/>
          <p:nvPr/>
        </p:nvSpPr>
        <p:spPr>
          <a:xfrm>
            <a:off x="457200" y="4908649"/>
            <a:ext cx="41500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560" dirty="0"/>
          </a:p>
        </p:txBody>
      </p:sp>
      <p:sp>
        <p:nvSpPr>
          <p:cNvPr id="72" name="Text 69"/>
          <p:cNvSpPr/>
          <p:nvPr/>
        </p:nvSpPr>
        <p:spPr>
          <a:xfrm>
            <a:off x="891629" y="4908649"/>
            <a:ext cx="437517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 Intelligence composite: ZeroFox 2026, Google Cloud Cybersecurity Forecast 2026, IBM X-Force 2026, Verizon DBIR 2025</a:t>
            </a:r>
            <a:endParaRPr lang="en-US" sz="560" dirty="0"/>
          </a:p>
        </p:txBody>
      </p:sp>
      <p:sp>
        <p:nvSpPr>
          <p:cNvPr id="73" name="Text 70"/>
          <p:cNvSpPr/>
          <p:nvPr/>
        </p:nvSpPr>
        <p:spPr>
          <a:xfrm>
            <a:off x="6662886" y="4926509"/>
            <a:ext cx="70991" cy="70991"/>
          </a:xfrm>
          <a:prstGeom prst="roundRect">
            <a:avLst>
              <a:gd name="adj" fmla="val 19679"/>
            </a:avLst>
          </a:prstGeom>
          <a:gradFill rotWithShape="1">
            <a:gsLst>
              <a:gs pos="0">
                <a:srgbClr val="F5C842"/>
              </a:gs>
              <a:gs pos="100000">
                <a:srgbClr val="E8A020"/>
              </a:gs>
            </a:gsLst>
            <a:lin ang="27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1"/>
          <p:cNvSpPr/>
          <p:nvPr/>
        </p:nvSpPr>
        <p:spPr>
          <a:xfrm>
            <a:off x="6769298" y="4908649"/>
            <a:ext cx="57298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(80–100)</a:t>
            </a:r>
            <a:endParaRPr lang="en-US" sz="560" dirty="0"/>
          </a:p>
        </p:txBody>
      </p:sp>
      <p:sp>
        <p:nvSpPr>
          <p:cNvPr id="75" name="Text 72"/>
          <p:cNvSpPr/>
          <p:nvPr/>
        </p:nvSpPr>
        <p:spPr>
          <a:xfrm>
            <a:off x="7418338" y="4926509"/>
            <a:ext cx="70991" cy="70991"/>
          </a:xfrm>
          <a:prstGeom prst="roundRect">
            <a:avLst>
              <a:gd name="adj" fmla="val 19679"/>
            </a:avLst>
          </a:prstGeom>
          <a:gradFill rotWithShape="1">
            <a:gsLst>
              <a:gs pos="0">
                <a:srgbClr val="E8A020"/>
              </a:gs>
              <a:gs pos="100000">
                <a:srgbClr val="A35F08"/>
              </a:gs>
            </a:gsLst>
            <a:lin ang="27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3"/>
          <p:cNvSpPr/>
          <p:nvPr/>
        </p:nvSpPr>
        <p:spPr>
          <a:xfrm>
            <a:off x="7524750" y="4908649"/>
            <a:ext cx="45151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(70–79)</a:t>
            </a:r>
            <a:endParaRPr lang="en-US" sz="560" dirty="0"/>
          </a:p>
        </p:txBody>
      </p:sp>
      <p:sp>
        <p:nvSpPr>
          <p:cNvPr id="77" name="Text 74"/>
          <p:cNvSpPr/>
          <p:nvPr/>
        </p:nvSpPr>
        <p:spPr>
          <a:xfrm>
            <a:off x="8063359" y="4926509"/>
            <a:ext cx="70991" cy="70991"/>
          </a:xfrm>
          <a:prstGeom prst="roundRect">
            <a:avLst>
              <a:gd name="adj" fmla="val 19679"/>
            </a:avLst>
          </a:prstGeom>
          <a:gradFill rotWithShape="1">
            <a:gsLst>
              <a:gs pos="0">
                <a:srgbClr val="9E7224"/>
              </a:gs>
              <a:gs pos="100000">
                <a:srgbClr val="553C08"/>
              </a:gs>
            </a:gsLst>
            <a:lin ang="27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5"/>
          <p:cNvSpPr/>
          <p:nvPr/>
        </p:nvSpPr>
        <p:spPr>
          <a:xfrm>
            <a:off x="8169771" y="4908649"/>
            <a:ext cx="56873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(50–69)</a:t>
            </a:r>
            <a:endParaRPr lang="en-US" sz="5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5000"/>
                </a:srgbClr>
              </a:gs>
              <a:gs pos="55000">
                <a:srgbClr val="000000">
                  <a:alpha val="0"/>
                </a:srgbClr>
              </a:gs>
            </a:gsLst>
            <a:path path="circle">
              <a:fillToRect l="85000" t="50000" r="15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A64A0">
                  <a:alpha val="8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15000" t="80000" r="85000" b="2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94AFC8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94AFC8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5895" y="1290042"/>
            <a:ext cx="257770" cy="129629"/>
          </a:xfrm>
          <a:prstGeom prst="ellipse">
            <a:avLst/>
          </a:prstGeom>
          <a:solidFill>
            <a:srgbClr val="E8A020"/>
          </a:solidFill>
          <a:ln w="9525">
            <a:solidFill>
              <a:srgbClr val="1A2E42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486" y="1352633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24435" y="1290042"/>
            <a:ext cx="257770" cy="129629"/>
          </a:xfrm>
          <a:prstGeom prst="ellipse">
            <a:avLst/>
          </a:prstGeom>
          <a:solidFill>
            <a:srgbClr val="3B82F6"/>
          </a:solidFill>
          <a:ln w="9525">
            <a:solidFill>
              <a:srgbClr val="1A2E42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87026" y="1352633"/>
            <a:ext cx="132588" cy="132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2975" y="1290042"/>
            <a:ext cx="257770" cy="129629"/>
          </a:xfrm>
          <a:prstGeom prst="ellipse">
            <a:avLst/>
          </a:prstGeom>
          <a:solidFill>
            <a:srgbClr val="10B981"/>
          </a:solidFill>
          <a:ln w="9525">
            <a:solidFill>
              <a:srgbClr val="1A2E42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15566" y="1352633"/>
            <a:ext cx="132588" cy="132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81515" y="1290042"/>
            <a:ext cx="257770" cy="129629"/>
          </a:xfrm>
          <a:prstGeom prst="ellipse">
            <a:avLst/>
          </a:prstGeom>
          <a:solidFill>
            <a:srgbClr val="A855F7"/>
          </a:solidFill>
          <a:ln w="9525">
            <a:solidFill>
              <a:srgbClr val="1A2E42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44106" y="1352633"/>
            <a:ext cx="132588" cy="132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72070" y="200620"/>
            <a:ext cx="35421" cy="285750"/>
          </a:xfrm>
          <a:prstGeom prst="roundRect">
            <a:avLst>
              <a:gd name="adj" fmla="val 60953"/>
            </a:avLst>
          </a:pr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535632" y="228154"/>
            <a:ext cx="5477906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17"/>
              </a:lnSpc>
              <a:buNone/>
            </a:pPr>
            <a:r>
              <a:rPr lang="en-US" sz="1580" kern="0" spc="16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Role-Based Guidance: </a:t>
            </a:r>
            <a:r>
              <a:rPr lang="en-US" sz="1580" kern="0" spc="16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Tailored Training</a:t>
            </a:r>
            <a:r>
              <a:rPr lang="en-US" sz="1580" kern="0" spc="16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by Job Function</a:t>
            </a:r>
            <a:endParaRPr lang="en-US" sz="1580" dirty="0"/>
          </a:p>
        </p:txBody>
      </p:sp>
      <p:sp>
        <p:nvSpPr>
          <p:cNvPr id="16" name="Text 10"/>
          <p:cNvSpPr/>
          <p:nvPr/>
        </p:nvSpPr>
        <p:spPr>
          <a:xfrm>
            <a:off x="6979444" y="261937"/>
            <a:ext cx="729118" cy="163116"/>
          </a:xfrm>
          <a:prstGeom prst="roundRect">
            <a:avLst>
              <a:gd name="adj" fmla="val 87981"/>
            </a:avLst>
          </a:prstGeom>
          <a:solidFill>
            <a:srgbClr val="E8A020">
              <a:alpha val="15000"/>
            </a:srgbClr>
          </a:solidFill>
          <a:ln w="9525">
            <a:solidFill>
              <a:srgbClr val="E8A020">
                <a:alpha val="25000"/>
              </a:srgbClr>
            </a:solidFill>
          </a:ln>
        </p:spPr>
        <p:txBody>
          <a:bodyPr wrap="none" lIns="149543" tIns="21590" rIns="71120" bIns="21590" rtlCol="0" anchor="ctr"/>
          <a:lstStyle/>
          <a:p>
            <a:pPr marL="0" indent="0" algn="l">
              <a:buNone/>
            </a:pPr>
            <a:r>
              <a:rPr lang="en-US" sz="530" b="1" kern="0" spc="64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PR.AT-2</a:t>
            </a:r>
            <a:endParaRPr lang="en-US" sz="53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15097" y="277201"/>
            <a:ext cx="132588" cy="1325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751415" y="261937"/>
            <a:ext cx="1040925" cy="163116"/>
          </a:xfrm>
          <a:prstGeom prst="roundRect">
            <a:avLst>
              <a:gd name="adj" fmla="val 87981"/>
            </a:avLst>
          </a:prstGeom>
          <a:solidFill>
            <a:srgbClr val="E8A020">
              <a:alpha val="15000"/>
            </a:srgbClr>
          </a:solidFill>
          <a:ln w="9525">
            <a:solidFill>
              <a:srgbClr val="E8A020">
                <a:alpha val="25000"/>
              </a:srgbClr>
            </a:solidFill>
          </a:ln>
        </p:spPr>
        <p:txBody>
          <a:bodyPr wrap="none" lIns="149543" tIns="21590" rIns="71120" bIns="21590" rtlCol="0" anchor="ctr"/>
          <a:lstStyle/>
          <a:p>
            <a:pPr marL="0" indent="0" algn="l">
              <a:buNone/>
            </a:pPr>
            <a:r>
              <a:rPr lang="en-US" sz="530" b="1" kern="0" spc="64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PROTECT.AT-2</a:t>
            </a:r>
            <a:endParaRPr lang="en-US" sz="53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87069" y="277201"/>
            <a:ext cx="132588" cy="1325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72070" y="614511"/>
            <a:ext cx="2014240" cy="2197596"/>
          </a:xfrm>
          <a:prstGeom prst="roundRect">
            <a:avLst>
              <a:gd name="adj" fmla="val 3531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3"/>
          <p:cNvSpPr/>
          <p:nvPr/>
        </p:nvSpPr>
        <p:spPr>
          <a:xfrm>
            <a:off x="372070" y="614511"/>
            <a:ext cx="9525" cy="2197596"/>
          </a:xfrm>
          <a:custGeom>
            <a:avLst/>
            <a:gdLst/>
            <a:ahLst/>
            <a:cxnLst/>
            <a:rect l="l" t="t" r="r" b="b"/>
            <a:pathLst>
              <a:path w="9525" h="2197596">
                <a:moveTo>
                  <a:pt x="0" y="71120"/>
                </a:moveTo>
                <a:lnTo>
                  <a:pt x="1191" y="58161"/>
                </a:lnTo>
                <a:lnTo>
                  <a:pt x="2381" y="52871"/>
                </a:lnTo>
                <a:lnTo>
                  <a:pt x="3572" y="48865"/>
                </a:lnTo>
                <a:lnTo>
                  <a:pt x="4763" y="45532"/>
                </a:lnTo>
                <a:lnTo>
                  <a:pt x="5953" y="42636"/>
                </a:lnTo>
                <a:lnTo>
                  <a:pt x="7144" y="40054"/>
                </a:lnTo>
                <a:lnTo>
                  <a:pt x="8334" y="37713"/>
                </a:lnTo>
                <a:lnTo>
                  <a:pt x="9525" y="35566"/>
                </a:lnTo>
                <a:lnTo>
                  <a:pt x="9525" y="2162030"/>
                </a:lnTo>
                <a:lnTo>
                  <a:pt x="8334" y="2159883"/>
                </a:lnTo>
                <a:lnTo>
                  <a:pt x="7144" y="2157542"/>
                </a:lnTo>
                <a:lnTo>
                  <a:pt x="5953" y="2154960"/>
                </a:lnTo>
                <a:lnTo>
                  <a:pt x="4763" y="2152064"/>
                </a:lnTo>
                <a:lnTo>
                  <a:pt x="3572" y="2148732"/>
                </a:lnTo>
                <a:lnTo>
                  <a:pt x="2381" y="2144725"/>
                </a:lnTo>
                <a:lnTo>
                  <a:pt x="1191" y="2139435"/>
                </a:lnTo>
                <a:lnTo>
                  <a:pt x="0" y="2126476"/>
                </a:lnTo>
                <a:close/>
              </a:path>
            </a:pathLst>
          </a:custGeom>
          <a:solidFill>
            <a:srgbClr val="94AFC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4"/>
          <p:cNvSpPr/>
          <p:nvPr/>
        </p:nvSpPr>
        <p:spPr>
          <a:xfrm>
            <a:off x="2376785" y="614511"/>
            <a:ext cx="9525" cy="2197596"/>
          </a:xfrm>
          <a:custGeom>
            <a:avLst/>
            <a:gdLst/>
            <a:ahLst/>
            <a:cxnLst/>
            <a:rect l="l" t="t" r="r" b="b"/>
            <a:pathLst>
              <a:path w="9525" h="2197596">
                <a:moveTo>
                  <a:pt x="0" y="35566"/>
                </a:moveTo>
                <a:lnTo>
                  <a:pt x="1191" y="37713"/>
                </a:lnTo>
                <a:lnTo>
                  <a:pt x="2381" y="40054"/>
                </a:lnTo>
                <a:lnTo>
                  <a:pt x="3572" y="42636"/>
                </a:lnTo>
                <a:lnTo>
                  <a:pt x="4763" y="45532"/>
                </a:lnTo>
                <a:lnTo>
                  <a:pt x="5953" y="48865"/>
                </a:lnTo>
                <a:lnTo>
                  <a:pt x="7144" y="52871"/>
                </a:lnTo>
                <a:lnTo>
                  <a:pt x="8334" y="58161"/>
                </a:lnTo>
                <a:lnTo>
                  <a:pt x="9525" y="71120"/>
                </a:lnTo>
                <a:lnTo>
                  <a:pt x="9525" y="2126476"/>
                </a:lnTo>
                <a:lnTo>
                  <a:pt x="8334" y="2139435"/>
                </a:lnTo>
                <a:lnTo>
                  <a:pt x="7144" y="2144725"/>
                </a:lnTo>
                <a:lnTo>
                  <a:pt x="5953" y="2148732"/>
                </a:lnTo>
                <a:lnTo>
                  <a:pt x="4763" y="2152064"/>
                </a:lnTo>
                <a:lnTo>
                  <a:pt x="3572" y="2154960"/>
                </a:lnTo>
                <a:lnTo>
                  <a:pt x="2381" y="2157542"/>
                </a:lnTo>
                <a:lnTo>
                  <a:pt x="1191" y="2159883"/>
                </a:lnTo>
                <a:lnTo>
                  <a:pt x="0" y="2162030"/>
                </a:lnTo>
                <a:close/>
              </a:path>
            </a:pathLst>
          </a:custGeom>
          <a:solidFill>
            <a:srgbClr val="94AFC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5"/>
          <p:cNvSpPr/>
          <p:nvPr/>
        </p:nvSpPr>
        <p:spPr>
          <a:xfrm>
            <a:off x="372070" y="614511"/>
            <a:ext cx="2014240" cy="19050"/>
          </a:xfrm>
          <a:custGeom>
            <a:avLst/>
            <a:gdLst/>
            <a:ahLst/>
            <a:cxnLst/>
            <a:rect l="l" t="t" r="r" b="b"/>
            <a:pathLst>
              <a:path w="2014240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1991563" y="19050"/>
                </a:lnTo>
                <a:lnTo>
                  <a:pt x="1988870" y="16669"/>
                </a:lnTo>
                <a:lnTo>
                  <a:pt x="1985876" y="14288"/>
                </a:lnTo>
                <a:lnTo>
                  <a:pt x="1982513" y="11906"/>
                </a:lnTo>
                <a:lnTo>
                  <a:pt x="1978674" y="9525"/>
                </a:lnTo>
                <a:lnTo>
                  <a:pt x="1974186" y="7144"/>
                </a:lnTo>
                <a:lnTo>
                  <a:pt x="1968708" y="4763"/>
                </a:lnTo>
                <a:lnTo>
                  <a:pt x="1961369" y="2381"/>
                </a:lnTo>
                <a:lnTo>
                  <a:pt x="1943120" y="0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6"/>
          <p:cNvSpPr/>
          <p:nvPr/>
        </p:nvSpPr>
        <p:spPr>
          <a:xfrm>
            <a:off x="381595" y="633561"/>
            <a:ext cx="1995190" cy="786110"/>
          </a:xfrm>
          <a:prstGeom prst="rect">
            <a:avLst/>
          </a:prstGeom>
          <a:gradFill rotWithShape="1">
            <a:gsLst>
              <a:gs pos="40000">
                <a:srgbClr val="000000">
                  <a:alpha val="0"/>
                </a:srgbClr>
              </a:gs>
              <a:gs pos="100000">
                <a:srgbClr val="1A2E42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7"/>
          <p:cNvSpPr/>
          <p:nvPr/>
        </p:nvSpPr>
        <p:spPr>
          <a:xfrm>
            <a:off x="481905" y="1591121"/>
            <a:ext cx="1974026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Executive / Board</a:t>
            </a:r>
            <a:endParaRPr lang="en-US" sz="760" dirty="0"/>
          </a:p>
        </p:txBody>
      </p:sp>
      <p:sp>
        <p:nvSpPr>
          <p:cNvPr id="26" name="Text 18"/>
          <p:cNvSpPr/>
          <p:nvPr/>
        </p:nvSpPr>
        <p:spPr>
          <a:xfrm>
            <a:off x="481905" y="1728490"/>
            <a:ext cx="1974026" cy="92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5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C-Suite · Directors · Senior Leadership</a:t>
            </a:r>
            <a:endParaRPr lang="en-US" sz="560" dirty="0"/>
          </a:p>
        </p:txBody>
      </p:sp>
      <p:sp>
        <p:nvSpPr>
          <p:cNvPr id="27" name="Text 19"/>
          <p:cNvSpPr/>
          <p:nvPr/>
        </p:nvSpPr>
        <p:spPr>
          <a:xfrm>
            <a:off x="560487" y="1885652"/>
            <a:ext cx="1185431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fraud authorization controls</a:t>
            </a:r>
            <a:endParaRPr lang="en-US" sz="590" dirty="0"/>
          </a:p>
        </p:txBody>
      </p:sp>
      <p:sp>
        <p:nvSpPr>
          <p:cNvPr id="28" name="Text 20"/>
          <p:cNvSpPr/>
          <p:nvPr/>
        </p:nvSpPr>
        <p:spPr>
          <a:xfrm>
            <a:off x="481905" y="1914823"/>
            <a:ext cx="35421" cy="35421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1"/>
          <p:cNvSpPr/>
          <p:nvPr/>
        </p:nvSpPr>
        <p:spPr>
          <a:xfrm>
            <a:off x="560487" y="2015877"/>
            <a:ext cx="1382211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CEO / CFO fraud scenarios</a:t>
            </a:r>
            <a:endParaRPr lang="en-US" sz="590" dirty="0"/>
          </a:p>
        </p:txBody>
      </p:sp>
      <p:sp>
        <p:nvSpPr>
          <p:cNvPr id="30" name="Text 22"/>
          <p:cNvSpPr/>
          <p:nvPr/>
        </p:nvSpPr>
        <p:spPr>
          <a:xfrm>
            <a:off x="481905" y="2045047"/>
            <a:ext cx="35421" cy="35421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3"/>
          <p:cNvSpPr/>
          <p:nvPr/>
        </p:nvSpPr>
        <p:spPr>
          <a:xfrm>
            <a:off x="560487" y="2146102"/>
            <a:ext cx="1281857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board accountability</a:t>
            </a:r>
            <a:endParaRPr lang="en-US" sz="590" dirty="0"/>
          </a:p>
        </p:txBody>
      </p:sp>
      <p:sp>
        <p:nvSpPr>
          <p:cNvPr id="32" name="Text 24"/>
          <p:cNvSpPr/>
          <p:nvPr/>
        </p:nvSpPr>
        <p:spPr>
          <a:xfrm>
            <a:off x="481905" y="2175272"/>
            <a:ext cx="35421" cy="35421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5"/>
          <p:cNvSpPr/>
          <p:nvPr/>
        </p:nvSpPr>
        <p:spPr>
          <a:xfrm>
            <a:off x="560487" y="2276326"/>
            <a:ext cx="112584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Board-level cyber risk briefings</a:t>
            </a:r>
            <a:endParaRPr lang="en-US" sz="590" dirty="0"/>
          </a:p>
        </p:txBody>
      </p:sp>
      <p:sp>
        <p:nvSpPr>
          <p:cNvPr id="34" name="Text 26"/>
          <p:cNvSpPr/>
          <p:nvPr/>
        </p:nvSpPr>
        <p:spPr>
          <a:xfrm>
            <a:off x="481905" y="2305496"/>
            <a:ext cx="35421" cy="35421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481905" y="2448371"/>
            <a:ext cx="1794570" cy="275927"/>
          </a:xfrm>
          <a:prstGeom prst="roundRect">
            <a:avLst>
              <a:gd name="adj" fmla="val 15649"/>
            </a:avLst>
          </a:prstGeom>
          <a:solidFill>
            <a:srgbClr val="E8A020">
              <a:alpha val="12000"/>
            </a:srgbClr>
          </a:solidFill>
          <a:ln/>
        </p:spPr>
        <p:txBody>
          <a:bodyPr wrap="square" lIns="71120" tIns="43180" rIns="71120" bIns="43180" rtlCol="0" anchor="t"/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450" b="1" kern="0" spc="32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PRIORITY TRAINING</a:t>
            </a:r>
            <a:r>
              <a:rPr lang="en-US" sz="530" b="1" kern="0" spc="32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OUT-OF-BAND VERIFICATION PROTOCOLS</a:t>
            </a:r>
            <a:endParaRPr lang="en-US" sz="530" dirty="0"/>
          </a:p>
        </p:txBody>
      </p:sp>
      <p:sp>
        <p:nvSpPr>
          <p:cNvPr id="36" name="Text 28"/>
          <p:cNvSpPr/>
          <p:nvPr/>
        </p:nvSpPr>
        <p:spPr>
          <a:xfrm>
            <a:off x="481905" y="2448371"/>
            <a:ext cx="9525" cy="267891"/>
          </a:xfrm>
          <a:custGeom>
            <a:avLst/>
            <a:gdLst/>
            <a:ahLst/>
            <a:cxnLst/>
            <a:rect l="l" t="t" r="r" b="b"/>
            <a:pathLst>
              <a:path w="9525" h="267891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251763"/>
                </a:lnTo>
                <a:lnTo>
                  <a:pt x="8334" y="250212"/>
                </a:lnTo>
                <a:lnTo>
                  <a:pt x="7144" y="248499"/>
                </a:lnTo>
                <a:lnTo>
                  <a:pt x="5953" y="246589"/>
                </a:lnTo>
                <a:lnTo>
                  <a:pt x="4763" y="244424"/>
                </a:lnTo>
                <a:lnTo>
                  <a:pt x="3572" y="241907"/>
                </a:lnTo>
                <a:lnTo>
                  <a:pt x="2381" y="238852"/>
                </a:lnTo>
                <a:lnTo>
                  <a:pt x="1191" y="234781"/>
                </a:lnTo>
                <a:lnTo>
                  <a:pt x="0" y="224711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9"/>
          <p:cNvSpPr/>
          <p:nvPr/>
        </p:nvSpPr>
        <p:spPr>
          <a:xfrm>
            <a:off x="2500610" y="614511"/>
            <a:ext cx="2014240" cy="2197596"/>
          </a:xfrm>
          <a:prstGeom prst="roundRect">
            <a:avLst>
              <a:gd name="adj" fmla="val 3531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2500610" y="614511"/>
            <a:ext cx="9525" cy="2197596"/>
          </a:xfrm>
          <a:custGeom>
            <a:avLst/>
            <a:gdLst/>
            <a:ahLst/>
            <a:cxnLst/>
            <a:rect l="l" t="t" r="r" b="b"/>
            <a:pathLst>
              <a:path w="9525" h="2197596">
                <a:moveTo>
                  <a:pt x="0" y="71120"/>
                </a:moveTo>
                <a:lnTo>
                  <a:pt x="1191" y="58161"/>
                </a:lnTo>
                <a:lnTo>
                  <a:pt x="2381" y="52871"/>
                </a:lnTo>
                <a:lnTo>
                  <a:pt x="3572" y="48865"/>
                </a:lnTo>
                <a:lnTo>
                  <a:pt x="4763" y="45532"/>
                </a:lnTo>
                <a:lnTo>
                  <a:pt x="5953" y="42636"/>
                </a:lnTo>
                <a:lnTo>
                  <a:pt x="7144" y="40054"/>
                </a:lnTo>
                <a:lnTo>
                  <a:pt x="8334" y="37713"/>
                </a:lnTo>
                <a:lnTo>
                  <a:pt x="9525" y="35566"/>
                </a:lnTo>
                <a:lnTo>
                  <a:pt x="9525" y="2162030"/>
                </a:lnTo>
                <a:lnTo>
                  <a:pt x="8334" y="2159883"/>
                </a:lnTo>
                <a:lnTo>
                  <a:pt x="7144" y="2157542"/>
                </a:lnTo>
                <a:lnTo>
                  <a:pt x="5953" y="2154960"/>
                </a:lnTo>
                <a:lnTo>
                  <a:pt x="4763" y="2152064"/>
                </a:lnTo>
                <a:lnTo>
                  <a:pt x="3572" y="2148732"/>
                </a:lnTo>
                <a:lnTo>
                  <a:pt x="2381" y="2144725"/>
                </a:lnTo>
                <a:lnTo>
                  <a:pt x="1191" y="2139435"/>
                </a:lnTo>
                <a:lnTo>
                  <a:pt x="0" y="2126476"/>
                </a:lnTo>
                <a:close/>
              </a:path>
            </a:pathLst>
          </a:custGeom>
          <a:solidFill>
            <a:srgbClr val="94AFC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1"/>
          <p:cNvSpPr/>
          <p:nvPr/>
        </p:nvSpPr>
        <p:spPr>
          <a:xfrm>
            <a:off x="4505325" y="614511"/>
            <a:ext cx="9525" cy="2197596"/>
          </a:xfrm>
          <a:custGeom>
            <a:avLst/>
            <a:gdLst/>
            <a:ahLst/>
            <a:cxnLst/>
            <a:rect l="l" t="t" r="r" b="b"/>
            <a:pathLst>
              <a:path w="9525" h="2197596">
                <a:moveTo>
                  <a:pt x="0" y="35566"/>
                </a:moveTo>
                <a:lnTo>
                  <a:pt x="1191" y="37713"/>
                </a:lnTo>
                <a:lnTo>
                  <a:pt x="2381" y="40054"/>
                </a:lnTo>
                <a:lnTo>
                  <a:pt x="3572" y="42636"/>
                </a:lnTo>
                <a:lnTo>
                  <a:pt x="4763" y="45532"/>
                </a:lnTo>
                <a:lnTo>
                  <a:pt x="5953" y="48865"/>
                </a:lnTo>
                <a:lnTo>
                  <a:pt x="7144" y="52871"/>
                </a:lnTo>
                <a:lnTo>
                  <a:pt x="8334" y="58161"/>
                </a:lnTo>
                <a:lnTo>
                  <a:pt x="9525" y="71120"/>
                </a:lnTo>
                <a:lnTo>
                  <a:pt x="9525" y="2126476"/>
                </a:lnTo>
                <a:lnTo>
                  <a:pt x="8334" y="2139435"/>
                </a:lnTo>
                <a:lnTo>
                  <a:pt x="7144" y="2144725"/>
                </a:lnTo>
                <a:lnTo>
                  <a:pt x="5953" y="2148732"/>
                </a:lnTo>
                <a:lnTo>
                  <a:pt x="4763" y="2152064"/>
                </a:lnTo>
                <a:lnTo>
                  <a:pt x="3572" y="2154960"/>
                </a:lnTo>
                <a:lnTo>
                  <a:pt x="2381" y="2157542"/>
                </a:lnTo>
                <a:lnTo>
                  <a:pt x="1191" y="2159883"/>
                </a:lnTo>
                <a:lnTo>
                  <a:pt x="0" y="2162030"/>
                </a:lnTo>
                <a:close/>
              </a:path>
            </a:pathLst>
          </a:custGeom>
          <a:solidFill>
            <a:srgbClr val="94AFC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2500610" y="614511"/>
            <a:ext cx="2014240" cy="19050"/>
          </a:xfrm>
          <a:custGeom>
            <a:avLst/>
            <a:gdLst/>
            <a:ahLst/>
            <a:cxnLst/>
            <a:rect l="l" t="t" r="r" b="b"/>
            <a:pathLst>
              <a:path w="2014240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1991563" y="19050"/>
                </a:lnTo>
                <a:lnTo>
                  <a:pt x="1988870" y="16669"/>
                </a:lnTo>
                <a:lnTo>
                  <a:pt x="1985876" y="14288"/>
                </a:lnTo>
                <a:lnTo>
                  <a:pt x="1982513" y="11906"/>
                </a:lnTo>
                <a:lnTo>
                  <a:pt x="1978674" y="9525"/>
                </a:lnTo>
                <a:lnTo>
                  <a:pt x="1974186" y="7144"/>
                </a:lnTo>
                <a:lnTo>
                  <a:pt x="1968708" y="4763"/>
                </a:lnTo>
                <a:lnTo>
                  <a:pt x="1961369" y="2381"/>
                </a:lnTo>
                <a:lnTo>
                  <a:pt x="1943120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3"/>
          <p:cNvSpPr/>
          <p:nvPr/>
        </p:nvSpPr>
        <p:spPr>
          <a:xfrm>
            <a:off x="2510135" y="633561"/>
            <a:ext cx="1995190" cy="786110"/>
          </a:xfrm>
          <a:prstGeom prst="rect">
            <a:avLst/>
          </a:prstGeom>
          <a:gradFill rotWithShape="1">
            <a:gsLst>
              <a:gs pos="40000">
                <a:srgbClr val="000000">
                  <a:alpha val="0"/>
                </a:srgbClr>
              </a:gs>
              <a:gs pos="100000">
                <a:srgbClr val="1A2E42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4"/>
          <p:cNvSpPr/>
          <p:nvPr/>
        </p:nvSpPr>
        <p:spPr>
          <a:xfrm>
            <a:off x="2610445" y="1591121"/>
            <a:ext cx="1974026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Customer-Facing Staff</a:t>
            </a:r>
            <a:endParaRPr lang="en-US" sz="760" dirty="0"/>
          </a:p>
        </p:txBody>
      </p:sp>
      <p:sp>
        <p:nvSpPr>
          <p:cNvPr id="43" name="Text 35"/>
          <p:cNvSpPr/>
          <p:nvPr/>
        </p:nvSpPr>
        <p:spPr>
          <a:xfrm>
            <a:off x="2610445" y="1728490"/>
            <a:ext cx="1974026" cy="92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5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Tellers · Advisors · Branch Representatives</a:t>
            </a:r>
            <a:endParaRPr lang="en-US" sz="560" dirty="0"/>
          </a:p>
        </p:txBody>
      </p:sp>
      <p:sp>
        <p:nvSpPr>
          <p:cNvPr id="44" name="Text 36"/>
          <p:cNvSpPr/>
          <p:nvPr/>
        </p:nvSpPr>
        <p:spPr>
          <a:xfrm>
            <a:off x="2689027" y="1885652"/>
            <a:ext cx="119017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by customers</a:t>
            </a:r>
            <a:endParaRPr lang="en-US" sz="590" dirty="0"/>
          </a:p>
        </p:txBody>
      </p:sp>
      <p:sp>
        <p:nvSpPr>
          <p:cNvPr id="45" name="Text 37"/>
          <p:cNvSpPr/>
          <p:nvPr/>
        </p:nvSpPr>
        <p:spPr>
          <a:xfrm>
            <a:off x="2610445" y="1914823"/>
            <a:ext cx="35421" cy="35421"/>
          </a:xfrm>
          <a:prstGeom prst="ellipse">
            <a:avLst/>
          </a:pr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8"/>
          <p:cNvSpPr/>
          <p:nvPr/>
        </p:nvSpPr>
        <p:spPr>
          <a:xfrm>
            <a:off x="2689027" y="2015877"/>
            <a:ext cx="120393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takeover fraud detection</a:t>
            </a:r>
            <a:endParaRPr lang="en-US" sz="590" dirty="0"/>
          </a:p>
        </p:txBody>
      </p:sp>
      <p:sp>
        <p:nvSpPr>
          <p:cNvPr id="47" name="Text 39"/>
          <p:cNvSpPr/>
          <p:nvPr/>
        </p:nvSpPr>
        <p:spPr>
          <a:xfrm>
            <a:off x="2610445" y="2045047"/>
            <a:ext cx="35421" cy="35421"/>
          </a:xfrm>
          <a:prstGeom prst="ellipse">
            <a:avLst/>
          </a:pr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0"/>
          <p:cNvSpPr/>
          <p:nvPr/>
        </p:nvSpPr>
        <p:spPr>
          <a:xfrm>
            <a:off x="2689027" y="2146102"/>
            <a:ext cx="111094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 &amp; phone-based scams</a:t>
            </a:r>
            <a:endParaRPr lang="en-US" sz="590" dirty="0"/>
          </a:p>
        </p:txBody>
      </p:sp>
      <p:sp>
        <p:nvSpPr>
          <p:cNvPr id="49" name="Text 41"/>
          <p:cNvSpPr/>
          <p:nvPr/>
        </p:nvSpPr>
        <p:spPr>
          <a:xfrm>
            <a:off x="2610445" y="2175272"/>
            <a:ext cx="35421" cy="35421"/>
          </a:xfrm>
          <a:prstGeom prst="ellipse">
            <a:avLst/>
          </a:pr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2"/>
          <p:cNvSpPr/>
          <p:nvPr/>
        </p:nvSpPr>
        <p:spPr>
          <a:xfrm>
            <a:off x="2689027" y="2276326"/>
            <a:ext cx="102974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verification best practices</a:t>
            </a:r>
            <a:endParaRPr lang="en-US" sz="590" dirty="0"/>
          </a:p>
        </p:txBody>
      </p:sp>
      <p:sp>
        <p:nvSpPr>
          <p:cNvPr id="51" name="Text 43"/>
          <p:cNvSpPr/>
          <p:nvPr/>
        </p:nvSpPr>
        <p:spPr>
          <a:xfrm>
            <a:off x="2610445" y="2305496"/>
            <a:ext cx="35421" cy="35421"/>
          </a:xfrm>
          <a:prstGeom prst="ellipse">
            <a:avLst/>
          </a:pr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4"/>
          <p:cNvSpPr/>
          <p:nvPr/>
        </p:nvSpPr>
        <p:spPr>
          <a:xfrm>
            <a:off x="2610445" y="2448371"/>
            <a:ext cx="1794570" cy="275927"/>
          </a:xfrm>
          <a:prstGeom prst="roundRect">
            <a:avLst>
              <a:gd name="adj" fmla="val 15649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lIns="71120" tIns="43180" rIns="71120" bIns="43180" rtlCol="0" anchor="t"/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450" b="1" kern="0" spc="32" dirty="0">
                <a:solidFill>
                  <a:srgbClr val="7B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PRIORITY TRAINING</a:t>
            </a:r>
            <a:r>
              <a:rPr lang="en-US" sz="530" b="1" kern="0" spc="32" dirty="0">
                <a:solidFill>
                  <a:srgbClr val="7B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CUSTOMER VERIFICATION PROCEDURES</a:t>
            </a:r>
            <a:endParaRPr lang="en-US" sz="530" dirty="0"/>
          </a:p>
        </p:txBody>
      </p:sp>
      <p:sp>
        <p:nvSpPr>
          <p:cNvPr id="53" name="Text 45"/>
          <p:cNvSpPr/>
          <p:nvPr/>
        </p:nvSpPr>
        <p:spPr>
          <a:xfrm>
            <a:off x="2610445" y="2448371"/>
            <a:ext cx="9525" cy="267891"/>
          </a:xfrm>
          <a:custGeom>
            <a:avLst/>
            <a:gdLst/>
            <a:ahLst/>
            <a:cxnLst/>
            <a:rect l="l" t="t" r="r" b="b"/>
            <a:pathLst>
              <a:path w="9525" h="267891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251763"/>
                </a:lnTo>
                <a:lnTo>
                  <a:pt x="8334" y="250212"/>
                </a:lnTo>
                <a:lnTo>
                  <a:pt x="7144" y="248499"/>
                </a:lnTo>
                <a:lnTo>
                  <a:pt x="5953" y="246589"/>
                </a:lnTo>
                <a:lnTo>
                  <a:pt x="4763" y="244424"/>
                </a:lnTo>
                <a:lnTo>
                  <a:pt x="3572" y="241907"/>
                </a:lnTo>
                <a:lnTo>
                  <a:pt x="2381" y="238852"/>
                </a:lnTo>
                <a:lnTo>
                  <a:pt x="1191" y="234781"/>
                </a:lnTo>
                <a:lnTo>
                  <a:pt x="0" y="224711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6"/>
          <p:cNvSpPr/>
          <p:nvPr/>
        </p:nvSpPr>
        <p:spPr>
          <a:xfrm>
            <a:off x="4629150" y="614511"/>
            <a:ext cx="2014240" cy="2197596"/>
          </a:xfrm>
          <a:prstGeom prst="roundRect">
            <a:avLst>
              <a:gd name="adj" fmla="val 3531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7"/>
          <p:cNvSpPr/>
          <p:nvPr/>
        </p:nvSpPr>
        <p:spPr>
          <a:xfrm>
            <a:off x="4629150" y="614511"/>
            <a:ext cx="9525" cy="2197596"/>
          </a:xfrm>
          <a:custGeom>
            <a:avLst/>
            <a:gdLst/>
            <a:ahLst/>
            <a:cxnLst/>
            <a:rect l="l" t="t" r="r" b="b"/>
            <a:pathLst>
              <a:path w="9525" h="2197596">
                <a:moveTo>
                  <a:pt x="0" y="71120"/>
                </a:moveTo>
                <a:lnTo>
                  <a:pt x="1191" y="58161"/>
                </a:lnTo>
                <a:lnTo>
                  <a:pt x="2381" y="52871"/>
                </a:lnTo>
                <a:lnTo>
                  <a:pt x="3572" y="48865"/>
                </a:lnTo>
                <a:lnTo>
                  <a:pt x="4763" y="45532"/>
                </a:lnTo>
                <a:lnTo>
                  <a:pt x="5953" y="42636"/>
                </a:lnTo>
                <a:lnTo>
                  <a:pt x="7144" y="40054"/>
                </a:lnTo>
                <a:lnTo>
                  <a:pt x="8334" y="37713"/>
                </a:lnTo>
                <a:lnTo>
                  <a:pt x="9525" y="35566"/>
                </a:lnTo>
                <a:lnTo>
                  <a:pt x="9525" y="2162030"/>
                </a:lnTo>
                <a:lnTo>
                  <a:pt x="8334" y="2159883"/>
                </a:lnTo>
                <a:lnTo>
                  <a:pt x="7144" y="2157542"/>
                </a:lnTo>
                <a:lnTo>
                  <a:pt x="5953" y="2154960"/>
                </a:lnTo>
                <a:lnTo>
                  <a:pt x="4763" y="2152064"/>
                </a:lnTo>
                <a:lnTo>
                  <a:pt x="3572" y="2148732"/>
                </a:lnTo>
                <a:lnTo>
                  <a:pt x="2381" y="2144725"/>
                </a:lnTo>
                <a:lnTo>
                  <a:pt x="1191" y="2139435"/>
                </a:lnTo>
                <a:lnTo>
                  <a:pt x="0" y="2126476"/>
                </a:lnTo>
                <a:close/>
              </a:path>
            </a:pathLst>
          </a:custGeom>
          <a:solidFill>
            <a:srgbClr val="94AFC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8"/>
          <p:cNvSpPr/>
          <p:nvPr/>
        </p:nvSpPr>
        <p:spPr>
          <a:xfrm>
            <a:off x="6633865" y="614511"/>
            <a:ext cx="9525" cy="2197596"/>
          </a:xfrm>
          <a:custGeom>
            <a:avLst/>
            <a:gdLst/>
            <a:ahLst/>
            <a:cxnLst/>
            <a:rect l="l" t="t" r="r" b="b"/>
            <a:pathLst>
              <a:path w="9525" h="2197596">
                <a:moveTo>
                  <a:pt x="0" y="35566"/>
                </a:moveTo>
                <a:lnTo>
                  <a:pt x="1191" y="37713"/>
                </a:lnTo>
                <a:lnTo>
                  <a:pt x="2381" y="40054"/>
                </a:lnTo>
                <a:lnTo>
                  <a:pt x="3572" y="42636"/>
                </a:lnTo>
                <a:lnTo>
                  <a:pt x="4763" y="45532"/>
                </a:lnTo>
                <a:lnTo>
                  <a:pt x="5953" y="48865"/>
                </a:lnTo>
                <a:lnTo>
                  <a:pt x="7144" y="52871"/>
                </a:lnTo>
                <a:lnTo>
                  <a:pt x="8334" y="58161"/>
                </a:lnTo>
                <a:lnTo>
                  <a:pt x="9525" y="71120"/>
                </a:lnTo>
                <a:lnTo>
                  <a:pt x="9525" y="2126476"/>
                </a:lnTo>
                <a:lnTo>
                  <a:pt x="8334" y="2139435"/>
                </a:lnTo>
                <a:lnTo>
                  <a:pt x="7144" y="2144725"/>
                </a:lnTo>
                <a:lnTo>
                  <a:pt x="5953" y="2148732"/>
                </a:lnTo>
                <a:lnTo>
                  <a:pt x="4763" y="2152064"/>
                </a:lnTo>
                <a:lnTo>
                  <a:pt x="3572" y="2154960"/>
                </a:lnTo>
                <a:lnTo>
                  <a:pt x="2381" y="2157542"/>
                </a:lnTo>
                <a:lnTo>
                  <a:pt x="1191" y="2159883"/>
                </a:lnTo>
                <a:lnTo>
                  <a:pt x="0" y="2162030"/>
                </a:lnTo>
                <a:close/>
              </a:path>
            </a:pathLst>
          </a:custGeom>
          <a:solidFill>
            <a:srgbClr val="94AFC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9"/>
          <p:cNvSpPr/>
          <p:nvPr/>
        </p:nvSpPr>
        <p:spPr>
          <a:xfrm>
            <a:off x="4629150" y="614511"/>
            <a:ext cx="2014240" cy="19050"/>
          </a:xfrm>
          <a:custGeom>
            <a:avLst/>
            <a:gdLst/>
            <a:ahLst/>
            <a:cxnLst/>
            <a:rect l="l" t="t" r="r" b="b"/>
            <a:pathLst>
              <a:path w="2014240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1991563" y="19050"/>
                </a:lnTo>
                <a:lnTo>
                  <a:pt x="1988870" y="16669"/>
                </a:lnTo>
                <a:lnTo>
                  <a:pt x="1985876" y="14288"/>
                </a:lnTo>
                <a:lnTo>
                  <a:pt x="1982513" y="11906"/>
                </a:lnTo>
                <a:lnTo>
                  <a:pt x="1978674" y="9525"/>
                </a:lnTo>
                <a:lnTo>
                  <a:pt x="1974186" y="7144"/>
                </a:lnTo>
                <a:lnTo>
                  <a:pt x="1968708" y="4763"/>
                </a:lnTo>
                <a:lnTo>
                  <a:pt x="1961369" y="2381"/>
                </a:lnTo>
                <a:lnTo>
                  <a:pt x="1943120" y="0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8" name="Image 6" descr="preencoded.png"/>
          <p:cNvPicPr>
            <a:picLocks noChangeAspect="1"/>
          </p:cNvPicPr>
          <p:nvPr/>
        </p:nvPicPr>
        <p:blipFill>
          <a:blip>
            <a:alphaModFix amt="35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21957" y="812304"/>
            <a:ext cx="428625" cy="428625"/>
          </a:xfrm>
          <a:prstGeom prst="rect">
            <a:avLst/>
          </a:prstGeom>
        </p:spPr>
      </p:pic>
      <p:sp>
        <p:nvSpPr>
          <p:cNvPr id="59" name="Text 50"/>
          <p:cNvSpPr/>
          <p:nvPr/>
        </p:nvSpPr>
        <p:spPr>
          <a:xfrm>
            <a:off x="4638675" y="633561"/>
            <a:ext cx="1995190" cy="786110"/>
          </a:xfrm>
          <a:prstGeom prst="rect">
            <a:avLst/>
          </a:prstGeom>
          <a:gradFill rotWithShape="1">
            <a:gsLst>
              <a:gs pos="40000">
                <a:srgbClr val="000000">
                  <a:alpha val="0"/>
                </a:srgbClr>
              </a:gs>
              <a:gs pos="100000">
                <a:srgbClr val="1A2E42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1"/>
          <p:cNvSpPr/>
          <p:nvPr/>
        </p:nvSpPr>
        <p:spPr>
          <a:xfrm>
            <a:off x="4738985" y="1591121"/>
            <a:ext cx="1974026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Operations &amp; Back Office</a:t>
            </a:r>
            <a:endParaRPr lang="en-US" sz="760" dirty="0"/>
          </a:p>
        </p:txBody>
      </p:sp>
      <p:sp>
        <p:nvSpPr>
          <p:cNvPr id="61" name="Text 52"/>
          <p:cNvSpPr/>
          <p:nvPr/>
        </p:nvSpPr>
        <p:spPr>
          <a:xfrm>
            <a:off x="4738985" y="1728490"/>
            <a:ext cx="1974026" cy="92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5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· Payments · Compliance · Vendors</a:t>
            </a:r>
            <a:endParaRPr lang="en-US" sz="560" dirty="0"/>
          </a:p>
        </p:txBody>
      </p:sp>
      <p:sp>
        <p:nvSpPr>
          <p:cNvPr id="62" name="Text 53"/>
          <p:cNvSpPr/>
          <p:nvPr/>
        </p:nvSpPr>
        <p:spPr>
          <a:xfrm>
            <a:off x="4817566" y="1885652"/>
            <a:ext cx="1299701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Email Compromise (BEC)</a:t>
            </a:r>
            <a:endParaRPr lang="en-US" sz="590" dirty="0"/>
          </a:p>
        </p:txBody>
      </p:sp>
      <p:sp>
        <p:nvSpPr>
          <p:cNvPr id="63" name="Text 54"/>
          <p:cNvSpPr/>
          <p:nvPr/>
        </p:nvSpPr>
        <p:spPr>
          <a:xfrm>
            <a:off x="4738985" y="1914823"/>
            <a:ext cx="35421" cy="35421"/>
          </a:xfrm>
          <a:prstGeom prst="ellipse">
            <a:avLst/>
          </a:prstGeom>
          <a:solidFill>
            <a:srgbClr val="10B98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5"/>
          <p:cNvSpPr/>
          <p:nvPr/>
        </p:nvSpPr>
        <p:spPr>
          <a:xfrm>
            <a:off x="4817566" y="2015877"/>
            <a:ext cx="119476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wire fraud prevention</a:t>
            </a:r>
            <a:endParaRPr lang="en-US" sz="590" dirty="0"/>
          </a:p>
        </p:txBody>
      </p:sp>
      <p:sp>
        <p:nvSpPr>
          <p:cNvPr id="65" name="Text 56"/>
          <p:cNvSpPr/>
          <p:nvPr/>
        </p:nvSpPr>
        <p:spPr>
          <a:xfrm>
            <a:off x="4738985" y="2045047"/>
            <a:ext cx="35421" cy="35421"/>
          </a:xfrm>
          <a:prstGeom prst="ellipse">
            <a:avLst/>
          </a:prstGeom>
          <a:solidFill>
            <a:srgbClr val="10B98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7"/>
          <p:cNvSpPr/>
          <p:nvPr/>
        </p:nvSpPr>
        <p:spPr>
          <a:xfrm>
            <a:off x="4817566" y="2146102"/>
            <a:ext cx="1130751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data handling practices</a:t>
            </a:r>
            <a:endParaRPr lang="en-US" sz="590" dirty="0"/>
          </a:p>
        </p:txBody>
      </p:sp>
      <p:sp>
        <p:nvSpPr>
          <p:cNvPr id="67" name="Text 58"/>
          <p:cNvSpPr/>
          <p:nvPr/>
        </p:nvSpPr>
        <p:spPr>
          <a:xfrm>
            <a:off x="4738985" y="2175272"/>
            <a:ext cx="35421" cy="35421"/>
          </a:xfrm>
          <a:prstGeom prst="ellipse">
            <a:avLst/>
          </a:prstGeom>
          <a:solidFill>
            <a:srgbClr val="10B98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59"/>
          <p:cNvSpPr/>
          <p:nvPr/>
        </p:nvSpPr>
        <p:spPr>
          <a:xfrm>
            <a:off x="4817566" y="2276326"/>
            <a:ext cx="114433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communication security</a:t>
            </a:r>
            <a:endParaRPr lang="en-US" sz="590" dirty="0"/>
          </a:p>
        </p:txBody>
      </p:sp>
      <p:sp>
        <p:nvSpPr>
          <p:cNvPr id="69" name="Text 60"/>
          <p:cNvSpPr/>
          <p:nvPr/>
        </p:nvSpPr>
        <p:spPr>
          <a:xfrm>
            <a:off x="4738985" y="2305496"/>
            <a:ext cx="35421" cy="35421"/>
          </a:xfrm>
          <a:prstGeom prst="ellipse">
            <a:avLst/>
          </a:prstGeom>
          <a:solidFill>
            <a:srgbClr val="10B98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1"/>
          <p:cNvSpPr/>
          <p:nvPr/>
        </p:nvSpPr>
        <p:spPr>
          <a:xfrm>
            <a:off x="4738985" y="2448371"/>
            <a:ext cx="1794570" cy="275927"/>
          </a:xfrm>
          <a:prstGeom prst="roundRect">
            <a:avLst>
              <a:gd name="adj" fmla="val 15649"/>
            </a:avLst>
          </a:prstGeom>
          <a:solidFill>
            <a:srgbClr val="10B981">
              <a:alpha val="12000"/>
            </a:srgbClr>
          </a:solidFill>
          <a:ln/>
        </p:spPr>
        <p:txBody>
          <a:bodyPr wrap="square" lIns="71120" tIns="43180" rIns="71120" bIns="43180" rtlCol="0" anchor="t"/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450" b="1" kern="0" spc="32" dirty="0">
                <a:solidFill>
                  <a:srgbClr val="5D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PRIORITY TRAINING</a:t>
            </a:r>
            <a:r>
              <a:rPr lang="en-US" sz="530" b="1" kern="0" spc="32" dirty="0">
                <a:solidFill>
                  <a:srgbClr val="5D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DUAL-AUTHORIZATION PAYMENT CONTROLS</a:t>
            </a:r>
            <a:endParaRPr lang="en-US" sz="530" dirty="0"/>
          </a:p>
        </p:txBody>
      </p:sp>
      <p:sp>
        <p:nvSpPr>
          <p:cNvPr id="71" name="Text 62"/>
          <p:cNvSpPr/>
          <p:nvPr/>
        </p:nvSpPr>
        <p:spPr>
          <a:xfrm>
            <a:off x="4738985" y="2448371"/>
            <a:ext cx="9525" cy="267891"/>
          </a:xfrm>
          <a:custGeom>
            <a:avLst/>
            <a:gdLst/>
            <a:ahLst/>
            <a:cxnLst/>
            <a:rect l="l" t="t" r="r" b="b"/>
            <a:pathLst>
              <a:path w="9525" h="267891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251763"/>
                </a:lnTo>
                <a:lnTo>
                  <a:pt x="8334" y="250212"/>
                </a:lnTo>
                <a:lnTo>
                  <a:pt x="7144" y="248499"/>
                </a:lnTo>
                <a:lnTo>
                  <a:pt x="5953" y="246589"/>
                </a:lnTo>
                <a:lnTo>
                  <a:pt x="4763" y="244424"/>
                </a:lnTo>
                <a:lnTo>
                  <a:pt x="3572" y="241907"/>
                </a:lnTo>
                <a:lnTo>
                  <a:pt x="2381" y="238852"/>
                </a:lnTo>
                <a:lnTo>
                  <a:pt x="1191" y="234781"/>
                </a:lnTo>
                <a:lnTo>
                  <a:pt x="0" y="224711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3"/>
          <p:cNvSpPr/>
          <p:nvPr/>
        </p:nvSpPr>
        <p:spPr>
          <a:xfrm>
            <a:off x="6757690" y="614511"/>
            <a:ext cx="2014240" cy="2197596"/>
          </a:xfrm>
          <a:prstGeom prst="roundRect">
            <a:avLst>
              <a:gd name="adj" fmla="val 3531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4"/>
          <p:cNvSpPr/>
          <p:nvPr/>
        </p:nvSpPr>
        <p:spPr>
          <a:xfrm>
            <a:off x="6757690" y="614511"/>
            <a:ext cx="9525" cy="2197596"/>
          </a:xfrm>
          <a:custGeom>
            <a:avLst/>
            <a:gdLst/>
            <a:ahLst/>
            <a:cxnLst/>
            <a:rect l="l" t="t" r="r" b="b"/>
            <a:pathLst>
              <a:path w="9525" h="2197596">
                <a:moveTo>
                  <a:pt x="0" y="71120"/>
                </a:moveTo>
                <a:lnTo>
                  <a:pt x="1191" y="58161"/>
                </a:lnTo>
                <a:lnTo>
                  <a:pt x="2381" y="52871"/>
                </a:lnTo>
                <a:lnTo>
                  <a:pt x="3572" y="48865"/>
                </a:lnTo>
                <a:lnTo>
                  <a:pt x="4763" y="45532"/>
                </a:lnTo>
                <a:lnTo>
                  <a:pt x="5953" y="42636"/>
                </a:lnTo>
                <a:lnTo>
                  <a:pt x="7144" y="40054"/>
                </a:lnTo>
                <a:lnTo>
                  <a:pt x="8334" y="37713"/>
                </a:lnTo>
                <a:lnTo>
                  <a:pt x="9525" y="35566"/>
                </a:lnTo>
                <a:lnTo>
                  <a:pt x="9525" y="2162030"/>
                </a:lnTo>
                <a:lnTo>
                  <a:pt x="8334" y="2159883"/>
                </a:lnTo>
                <a:lnTo>
                  <a:pt x="7144" y="2157542"/>
                </a:lnTo>
                <a:lnTo>
                  <a:pt x="5953" y="2154960"/>
                </a:lnTo>
                <a:lnTo>
                  <a:pt x="4763" y="2152064"/>
                </a:lnTo>
                <a:lnTo>
                  <a:pt x="3572" y="2148732"/>
                </a:lnTo>
                <a:lnTo>
                  <a:pt x="2381" y="2144725"/>
                </a:lnTo>
                <a:lnTo>
                  <a:pt x="1191" y="2139435"/>
                </a:lnTo>
                <a:lnTo>
                  <a:pt x="0" y="2126476"/>
                </a:lnTo>
                <a:close/>
              </a:path>
            </a:pathLst>
          </a:custGeom>
          <a:solidFill>
            <a:srgbClr val="94AFC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65"/>
          <p:cNvSpPr/>
          <p:nvPr/>
        </p:nvSpPr>
        <p:spPr>
          <a:xfrm>
            <a:off x="8762405" y="614511"/>
            <a:ext cx="9525" cy="2197596"/>
          </a:xfrm>
          <a:custGeom>
            <a:avLst/>
            <a:gdLst/>
            <a:ahLst/>
            <a:cxnLst/>
            <a:rect l="l" t="t" r="r" b="b"/>
            <a:pathLst>
              <a:path w="9525" h="2197596">
                <a:moveTo>
                  <a:pt x="0" y="35566"/>
                </a:moveTo>
                <a:lnTo>
                  <a:pt x="1191" y="37713"/>
                </a:lnTo>
                <a:lnTo>
                  <a:pt x="2381" y="40054"/>
                </a:lnTo>
                <a:lnTo>
                  <a:pt x="3572" y="42636"/>
                </a:lnTo>
                <a:lnTo>
                  <a:pt x="4763" y="45532"/>
                </a:lnTo>
                <a:lnTo>
                  <a:pt x="5953" y="48865"/>
                </a:lnTo>
                <a:lnTo>
                  <a:pt x="7144" y="52871"/>
                </a:lnTo>
                <a:lnTo>
                  <a:pt x="8334" y="58161"/>
                </a:lnTo>
                <a:lnTo>
                  <a:pt x="9525" y="71120"/>
                </a:lnTo>
                <a:lnTo>
                  <a:pt x="9525" y="2126476"/>
                </a:lnTo>
                <a:lnTo>
                  <a:pt x="8334" y="2139435"/>
                </a:lnTo>
                <a:lnTo>
                  <a:pt x="7144" y="2144725"/>
                </a:lnTo>
                <a:lnTo>
                  <a:pt x="5953" y="2148732"/>
                </a:lnTo>
                <a:lnTo>
                  <a:pt x="4763" y="2152064"/>
                </a:lnTo>
                <a:lnTo>
                  <a:pt x="3572" y="2154960"/>
                </a:lnTo>
                <a:lnTo>
                  <a:pt x="2381" y="2157542"/>
                </a:lnTo>
                <a:lnTo>
                  <a:pt x="1191" y="2159883"/>
                </a:lnTo>
                <a:lnTo>
                  <a:pt x="0" y="2162030"/>
                </a:lnTo>
                <a:close/>
              </a:path>
            </a:pathLst>
          </a:custGeom>
          <a:solidFill>
            <a:srgbClr val="94AFC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66"/>
          <p:cNvSpPr/>
          <p:nvPr/>
        </p:nvSpPr>
        <p:spPr>
          <a:xfrm>
            <a:off x="6757690" y="614511"/>
            <a:ext cx="2014240" cy="19050"/>
          </a:xfrm>
          <a:custGeom>
            <a:avLst/>
            <a:gdLst/>
            <a:ahLst/>
            <a:cxnLst/>
            <a:rect l="l" t="t" r="r" b="b"/>
            <a:pathLst>
              <a:path w="2014240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1991563" y="19050"/>
                </a:lnTo>
                <a:lnTo>
                  <a:pt x="1988870" y="16669"/>
                </a:lnTo>
                <a:lnTo>
                  <a:pt x="1985876" y="14288"/>
                </a:lnTo>
                <a:lnTo>
                  <a:pt x="1982513" y="11906"/>
                </a:lnTo>
                <a:lnTo>
                  <a:pt x="1978674" y="9525"/>
                </a:lnTo>
                <a:lnTo>
                  <a:pt x="1974186" y="7144"/>
                </a:lnTo>
                <a:lnTo>
                  <a:pt x="1968708" y="4763"/>
                </a:lnTo>
                <a:lnTo>
                  <a:pt x="1961369" y="2381"/>
                </a:lnTo>
                <a:lnTo>
                  <a:pt x="1943120" y="0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6" name="Image 7" descr="preencoded.png"/>
          <p:cNvPicPr>
            <a:picLocks noChangeAspect="1"/>
          </p:cNvPicPr>
          <p:nvPr/>
        </p:nvPicPr>
        <p:blipFill>
          <a:blip>
            <a:alphaModFix amt="35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50497" y="812304"/>
            <a:ext cx="428625" cy="428625"/>
          </a:xfrm>
          <a:prstGeom prst="rect">
            <a:avLst/>
          </a:prstGeom>
        </p:spPr>
      </p:pic>
      <p:sp>
        <p:nvSpPr>
          <p:cNvPr id="77" name="Text 67"/>
          <p:cNvSpPr/>
          <p:nvPr/>
        </p:nvSpPr>
        <p:spPr>
          <a:xfrm>
            <a:off x="6767215" y="633561"/>
            <a:ext cx="1995190" cy="786110"/>
          </a:xfrm>
          <a:prstGeom prst="rect">
            <a:avLst/>
          </a:prstGeom>
          <a:gradFill rotWithShape="1">
            <a:gsLst>
              <a:gs pos="40000">
                <a:srgbClr val="000000">
                  <a:alpha val="0"/>
                </a:srgbClr>
              </a:gs>
              <a:gs pos="100000">
                <a:srgbClr val="1A2E42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68"/>
          <p:cNvSpPr/>
          <p:nvPr/>
        </p:nvSpPr>
        <p:spPr>
          <a:xfrm>
            <a:off x="6867525" y="1591121"/>
            <a:ext cx="1974026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IT &amp; Security Staff</a:t>
            </a:r>
            <a:endParaRPr lang="en-US" sz="760" dirty="0"/>
          </a:p>
        </p:txBody>
      </p:sp>
      <p:sp>
        <p:nvSpPr>
          <p:cNvPr id="79" name="Text 69"/>
          <p:cNvSpPr/>
          <p:nvPr/>
        </p:nvSpPr>
        <p:spPr>
          <a:xfrm>
            <a:off x="6867525" y="1728490"/>
            <a:ext cx="1974026" cy="92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5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· Security Analysts · Engineers</a:t>
            </a:r>
            <a:endParaRPr lang="en-US" sz="560" dirty="0"/>
          </a:p>
        </p:txBody>
      </p:sp>
      <p:sp>
        <p:nvSpPr>
          <p:cNvPr id="80" name="Text 70"/>
          <p:cNvSpPr/>
          <p:nvPr/>
        </p:nvSpPr>
        <p:spPr>
          <a:xfrm>
            <a:off x="6946106" y="1885652"/>
            <a:ext cx="952143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access hygiene</a:t>
            </a:r>
            <a:endParaRPr lang="en-US" sz="590" dirty="0"/>
          </a:p>
        </p:txBody>
      </p:sp>
      <p:sp>
        <p:nvSpPr>
          <p:cNvPr id="81" name="Text 71"/>
          <p:cNvSpPr/>
          <p:nvPr/>
        </p:nvSpPr>
        <p:spPr>
          <a:xfrm>
            <a:off x="6867525" y="1914823"/>
            <a:ext cx="35421" cy="35421"/>
          </a:xfrm>
          <a:prstGeom prst="ellipse">
            <a:avLst/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72"/>
          <p:cNvSpPr/>
          <p:nvPr/>
        </p:nvSpPr>
        <p:spPr>
          <a:xfrm>
            <a:off x="6946106" y="2015877"/>
            <a:ext cx="116234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Phishing-resistant MFA (FIDO2)</a:t>
            </a:r>
            <a:endParaRPr lang="en-US" sz="590" dirty="0"/>
          </a:p>
        </p:txBody>
      </p:sp>
      <p:sp>
        <p:nvSpPr>
          <p:cNvPr id="83" name="Text 73"/>
          <p:cNvSpPr/>
          <p:nvPr/>
        </p:nvSpPr>
        <p:spPr>
          <a:xfrm>
            <a:off x="6867525" y="2045047"/>
            <a:ext cx="35421" cy="35421"/>
          </a:xfrm>
          <a:prstGeom prst="ellipse">
            <a:avLst/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74"/>
          <p:cNvSpPr/>
          <p:nvPr/>
        </p:nvSpPr>
        <p:spPr>
          <a:xfrm>
            <a:off x="6946106" y="2146102"/>
            <a:ext cx="88796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 monitoring</a:t>
            </a:r>
            <a:endParaRPr lang="en-US" sz="590" dirty="0"/>
          </a:p>
        </p:txBody>
      </p:sp>
      <p:sp>
        <p:nvSpPr>
          <p:cNvPr id="85" name="Text 75"/>
          <p:cNvSpPr/>
          <p:nvPr/>
        </p:nvSpPr>
        <p:spPr>
          <a:xfrm>
            <a:off x="6867525" y="2175272"/>
            <a:ext cx="35421" cy="35421"/>
          </a:xfrm>
          <a:prstGeom prst="ellipse">
            <a:avLst/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76"/>
          <p:cNvSpPr/>
          <p:nvPr/>
        </p:nvSpPr>
        <p:spPr>
          <a:xfrm>
            <a:off x="6946106" y="2276326"/>
            <a:ext cx="1405295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compliance &amp; vuln management</a:t>
            </a:r>
            <a:endParaRPr lang="en-US" sz="590" dirty="0"/>
          </a:p>
        </p:txBody>
      </p:sp>
      <p:sp>
        <p:nvSpPr>
          <p:cNvPr id="87" name="Text 77"/>
          <p:cNvSpPr/>
          <p:nvPr/>
        </p:nvSpPr>
        <p:spPr>
          <a:xfrm>
            <a:off x="6867525" y="2305496"/>
            <a:ext cx="35421" cy="35421"/>
          </a:xfrm>
          <a:prstGeom prst="ellipse">
            <a:avLst/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78"/>
          <p:cNvSpPr/>
          <p:nvPr/>
        </p:nvSpPr>
        <p:spPr>
          <a:xfrm>
            <a:off x="6867525" y="2448371"/>
            <a:ext cx="1794570" cy="275927"/>
          </a:xfrm>
          <a:prstGeom prst="roundRect">
            <a:avLst>
              <a:gd name="adj" fmla="val 15649"/>
            </a:avLst>
          </a:prstGeom>
          <a:solidFill>
            <a:srgbClr val="A855F7">
              <a:alpha val="12000"/>
            </a:srgbClr>
          </a:solidFill>
          <a:ln/>
        </p:spPr>
        <p:txBody>
          <a:bodyPr wrap="square" lIns="71120" tIns="43180" rIns="71120" bIns="43180" rtlCol="0" anchor="t"/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450" b="1" kern="0" spc="32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PRIORITY TRAINING</a:t>
            </a:r>
            <a:r>
              <a:rPr lang="en-US" sz="530" b="1" kern="0" spc="32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ZERO-TRUST ENFORCEMENT POSTURE</a:t>
            </a:r>
            <a:endParaRPr lang="en-US" sz="530" dirty="0"/>
          </a:p>
        </p:txBody>
      </p:sp>
      <p:sp>
        <p:nvSpPr>
          <p:cNvPr id="89" name="Text 79"/>
          <p:cNvSpPr/>
          <p:nvPr/>
        </p:nvSpPr>
        <p:spPr>
          <a:xfrm>
            <a:off x="6867525" y="2448371"/>
            <a:ext cx="9525" cy="267891"/>
          </a:xfrm>
          <a:custGeom>
            <a:avLst/>
            <a:gdLst/>
            <a:ahLst/>
            <a:cxnLst/>
            <a:rect l="l" t="t" r="r" b="b"/>
            <a:pathLst>
              <a:path w="9525" h="267891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251763"/>
                </a:lnTo>
                <a:lnTo>
                  <a:pt x="8334" y="250212"/>
                </a:lnTo>
                <a:lnTo>
                  <a:pt x="7144" y="248499"/>
                </a:lnTo>
                <a:lnTo>
                  <a:pt x="5953" y="246589"/>
                </a:lnTo>
                <a:lnTo>
                  <a:pt x="4763" y="244424"/>
                </a:lnTo>
                <a:lnTo>
                  <a:pt x="3572" y="241907"/>
                </a:lnTo>
                <a:lnTo>
                  <a:pt x="2381" y="238852"/>
                </a:lnTo>
                <a:lnTo>
                  <a:pt x="1191" y="234781"/>
                </a:lnTo>
                <a:lnTo>
                  <a:pt x="0" y="224711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80"/>
          <p:cNvSpPr/>
          <p:nvPr/>
        </p:nvSpPr>
        <p:spPr>
          <a:xfrm>
            <a:off x="518220" y="2919115"/>
            <a:ext cx="2263959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is customized by role, risk level, and access privilege.</a:t>
            </a:r>
            <a:endParaRPr lang="en-US" sz="590" dirty="0"/>
          </a:p>
        </p:txBody>
      </p:sp>
      <p:pic>
        <p:nvPicPr>
          <p:cNvPr id="91" name="Image 8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3355" y="2908855"/>
            <a:ext cx="132588" cy="132588"/>
          </a:xfrm>
          <a:prstGeom prst="rect">
            <a:avLst/>
          </a:prstGeom>
        </p:spPr>
      </p:pic>
      <p:sp>
        <p:nvSpPr>
          <p:cNvPr id="92" name="Text 81"/>
          <p:cNvSpPr/>
          <p:nvPr/>
        </p:nvSpPr>
        <p:spPr>
          <a:xfrm>
            <a:off x="6160443" y="2898428"/>
            <a:ext cx="786259" cy="158352"/>
          </a:xfrm>
          <a:prstGeom prst="roundRect">
            <a:avLst>
              <a:gd name="adj" fmla="val 90627"/>
            </a:avLst>
          </a:prstGeom>
          <a:noFill/>
          <a:ln w="9525">
            <a:solidFill>
              <a:srgbClr val="94AFC8">
                <a:alpha val="20000"/>
              </a:srgbClr>
            </a:solidFill>
          </a:ln>
        </p:spPr>
        <p:txBody>
          <a:bodyPr wrap="none" lIns="71120" tIns="21590" rIns="71120" bIns="21590" rtlCol="0" anchor="t"/>
          <a:lstStyle/>
          <a:p>
            <a:pPr marL="0" indent="0" algn="l">
              <a:buNone/>
            </a:pPr>
            <a:r>
              <a:rPr lang="en-US" sz="480" b="1" kern="0" spc="48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PROFILE V2.2</a:t>
            </a:r>
            <a:endParaRPr lang="en-US" sz="480" dirty="0"/>
          </a:p>
        </p:txBody>
      </p:sp>
      <p:sp>
        <p:nvSpPr>
          <p:cNvPr id="93" name="Text 82"/>
          <p:cNvSpPr/>
          <p:nvPr/>
        </p:nvSpPr>
        <p:spPr>
          <a:xfrm>
            <a:off x="7003852" y="2898428"/>
            <a:ext cx="613023" cy="158352"/>
          </a:xfrm>
          <a:prstGeom prst="roundRect">
            <a:avLst>
              <a:gd name="adj" fmla="val 90627"/>
            </a:avLst>
          </a:prstGeom>
          <a:noFill/>
          <a:ln w="9525">
            <a:solidFill>
              <a:srgbClr val="94AFC8">
                <a:alpha val="20000"/>
              </a:srgbClr>
            </a:solidFill>
          </a:ln>
        </p:spPr>
        <p:txBody>
          <a:bodyPr wrap="none" lIns="71120" tIns="21590" rIns="71120" bIns="21590" rtlCol="0" anchor="t"/>
          <a:lstStyle/>
          <a:p>
            <a:pPr marL="0" indent="0" algn="l">
              <a:buNone/>
            </a:pPr>
            <a:r>
              <a:rPr lang="en-US" sz="480" b="1" kern="0" spc="48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</a:t>
            </a:r>
            <a:endParaRPr lang="en-US" sz="480" dirty="0"/>
          </a:p>
        </p:txBody>
      </p:sp>
      <p:sp>
        <p:nvSpPr>
          <p:cNvPr id="94" name="Text 83"/>
          <p:cNvSpPr/>
          <p:nvPr/>
        </p:nvSpPr>
        <p:spPr>
          <a:xfrm>
            <a:off x="7674025" y="2898428"/>
            <a:ext cx="1097905" cy="158352"/>
          </a:xfrm>
          <a:prstGeom prst="roundRect">
            <a:avLst>
              <a:gd name="adj" fmla="val 90627"/>
            </a:avLst>
          </a:prstGeom>
          <a:noFill/>
          <a:ln w="9525">
            <a:solidFill>
              <a:srgbClr val="94AFC8">
                <a:alpha val="20000"/>
              </a:srgbClr>
            </a:solidFill>
          </a:ln>
        </p:spPr>
        <p:txBody>
          <a:bodyPr wrap="none" lIns="71120" tIns="21590" rIns="71120" bIns="21590" rtlCol="0" anchor="t"/>
          <a:lstStyle/>
          <a:p>
            <a:pPr marL="0" indent="0" algn="l">
              <a:buNone/>
            </a:pPr>
            <a:r>
              <a:rPr lang="en-US" sz="480" b="1" kern="0" spc="48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RISK FRAMEWORK</a:t>
            </a:r>
            <a:endParaRPr lang="en-US" sz="4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2070" y="349895"/>
            <a:ext cx="35421" cy="271760"/>
          </a:xfrm>
          <a:prstGeom prst="roundRect">
            <a:avLst>
              <a:gd name="adj" fmla="val 60953"/>
            </a:avLst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802" y="285750"/>
            <a:ext cx="5225501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38"/>
              </a:lnSpc>
              <a:buNone/>
            </a:pPr>
            <a:r>
              <a:rPr lang="en-US" sz="1580" kern="0" spc="3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Human Risk Framework: </a:t>
            </a:r>
            <a:r>
              <a:rPr lang="en-US" sz="1580" b="1" kern="0" spc="3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Change Model</a:t>
            </a:r>
            <a:endParaRPr lang="en-US" sz="1580" dirty="0"/>
          </a:p>
        </p:txBody>
      </p:sp>
      <p:sp>
        <p:nvSpPr>
          <p:cNvPr id="6" name="Text 4"/>
          <p:cNvSpPr/>
          <p:nvPr/>
        </p:nvSpPr>
        <p:spPr>
          <a:xfrm>
            <a:off x="507802" y="535484"/>
            <a:ext cx="5372011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spcBef>
                <a:spcPts val="230"/>
              </a:spcBef>
              <a:buNone/>
            </a:pPr>
            <a:r>
              <a:rPr lang="en-US" sz="790" kern="0" spc="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continuous, intelligence-driven cycle to build cyber-resilient employees</a:t>
            </a:r>
            <a:endParaRPr lang="en-US" sz="790" dirty="0"/>
          </a:p>
        </p:txBody>
      </p:sp>
      <p:sp>
        <p:nvSpPr>
          <p:cNvPr id="7" name="Text 5"/>
          <p:cNvSpPr/>
          <p:nvPr/>
        </p:nvSpPr>
        <p:spPr>
          <a:xfrm>
            <a:off x="7465665" y="376089"/>
            <a:ext cx="1306264" cy="219373"/>
          </a:xfrm>
          <a:prstGeom prst="roundRect">
            <a:avLst>
              <a:gd name="adj" fmla="val 65418"/>
            </a:avLst>
          </a:prstGeom>
          <a:solidFill>
            <a:srgbClr val="E8A020">
              <a:alpha val="15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6785" y="419407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00070" y="421035"/>
            <a:ext cx="105822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 METHODOLOGY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372070" y="743099"/>
            <a:ext cx="8399859" cy="7590"/>
          </a:xfrm>
          <a:prstGeom prst="rect">
            <a:avLst/>
          </a:prstGeom>
          <a:gradFill rotWithShape="1">
            <a:gsLst>
              <a:gs pos="0">
                <a:srgbClr val="E8A020">
                  <a:alpha val="40000"/>
                </a:srgbClr>
              </a:gs>
              <a:gs pos="100000">
                <a:srgbClr val="E8A020">
                  <a:alpha val="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72070" y="1008459"/>
            <a:ext cx="1519386" cy="1805136"/>
          </a:xfrm>
          <a:prstGeom prst="roundRect">
            <a:avLst>
              <a:gd name="adj" fmla="val 4681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72070" y="1008459"/>
            <a:ext cx="9525" cy="1805136"/>
          </a:xfrm>
          <a:custGeom>
            <a:avLst/>
            <a:gdLst/>
            <a:ahLst/>
            <a:cxnLst/>
            <a:rect l="l" t="t" r="r" b="b"/>
            <a:pathLst>
              <a:path w="9525" h="1805136">
                <a:moveTo>
                  <a:pt x="0" y="71120"/>
                </a:moveTo>
                <a:lnTo>
                  <a:pt x="1191" y="58161"/>
                </a:lnTo>
                <a:lnTo>
                  <a:pt x="2381" y="52871"/>
                </a:lnTo>
                <a:lnTo>
                  <a:pt x="3572" y="48865"/>
                </a:lnTo>
                <a:lnTo>
                  <a:pt x="4763" y="45532"/>
                </a:lnTo>
                <a:lnTo>
                  <a:pt x="5953" y="42636"/>
                </a:lnTo>
                <a:lnTo>
                  <a:pt x="7144" y="40054"/>
                </a:lnTo>
                <a:lnTo>
                  <a:pt x="8334" y="37713"/>
                </a:lnTo>
                <a:lnTo>
                  <a:pt x="9525" y="35566"/>
                </a:lnTo>
                <a:lnTo>
                  <a:pt x="9525" y="1769571"/>
                </a:lnTo>
                <a:lnTo>
                  <a:pt x="8334" y="1767423"/>
                </a:lnTo>
                <a:lnTo>
                  <a:pt x="7144" y="1765082"/>
                </a:lnTo>
                <a:lnTo>
                  <a:pt x="5953" y="1762500"/>
                </a:lnTo>
                <a:lnTo>
                  <a:pt x="4763" y="1759604"/>
                </a:lnTo>
                <a:lnTo>
                  <a:pt x="3572" y="1756272"/>
                </a:lnTo>
                <a:lnTo>
                  <a:pt x="2381" y="1752266"/>
                </a:lnTo>
                <a:lnTo>
                  <a:pt x="1191" y="1746975"/>
                </a:lnTo>
                <a:lnTo>
                  <a:pt x="0" y="1734016"/>
                </a:lnTo>
                <a:close/>
              </a:path>
            </a:pathLst>
          </a:custGeom>
          <a:solidFill>
            <a:srgbClr val="94AFC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881932" y="1008459"/>
            <a:ext cx="9525" cy="1805136"/>
          </a:xfrm>
          <a:custGeom>
            <a:avLst/>
            <a:gdLst/>
            <a:ahLst/>
            <a:cxnLst/>
            <a:rect l="l" t="t" r="r" b="b"/>
            <a:pathLst>
              <a:path w="9525" h="1805136">
                <a:moveTo>
                  <a:pt x="0" y="35566"/>
                </a:moveTo>
                <a:lnTo>
                  <a:pt x="1191" y="37713"/>
                </a:lnTo>
                <a:lnTo>
                  <a:pt x="2381" y="40054"/>
                </a:lnTo>
                <a:lnTo>
                  <a:pt x="3572" y="42636"/>
                </a:lnTo>
                <a:lnTo>
                  <a:pt x="4763" y="45532"/>
                </a:lnTo>
                <a:lnTo>
                  <a:pt x="5953" y="48865"/>
                </a:lnTo>
                <a:lnTo>
                  <a:pt x="7144" y="52871"/>
                </a:lnTo>
                <a:lnTo>
                  <a:pt x="8334" y="58161"/>
                </a:lnTo>
                <a:lnTo>
                  <a:pt x="9525" y="71120"/>
                </a:lnTo>
                <a:lnTo>
                  <a:pt x="9525" y="1734016"/>
                </a:lnTo>
                <a:lnTo>
                  <a:pt x="8334" y="1746975"/>
                </a:lnTo>
                <a:lnTo>
                  <a:pt x="7144" y="1752266"/>
                </a:lnTo>
                <a:lnTo>
                  <a:pt x="5953" y="1756272"/>
                </a:lnTo>
                <a:lnTo>
                  <a:pt x="4763" y="1759604"/>
                </a:lnTo>
                <a:lnTo>
                  <a:pt x="3572" y="1762500"/>
                </a:lnTo>
                <a:lnTo>
                  <a:pt x="2381" y="1765082"/>
                </a:lnTo>
                <a:lnTo>
                  <a:pt x="1191" y="1767423"/>
                </a:lnTo>
                <a:lnTo>
                  <a:pt x="0" y="1769571"/>
                </a:lnTo>
                <a:close/>
              </a:path>
            </a:pathLst>
          </a:custGeom>
          <a:solidFill>
            <a:srgbClr val="94AFC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72070" y="1008459"/>
            <a:ext cx="1519386" cy="19050"/>
          </a:xfrm>
          <a:custGeom>
            <a:avLst/>
            <a:gdLst/>
            <a:ahLst/>
            <a:cxnLst/>
            <a:rect l="l" t="t" r="r" b="b"/>
            <a:pathLst>
              <a:path w="1519386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1496710" y="19050"/>
                </a:lnTo>
                <a:lnTo>
                  <a:pt x="1494017" y="16669"/>
                </a:lnTo>
                <a:lnTo>
                  <a:pt x="1491023" y="14288"/>
                </a:lnTo>
                <a:lnTo>
                  <a:pt x="1487659" y="11906"/>
                </a:lnTo>
                <a:lnTo>
                  <a:pt x="1483821" y="9525"/>
                </a:lnTo>
                <a:lnTo>
                  <a:pt x="1479332" y="7144"/>
                </a:lnTo>
                <a:lnTo>
                  <a:pt x="1473854" y="4763"/>
                </a:lnTo>
                <a:lnTo>
                  <a:pt x="1466516" y="2381"/>
                </a:lnTo>
                <a:lnTo>
                  <a:pt x="1448266" y="0"/>
                </a:lnTo>
                <a:close/>
              </a:path>
            </a:pathLst>
          </a:custGeom>
          <a:solidFill>
            <a:srgbClr val="5B9BD5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031379" y="927199"/>
            <a:ext cx="200620" cy="220682"/>
          </a:xfrm>
          <a:prstGeom prst="ellipse">
            <a:avLst/>
          </a:prstGeom>
          <a:solidFill>
            <a:srgbClr val="5B9BD5"/>
          </a:solidFill>
          <a:ln w="9525">
            <a:solidFill>
              <a:srgbClr val="0D1B2A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945654" y="1155650"/>
            <a:ext cx="372070" cy="372070"/>
          </a:xfrm>
          <a:prstGeom prst="ellipse">
            <a:avLst/>
          </a:prstGeom>
          <a:solidFill>
            <a:srgbClr val="5B9BD5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6382" y="1266379"/>
            <a:ext cx="150465" cy="15046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35209" y="1628031"/>
            <a:ext cx="59296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840" b="1" kern="0" spc="140" dirty="0">
                <a:solidFill>
                  <a:srgbClr val="5B9BD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ASSESS</a:t>
            </a:r>
            <a:endParaRPr lang="en-US" sz="840" dirty="0"/>
          </a:p>
        </p:txBody>
      </p:sp>
      <p:sp>
        <p:nvSpPr>
          <p:cNvPr id="19" name="Text 15"/>
          <p:cNvSpPr/>
          <p:nvPr/>
        </p:nvSpPr>
        <p:spPr>
          <a:xfrm>
            <a:off x="596225" y="1845171"/>
            <a:ext cx="1288547" cy="1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simulation baseline</a:t>
            </a:r>
            <a:endParaRPr lang="en-US" sz="730" dirty="0"/>
          </a:p>
        </p:txBody>
      </p:sp>
      <p:sp>
        <p:nvSpPr>
          <p:cNvPr id="20" name="Text 16"/>
          <p:cNvSpPr/>
          <p:nvPr/>
        </p:nvSpPr>
        <p:spPr>
          <a:xfrm>
            <a:off x="596225" y="2022723"/>
            <a:ext cx="1288547" cy="1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assessments</a:t>
            </a:r>
            <a:endParaRPr lang="en-US" sz="730" dirty="0"/>
          </a:p>
        </p:txBody>
      </p:sp>
      <p:sp>
        <p:nvSpPr>
          <p:cNvPr id="21" name="Text 17"/>
          <p:cNvSpPr/>
          <p:nvPr/>
        </p:nvSpPr>
        <p:spPr>
          <a:xfrm>
            <a:off x="596225" y="2200275"/>
            <a:ext cx="1194835" cy="327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risk scoring by role</a:t>
            </a:r>
            <a:endParaRPr lang="en-US" sz="730" dirty="0"/>
          </a:p>
        </p:txBody>
      </p:sp>
      <p:sp>
        <p:nvSpPr>
          <p:cNvPr id="22" name="Text 18"/>
          <p:cNvSpPr/>
          <p:nvPr/>
        </p:nvSpPr>
        <p:spPr>
          <a:xfrm>
            <a:off x="596225" y="2512219"/>
            <a:ext cx="1288547" cy="1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gap analysis</a:t>
            </a:r>
            <a:endParaRPr lang="en-US" sz="73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25398" y="1044336"/>
            <a:ext cx="132588" cy="1325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092077" y="1008459"/>
            <a:ext cx="1519535" cy="1670745"/>
          </a:xfrm>
          <a:prstGeom prst="roundRect">
            <a:avLst>
              <a:gd name="adj" fmla="val 4680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2092077" y="1008459"/>
            <a:ext cx="9525" cy="1670745"/>
          </a:xfrm>
          <a:custGeom>
            <a:avLst/>
            <a:gdLst/>
            <a:ahLst/>
            <a:cxnLst/>
            <a:rect l="l" t="t" r="r" b="b"/>
            <a:pathLst>
              <a:path w="9525" h="1670745">
                <a:moveTo>
                  <a:pt x="0" y="71120"/>
                </a:moveTo>
                <a:lnTo>
                  <a:pt x="1191" y="58161"/>
                </a:lnTo>
                <a:lnTo>
                  <a:pt x="2381" y="52871"/>
                </a:lnTo>
                <a:lnTo>
                  <a:pt x="3572" y="48865"/>
                </a:lnTo>
                <a:lnTo>
                  <a:pt x="4763" y="45532"/>
                </a:lnTo>
                <a:lnTo>
                  <a:pt x="5953" y="42636"/>
                </a:lnTo>
                <a:lnTo>
                  <a:pt x="7144" y="40054"/>
                </a:lnTo>
                <a:lnTo>
                  <a:pt x="8334" y="37713"/>
                </a:lnTo>
                <a:lnTo>
                  <a:pt x="9525" y="35566"/>
                </a:lnTo>
                <a:lnTo>
                  <a:pt x="9525" y="1635179"/>
                </a:lnTo>
                <a:lnTo>
                  <a:pt x="8334" y="1633031"/>
                </a:lnTo>
                <a:lnTo>
                  <a:pt x="7144" y="1630690"/>
                </a:lnTo>
                <a:lnTo>
                  <a:pt x="5953" y="1628108"/>
                </a:lnTo>
                <a:lnTo>
                  <a:pt x="4763" y="1625212"/>
                </a:lnTo>
                <a:lnTo>
                  <a:pt x="3572" y="1621880"/>
                </a:lnTo>
                <a:lnTo>
                  <a:pt x="2381" y="1617874"/>
                </a:lnTo>
                <a:lnTo>
                  <a:pt x="1191" y="1612584"/>
                </a:lnTo>
                <a:lnTo>
                  <a:pt x="0" y="1599624"/>
                </a:lnTo>
                <a:close/>
              </a:path>
            </a:pathLst>
          </a:custGeom>
          <a:solidFill>
            <a:srgbClr val="94AFC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3602087" y="1008459"/>
            <a:ext cx="9525" cy="1670745"/>
          </a:xfrm>
          <a:custGeom>
            <a:avLst/>
            <a:gdLst/>
            <a:ahLst/>
            <a:cxnLst/>
            <a:rect l="l" t="t" r="r" b="b"/>
            <a:pathLst>
              <a:path w="9525" h="1670745">
                <a:moveTo>
                  <a:pt x="0" y="35566"/>
                </a:moveTo>
                <a:lnTo>
                  <a:pt x="1191" y="37713"/>
                </a:lnTo>
                <a:lnTo>
                  <a:pt x="2381" y="40054"/>
                </a:lnTo>
                <a:lnTo>
                  <a:pt x="3572" y="42636"/>
                </a:lnTo>
                <a:lnTo>
                  <a:pt x="4763" y="45532"/>
                </a:lnTo>
                <a:lnTo>
                  <a:pt x="5953" y="48865"/>
                </a:lnTo>
                <a:lnTo>
                  <a:pt x="7144" y="52871"/>
                </a:lnTo>
                <a:lnTo>
                  <a:pt x="8334" y="58161"/>
                </a:lnTo>
                <a:lnTo>
                  <a:pt x="9525" y="71120"/>
                </a:lnTo>
                <a:lnTo>
                  <a:pt x="9525" y="1599624"/>
                </a:lnTo>
                <a:lnTo>
                  <a:pt x="8334" y="1612584"/>
                </a:lnTo>
                <a:lnTo>
                  <a:pt x="7144" y="1617874"/>
                </a:lnTo>
                <a:lnTo>
                  <a:pt x="5953" y="1621880"/>
                </a:lnTo>
                <a:lnTo>
                  <a:pt x="4763" y="1625212"/>
                </a:lnTo>
                <a:lnTo>
                  <a:pt x="3572" y="1628108"/>
                </a:lnTo>
                <a:lnTo>
                  <a:pt x="2381" y="1630690"/>
                </a:lnTo>
                <a:lnTo>
                  <a:pt x="1191" y="1633031"/>
                </a:lnTo>
                <a:lnTo>
                  <a:pt x="0" y="1635179"/>
                </a:lnTo>
                <a:close/>
              </a:path>
            </a:pathLst>
          </a:custGeom>
          <a:solidFill>
            <a:srgbClr val="94AFC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2092077" y="1008459"/>
            <a:ext cx="1519535" cy="19050"/>
          </a:xfrm>
          <a:custGeom>
            <a:avLst/>
            <a:gdLst/>
            <a:ahLst/>
            <a:cxnLst/>
            <a:rect l="l" t="t" r="r" b="b"/>
            <a:pathLst>
              <a:path w="1519535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1496859" y="19050"/>
                </a:lnTo>
                <a:lnTo>
                  <a:pt x="1494166" y="16669"/>
                </a:lnTo>
                <a:lnTo>
                  <a:pt x="1491172" y="14288"/>
                </a:lnTo>
                <a:lnTo>
                  <a:pt x="1487808" y="11906"/>
                </a:lnTo>
                <a:lnTo>
                  <a:pt x="1483969" y="9525"/>
                </a:lnTo>
                <a:lnTo>
                  <a:pt x="1479481" y="7144"/>
                </a:lnTo>
                <a:lnTo>
                  <a:pt x="1474003" y="4763"/>
                </a:lnTo>
                <a:lnTo>
                  <a:pt x="1466664" y="2381"/>
                </a:lnTo>
                <a:lnTo>
                  <a:pt x="1448415" y="0"/>
                </a:lnTo>
                <a:close/>
              </a:path>
            </a:pathLst>
          </a:custGeom>
          <a:solidFill>
            <a:srgbClr val="70C9A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2751534" y="927199"/>
            <a:ext cx="200620" cy="220682"/>
          </a:xfrm>
          <a:prstGeom prst="ellipse">
            <a:avLst/>
          </a:prstGeom>
          <a:solidFill>
            <a:srgbClr val="70C9A0"/>
          </a:solidFill>
          <a:ln w="9525">
            <a:solidFill>
              <a:srgbClr val="0D1B2A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80" dirty="0"/>
          </a:p>
        </p:txBody>
      </p:sp>
      <p:sp>
        <p:nvSpPr>
          <p:cNvPr id="29" name="Text 24"/>
          <p:cNvSpPr/>
          <p:nvPr/>
        </p:nvSpPr>
        <p:spPr>
          <a:xfrm>
            <a:off x="2665809" y="1155650"/>
            <a:ext cx="372070" cy="372070"/>
          </a:xfrm>
          <a:prstGeom prst="ellipse">
            <a:avLst/>
          </a:prstGeom>
          <a:solidFill>
            <a:srgbClr val="70C9A0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76538" y="1266379"/>
            <a:ext cx="150465" cy="15046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2504450" y="1628031"/>
            <a:ext cx="69478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840" b="1" kern="0" spc="140" dirty="0">
                <a:solidFill>
                  <a:srgbClr val="70C9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EDUCATE</a:t>
            </a:r>
            <a:endParaRPr lang="en-US" sz="840" dirty="0"/>
          </a:p>
        </p:txBody>
      </p:sp>
      <p:sp>
        <p:nvSpPr>
          <p:cNvPr id="32" name="Text 26"/>
          <p:cNvSpPr/>
          <p:nvPr/>
        </p:nvSpPr>
        <p:spPr>
          <a:xfrm>
            <a:off x="2316232" y="1845171"/>
            <a:ext cx="1288711" cy="1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webinars</a:t>
            </a:r>
            <a:endParaRPr lang="en-US" sz="730" dirty="0"/>
          </a:p>
        </p:txBody>
      </p:sp>
      <p:sp>
        <p:nvSpPr>
          <p:cNvPr id="33" name="Text 27"/>
          <p:cNvSpPr/>
          <p:nvPr/>
        </p:nvSpPr>
        <p:spPr>
          <a:xfrm>
            <a:off x="2316232" y="2022723"/>
            <a:ext cx="1288711" cy="1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Micro-learning modules</a:t>
            </a:r>
            <a:endParaRPr lang="en-US" sz="730" dirty="0"/>
          </a:p>
        </p:txBody>
      </p:sp>
      <p:sp>
        <p:nvSpPr>
          <p:cNvPr id="34" name="Text 28"/>
          <p:cNvSpPr/>
          <p:nvPr/>
        </p:nvSpPr>
        <p:spPr>
          <a:xfrm>
            <a:off x="2316232" y="2200275"/>
            <a:ext cx="1288711" cy="1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Scenario-based training</a:t>
            </a:r>
            <a:endParaRPr lang="en-US" sz="730" dirty="0"/>
          </a:p>
        </p:txBody>
      </p:sp>
      <p:sp>
        <p:nvSpPr>
          <p:cNvPr id="35" name="Text 29"/>
          <p:cNvSpPr/>
          <p:nvPr/>
        </p:nvSpPr>
        <p:spPr>
          <a:xfrm>
            <a:off x="2316232" y="2377827"/>
            <a:ext cx="1288711" cy="1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Just-in-time alerts</a:t>
            </a:r>
            <a:endParaRPr lang="en-US" sz="73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45554" y="1044336"/>
            <a:ext cx="132588" cy="13258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812232" y="1008459"/>
            <a:ext cx="1519386" cy="1805136"/>
          </a:xfrm>
          <a:prstGeom prst="roundRect">
            <a:avLst>
              <a:gd name="adj" fmla="val 4681"/>
            </a:avLst>
          </a:prstGeom>
          <a:solidFill>
            <a:srgbClr val="1A2E42"/>
          </a:solidFill>
          <a:ln/>
          <a:effectLst>
            <a:outerShdw blurRad="101600" dist="50800" dir="16200000" algn="bl" rotWithShape="0">
              <a:srgbClr val="E8A020">
                <a:alpha val="2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3812232" y="1008459"/>
            <a:ext cx="9525" cy="1805136"/>
          </a:xfrm>
          <a:custGeom>
            <a:avLst/>
            <a:gdLst/>
            <a:ahLst/>
            <a:cxnLst/>
            <a:rect l="l" t="t" r="r" b="b"/>
            <a:pathLst>
              <a:path w="9525" h="1805136">
                <a:moveTo>
                  <a:pt x="0" y="71120"/>
                </a:moveTo>
                <a:lnTo>
                  <a:pt x="1191" y="58161"/>
                </a:lnTo>
                <a:lnTo>
                  <a:pt x="2381" y="52871"/>
                </a:lnTo>
                <a:lnTo>
                  <a:pt x="3572" y="48865"/>
                </a:lnTo>
                <a:lnTo>
                  <a:pt x="4763" y="45532"/>
                </a:lnTo>
                <a:lnTo>
                  <a:pt x="5953" y="42636"/>
                </a:lnTo>
                <a:lnTo>
                  <a:pt x="7144" y="40054"/>
                </a:lnTo>
                <a:lnTo>
                  <a:pt x="8334" y="37713"/>
                </a:lnTo>
                <a:lnTo>
                  <a:pt x="9525" y="35566"/>
                </a:lnTo>
                <a:lnTo>
                  <a:pt x="9525" y="1769571"/>
                </a:lnTo>
                <a:lnTo>
                  <a:pt x="8334" y="1767423"/>
                </a:lnTo>
                <a:lnTo>
                  <a:pt x="7144" y="1765082"/>
                </a:lnTo>
                <a:lnTo>
                  <a:pt x="5953" y="1762500"/>
                </a:lnTo>
                <a:lnTo>
                  <a:pt x="4763" y="1759604"/>
                </a:lnTo>
                <a:lnTo>
                  <a:pt x="3572" y="1756272"/>
                </a:lnTo>
                <a:lnTo>
                  <a:pt x="2381" y="1752266"/>
                </a:lnTo>
                <a:lnTo>
                  <a:pt x="1191" y="1746975"/>
                </a:lnTo>
                <a:lnTo>
                  <a:pt x="0" y="1734016"/>
                </a:lnTo>
                <a:close/>
              </a:path>
            </a:pathLst>
          </a:custGeom>
          <a:solidFill>
            <a:srgbClr val="94AFC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2"/>
          <p:cNvSpPr/>
          <p:nvPr/>
        </p:nvSpPr>
        <p:spPr>
          <a:xfrm>
            <a:off x="5322094" y="1008459"/>
            <a:ext cx="9525" cy="1805136"/>
          </a:xfrm>
          <a:custGeom>
            <a:avLst/>
            <a:gdLst/>
            <a:ahLst/>
            <a:cxnLst/>
            <a:rect l="l" t="t" r="r" b="b"/>
            <a:pathLst>
              <a:path w="9525" h="1805136">
                <a:moveTo>
                  <a:pt x="0" y="35566"/>
                </a:moveTo>
                <a:lnTo>
                  <a:pt x="1191" y="37713"/>
                </a:lnTo>
                <a:lnTo>
                  <a:pt x="2381" y="40054"/>
                </a:lnTo>
                <a:lnTo>
                  <a:pt x="3572" y="42636"/>
                </a:lnTo>
                <a:lnTo>
                  <a:pt x="4763" y="45532"/>
                </a:lnTo>
                <a:lnTo>
                  <a:pt x="5953" y="48865"/>
                </a:lnTo>
                <a:lnTo>
                  <a:pt x="7144" y="52871"/>
                </a:lnTo>
                <a:lnTo>
                  <a:pt x="8334" y="58161"/>
                </a:lnTo>
                <a:lnTo>
                  <a:pt x="9525" y="71120"/>
                </a:lnTo>
                <a:lnTo>
                  <a:pt x="9525" y="1734016"/>
                </a:lnTo>
                <a:lnTo>
                  <a:pt x="8334" y="1746975"/>
                </a:lnTo>
                <a:lnTo>
                  <a:pt x="7144" y="1752266"/>
                </a:lnTo>
                <a:lnTo>
                  <a:pt x="5953" y="1756272"/>
                </a:lnTo>
                <a:lnTo>
                  <a:pt x="4763" y="1759604"/>
                </a:lnTo>
                <a:lnTo>
                  <a:pt x="3572" y="1762500"/>
                </a:lnTo>
                <a:lnTo>
                  <a:pt x="2381" y="1765082"/>
                </a:lnTo>
                <a:lnTo>
                  <a:pt x="1191" y="1767423"/>
                </a:lnTo>
                <a:lnTo>
                  <a:pt x="0" y="1769571"/>
                </a:lnTo>
                <a:close/>
              </a:path>
            </a:pathLst>
          </a:custGeom>
          <a:solidFill>
            <a:srgbClr val="94AFC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3812232" y="1008459"/>
            <a:ext cx="1519386" cy="19050"/>
          </a:xfrm>
          <a:custGeom>
            <a:avLst/>
            <a:gdLst/>
            <a:ahLst/>
            <a:cxnLst/>
            <a:rect l="l" t="t" r="r" b="b"/>
            <a:pathLst>
              <a:path w="1519386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1496710" y="19050"/>
                </a:lnTo>
                <a:lnTo>
                  <a:pt x="1494017" y="16669"/>
                </a:lnTo>
                <a:lnTo>
                  <a:pt x="1491023" y="14288"/>
                </a:lnTo>
                <a:lnTo>
                  <a:pt x="1487659" y="11906"/>
                </a:lnTo>
                <a:lnTo>
                  <a:pt x="1483821" y="9525"/>
                </a:lnTo>
                <a:lnTo>
                  <a:pt x="1479332" y="7144"/>
                </a:lnTo>
                <a:lnTo>
                  <a:pt x="1473854" y="4763"/>
                </a:lnTo>
                <a:lnTo>
                  <a:pt x="1466516" y="2381"/>
                </a:lnTo>
                <a:lnTo>
                  <a:pt x="1448266" y="0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4471541" y="927199"/>
            <a:ext cx="200620" cy="220682"/>
          </a:xfrm>
          <a:prstGeom prst="ellipse">
            <a:avLst/>
          </a:prstGeom>
          <a:solidFill>
            <a:srgbClr val="E8A020"/>
          </a:solidFill>
          <a:ln w="9525">
            <a:solidFill>
              <a:srgbClr val="0D1B2A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80" dirty="0"/>
          </a:p>
        </p:txBody>
      </p:sp>
      <p:sp>
        <p:nvSpPr>
          <p:cNvPr id="42" name="Text 35"/>
          <p:cNvSpPr/>
          <p:nvPr/>
        </p:nvSpPr>
        <p:spPr>
          <a:xfrm>
            <a:off x="4385816" y="1155650"/>
            <a:ext cx="372070" cy="372070"/>
          </a:xfrm>
          <a:prstGeom prst="ellipse">
            <a:avLst/>
          </a:prstGeom>
          <a:solidFill>
            <a:srgbClr val="E8A020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96544" y="1266379"/>
            <a:ext cx="150465" cy="150465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4138672" y="1628031"/>
            <a:ext cx="866358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840" b="1" kern="0" spc="140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REINFORCE</a:t>
            </a:r>
            <a:endParaRPr lang="en-US" sz="840" dirty="0"/>
          </a:p>
        </p:txBody>
      </p:sp>
      <p:sp>
        <p:nvSpPr>
          <p:cNvPr id="45" name="Text 37"/>
          <p:cNvSpPr/>
          <p:nvPr/>
        </p:nvSpPr>
        <p:spPr>
          <a:xfrm>
            <a:off x="4036387" y="1845171"/>
            <a:ext cx="1288547" cy="1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exposure cycles</a:t>
            </a:r>
            <a:endParaRPr lang="en-US" sz="730" dirty="0"/>
          </a:p>
        </p:txBody>
      </p:sp>
      <p:sp>
        <p:nvSpPr>
          <p:cNvPr id="46" name="Text 38"/>
          <p:cNvSpPr/>
          <p:nvPr/>
        </p:nvSpPr>
        <p:spPr>
          <a:xfrm>
            <a:off x="4036387" y="2022723"/>
            <a:ext cx="1194835" cy="327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phishing campaigns</a:t>
            </a:r>
            <a:endParaRPr lang="en-US" sz="730" dirty="0"/>
          </a:p>
        </p:txBody>
      </p:sp>
      <p:sp>
        <p:nvSpPr>
          <p:cNvPr id="47" name="Text 39"/>
          <p:cNvSpPr/>
          <p:nvPr/>
        </p:nvSpPr>
        <p:spPr>
          <a:xfrm>
            <a:off x="4036387" y="2334667"/>
            <a:ext cx="1288547" cy="1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champion program</a:t>
            </a:r>
            <a:endParaRPr lang="en-US" sz="730" dirty="0"/>
          </a:p>
        </p:txBody>
      </p:sp>
      <p:sp>
        <p:nvSpPr>
          <p:cNvPr id="48" name="Text 40"/>
          <p:cNvSpPr/>
          <p:nvPr/>
        </p:nvSpPr>
        <p:spPr>
          <a:xfrm>
            <a:off x="4036387" y="2512219"/>
            <a:ext cx="1288547" cy="1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toolkits</a:t>
            </a:r>
            <a:endParaRPr lang="en-US" sz="730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65560" y="1044336"/>
            <a:ext cx="132588" cy="132588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5532239" y="1008459"/>
            <a:ext cx="1519535" cy="1670745"/>
          </a:xfrm>
          <a:prstGeom prst="roundRect">
            <a:avLst>
              <a:gd name="adj" fmla="val 4680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2"/>
          <p:cNvSpPr/>
          <p:nvPr/>
        </p:nvSpPr>
        <p:spPr>
          <a:xfrm>
            <a:off x="5532239" y="1008459"/>
            <a:ext cx="9525" cy="1670745"/>
          </a:xfrm>
          <a:custGeom>
            <a:avLst/>
            <a:gdLst/>
            <a:ahLst/>
            <a:cxnLst/>
            <a:rect l="l" t="t" r="r" b="b"/>
            <a:pathLst>
              <a:path w="9525" h="1670745">
                <a:moveTo>
                  <a:pt x="0" y="71120"/>
                </a:moveTo>
                <a:lnTo>
                  <a:pt x="1191" y="58161"/>
                </a:lnTo>
                <a:lnTo>
                  <a:pt x="2381" y="52871"/>
                </a:lnTo>
                <a:lnTo>
                  <a:pt x="3572" y="48865"/>
                </a:lnTo>
                <a:lnTo>
                  <a:pt x="4763" y="45532"/>
                </a:lnTo>
                <a:lnTo>
                  <a:pt x="5953" y="42636"/>
                </a:lnTo>
                <a:lnTo>
                  <a:pt x="7144" y="40054"/>
                </a:lnTo>
                <a:lnTo>
                  <a:pt x="8334" y="37713"/>
                </a:lnTo>
                <a:lnTo>
                  <a:pt x="9525" y="35566"/>
                </a:lnTo>
                <a:lnTo>
                  <a:pt x="9525" y="1635179"/>
                </a:lnTo>
                <a:lnTo>
                  <a:pt x="8334" y="1633031"/>
                </a:lnTo>
                <a:lnTo>
                  <a:pt x="7144" y="1630690"/>
                </a:lnTo>
                <a:lnTo>
                  <a:pt x="5953" y="1628108"/>
                </a:lnTo>
                <a:lnTo>
                  <a:pt x="4763" y="1625212"/>
                </a:lnTo>
                <a:lnTo>
                  <a:pt x="3572" y="1621880"/>
                </a:lnTo>
                <a:lnTo>
                  <a:pt x="2381" y="1617874"/>
                </a:lnTo>
                <a:lnTo>
                  <a:pt x="1191" y="1612584"/>
                </a:lnTo>
                <a:lnTo>
                  <a:pt x="0" y="1599624"/>
                </a:lnTo>
                <a:close/>
              </a:path>
            </a:pathLst>
          </a:custGeom>
          <a:solidFill>
            <a:srgbClr val="94AFC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3"/>
          <p:cNvSpPr/>
          <p:nvPr/>
        </p:nvSpPr>
        <p:spPr>
          <a:xfrm>
            <a:off x="7042249" y="1008459"/>
            <a:ext cx="9525" cy="1670745"/>
          </a:xfrm>
          <a:custGeom>
            <a:avLst/>
            <a:gdLst/>
            <a:ahLst/>
            <a:cxnLst/>
            <a:rect l="l" t="t" r="r" b="b"/>
            <a:pathLst>
              <a:path w="9525" h="1670745">
                <a:moveTo>
                  <a:pt x="0" y="35566"/>
                </a:moveTo>
                <a:lnTo>
                  <a:pt x="1191" y="37713"/>
                </a:lnTo>
                <a:lnTo>
                  <a:pt x="2381" y="40054"/>
                </a:lnTo>
                <a:lnTo>
                  <a:pt x="3572" y="42636"/>
                </a:lnTo>
                <a:lnTo>
                  <a:pt x="4763" y="45532"/>
                </a:lnTo>
                <a:lnTo>
                  <a:pt x="5953" y="48865"/>
                </a:lnTo>
                <a:lnTo>
                  <a:pt x="7144" y="52871"/>
                </a:lnTo>
                <a:lnTo>
                  <a:pt x="8334" y="58161"/>
                </a:lnTo>
                <a:lnTo>
                  <a:pt x="9525" y="71120"/>
                </a:lnTo>
                <a:lnTo>
                  <a:pt x="9525" y="1599624"/>
                </a:lnTo>
                <a:lnTo>
                  <a:pt x="8334" y="1612584"/>
                </a:lnTo>
                <a:lnTo>
                  <a:pt x="7144" y="1617874"/>
                </a:lnTo>
                <a:lnTo>
                  <a:pt x="5953" y="1621880"/>
                </a:lnTo>
                <a:lnTo>
                  <a:pt x="4763" y="1625212"/>
                </a:lnTo>
                <a:lnTo>
                  <a:pt x="3572" y="1628108"/>
                </a:lnTo>
                <a:lnTo>
                  <a:pt x="2381" y="1630690"/>
                </a:lnTo>
                <a:lnTo>
                  <a:pt x="1191" y="1633031"/>
                </a:lnTo>
                <a:lnTo>
                  <a:pt x="0" y="1635179"/>
                </a:lnTo>
                <a:close/>
              </a:path>
            </a:pathLst>
          </a:custGeom>
          <a:solidFill>
            <a:srgbClr val="94AFC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4"/>
          <p:cNvSpPr/>
          <p:nvPr/>
        </p:nvSpPr>
        <p:spPr>
          <a:xfrm>
            <a:off x="5532239" y="1008459"/>
            <a:ext cx="1519535" cy="19050"/>
          </a:xfrm>
          <a:custGeom>
            <a:avLst/>
            <a:gdLst/>
            <a:ahLst/>
            <a:cxnLst/>
            <a:rect l="l" t="t" r="r" b="b"/>
            <a:pathLst>
              <a:path w="1519535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1496859" y="19050"/>
                </a:lnTo>
                <a:lnTo>
                  <a:pt x="1494166" y="16669"/>
                </a:lnTo>
                <a:lnTo>
                  <a:pt x="1491172" y="14288"/>
                </a:lnTo>
                <a:lnTo>
                  <a:pt x="1487808" y="11906"/>
                </a:lnTo>
                <a:lnTo>
                  <a:pt x="1483969" y="9525"/>
                </a:lnTo>
                <a:lnTo>
                  <a:pt x="1479481" y="7144"/>
                </a:lnTo>
                <a:lnTo>
                  <a:pt x="1474003" y="4763"/>
                </a:lnTo>
                <a:lnTo>
                  <a:pt x="1466664" y="2381"/>
                </a:lnTo>
                <a:lnTo>
                  <a:pt x="1448415" y="0"/>
                </a:lnTo>
                <a:close/>
              </a:path>
            </a:pathLst>
          </a:custGeom>
          <a:solidFill>
            <a:srgbClr val="C078D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5"/>
          <p:cNvSpPr/>
          <p:nvPr/>
        </p:nvSpPr>
        <p:spPr>
          <a:xfrm>
            <a:off x="6191696" y="927199"/>
            <a:ext cx="200620" cy="220682"/>
          </a:xfrm>
          <a:prstGeom prst="ellipse">
            <a:avLst/>
          </a:prstGeom>
          <a:solidFill>
            <a:srgbClr val="C078D4"/>
          </a:solidFill>
          <a:ln w="9525">
            <a:solidFill>
              <a:srgbClr val="0D1B2A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80" dirty="0"/>
          </a:p>
        </p:txBody>
      </p:sp>
      <p:sp>
        <p:nvSpPr>
          <p:cNvPr id="55" name="Text 46"/>
          <p:cNvSpPr/>
          <p:nvPr/>
        </p:nvSpPr>
        <p:spPr>
          <a:xfrm>
            <a:off x="6105971" y="1155650"/>
            <a:ext cx="372070" cy="372070"/>
          </a:xfrm>
          <a:prstGeom prst="ellipse">
            <a:avLst/>
          </a:prstGeom>
          <a:solidFill>
            <a:srgbClr val="C078D4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16700" y="1266379"/>
            <a:ext cx="150465" cy="150465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5930377" y="1628031"/>
            <a:ext cx="72311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840" b="1" kern="0" spc="140" dirty="0">
                <a:solidFill>
                  <a:srgbClr val="C078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MEASURE</a:t>
            </a:r>
            <a:endParaRPr lang="en-US" sz="840" dirty="0"/>
          </a:p>
        </p:txBody>
      </p:sp>
      <p:sp>
        <p:nvSpPr>
          <p:cNvPr id="58" name="Text 48"/>
          <p:cNvSpPr/>
          <p:nvPr/>
        </p:nvSpPr>
        <p:spPr>
          <a:xfrm>
            <a:off x="5756394" y="1845171"/>
            <a:ext cx="1288711" cy="1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&amp; report rates</a:t>
            </a:r>
            <a:endParaRPr lang="en-US" sz="730" dirty="0"/>
          </a:p>
        </p:txBody>
      </p:sp>
      <p:sp>
        <p:nvSpPr>
          <p:cNvPr id="59" name="Text 49"/>
          <p:cNvSpPr/>
          <p:nvPr/>
        </p:nvSpPr>
        <p:spPr>
          <a:xfrm>
            <a:off x="5756394" y="2022723"/>
            <a:ext cx="1288711" cy="1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completion rates</a:t>
            </a:r>
            <a:endParaRPr lang="en-US" sz="730" dirty="0"/>
          </a:p>
        </p:txBody>
      </p:sp>
      <p:sp>
        <p:nvSpPr>
          <p:cNvPr id="60" name="Text 50"/>
          <p:cNvSpPr/>
          <p:nvPr/>
        </p:nvSpPr>
        <p:spPr>
          <a:xfrm>
            <a:off x="5756394" y="2200275"/>
            <a:ext cx="1288711" cy="1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trending</a:t>
            </a:r>
            <a:endParaRPr lang="en-US" sz="730" dirty="0"/>
          </a:p>
        </p:txBody>
      </p:sp>
      <p:sp>
        <p:nvSpPr>
          <p:cNvPr id="61" name="Text 51"/>
          <p:cNvSpPr/>
          <p:nvPr/>
        </p:nvSpPr>
        <p:spPr>
          <a:xfrm>
            <a:off x="5756394" y="2377827"/>
            <a:ext cx="1288711" cy="1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 reporting</a:t>
            </a:r>
            <a:endParaRPr lang="en-US" sz="730" dirty="0"/>
          </a:p>
        </p:txBody>
      </p:sp>
      <p:pic>
        <p:nvPicPr>
          <p:cNvPr id="62" name="Image 8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85716" y="1044336"/>
            <a:ext cx="132588" cy="132588"/>
          </a:xfrm>
          <a:prstGeom prst="rect">
            <a:avLst/>
          </a:prstGeom>
        </p:spPr>
      </p:pic>
      <p:sp>
        <p:nvSpPr>
          <p:cNvPr id="63" name="Text 52"/>
          <p:cNvSpPr/>
          <p:nvPr/>
        </p:nvSpPr>
        <p:spPr>
          <a:xfrm>
            <a:off x="7252395" y="1008459"/>
            <a:ext cx="1519535" cy="1805136"/>
          </a:xfrm>
          <a:prstGeom prst="roundRect">
            <a:avLst>
              <a:gd name="adj" fmla="val 4680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3"/>
          <p:cNvSpPr/>
          <p:nvPr/>
        </p:nvSpPr>
        <p:spPr>
          <a:xfrm>
            <a:off x="7252395" y="1008459"/>
            <a:ext cx="9525" cy="1805136"/>
          </a:xfrm>
          <a:custGeom>
            <a:avLst/>
            <a:gdLst/>
            <a:ahLst/>
            <a:cxnLst/>
            <a:rect l="l" t="t" r="r" b="b"/>
            <a:pathLst>
              <a:path w="9525" h="1805136">
                <a:moveTo>
                  <a:pt x="0" y="71120"/>
                </a:moveTo>
                <a:lnTo>
                  <a:pt x="1191" y="58161"/>
                </a:lnTo>
                <a:lnTo>
                  <a:pt x="2381" y="52871"/>
                </a:lnTo>
                <a:lnTo>
                  <a:pt x="3572" y="48865"/>
                </a:lnTo>
                <a:lnTo>
                  <a:pt x="4763" y="45532"/>
                </a:lnTo>
                <a:lnTo>
                  <a:pt x="5953" y="42636"/>
                </a:lnTo>
                <a:lnTo>
                  <a:pt x="7144" y="40054"/>
                </a:lnTo>
                <a:lnTo>
                  <a:pt x="8334" y="37713"/>
                </a:lnTo>
                <a:lnTo>
                  <a:pt x="9525" y="35566"/>
                </a:lnTo>
                <a:lnTo>
                  <a:pt x="9525" y="1769571"/>
                </a:lnTo>
                <a:lnTo>
                  <a:pt x="8334" y="1767423"/>
                </a:lnTo>
                <a:lnTo>
                  <a:pt x="7144" y="1765082"/>
                </a:lnTo>
                <a:lnTo>
                  <a:pt x="5953" y="1762500"/>
                </a:lnTo>
                <a:lnTo>
                  <a:pt x="4763" y="1759604"/>
                </a:lnTo>
                <a:lnTo>
                  <a:pt x="3572" y="1756272"/>
                </a:lnTo>
                <a:lnTo>
                  <a:pt x="2381" y="1752266"/>
                </a:lnTo>
                <a:lnTo>
                  <a:pt x="1191" y="1746975"/>
                </a:lnTo>
                <a:lnTo>
                  <a:pt x="0" y="1734016"/>
                </a:lnTo>
                <a:close/>
              </a:path>
            </a:pathLst>
          </a:custGeom>
          <a:solidFill>
            <a:srgbClr val="94AFC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4"/>
          <p:cNvSpPr/>
          <p:nvPr/>
        </p:nvSpPr>
        <p:spPr>
          <a:xfrm>
            <a:off x="8762405" y="1008459"/>
            <a:ext cx="9525" cy="1805136"/>
          </a:xfrm>
          <a:custGeom>
            <a:avLst/>
            <a:gdLst/>
            <a:ahLst/>
            <a:cxnLst/>
            <a:rect l="l" t="t" r="r" b="b"/>
            <a:pathLst>
              <a:path w="9525" h="1805136">
                <a:moveTo>
                  <a:pt x="0" y="35566"/>
                </a:moveTo>
                <a:lnTo>
                  <a:pt x="1191" y="37713"/>
                </a:lnTo>
                <a:lnTo>
                  <a:pt x="2381" y="40054"/>
                </a:lnTo>
                <a:lnTo>
                  <a:pt x="3572" y="42636"/>
                </a:lnTo>
                <a:lnTo>
                  <a:pt x="4763" y="45532"/>
                </a:lnTo>
                <a:lnTo>
                  <a:pt x="5953" y="48865"/>
                </a:lnTo>
                <a:lnTo>
                  <a:pt x="7144" y="52871"/>
                </a:lnTo>
                <a:lnTo>
                  <a:pt x="8334" y="58161"/>
                </a:lnTo>
                <a:lnTo>
                  <a:pt x="9525" y="71120"/>
                </a:lnTo>
                <a:lnTo>
                  <a:pt x="9525" y="1734016"/>
                </a:lnTo>
                <a:lnTo>
                  <a:pt x="8334" y="1746975"/>
                </a:lnTo>
                <a:lnTo>
                  <a:pt x="7144" y="1752266"/>
                </a:lnTo>
                <a:lnTo>
                  <a:pt x="5953" y="1756272"/>
                </a:lnTo>
                <a:lnTo>
                  <a:pt x="4763" y="1759604"/>
                </a:lnTo>
                <a:lnTo>
                  <a:pt x="3572" y="1762500"/>
                </a:lnTo>
                <a:lnTo>
                  <a:pt x="2381" y="1765082"/>
                </a:lnTo>
                <a:lnTo>
                  <a:pt x="1191" y="1767423"/>
                </a:lnTo>
                <a:lnTo>
                  <a:pt x="0" y="1769571"/>
                </a:lnTo>
                <a:close/>
              </a:path>
            </a:pathLst>
          </a:custGeom>
          <a:solidFill>
            <a:srgbClr val="94AFC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5"/>
          <p:cNvSpPr/>
          <p:nvPr/>
        </p:nvSpPr>
        <p:spPr>
          <a:xfrm>
            <a:off x="7252395" y="1008459"/>
            <a:ext cx="1519535" cy="19050"/>
          </a:xfrm>
          <a:custGeom>
            <a:avLst/>
            <a:gdLst/>
            <a:ahLst/>
            <a:cxnLst/>
            <a:rect l="l" t="t" r="r" b="b"/>
            <a:pathLst>
              <a:path w="1519535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1496859" y="19050"/>
                </a:lnTo>
                <a:lnTo>
                  <a:pt x="1494166" y="16669"/>
                </a:lnTo>
                <a:lnTo>
                  <a:pt x="1491172" y="14288"/>
                </a:lnTo>
                <a:lnTo>
                  <a:pt x="1487808" y="11906"/>
                </a:lnTo>
                <a:lnTo>
                  <a:pt x="1483969" y="9525"/>
                </a:lnTo>
                <a:lnTo>
                  <a:pt x="1479481" y="7144"/>
                </a:lnTo>
                <a:lnTo>
                  <a:pt x="1474003" y="4763"/>
                </a:lnTo>
                <a:lnTo>
                  <a:pt x="1466664" y="2381"/>
                </a:lnTo>
                <a:lnTo>
                  <a:pt x="1448415" y="0"/>
                </a:lnTo>
                <a:close/>
              </a:path>
            </a:pathLst>
          </a:custGeom>
          <a:solidFill>
            <a:srgbClr val="E05C5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6"/>
          <p:cNvSpPr/>
          <p:nvPr/>
        </p:nvSpPr>
        <p:spPr>
          <a:xfrm>
            <a:off x="7911852" y="927199"/>
            <a:ext cx="200620" cy="220682"/>
          </a:xfrm>
          <a:prstGeom prst="ellipse">
            <a:avLst/>
          </a:prstGeom>
          <a:solidFill>
            <a:srgbClr val="E05C5C"/>
          </a:solidFill>
          <a:ln w="9525">
            <a:solidFill>
              <a:srgbClr val="0D1B2A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80" dirty="0"/>
          </a:p>
        </p:txBody>
      </p:sp>
      <p:sp>
        <p:nvSpPr>
          <p:cNvPr id="68" name="Text 57"/>
          <p:cNvSpPr/>
          <p:nvPr/>
        </p:nvSpPr>
        <p:spPr>
          <a:xfrm>
            <a:off x="7826127" y="1155650"/>
            <a:ext cx="372070" cy="372070"/>
          </a:xfrm>
          <a:prstGeom prst="ellipse">
            <a:avLst/>
          </a:prstGeom>
          <a:solidFill>
            <a:srgbClr val="E05C5C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9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36855" y="1266379"/>
            <a:ext cx="150465" cy="150465"/>
          </a:xfrm>
          <a:prstGeom prst="rect">
            <a:avLst/>
          </a:prstGeom>
        </p:spPr>
      </p:pic>
      <p:sp>
        <p:nvSpPr>
          <p:cNvPr id="70" name="Text 58"/>
          <p:cNvSpPr/>
          <p:nvPr/>
        </p:nvSpPr>
        <p:spPr>
          <a:xfrm>
            <a:off x="7673288" y="1628031"/>
            <a:ext cx="67760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840" b="1" kern="0" spc="140" dirty="0">
                <a:solidFill>
                  <a:srgbClr val="E05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IMPROVE</a:t>
            </a:r>
            <a:endParaRPr lang="en-US" sz="840" dirty="0"/>
          </a:p>
        </p:txBody>
      </p:sp>
      <p:sp>
        <p:nvSpPr>
          <p:cNvPr id="71" name="Text 59"/>
          <p:cNvSpPr/>
          <p:nvPr/>
        </p:nvSpPr>
        <p:spPr>
          <a:xfrm>
            <a:off x="7476549" y="1845171"/>
            <a:ext cx="1194987" cy="327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program refinement</a:t>
            </a:r>
            <a:endParaRPr lang="en-US" sz="730" dirty="0"/>
          </a:p>
        </p:txBody>
      </p:sp>
      <p:sp>
        <p:nvSpPr>
          <p:cNvPr id="72" name="Text 60"/>
          <p:cNvSpPr/>
          <p:nvPr/>
        </p:nvSpPr>
        <p:spPr>
          <a:xfrm>
            <a:off x="7476549" y="2157115"/>
            <a:ext cx="1288711" cy="1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CTI-driven topic updates</a:t>
            </a:r>
            <a:endParaRPr lang="en-US" sz="730" dirty="0"/>
          </a:p>
        </p:txBody>
      </p:sp>
      <p:sp>
        <p:nvSpPr>
          <p:cNvPr id="73" name="Text 61"/>
          <p:cNvSpPr/>
          <p:nvPr/>
        </p:nvSpPr>
        <p:spPr>
          <a:xfrm>
            <a:off x="7476549" y="2334667"/>
            <a:ext cx="1288711" cy="1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reporting</a:t>
            </a:r>
            <a:endParaRPr lang="en-US" sz="730" dirty="0"/>
          </a:p>
        </p:txBody>
      </p:sp>
      <p:sp>
        <p:nvSpPr>
          <p:cNvPr id="74" name="Text 62"/>
          <p:cNvSpPr/>
          <p:nvPr/>
        </p:nvSpPr>
        <p:spPr>
          <a:xfrm>
            <a:off x="7476549" y="2512219"/>
            <a:ext cx="1288711" cy="1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reinforcement cycle</a:t>
            </a:r>
            <a:endParaRPr lang="en-US" sz="730" dirty="0"/>
          </a:p>
        </p:txBody>
      </p:sp>
      <p:sp>
        <p:nvSpPr>
          <p:cNvPr id="75" name="Text 63"/>
          <p:cNvSpPr/>
          <p:nvPr/>
        </p:nvSpPr>
        <p:spPr>
          <a:xfrm>
            <a:off x="372070" y="4456361"/>
            <a:ext cx="3131493" cy="9525"/>
          </a:xfrm>
          <a:prstGeom prst="rect">
            <a:avLst/>
          </a:prstGeom>
          <a:solidFill>
            <a:srgbClr val="E8A020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64"/>
          <p:cNvSpPr/>
          <p:nvPr/>
        </p:nvSpPr>
        <p:spPr>
          <a:xfrm>
            <a:off x="3560713" y="4357688"/>
            <a:ext cx="2022425" cy="206871"/>
          </a:xfrm>
          <a:prstGeom prst="roundRect">
            <a:avLst>
              <a:gd name="adj" fmla="val 69372"/>
            </a:avLst>
          </a:prstGeom>
          <a:solidFill>
            <a:srgbClr val="E8A020">
              <a:alpha val="8000"/>
            </a:srgbClr>
          </a:solidFill>
          <a:ln w="9525">
            <a:solidFill>
              <a:srgbClr val="E8A020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41833" y="4394755"/>
            <a:ext cx="132588" cy="132588"/>
          </a:xfrm>
          <a:prstGeom prst="rect">
            <a:avLst/>
          </a:prstGeom>
        </p:spPr>
      </p:pic>
      <p:sp>
        <p:nvSpPr>
          <p:cNvPr id="78" name="Text 65"/>
          <p:cNvSpPr/>
          <p:nvPr/>
        </p:nvSpPr>
        <p:spPr>
          <a:xfrm>
            <a:off x="3788866" y="4396383"/>
            <a:ext cx="185288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 LOOP</a:t>
            </a:r>
            <a:endParaRPr lang="en-US" sz="680" dirty="0"/>
          </a:p>
        </p:txBody>
      </p:sp>
      <p:sp>
        <p:nvSpPr>
          <p:cNvPr id="79" name="Text 66"/>
          <p:cNvSpPr/>
          <p:nvPr/>
        </p:nvSpPr>
        <p:spPr>
          <a:xfrm>
            <a:off x="5640288" y="4456361"/>
            <a:ext cx="3131641" cy="9525"/>
          </a:xfrm>
          <a:prstGeom prst="rect">
            <a:avLst/>
          </a:prstGeom>
          <a:solidFill>
            <a:srgbClr val="E8A020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67"/>
          <p:cNvSpPr/>
          <p:nvPr/>
        </p:nvSpPr>
        <p:spPr>
          <a:xfrm>
            <a:off x="372070" y="4664869"/>
            <a:ext cx="8399859" cy="278011"/>
          </a:xfrm>
          <a:prstGeom prst="roundRect">
            <a:avLst>
              <a:gd name="adj" fmla="val 20557"/>
            </a:avLst>
          </a:prstGeom>
          <a:solidFill>
            <a:srgbClr val="E8A020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68"/>
          <p:cNvSpPr/>
          <p:nvPr/>
        </p:nvSpPr>
        <p:spPr>
          <a:xfrm>
            <a:off x="372070" y="4664869"/>
            <a:ext cx="8399859" cy="9525"/>
          </a:xfrm>
          <a:custGeom>
            <a:avLst/>
            <a:gdLst/>
            <a:ahLst/>
            <a:cxnLst/>
            <a:rect l="l" t="t" r="r" b="b"/>
            <a:pathLst>
              <a:path w="8399859" h="9525">
                <a:moveTo>
                  <a:pt x="57150" y="0"/>
                </a:moveTo>
                <a:lnTo>
                  <a:pt x="45545" y="1191"/>
                </a:lnTo>
                <a:lnTo>
                  <a:pt x="40825" y="2381"/>
                </a:lnTo>
                <a:lnTo>
                  <a:pt x="37263" y="3572"/>
                </a:lnTo>
                <a:lnTo>
                  <a:pt x="34310" y="4763"/>
                </a:lnTo>
                <a:lnTo>
                  <a:pt x="31753" y="5953"/>
                </a:lnTo>
                <a:lnTo>
                  <a:pt x="29482" y="7144"/>
                </a:lnTo>
                <a:lnTo>
                  <a:pt x="27432" y="8334"/>
                </a:lnTo>
                <a:lnTo>
                  <a:pt x="25559" y="9525"/>
                </a:lnTo>
                <a:lnTo>
                  <a:pt x="8374300" y="9525"/>
                </a:lnTo>
                <a:lnTo>
                  <a:pt x="8372427" y="8334"/>
                </a:lnTo>
                <a:lnTo>
                  <a:pt x="8370377" y="7144"/>
                </a:lnTo>
                <a:lnTo>
                  <a:pt x="8368106" y="5953"/>
                </a:lnTo>
                <a:lnTo>
                  <a:pt x="8365550" y="4763"/>
                </a:lnTo>
                <a:lnTo>
                  <a:pt x="8362597" y="3572"/>
                </a:lnTo>
                <a:lnTo>
                  <a:pt x="8359034" y="2381"/>
                </a:lnTo>
                <a:lnTo>
                  <a:pt x="8354314" y="1191"/>
                </a:lnTo>
                <a:lnTo>
                  <a:pt x="8342709" y="0"/>
                </a:lnTo>
                <a:close/>
              </a:path>
            </a:pathLst>
          </a:custGeom>
          <a:solidFill>
            <a:srgbClr val="E8A020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2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2109" y="4742343"/>
            <a:ext cx="132588" cy="132588"/>
          </a:xfrm>
          <a:prstGeom prst="rect">
            <a:avLst/>
          </a:prstGeom>
        </p:spPr>
      </p:pic>
      <p:sp>
        <p:nvSpPr>
          <p:cNvPr id="83" name="Text 69"/>
          <p:cNvSpPr/>
          <p:nvPr/>
        </p:nvSpPr>
        <p:spPr>
          <a:xfrm>
            <a:off x="672257" y="4739134"/>
            <a:ext cx="7390459" cy="27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730" dirty="0"/>
          </a:p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Human Risk Management (HRM) methodology aligned to CRI PR.AT Diagnostic Statements  | </a:t>
            </a:r>
            <a:endParaRPr lang="en-US" sz="730" dirty="0"/>
          </a:p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CRI Profile v2.2  · </a:t>
            </a:r>
            <a:endParaRPr lang="en-US" sz="730" dirty="0"/>
          </a:p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NIST CSF 2.0 PR.AT-1 / PR.AT-2  · </a:t>
            </a:r>
            <a:endParaRPr lang="en-US" sz="730" dirty="0"/>
          </a:p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GOVERN.OC-2</a:t>
            </a:r>
            <a:endParaRPr lang="en-US" sz="7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5421"/>
            <a:ext cx="29170" cy="5108079"/>
          </a:xfrm>
          <a:prstGeom prst="rect">
            <a:avLst/>
          </a:prstGeom>
          <a:gradFill rotWithShape="1">
            <a:gsLst>
              <a:gs pos="0">
                <a:srgbClr val="1A56A0"/>
              </a:gs>
              <a:gs pos="50000">
                <a:srgbClr val="E8A020"/>
              </a:gs>
              <a:gs pos="100000">
                <a:srgbClr val="B45309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35421"/>
          </a:xfrm>
          <a:prstGeom prst="rect">
            <a:avLst/>
          </a:prstGeom>
          <a:gradFill rotWithShape="1">
            <a:gsLst>
              <a:gs pos="0">
                <a:srgbClr val="1A56A0"/>
              </a:gs>
              <a:gs pos="50000">
                <a:srgbClr val="E8A020"/>
              </a:gs>
              <a:gs pos="100000">
                <a:srgbClr val="B4530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alphaModFix amt="3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0" y="0"/>
            <a:ext cx="1285875" cy="38576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0050" y="192881"/>
            <a:ext cx="590456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12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ALIGNMENT</a:t>
            </a:r>
            <a:endParaRPr lang="en-US" sz="620" dirty="0"/>
          </a:p>
        </p:txBody>
      </p:sp>
      <p:sp>
        <p:nvSpPr>
          <p:cNvPr id="6" name="Text 3"/>
          <p:cNvSpPr/>
          <p:nvPr/>
        </p:nvSpPr>
        <p:spPr>
          <a:xfrm>
            <a:off x="400050" y="340072"/>
            <a:ext cx="5743529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8"/>
              </a:lnSpc>
              <a:buNone/>
            </a:pPr>
            <a:r>
              <a:rPr lang="en-US" sz="169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CRI Profile v2.2 </a:t>
            </a:r>
            <a:r>
              <a:rPr lang="en-US" sz="1690" b="1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|</a:t>
            </a:r>
            <a:r>
              <a:rPr lang="en-US" sz="169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NIST CSF 2.0 </a:t>
            </a:r>
            <a:r>
              <a:rPr lang="en-US" sz="1690" b="1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Awareness Alignment</a:t>
            </a:r>
            <a:endParaRPr lang="en-US" sz="1690" dirty="0"/>
          </a:p>
        </p:txBody>
      </p:sp>
      <p:sp>
        <p:nvSpPr>
          <p:cNvPr id="7" name="Text 4"/>
          <p:cNvSpPr/>
          <p:nvPr/>
        </p:nvSpPr>
        <p:spPr>
          <a:xfrm>
            <a:off x="400050" y="640705"/>
            <a:ext cx="697409" cy="198254"/>
          </a:xfrm>
          <a:prstGeom prst="roundRect">
            <a:avLst>
              <a:gd name="adj" fmla="val 14734"/>
            </a:avLst>
          </a:prstGeom>
          <a:solidFill>
            <a:srgbClr val="DBEAFE"/>
          </a:solidFill>
          <a:ln w="9525">
            <a:solidFill>
              <a:srgbClr val="93C5FD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</a:t>
            </a:r>
            <a:endParaRPr lang="en-US" sz="620" dirty="0"/>
          </a:p>
        </p:txBody>
      </p:sp>
      <p:sp>
        <p:nvSpPr>
          <p:cNvPr id="8" name="Text 5"/>
          <p:cNvSpPr/>
          <p:nvPr/>
        </p:nvSpPr>
        <p:spPr>
          <a:xfrm>
            <a:off x="1154609" y="640705"/>
            <a:ext cx="905321" cy="198254"/>
          </a:xfrm>
          <a:prstGeom prst="roundRect">
            <a:avLst>
              <a:gd name="adj" fmla="val 14734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PROFILE V2.2</a:t>
            </a:r>
            <a:endParaRPr lang="en-US" sz="620" dirty="0"/>
          </a:p>
        </p:txBody>
      </p:sp>
      <p:sp>
        <p:nvSpPr>
          <p:cNvPr id="9" name="Text 6"/>
          <p:cNvSpPr/>
          <p:nvPr/>
        </p:nvSpPr>
        <p:spPr>
          <a:xfrm>
            <a:off x="2146250" y="666006"/>
            <a:ext cx="216376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Security Awareness Program Objectives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8371880" y="222052"/>
            <a:ext cx="372070" cy="372070"/>
          </a:xfrm>
          <a:prstGeom prst="roundRect">
            <a:avLst>
              <a:gd name="adj" fmla="val 23211"/>
            </a:avLst>
          </a:prstGeom>
          <a:gradFill rotWithShape="1">
            <a:gsLst>
              <a:gs pos="0">
                <a:srgbClr val="1A56A0"/>
              </a:gs>
              <a:gs pos="100000">
                <a:srgbClr val="E8A020"/>
              </a:gs>
            </a:gsLst>
            <a:lin ang="2700000" scaled="1"/>
          </a:gradFill>
          <a:ln/>
          <a:effectLst>
            <a:outerShdw blurRad="114300" dist="29210" dir="5400000" algn="bl" rotWithShape="0">
              <a:srgbClr val="E8A020">
                <a:alpha val="2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82608" y="332780"/>
            <a:ext cx="150465" cy="1504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0050" y="891927"/>
            <a:ext cx="834390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1A56A0">
                  <a:alpha val="50000"/>
                </a:srgbClr>
              </a:gs>
              <a:gs pos="40000">
                <a:srgbClr val="E8A020">
                  <a:alpha val="50000"/>
                </a:srgbClr>
              </a:gs>
              <a:gs pos="75000">
                <a:srgbClr val="B45309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00050" y="1020068"/>
            <a:ext cx="3899595" cy="472380"/>
          </a:xfrm>
          <a:prstGeom prst="rect">
            <a:avLst/>
          </a:prstGeom>
          <a:gradFill rotWithShape="1">
            <a:gsLst>
              <a:gs pos="0">
                <a:srgbClr val="1A56A0"/>
              </a:gs>
              <a:gs pos="100000">
                <a:srgbClr val="1E3A5F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57510" y="1120378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FFFFFF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022" y="1189890"/>
            <a:ext cx="132588" cy="1325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5591" y="1145232"/>
            <a:ext cx="1418228" cy="71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560" b="1" kern="0" spc="84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MAPPINGS</a:t>
            </a:r>
            <a:endParaRPr lang="en-US" sz="560" dirty="0"/>
          </a:p>
        </p:txBody>
      </p:sp>
      <p:sp>
        <p:nvSpPr>
          <p:cNvPr id="17" name="Text 12"/>
          <p:cNvSpPr/>
          <p:nvPr/>
        </p:nvSpPr>
        <p:spPr>
          <a:xfrm>
            <a:off x="915591" y="1230213"/>
            <a:ext cx="1418228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NIST CSF 2.0 Functions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00050" y="1492448"/>
            <a:ext cx="3899595" cy="291331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528191" y="1563439"/>
            <a:ext cx="3643313" cy="496342"/>
          </a:xfrm>
          <a:prstGeom prst="roundRect">
            <a:avLst>
              <a:gd name="adj" fmla="val 13049"/>
            </a:avLst>
          </a:prstGeom>
          <a:solidFill>
            <a:srgbClr val="F8FAFC"/>
          </a:solidFill>
          <a:ln w="9525">
            <a:solidFill>
              <a:srgbClr val="D1DDE8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624036" y="1637705"/>
            <a:ext cx="714970" cy="358246"/>
          </a:xfrm>
          <a:prstGeom prst="roundRect">
            <a:avLst>
              <a:gd name="adj" fmla="val 12053"/>
            </a:avLst>
          </a:prstGeom>
          <a:solidFill>
            <a:srgbClr val="DBEAFE"/>
          </a:solidFill>
          <a:ln w="9525">
            <a:solidFill>
              <a:srgbClr val="93C5FD"/>
            </a:solidFill>
          </a:ln>
        </p:spPr>
        <p:txBody>
          <a:bodyPr wrap="none" lIns="64770" tIns="29210" rIns="64770" bIns="29210" rtlCol="0" anchor="ctr"/>
          <a:lstStyle/>
          <a:p>
            <a:pPr marL="0" indent="0" algn="ctr">
              <a:buNone/>
            </a:pPr>
            <a:r>
              <a:rPr lang="en-US" sz="650" b="1" kern="0" spc="13" dirty="0">
                <a:solidFill>
                  <a:srgbClr val="1A5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GOVERN.OC-2</a:t>
            </a:r>
            <a:endParaRPr lang="en-US" sz="650" dirty="0"/>
          </a:p>
        </p:txBody>
      </p:sp>
      <p:sp>
        <p:nvSpPr>
          <p:cNvPr id="21" name="Text 16"/>
          <p:cNvSpPr/>
          <p:nvPr/>
        </p:nvSpPr>
        <p:spPr>
          <a:xfrm>
            <a:off x="1425327" y="1637705"/>
            <a:ext cx="2714655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Awareness of Roles</a:t>
            </a:r>
            <a:endParaRPr lang="en-US" sz="760" dirty="0"/>
          </a:p>
        </p:txBody>
      </p:sp>
      <p:sp>
        <p:nvSpPr>
          <p:cNvPr id="22" name="Text 17"/>
          <p:cNvSpPr/>
          <p:nvPr/>
        </p:nvSpPr>
        <p:spPr>
          <a:xfrm>
            <a:off x="1425327" y="1761083"/>
            <a:ext cx="2517225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personnel understand their cybersecurity roles &amp; responsibilities</a:t>
            </a:r>
            <a:endParaRPr lang="en-US" sz="68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61293" y="1745242"/>
            <a:ext cx="132588" cy="1325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8191" y="2109192"/>
            <a:ext cx="3643313" cy="496342"/>
          </a:xfrm>
          <a:prstGeom prst="roundRect">
            <a:avLst>
              <a:gd name="adj" fmla="val 13049"/>
            </a:avLst>
          </a:prstGeom>
          <a:solidFill>
            <a:srgbClr val="F8FAFC"/>
          </a:solidFill>
          <a:ln w="9525">
            <a:solidFill>
              <a:srgbClr val="D1DDE8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624036" y="2183457"/>
            <a:ext cx="764084" cy="358246"/>
          </a:xfrm>
          <a:prstGeom prst="roundRect">
            <a:avLst>
              <a:gd name="adj" fmla="val 12053"/>
            </a:avLst>
          </a:prstGeom>
          <a:solidFill>
            <a:srgbClr val="DBEAFE"/>
          </a:solidFill>
          <a:ln w="9525">
            <a:solidFill>
              <a:srgbClr val="93C5FD"/>
            </a:solidFill>
          </a:ln>
        </p:spPr>
        <p:txBody>
          <a:bodyPr wrap="none" lIns="64770" tIns="29210" rIns="64770" bIns="29210" rtlCol="0" anchor="ctr"/>
          <a:lstStyle/>
          <a:p>
            <a:pPr marL="0" indent="0" algn="ctr">
              <a:buNone/>
            </a:pPr>
            <a:r>
              <a:rPr lang="en-US" sz="650" b="1" kern="0" spc="13" dirty="0">
                <a:solidFill>
                  <a:srgbClr val="1A5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PROTECT.AT-1</a:t>
            </a:r>
            <a:endParaRPr lang="en-US" sz="650" dirty="0"/>
          </a:p>
        </p:txBody>
      </p:sp>
      <p:sp>
        <p:nvSpPr>
          <p:cNvPr id="26" name="Text 20"/>
          <p:cNvSpPr/>
          <p:nvPr/>
        </p:nvSpPr>
        <p:spPr>
          <a:xfrm>
            <a:off x="1474440" y="2183457"/>
            <a:ext cx="2660630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Training — All Personnel</a:t>
            </a:r>
            <a:endParaRPr lang="en-US" sz="760" dirty="0"/>
          </a:p>
        </p:txBody>
      </p:sp>
      <p:sp>
        <p:nvSpPr>
          <p:cNvPr id="27" name="Text 21"/>
          <p:cNvSpPr/>
          <p:nvPr/>
        </p:nvSpPr>
        <p:spPr>
          <a:xfrm>
            <a:off x="1474440" y="2306836"/>
            <a:ext cx="2467130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Broad-based annual &amp; ongoing awareness training for entire workforce</a:t>
            </a:r>
            <a:endParaRPr lang="en-US" sz="68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61293" y="2290995"/>
            <a:ext cx="132588" cy="1325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8191" y="2654945"/>
            <a:ext cx="3643313" cy="384125"/>
          </a:xfrm>
          <a:prstGeom prst="roundRect">
            <a:avLst>
              <a:gd name="adj" fmla="val 16862"/>
            </a:avLst>
          </a:prstGeom>
          <a:solidFill>
            <a:srgbClr val="F8FAFC"/>
          </a:solidFill>
          <a:ln w="9525">
            <a:solidFill>
              <a:srgbClr val="D1DDE8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624036" y="2729210"/>
            <a:ext cx="764084" cy="242663"/>
          </a:xfrm>
          <a:prstGeom prst="roundRect">
            <a:avLst>
              <a:gd name="adj" fmla="val 17794"/>
            </a:avLst>
          </a:prstGeom>
          <a:solidFill>
            <a:srgbClr val="DBEAFE"/>
          </a:solidFill>
          <a:ln w="9525">
            <a:solidFill>
              <a:srgbClr val="93C5FD"/>
            </a:solidFill>
          </a:ln>
        </p:spPr>
        <p:txBody>
          <a:bodyPr wrap="none" lIns="64770" tIns="29210" rIns="64770" bIns="29210" rtlCol="0" anchor="ctr"/>
          <a:lstStyle/>
          <a:p>
            <a:pPr marL="0" indent="0" algn="ctr">
              <a:buNone/>
            </a:pPr>
            <a:r>
              <a:rPr lang="en-US" sz="650" b="1" kern="0" spc="13" dirty="0">
                <a:solidFill>
                  <a:srgbClr val="1A5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PROTECT.AT-2</a:t>
            </a:r>
            <a:endParaRPr lang="en-US" sz="650" dirty="0"/>
          </a:p>
        </p:txBody>
      </p:sp>
      <p:sp>
        <p:nvSpPr>
          <p:cNvPr id="31" name="Text 24"/>
          <p:cNvSpPr/>
          <p:nvPr/>
        </p:nvSpPr>
        <p:spPr>
          <a:xfrm>
            <a:off x="1474440" y="2729210"/>
            <a:ext cx="2637874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Training — Privileged Users</a:t>
            </a:r>
            <a:endParaRPr lang="en-US" sz="760" dirty="0"/>
          </a:p>
        </p:txBody>
      </p:sp>
      <p:sp>
        <p:nvSpPr>
          <p:cNvPr id="32" name="Text 25"/>
          <p:cNvSpPr/>
          <p:nvPr/>
        </p:nvSpPr>
        <p:spPr>
          <a:xfrm>
            <a:off x="1474440" y="2852589"/>
            <a:ext cx="2637874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training for IT, security, and high-privilege role holders</a:t>
            </a:r>
            <a:endParaRPr lang="en-US" sz="68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61293" y="2780639"/>
            <a:ext cx="132588" cy="13258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28191" y="3088481"/>
            <a:ext cx="3643313" cy="496342"/>
          </a:xfrm>
          <a:prstGeom prst="roundRect">
            <a:avLst>
              <a:gd name="adj" fmla="val 13049"/>
            </a:avLst>
          </a:prstGeom>
          <a:solidFill>
            <a:srgbClr val="F8FAFC"/>
          </a:solidFill>
          <a:ln w="9525">
            <a:solidFill>
              <a:srgbClr val="D1DDE8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624036" y="3162746"/>
            <a:ext cx="714970" cy="358246"/>
          </a:xfrm>
          <a:prstGeom prst="roundRect">
            <a:avLst>
              <a:gd name="adj" fmla="val 12053"/>
            </a:avLst>
          </a:prstGeom>
          <a:solidFill>
            <a:srgbClr val="DBEAFE"/>
          </a:solidFill>
          <a:ln w="9525">
            <a:solidFill>
              <a:srgbClr val="93C5FD"/>
            </a:solidFill>
          </a:ln>
        </p:spPr>
        <p:txBody>
          <a:bodyPr wrap="none" lIns="64770" tIns="29210" rIns="64770" bIns="29210" rtlCol="0" anchor="ctr"/>
          <a:lstStyle/>
          <a:p>
            <a:pPr marL="0" indent="0" algn="ctr">
              <a:buNone/>
            </a:pPr>
            <a:r>
              <a:rPr lang="en-US" sz="650" b="1" kern="0" spc="13" dirty="0">
                <a:solidFill>
                  <a:srgbClr val="1A5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DETECT.CM-6</a:t>
            </a:r>
            <a:endParaRPr lang="en-US" sz="650" dirty="0"/>
          </a:p>
        </p:txBody>
      </p:sp>
      <p:sp>
        <p:nvSpPr>
          <p:cNvPr id="36" name="Text 28"/>
          <p:cNvSpPr/>
          <p:nvPr/>
        </p:nvSpPr>
        <p:spPr>
          <a:xfrm>
            <a:off x="1425327" y="3162746"/>
            <a:ext cx="2714655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Metrics &amp; Monitoring</a:t>
            </a:r>
            <a:endParaRPr lang="en-US" sz="760" dirty="0"/>
          </a:p>
        </p:txBody>
      </p:sp>
      <p:sp>
        <p:nvSpPr>
          <p:cNvPr id="37" name="Text 29"/>
          <p:cNvSpPr/>
          <p:nvPr/>
        </p:nvSpPr>
        <p:spPr>
          <a:xfrm>
            <a:off x="1425327" y="3286125"/>
            <a:ext cx="2517225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phishing simulation results, completion rates, and risk scoring</a:t>
            </a:r>
            <a:endParaRPr lang="en-US" sz="68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61293" y="3270284"/>
            <a:ext cx="132588" cy="13258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28191" y="3634234"/>
            <a:ext cx="3643313" cy="496342"/>
          </a:xfrm>
          <a:prstGeom prst="roundRect">
            <a:avLst>
              <a:gd name="adj" fmla="val 13049"/>
            </a:avLst>
          </a:prstGeom>
          <a:solidFill>
            <a:srgbClr val="F8FAFC"/>
          </a:solidFill>
          <a:ln w="9525">
            <a:solidFill>
              <a:srgbClr val="D1DDE8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1"/>
          <p:cNvSpPr/>
          <p:nvPr/>
        </p:nvSpPr>
        <p:spPr>
          <a:xfrm>
            <a:off x="624036" y="3708499"/>
            <a:ext cx="764084" cy="358246"/>
          </a:xfrm>
          <a:prstGeom prst="roundRect">
            <a:avLst>
              <a:gd name="adj" fmla="val 12053"/>
            </a:avLst>
          </a:prstGeom>
          <a:solidFill>
            <a:srgbClr val="DBEAFE"/>
          </a:solidFill>
          <a:ln w="9525">
            <a:solidFill>
              <a:srgbClr val="93C5FD"/>
            </a:solidFill>
          </a:ln>
        </p:spPr>
        <p:txBody>
          <a:bodyPr wrap="none" lIns="64770" tIns="29210" rIns="64770" bIns="29210" rtlCol="0" anchor="ctr"/>
          <a:lstStyle/>
          <a:p>
            <a:pPr marL="0" indent="0" algn="ctr">
              <a:buNone/>
            </a:pPr>
            <a:r>
              <a:rPr lang="en-US" sz="650" b="1" kern="0" spc="13" dirty="0">
                <a:solidFill>
                  <a:srgbClr val="1A5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RESPOND.CO-1</a:t>
            </a:r>
            <a:endParaRPr lang="en-US" sz="650" dirty="0"/>
          </a:p>
        </p:txBody>
      </p:sp>
      <p:sp>
        <p:nvSpPr>
          <p:cNvPr id="41" name="Text 32"/>
          <p:cNvSpPr/>
          <p:nvPr/>
        </p:nvSpPr>
        <p:spPr>
          <a:xfrm>
            <a:off x="1474440" y="3708499"/>
            <a:ext cx="2660630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Reporting Awareness</a:t>
            </a:r>
            <a:endParaRPr lang="en-US" sz="760" dirty="0"/>
          </a:p>
        </p:txBody>
      </p:sp>
      <p:sp>
        <p:nvSpPr>
          <p:cNvPr id="42" name="Text 33"/>
          <p:cNvSpPr/>
          <p:nvPr/>
        </p:nvSpPr>
        <p:spPr>
          <a:xfrm>
            <a:off x="1474440" y="3831878"/>
            <a:ext cx="2467130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trained to recognize and escalate security incidents promptly</a:t>
            </a:r>
            <a:endParaRPr lang="en-US" sz="680" dirty="0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61293" y="3816036"/>
            <a:ext cx="132588" cy="13258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4565005" y="1020068"/>
            <a:ext cx="13841" cy="153531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1A56A0">
                  <a:alpha val="35000"/>
                </a:srgbClr>
              </a:gs>
              <a:gs pos="50000">
                <a:srgbClr val="E8A020">
                  <a:alpha val="35000"/>
                </a:srgbClr>
              </a:gs>
              <a:gs pos="100000">
                <a:srgbClr val="B45309">
                  <a:alpha val="35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5"/>
          <p:cNvSpPr/>
          <p:nvPr/>
        </p:nvSpPr>
        <p:spPr>
          <a:xfrm>
            <a:off x="4457700" y="2598539"/>
            <a:ext cx="228600" cy="228600"/>
          </a:xfrm>
          <a:prstGeom prst="ellipse">
            <a:avLst/>
          </a:prstGeom>
          <a:solidFill>
            <a:srgbClr val="E8A020"/>
          </a:solidFill>
          <a:ln/>
          <a:effectLst>
            <a:outerShdw blurRad="71120" dist="13970" dir="5400000" algn="bl" rotWithShape="0">
              <a:srgbClr val="E8A020">
                <a:alpha val="3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05706" y="2646545"/>
            <a:ext cx="132588" cy="13258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4565005" y="2870299"/>
            <a:ext cx="13841" cy="1535460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1A56A0">
                  <a:alpha val="35000"/>
                </a:srgbClr>
              </a:gs>
              <a:gs pos="50000">
                <a:srgbClr val="E8A020">
                  <a:alpha val="35000"/>
                </a:srgbClr>
              </a:gs>
              <a:gs pos="100000">
                <a:srgbClr val="B45309">
                  <a:alpha val="35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37"/>
          <p:cNvSpPr/>
          <p:nvPr/>
        </p:nvSpPr>
        <p:spPr>
          <a:xfrm>
            <a:off x="4844355" y="1020068"/>
            <a:ext cx="3899595" cy="472380"/>
          </a:xfrm>
          <a:prstGeom prst="rect">
            <a:avLst/>
          </a:prstGeom>
          <a:gradFill rotWithShape="1">
            <a:gsLst>
              <a:gs pos="0">
                <a:srgbClr val="92400E"/>
              </a:gs>
              <a:gs pos="100000">
                <a:srgbClr val="B45309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38"/>
          <p:cNvSpPr/>
          <p:nvPr/>
        </p:nvSpPr>
        <p:spPr>
          <a:xfrm>
            <a:off x="5001816" y="1120378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FFFFFF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71327" y="1189890"/>
            <a:ext cx="132588" cy="132588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5359896" y="1145232"/>
            <a:ext cx="1276127" cy="71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560" b="1" kern="0" spc="84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STATEMENTS</a:t>
            </a:r>
            <a:endParaRPr lang="en-US" sz="560" dirty="0"/>
          </a:p>
        </p:txBody>
      </p:sp>
      <p:sp>
        <p:nvSpPr>
          <p:cNvPr id="52" name="Text 40"/>
          <p:cNvSpPr/>
          <p:nvPr/>
        </p:nvSpPr>
        <p:spPr>
          <a:xfrm>
            <a:off x="5359896" y="1230213"/>
            <a:ext cx="1276127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CRI Profile v2.2</a:t>
            </a:r>
            <a:endParaRPr lang="en-US" sz="900" dirty="0"/>
          </a:p>
        </p:txBody>
      </p:sp>
      <p:sp>
        <p:nvSpPr>
          <p:cNvPr id="53" name="Text 41"/>
          <p:cNvSpPr/>
          <p:nvPr/>
        </p:nvSpPr>
        <p:spPr>
          <a:xfrm>
            <a:off x="4844355" y="1492448"/>
            <a:ext cx="3899595" cy="291331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2"/>
          <p:cNvSpPr/>
          <p:nvPr/>
        </p:nvSpPr>
        <p:spPr>
          <a:xfrm>
            <a:off x="4972496" y="1563439"/>
            <a:ext cx="3643313" cy="496342"/>
          </a:xfrm>
          <a:prstGeom prst="roundRect">
            <a:avLst>
              <a:gd name="adj" fmla="val 13049"/>
            </a:avLst>
          </a:prstGeom>
          <a:solidFill>
            <a:srgbClr val="F8FAFC"/>
          </a:solidFill>
          <a:ln w="9525">
            <a:solidFill>
              <a:srgbClr val="D1DDE8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3"/>
          <p:cNvSpPr/>
          <p:nvPr/>
        </p:nvSpPr>
        <p:spPr>
          <a:xfrm>
            <a:off x="5068342" y="1637705"/>
            <a:ext cx="714970" cy="358246"/>
          </a:xfrm>
          <a:prstGeom prst="roundRect">
            <a:avLst>
              <a:gd name="adj" fmla="val 12053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none" lIns="64770" tIns="29210" rIns="64770" bIns="29210" rtlCol="0" anchor="ctr"/>
          <a:lstStyle/>
          <a:p>
            <a:pPr marL="0" indent="0" algn="ctr">
              <a:buNone/>
            </a:pPr>
            <a:r>
              <a:rPr lang="en-US" sz="650" b="1" kern="0" spc="13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PR.AT-1(a)</a:t>
            </a:r>
            <a:endParaRPr lang="en-US" sz="650" dirty="0"/>
          </a:p>
        </p:txBody>
      </p:sp>
      <p:sp>
        <p:nvSpPr>
          <p:cNvPr id="56" name="Text 44"/>
          <p:cNvSpPr/>
          <p:nvPr/>
        </p:nvSpPr>
        <p:spPr>
          <a:xfrm>
            <a:off x="5869632" y="1637705"/>
            <a:ext cx="2714655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&amp; Ongoing Awareness Training</a:t>
            </a:r>
            <a:endParaRPr lang="en-US" sz="760" dirty="0"/>
          </a:p>
        </p:txBody>
      </p:sp>
      <p:sp>
        <p:nvSpPr>
          <p:cNvPr id="57" name="Text 45"/>
          <p:cNvSpPr/>
          <p:nvPr/>
        </p:nvSpPr>
        <p:spPr>
          <a:xfrm>
            <a:off x="5869632" y="1761083"/>
            <a:ext cx="2517225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security awareness delivered at hire and on recurring schedule</a:t>
            </a:r>
            <a:endParaRPr lang="en-US" sz="680" dirty="0"/>
          </a:p>
        </p:txBody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05598" y="1745242"/>
            <a:ext cx="132588" cy="132588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4972496" y="2109192"/>
            <a:ext cx="3643313" cy="496342"/>
          </a:xfrm>
          <a:prstGeom prst="roundRect">
            <a:avLst>
              <a:gd name="adj" fmla="val 13049"/>
            </a:avLst>
          </a:prstGeom>
          <a:solidFill>
            <a:srgbClr val="F8FAFC"/>
          </a:solidFill>
          <a:ln w="9525">
            <a:solidFill>
              <a:srgbClr val="D1DDE8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47"/>
          <p:cNvSpPr/>
          <p:nvPr/>
        </p:nvSpPr>
        <p:spPr>
          <a:xfrm>
            <a:off x="5068342" y="2183457"/>
            <a:ext cx="714970" cy="358246"/>
          </a:xfrm>
          <a:prstGeom prst="roundRect">
            <a:avLst>
              <a:gd name="adj" fmla="val 12053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none" lIns="64770" tIns="29210" rIns="64770" bIns="29210" rtlCol="0" anchor="ctr"/>
          <a:lstStyle/>
          <a:p>
            <a:pPr marL="0" indent="0" algn="ctr">
              <a:buNone/>
            </a:pPr>
            <a:r>
              <a:rPr lang="en-US" sz="650" b="1" kern="0" spc="13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PR.AT-1(b)</a:t>
            </a:r>
            <a:endParaRPr lang="en-US" sz="650" dirty="0"/>
          </a:p>
        </p:txBody>
      </p:sp>
      <p:sp>
        <p:nvSpPr>
          <p:cNvPr id="61" name="Text 48"/>
          <p:cNvSpPr/>
          <p:nvPr/>
        </p:nvSpPr>
        <p:spPr>
          <a:xfrm>
            <a:off x="5869632" y="2183457"/>
            <a:ext cx="2714655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Simulation Program</a:t>
            </a:r>
            <a:endParaRPr lang="en-US" sz="760" dirty="0"/>
          </a:p>
        </p:txBody>
      </p:sp>
      <p:sp>
        <p:nvSpPr>
          <p:cNvPr id="62" name="Text 49"/>
          <p:cNvSpPr/>
          <p:nvPr/>
        </p:nvSpPr>
        <p:spPr>
          <a:xfrm>
            <a:off x="5869632" y="2306836"/>
            <a:ext cx="2517225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controlled phishing exercises to assess and reinforce vigilance</a:t>
            </a:r>
            <a:endParaRPr lang="en-US" sz="680" dirty="0"/>
          </a:p>
        </p:txBody>
      </p:sp>
      <p:pic>
        <p:nvPicPr>
          <p:cNvPr id="63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5598" y="2290995"/>
            <a:ext cx="132588" cy="132588"/>
          </a:xfrm>
          <a:prstGeom prst="rect">
            <a:avLst/>
          </a:prstGeom>
        </p:spPr>
      </p:pic>
      <p:sp>
        <p:nvSpPr>
          <p:cNvPr id="64" name="Text 50"/>
          <p:cNvSpPr/>
          <p:nvPr/>
        </p:nvSpPr>
        <p:spPr>
          <a:xfrm>
            <a:off x="4972496" y="2654945"/>
            <a:ext cx="3643313" cy="496342"/>
          </a:xfrm>
          <a:prstGeom prst="roundRect">
            <a:avLst>
              <a:gd name="adj" fmla="val 13049"/>
            </a:avLst>
          </a:prstGeom>
          <a:solidFill>
            <a:srgbClr val="F8FAFC"/>
          </a:solidFill>
          <a:ln w="9525">
            <a:solidFill>
              <a:srgbClr val="D1DDE8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1"/>
          <p:cNvSpPr/>
          <p:nvPr/>
        </p:nvSpPr>
        <p:spPr>
          <a:xfrm>
            <a:off x="5068342" y="2729210"/>
            <a:ext cx="714970" cy="358246"/>
          </a:xfrm>
          <a:prstGeom prst="roundRect">
            <a:avLst>
              <a:gd name="adj" fmla="val 12053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none" lIns="64770" tIns="29210" rIns="64770" bIns="29210" rtlCol="0" anchor="ctr"/>
          <a:lstStyle/>
          <a:p>
            <a:pPr marL="0" indent="0" algn="ctr">
              <a:buNone/>
            </a:pPr>
            <a:r>
              <a:rPr lang="en-US" sz="650" b="1" kern="0" spc="13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PR.AT-2</a:t>
            </a:r>
            <a:endParaRPr lang="en-US" sz="650" dirty="0"/>
          </a:p>
        </p:txBody>
      </p:sp>
      <p:sp>
        <p:nvSpPr>
          <p:cNvPr id="66" name="Text 52"/>
          <p:cNvSpPr/>
          <p:nvPr/>
        </p:nvSpPr>
        <p:spPr>
          <a:xfrm>
            <a:off x="5869632" y="2729210"/>
            <a:ext cx="2714655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User Role-Based Training</a:t>
            </a:r>
            <a:endParaRPr lang="en-US" sz="760" dirty="0"/>
          </a:p>
        </p:txBody>
      </p:sp>
      <p:sp>
        <p:nvSpPr>
          <p:cNvPr id="67" name="Text 53"/>
          <p:cNvSpPr/>
          <p:nvPr/>
        </p:nvSpPr>
        <p:spPr>
          <a:xfrm>
            <a:off x="5869632" y="2852589"/>
            <a:ext cx="2517225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training for users with elevated access or administrative rights</a:t>
            </a:r>
            <a:endParaRPr lang="en-US" sz="680" dirty="0"/>
          </a:p>
        </p:txBody>
      </p:sp>
      <p:pic>
        <p:nvPicPr>
          <p:cNvPr id="68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05598" y="2836747"/>
            <a:ext cx="132588" cy="132588"/>
          </a:xfrm>
          <a:prstGeom prst="rect">
            <a:avLst/>
          </a:prstGeom>
        </p:spPr>
      </p:pic>
      <p:sp>
        <p:nvSpPr>
          <p:cNvPr id="69" name="Text 54"/>
          <p:cNvSpPr/>
          <p:nvPr/>
        </p:nvSpPr>
        <p:spPr>
          <a:xfrm>
            <a:off x="4972496" y="3200698"/>
            <a:ext cx="3643313" cy="496342"/>
          </a:xfrm>
          <a:prstGeom prst="roundRect">
            <a:avLst>
              <a:gd name="adj" fmla="val 13049"/>
            </a:avLst>
          </a:prstGeom>
          <a:solidFill>
            <a:srgbClr val="F8FAFC"/>
          </a:solidFill>
          <a:ln w="9525">
            <a:solidFill>
              <a:srgbClr val="D1DDE8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55"/>
          <p:cNvSpPr/>
          <p:nvPr/>
        </p:nvSpPr>
        <p:spPr>
          <a:xfrm>
            <a:off x="5068342" y="3274963"/>
            <a:ext cx="714970" cy="358246"/>
          </a:xfrm>
          <a:prstGeom prst="roundRect">
            <a:avLst>
              <a:gd name="adj" fmla="val 12053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none" lIns="64770" tIns="29210" rIns="64770" bIns="29210" rtlCol="0" anchor="ctr"/>
          <a:lstStyle/>
          <a:p>
            <a:pPr marL="0" indent="0" algn="ctr">
              <a:buNone/>
            </a:pPr>
            <a:r>
              <a:rPr lang="en-US" sz="650" b="1" kern="0" spc="13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GV.RR-1</a:t>
            </a:r>
            <a:endParaRPr lang="en-US" sz="650" dirty="0"/>
          </a:p>
        </p:txBody>
      </p:sp>
      <p:sp>
        <p:nvSpPr>
          <p:cNvPr id="71" name="Text 56"/>
          <p:cNvSpPr/>
          <p:nvPr/>
        </p:nvSpPr>
        <p:spPr>
          <a:xfrm>
            <a:off x="5869632" y="3274963"/>
            <a:ext cx="2714655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Responsibilities Communication</a:t>
            </a:r>
            <a:endParaRPr lang="en-US" sz="760" dirty="0"/>
          </a:p>
        </p:txBody>
      </p:sp>
      <p:sp>
        <p:nvSpPr>
          <p:cNvPr id="72" name="Text 57"/>
          <p:cNvSpPr/>
          <p:nvPr/>
        </p:nvSpPr>
        <p:spPr>
          <a:xfrm>
            <a:off x="5869632" y="3398341"/>
            <a:ext cx="2517225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roles and duties formally communicated to all relevant personnel</a:t>
            </a:r>
            <a:endParaRPr lang="en-US" sz="680" dirty="0"/>
          </a:p>
        </p:txBody>
      </p:sp>
      <p:pic>
        <p:nvPicPr>
          <p:cNvPr id="73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05598" y="3382500"/>
            <a:ext cx="132588" cy="132588"/>
          </a:xfrm>
          <a:prstGeom prst="rect">
            <a:avLst/>
          </a:prstGeom>
        </p:spPr>
      </p:pic>
      <p:sp>
        <p:nvSpPr>
          <p:cNvPr id="74" name="Text 58"/>
          <p:cNvSpPr/>
          <p:nvPr/>
        </p:nvSpPr>
        <p:spPr>
          <a:xfrm>
            <a:off x="4972496" y="3746450"/>
            <a:ext cx="3643313" cy="496342"/>
          </a:xfrm>
          <a:prstGeom prst="roundRect">
            <a:avLst>
              <a:gd name="adj" fmla="val 13049"/>
            </a:avLst>
          </a:prstGeom>
          <a:solidFill>
            <a:srgbClr val="F8FAFC"/>
          </a:solidFill>
          <a:ln w="9525">
            <a:solidFill>
              <a:srgbClr val="D1DDE8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59"/>
          <p:cNvSpPr/>
          <p:nvPr/>
        </p:nvSpPr>
        <p:spPr>
          <a:xfrm>
            <a:off x="5068342" y="3820716"/>
            <a:ext cx="714970" cy="358246"/>
          </a:xfrm>
          <a:prstGeom prst="roundRect">
            <a:avLst>
              <a:gd name="adj" fmla="val 12053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none" lIns="64770" tIns="29210" rIns="64770" bIns="29210" rtlCol="0" anchor="ctr"/>
          <a:lstStyle/>
          <a:p>
            <a:pPr marL="0" indent="0" algn="ctr">
              <a:buNone/>
            </a:pPr>
            <a:r>
              <a:rPr lang="en-US" sz="650" b="1" kern="0" spc="13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DE.CM-1</a:t>
            </a:r>
            <a:endParaRPr lang="en-US" sz="650" dirty="0"/>
          </a:p>
        </p:txBody>
      </p:sp>
      <p:sp>
        <p:nvSpPr>
          <p:cNvPr id="76" name="Text 60"/>
          <p:cNvSpPr/>
          <p:nvPr/>
        </p:nvSpPr>
        <p:spPr>
          <a:xfrm>
            <a:off x="5869632" y="3820716"/>
            <a:ext cx="2714655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 Activity Reporting Awareness</a:t>
            </a:r>
            <a:endParaRPr lang="en-US" sz="760" dirty="0"/>
          </a:p>
        </p:txBody>
      </p:sp>
      <p:sp>
        <p:nvSpPr>
          <p:cNvPr id="77" name="Text 61"/>
          <p:cNvSpPr/>
          <p:nvPr/>
        </p:nvSpPr>
        <p:spPr>
          <a:xfrm>
            <a:off x="5869632" y="3944094"/>
            <a:ext cx="2517225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trained to identify and report indicators of abnormal system behavior</a:t>
            </a:r>
            <a:endParaRPr lang="en-US" sz="680" dirty="0"/>
          </a:p>
        </p:txBody>
      </p:sp>
      <p:pic>
        <p:nvPicPr>
          <p:cNvPr id="78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405598" y="3928253"/>
            <a:ext cx="132588" cy="132588"/>
          </a:xfrm>
          <a:prstGeom prst="rect">
            <a:avLst/>
          </a:prstGeom>
        </p:spPr>
      </p:pic>
      <p:sp>
        <p:nvSpPr>
          <p:cNvPr id="79" name="Text 62"/>
          <p:cNvSpPr/>
          <p:nvPr/>
        </p:nvSpPr>
        <p:spPr>
          <a:xfrm>
            <a:off x="400050" y="4492079"/>
            <a:ext cx="8343900" cy="453330"/>
          </a:xfrm>
          <a:prstGeom prst="roundRect">
            <a:avLst>
              <a:gd name="adj" fmla="val 15688"/>
            </a:avLst>
          </a:prstGeom>
          <a:solidFill>
            <a:srgbClr val="0D1B2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63"/>
          <p:cNvSpPr/>
          <p:nvPr/>
        </p:nvSpPr>
        <p:spPr>
          <a:xfrm>
            <a:off x="571500" y="4604445"/>
            <a:ext cx="228600" cy="228600"/>
          </a:xfrm>
          <a:prstGeom prst="roundRect">
            <a:avLst>
              <a:gd name="adj" fmla="val 21667"/>
            </a:avLst>
          </a:prstGeom>
          <a:solidFill>
            <a:srgbClr val="E8A020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1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19506" y="4652451"/>
            <a:ext cx="132588" cy="132588"/>
          </a:xfrm>
          <a:prstGeom prst="rect">
            <a:avLst/>
          </a:prstGeom>
        </p:spPr>
      </p:pic>
      <p:sp>
        <p:nvSpPr>
          <p:cNvPr id="82" name="Text 64"/>
          <p:cNvSpPr/>
          <p:nvPr/>
        </p:nvSpPr>
        <p:spPr>
          <a:xfrm>
            <a:off x="900410" y="4578400"/>
            <a:ext cx="5456923" cy="294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6"/>
              </a:lnSpc>
              <a:buNone/>
            </a:pPr>
            <a:r>
              <a:rPr lang="en-US" sz="79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webinar theme maps to measurable CRI/NIST outcomes</a:t>
            </a:r>
            <a:r>
              <a:rPr lang="en-US" sz="79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training is evidence-based, not compliance theater.</a:t>
            </a:r>
            <a:endParaRPr lang="en-US" sz="790" dirty="0"/>
          </a:p>
        </p:txBody>
      </p:sp>
      <p:sp>
        <p:nvSpPr>
          <p:cNvPr id="83" name="Text 65"/>
          <p:cNvSpPr/>
          <p:nvPr/>
        </p:nvSpPr>
        <p:spPr>
          <a:xfrm>
            <a:off x="6350645" y="4659660"/>
            <a:ext cx="65566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FFFFFF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TO:</a:t>
            </a:r>
            <a:endParaRPr lang="en-US" sz="620" dirty="0"/>
          </a:p>
        </p:txBody>
      </p:sp>
      <p:sp>
        <p:nvSpPr>
          <p:cNvPr id="84" name="Text 66"/>
          <p:cNvSpPr/>
          <p:nvPr/>
        </p:nvSpPr>
        <p:spPr>
          <a:xfrm>
            <a:off x="7017693" y="4620964"/>
            <a:ext cx="833586" cy="214952"/>
          </a:xfrm>
          <a:prstGeom prst="roundRect">
            <a:avLst>
              <a:gd name="adj" fmla="val 13589"/>
            </a:avLst>
          </a:prstGeom>
          <a:solidFill>
            <a:srgbClr val="1A56A0">
              <a:alpha val="35000"/>
            </a:srgbClr>
          </a:solidFill>
          <a:ln w="9525">
            <a:solidFill>
              <a:srgbClr val="93C5FD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PROFILE v2.2</a:t>
            </a:r>
            <a:endParaRPr lang="en-US" sz="620" dirty="0"/>
          </a:p>
        </p:txBody>
      </p:sp>
      <p:sp>
        <p:nvSpPr>
          <p:cNvPr id="85" name="Text 67"/>
          <p:cNvSpPr/>
          <p:nvPr/>
        </p:nvSpPr>
        <p:spPr>
          <a:xfrm>
            <a:off x="7922270" y="4620964"/>
            <a:ext cx="650230" cy="214952"/>
          </a:xfrm>
          <a:prstGeom prst="roundRect">
            <a:avLst>
              <a:gd name="adj" fmla="val 13589"/>
            </a:avLst>
          </a:prstGeom>
          <a:solidFill>
            <a:srgbClr val="B45309">
              <a:alpha val="35000"/>
            </a:srgbClr>
          </a:solidFill>
          <a:ln w="9525">
            <a:solidFill>
              <a:srgbClr val="FCD34D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</a:t>
            </a:r>
            <a:endParaRPr lang="en-US" sz="6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070" y="157460"/>
            <a:ext cx="5206073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70"/>
              </a:lnSpc>
              <a:buNone/>
            </a:pPr>
            <a:r>
              <a:rPr lang="en-US" sz="1580" kern="0" spc="-2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Program </a:t>
            </a:r>
            <a:r>
              <a:rPr lang="en-US" sz="1580" kern="0" spc="-20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KPI Dashboard</a:t>
            </a:r>
            <a:r>
              <a:rPr lang="en-US" sz="1580" kern="0" spc="-2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: Measuring Behavioral Change</a:t>
            </a:r>
            <a:endParaRPr lang="en-US" sz="1580" dirty="0"/>
          </a:p>
        </p:txBody>
      </p:sp>
      <p:sp>
        <p:nvSpPr>
          <p:cNvPr id="3" name="Text 1"/>
          <p:cNvSpPr/>
          <p:nvPr/>
        </p:nvSpPr>
        <p:spPr>
          <a:xfrm>
            <a:off x="372070" y="501551"/>
            <a:ext cx="400050" cy="21580"/>
          </a:xfrm>
          <a:prstGeom prst="roundRect">
            <a:avLst>
              <a:gd name="adj" fmla="val 64736"/>
            </a:avLst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574310" y="186630"/>
            <a:ext cx="1221572" cy="195411"/>
          </a:xfrm>
          <a:prstGeom prst="roundRect">
            <a:avLst>
              <a:gd name="adj" fmla="val 14948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lIns="71120" tIns="29210" rIns="71120" bIns="29210" rtlCol="0" anchor="t"/>
          <a:lstStyle/>
          <a:p>
            <a:pPr marL="0" indent="0" algn="l">
              <a:buNone/>
            </a:pPr>
            <a:r>
              <a:rPr lang="en-US" sz="620" b="1" kern="0" spc="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TREND VIEW</a:t>
            </a:r>
            <a:endParaRPr lang="en-US" sz="620" dirty="0"/>
          </a:p>
        </p:txBody>
      </p:sp>
      <p:sp>
        <p:nvSpPr>
          <p:cNvPr id="5" name="Text 3"/>
          <p:cNvSpPr/>
          <p:nvPr/>
        </p:nvSpPr>
        <p:spPr>
          <a:xfrm>
            <a:off x="372070" y="623441"/>
            <a:ext cx="2742307" cy="1799481"/>
          </a:xfrm>
          <a:prstGeom prst="roundRect">
            <a:avLst>
              <a:gd name="adj" fmla="val 4799"/>
            </a:avLst>
          </a:prstGeom>
          <a:solidFill>
            <a:srgbClr val="1A2E42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2399" y="733276"/>
            <a:ext cx="1665104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kern="0" spc="53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SIMULATION CLICK RATE</a:t>
            </a:r>
            <a:endParaRPr lang="en-US" sz="59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194" y="723016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9736" y="1570732"/>
            <a:ext cx="1629565" cy="299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0"/>
              </a:lnSpc>
              <a:buNone/>
            </a:pPr>
            <a:r>
              <a:rPr lang="en-US" sz="2360" b="1" kern="0" spc="-6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3.8%</a:t>
            </a:r>
            <a:endParaRPr lang="en-US" sz="2360" dirty="0"/>
          </a:p>
        </p:txBody>
      </p:sp>
      <p:sp>
        <p:nvSpPr>
          <p:cNvPr id="9" name="Text 6"/>
          <p:cNvSpPr/>
          <p:nvPr/>
        </p:nvSpPr>
        <p:spPr>
          <a:xfrm>
            <a:off x="509736" y="1899642"/>
            <a:ext cx="1675254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&lt;5%</a:t>
            </a: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Industry: 10.9%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509736" y="2068264"/>
            <a:ext cx="1522958" cy="35421"/>
          </a:xfrm>
          <a:prstGeom prst="roundRect">
            <a:avLst>
              <a:gd name="adj" fmla="val 60953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09736" y="2068264"/>
            <a:ext cx="532954" cy="35421"/>
          </a:xfrm>
          <a:prstGeom prst="roundRect">
            <a:avLst>
              <a:gd name="adj" fmla="val 60953"/>
            </a:avLst>
          </a:prstGeom>
          <a:solidFill>
            <a:srgbClr val="22C55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09736" y="2146846"/>
            <a:ext cx="1553417" cy="180231"/>
          </a:xfrm>
          <a:prstGeom prst="roundRect">
            <a:avLst>
              <a:gd name="adj" fmla="val 2395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none" lIns="64770" tIns="21590" rIns="64770" bIns="2159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 — 65% below industry avg</a:t>
            </a:r>
            <a:endParaRPr lang="en-US" sz="620" dirty="0"/>
          </a:p>
        </p:txBody>
      </p:sp>
      <p:sp>
        <p:nvSpPr>
          <p:cNvPr id="13" name="Text 10"/>
          <p:cNvSpPr/>
          <p:nvPr/>
        </p:nvSpPr>
        <p:spPr>
          <a:xfrm>
            <a:off x="2284958" y="1824335"/>
            <a:ext cx="705588" cy="187821"/>
          </a:xfrm>
          <a:prstGeom prst="roundRect">
            <a:avLst>
              <a:gd name="adj" fmla="val 76408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none" lIns="151100" tIns="29210" rIns="57150" bIns="2921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Improving</a:t>
            </a:r>
            <a:endParaRPr lang="en-US" sz="68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08184" y="1851877"/>
            <a:ext cx="132588" cy="132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46399" y="2095202"/>
            <a:ext cx="49411" cy="231874"/>
          </a:xfrm>
          <a:prstGeom prst="roundRect">
            <a:avLst>
              <a:gd name="adj" fmla="val 43695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217390" y="2108002"/>
            <a:ext cx="49411" cy="219075"/>
          </a:xfrm>
          <a:prstGeom prst="roundRect">
            <a:avLst>
              <a:gd name="adj" fmla="val 43695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2288381" y="2126159"/>
            <a:ext cx="49411" cy="200918"/>
          </a:xfrm>
          <a:prstGeom prst="roundRect">
            <a:avLst>
              <a:gd name="adj" fmla="val 43695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2359372" y="2146697"/>
            <a:ext cx="49411" cy="180380"/>
          </a:xfrm>
          <a:prstGeom prst="roundRect">
            <a:avLst>
              <a:gd name="adj" fmla="val 43695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2430363" y="2159645"/>
            <a:ext cx="49411" cy="167432"/>
          </a:xfrm>
          <a:prstGeom prst="roundRect">
            <a:avLst>
              <a:gd name="adj" fmla="val 43695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2501354" y="2177653"/>
            <a:ext cx="49411" cy="149423"/>
          </a:xfrm>
          <a:prstGeom prst="roundRect">
            <a:avLst>
              <a:gd name="adj" fmla="val 43695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2572345" y="2193131"/>
            <a:ext cx="49411" cy="133945"/>
          </a:xfrm>
          <a:prstGeom prst="roundRect">
            <a:avLst>
              <a:gd name="adj" fmla="val 43695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2643336" y="2205930"/>
            <a:ext cx="49411" cy="121146"/>
          </a:xfrm>
          <a:prstGeom prst="roundRect">
            <a:avLst>
              <a:gd name="adj" fmla="val 43695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2714327" y="2216348"/>
            <a:ext cx="49411" cy="110728"/>
          </a:xfrm>
          <a:prstGeom prst="roundRect">
            <a:avLst>
              <a:gd name="adj" fmla="val 43695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2785318" y="2224088"/>
            <a:ext cx="49411" cy="102989"/>
          </a:xfrm>
          <a:prstGeom prst="roundRect">
            <a:avLst>
              <a:gd name="adj" fmla="val 43695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2856309" y="2229148"/>
            <a:ext cx="49411" cy="97929"/>
          </a:xfrm>
          <a:prstGeom prst="ellipse">
            <a:avLst/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2927300" y="2236887"/>
            <a:ext cx="49411" cy="90190"/>
          </a:xfrm>
          <a:prstGeom prst="ellipse">
            <a:avLst/>
          </a:prstGeom>
          <a:solidFill>
            <a:srgbClr val="22C55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3200698" y="623441"/>
            <a:ext cx="2742456" cy="1799481"/>
          </a:xfrm>
          <a:prstGeom prst="roundRect">
            <a:avLst>
              <a:gd name="adj" fmla="val 4799"/>
            </a:avLst>
          </a:prstGeom>
          <a:solidFill>
            <a:srgbClr val="1A2E42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3451027" y="733276"/>
            <a:ext cx="1153507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kern="0" spc="53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REPORT RATE</a:t>
            </a:r>
            <a:endParaRPr lang="en-US" sz="59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6821" y="723016"/>
            <a:ext cx="132588" cy="13258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338364" y="1452711"/>
            <a:ext cx="1751389" cy="299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0"/>
              </a:lnSpc>
              <a:buNone/>
            </a:pPr>
            <a:r>
              <a:rPr lang="en-US" sz="2360" b="1" kern="0" spc="-6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31.2%</a:t>
            </a:r>
            <a:endParaRPr lang="en-US" sz="2360" dirty="0"/>
          </a:p>
        </p:txBody>
      </p:sp>
      <p:sp>
        <p:nvSpPr>
          <p:cNvPr id="31" name="Text 26"/>
          <p:cNvSpPr/>
          <p:nvPr/>
        </p:nvSpPr>
        <p:spPr>
          <a:xfrm>
            <a:off x="3338364" y="1781621"/>
            <a:ext cx="1800493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&gt;25%</a:t>
            </a: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Baseline: 11%</a:t>
            </a:r>
            <a:endParaRPr lang="en-US" sz="650" dirty="0"/>
          </a:p>
        </p:txBody>
      </p:sp>
      <p:sp>
        <p:nvSpPr>
          <p:cNvPr id="32" name="Text 27"/>
          <p:cNvSpPr/>
          <p:nvPr/>
        </p:nvSpPr>
        <p:spPr>
          <a:xfrm>
            <a:off x="3338364" y="1950244"/>
            <a:ext cx="1636812" cy="35421"/>
          </a:xfrm>
          <a:prstGeom prst="roundRect">
            <a:avLst>
              <a:gd name="adj" fmla="val 60953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3338364" y="1950244"/>
            <a:ext cx="1358503" cy="35421"/>
          </a:xfrm>
          <a:prstGeom prst="roundRect">
            <a:avLst>
              <a:gd name="adj" fmla="val 60953"/>
            </a:avLst>
          </a:prstGeom>
          <a:solidFill>
            <a:srgbClr val="22C55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3338364" y="2028825"/>
            <a:ext cx="1636812" cy="307199"/>
          </a:xfrm>
          <a:prstGeom prst="roundRect">
            <a:avLst>
              <a:gd name="adj" fmla="val 1405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lIns="64770" tIns="21590" rIns="64770" bIns="2159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Exceeding Target — +24.8% vs. baseline</a:t>
            </a:r>
            <a:endParaRPr lang="en-US" sz="620" dirty="0"/>
          </a:p>
        </p:txBody>
      </p:sp>
      <p:sp>
        <p:nvSpPr>
          <p:cNvPr id="35" name="Text 30"/>
          <p:cNvSpPr/>
          <p:nvPr/>
        </p:nvSpPr>
        <p:spPr>
          <a:xfrm>
            <a:off x="5113734" y="1824335"/>
            <a:ext cx="705588" cy="187821"/>
          </a:xfrm>
          <a:prstGeom prst="roundRect">
            <a:avLst>
              <a:gd name="adj" fmla="val 76408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none" lIns="151100" tIns="29210" rIns="57150" bIns="2921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Improving</a:t>
            </a:r>
            <a:endParaRPr lang="en-US" sz="68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36960" y="1851877"/>
            <a:ext cx="132588" cy="13258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4975175" y="2249835"/>
            <a:ext cx="49411" cy="77242"/>
          </a:xfrm>
          <a:prstGeom prst="ellipse">
            <a:avLst/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5046166" y="2236887"/>
            <a:ext cx="49411" cy="90190"/>
          </a:xfrm>
          <a:prstGeom prst="ellipse">
            <a:avLst/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5117157" y="2218879"/>
            <a:ext cx="49411" cy="108198"/>
          </a:xfrm>
          <a:prstGeom prst="roundRect">
            <a:avLst>
              <a:gd name="adj" fmla="val 43695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5188148" y="2203400"/>
            <a:ext cx="49411" cy="123676"/>
          </a:xfrm>
          <a:prstGeom prst="roundRect">
            <a:avLst>
              <a:gd name="adj" fmla="val 43695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5259139" y="2185392"/>
            <a:ext cx="49411" cy="141684"/>
          </a:xfrm>
          <a:prstGeom prst="roundRect">
            <a:avLst>
              <a:gd name="adj" fmla="val 43695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5330130" y="2172444"/>
            <a:ext cx="49411" cy="154632"/>
          </a:xfrm>
          <a:prstGeom prst="roundRect">
            <a:avLst>
              <a:gd name="adj" fmla="val 43695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5401121" y="2154436"/>
            <a:ext cx="49411" cy="172641"/>
          </a:xfrm>
          <a:prstGeom prst="roundRect">
            <a:avLst>
              <a:gd name="adj" fmla="val 43695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5472113" y="2141488"/>
            <a:ext cx="49411" cy="185589"/>
          </a:xfrm>
          <a:prstGeom prst="roundRect">
            <a:avLst>
              <a:gd name="adj" fmla="val 43695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5543104" y="2126159"/>
            <a:ext cx="49411" cy="200918"/>
          </a:xfrm>
          <a:prstGeom prst="roundRect">
            <a:avLst>
              <a:gd name="adj" fmla="val 43695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5614095" y="2115741"/>
            <a:ext cx="49411" cy="211336"/>
          </a:xfrm>
          <a:prstGeom prst="roundRect">
            <a:avLst>
              <a:gd name="adj" fmla="val 43695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5685086" y="2105471"/>
            <a:ext cx="49411" cy="221605"/>
          </a:xfrm>
          <a:prstGeom prst="roundRect">
            <a:avLst>
              <a:gd name="adj" fmla="val 43695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2"/>
          <p:cNvSpPr/>
          <p:nvPr/>
        </p:nvSpPr>
        <p:spPr>
          <a:xfrm>
            <a:off x="5756077" y="2089993"/>
            <a:ext cx="49411" cy="237083"/>
          </a:xfrm>
          <a:prstGeom prst="roundRect">
            <a:avLst>
              <a:gd name="adj" fmla="val 43695"/>
            </a:avLst>
          </a:prstGeom>
          <a:solidFill>
            <a:srgbClr val="22C55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3"/>
          <p:cNvSpPr/>
          <p:nvPr/>
        </p:nvSpPr>
        <p:spPr>
          <a:xfrm>
            <a:off x="6029474" y="623441"/>
            <a:ext cx="2742307" cy="1799481"/>
          </a:xfrm>
          <a:prstGeom prst="roundRect">
            <a:avLst>
              <a:gd name="adj" fmla="val 4799"/>
            </a:avLst>
          </a:prstGeom>
          <a:solidFill>
            <a:srgbClr val="1A2E42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4"/>
          <p:cNvSpPr/>
          <p:nvPr/>
        </p:nvSpPr>
        <p:spPr>
          <a:xfrm>
            <a:off x="6279803" y="733276"/>
            <a:ext cx="1388924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kern="0" spc="53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COMPLETION RATE</a:t>
            </a:r>
            <a:endParaRPr lang="en-US" sz="590" dirty="0"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35597" y="723016"/>
            <a:ext cx="132588" cy="132588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6167140" y="1570732"/>
            <a:ext cx="1702818" cy="299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0"/>
              </a:lnSpc>
              <a:buNone/>
            </a:pPr>
            <a:r>
              <a:rPr lang="en-US" sz="2360" b="1" kern="0" spc="-6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</a:t>
            </a:r>
            <a:endParaRPr lang="en-US" sz="2360" dirty="0"/>
          </a:p>
        </p:txBody>
      </p:sp>
      <p:sp>
        <p:nvSpPr>
          <p:cNvPr id="53" name="Text 46"/>
          <p:cNvSpPr/>
          <p:nvPr/>
        </p:nvSpPr>
        <p:spPr>
          <a:xfrm>
            <a:off x="6167140" y="1899642"/>
            <a:ext cx="1750561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&gt;95%</a:t>
            </a: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All roles included</a:t>
            </a:r>
            <a:endParaRPr lang="en-US" sz="650" dirty="0"/>
          </a:p>
        </p:txBody>
      </p:sp>
      <p:sp>
        <p:nvSpPr>
          <p:cNvPr id="54" name="Text 47"/>
          <p:cNvSpPr/>
          <p:nvPr/>
        </p:nvSpPr>
        <p:spPr>
          <a:xfrm>
            <a:off x="6167140" y="2068264"/>
            <a:ext cx="1591419" cy="35421"/>
          </a:xfrm>
          <a:prstGeom prst="roundRect">
            <a:avLst>
              <a:gd name="adj" fmla="val 60953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8"/>
          <p:cNvSpPr/>
          <p:nvPr/>
        </p:nvSpPr>
        <p:spPr>
          <a:xfrm>
            <a:off x="6167140" y="2068264"/>
            <a:ext cx="1527721" cy="35421"/>
          </a:xfrm>
          <a:prstGeom prst="roundRect">
            <a:avLst>
              <a:gd name="adj" fmla="val 60953"/>
            </a:avLst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9"/>
          <p:cNvSpPr/>
          <p:nvPr/>
        </p:nvSpPr>
        <p:spPr>
          <a:xfrm>
            <a:off x="6167140" y="2146846"/>
            <a:ext cx="1623248" cy="180231"/>
          </a:xfrm>
          <a:prstGeom prst="roundRect">
            <a:avLst>
              <a:gd name="adj" fmla="val 2395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none" lIns="64770" tIns="21590" rIns="64770" bIns="2159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 — 96.4% all-staff completion</a:t>
            </a:r>
            <a:endParaRPr lang="en-US" sz="620" dirty="0"/>
          </a:p>
        </p:txBody>
      </p:sp>
      <p:sp>
        <p:nvSpPr>
          <p:cNvPr id="57" name="Text 50"/>
          <p:cNvSpPr/>
          <p:nvPr/>
        </p:nvSpPr>
        <p:spPr>
          <a:xfrm>
            <a:off x="8076158" y="1824335"/>
            <a:ext cx="569116" cy="187821"/>
          </a:xfrm>
          <a:prstGeom prst="roundRect">
            <a:avLst>
              <a:gd name="adj" fmla="val 76408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none" lIns="151100" tIns="29210" rIns="57150" bIns="2921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Steady</a:t>
            </a:r>
            <a:endParaRPr lang="en-US" sz="680" dirty="0"/>
          </a:p>
        </p:txBody>
      </p:sp>
      <p:pic>
        <p:nvPicPr>
          <p:cNvPr id="5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99384" y="1851877"/>
            <a:ext cx="132588" cy="132588"/>
          </a:xfrm>
          <a:prstGeom prst="rect">
            <a:avLst/>
          </a:prstGeom>
        </p:spPr>
      </p:pic>
      <p:sp>
        <p:nvSpPr>
          <p:cNvPr id="59" name="Text 51"/>
          <p:cNvSpPr/>
          <p:nvPr/>
        </p:nvSpPr>
        <p:spPr>
          <a:xfrm>
            <a:off x="7803803" y="2159645"/>
            <a:ext cx="49411" cy="167432"/>
          </a:xfrm>
          <a:prstGeom prst="roundRect">
            <a:avLst>
              <a:gd name="adj" fmla="val 43695"/>
            </a:avLst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2"/>
          <p:cNvSpPr/>
          <p:nvPr/>
        </p:nvSpPr>
        <p:spPr>
          <a:xfrm>
            <a:off x="7874794" y="2146697"/>
            <a:ext cx="49411" cy="180380"/>
          </a:xfrm>
          <a:prstGeom prst="roundRect">
            <a:avLst>
              <a:gd name="adj" fmla="val 43695"/>
            </a:avLst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3"/>
          <p:cNvSpPr/>
          <p:nvPr/>
        </p:nvSpPr>
        <p:spPr>
          <a:xfrm>
            <a:off x="7945785" y="2136428"/>
            <a:ext cx="49411" cy="190649"/>
          </a:xfrm>
          <a:prstGeom prst="roundRect">
            <a:avLst>
              <a:gd name="adj" fmla="val 43695"/>
            </a:avLst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4"/>
          <p:cNvSpPr/>
          <p:nvPr/>
        </p:nvSpPr>
        <p:spPr>
          <a:xfrm>
            <a:off x="8016776" y="2123480"/>
            <a:ext cx="49411" cy="203597"/>
          </a:xfrm>
          <a:prstGeom prst="roundRect">
            <a:avLst>
              <a:gd name="adj" fmla="val 43695"/>
            </a:avLst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5"/>
          <p:cNvSpPr/>
          <p:nvPr/>
        </p:nvSpPr>
        <p:spPr>
          <a:xfrm>
            <a:off x="8087767" y="2115741"/>
            <a:ext cx="49411" cy="211336"/>
          </a:xfrm>
          <a:prstGeom prst="roundRect">
            <a:avLst>
              <a:gd name="adj" fmla="val 43695"/>
            </a:avLst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6"/>
          <p:cNvSpPr/>
          <p:nvPr/>
        </p:nvSpPr>
        <p:spPr>
          <a:xfrm>
            <a:off x="8158758" y="2108002"/>
            <a:ext cx="49411" cy="219075"/>
          </a:xfrm>
          <a:prstGeom prst="roundRect">
            <a:avLst>
              <a:gd name="adj" fmla="val 43695"/>
            </a:avLst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7"/>
          <p:cNvSpPr/>
          <p:nvPr/>
        </p:nvSpPr>
        <p:spPr>
          <a:xfrm>
            <a:off x="8229749" y="2102941"/>
            <a:ext cx="49411" cy="224135"/>
          </a:xfrm>
          <a:prstGeom prst="roundRect">
            <a:avLst>
              <a:gd name="adj" fmla="val 43695"/>
            </a:avLst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8"/>
          <p:cNvSpPr/>
          <p:nvPr/>
        </p:nvSpPr>
        <p:spPr>
          <a:xfrm>
            <a:off x="8300740" y="2095202"/>
            <a:ext cx="49411" cy="231874"/>
          </a:xfrm>
          <a:prstGeom prst="roundRect">
            <a:avLst>
              <a:gd name="adj" fmla="val 43695"/>
            </a:avLst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9"/>
          <p:cNvSpPr/>
          <p:nvPr/>
        </p:nvSpPr>
        <p:spPr>
          <a:xfrm>
            <a:off x="8371731" y="2089993"/>
            <a:ext cx="49411" cy="237083"/>
          </a:xfrm>
          <a:prstGeom prst="roundRect">
            <a:avLst>
              <a:gd name="adj" fmla="val 43695"/>
            </a:avLst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0"/>
          <p:cNvSpPr/>
          <p:nvPr/>
        </p:nvSpPr>
        <p:spPr>
          <a:xfrm>
            <a:off x="8442722" y="2084784"/>
            <a:ext cx="49411" cy="242292"/>
          </a:xfrm>
          <a:prstGeom prst="roundRect">
            <a:avLst>
              <a:gd name="adj" fmla="val 43695"/>
            </a:avLst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1"/>
          <p:cNvSpPr/>
          <p:nvPr/>
        </p:nvSpPr>
        <p:spPr>
          <a:xfrm>
            <a:off x="8513713" y="2082254"/>
            <a:ext cx="49411" cy="244822"/>
          </a:xfrm>
          <a:prstGeom prst="roundRect">
            <a:avLst>
              <a:gd name="adj" fmla="val 43695"/>
            </a:avLst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2"/>
          <p:cNvSpPr/>
          <p:nvPr/>
        </p:nvSpPr>
        <p:spPr>
          <a:xfrm>
            <a:off x="8584704" y="2077045"/>
            <a:ext cx="49411" cy="250031"/>
          </a:xfrm>
          <a:prstGeom prst="roundRect">
            <a:avLst>
              <a:gd name="adj" fmla="val 43695"/>
            </a:avLst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3"/>
          <p:cNvSpPr/>
          <p:nvPr/>
        </p:nvSpPr>
        <p:spPr>
          <a:xfrm>
            <a:off x="372070" y="2509242"/>
            <a:ext cx="2742307" cy="1799630"/>
          </a:xfrm>
          <a:prstGeom prst="roundRect">
            <a:avLst>
              <a:gd name="adj" fmla="val 4799"/>
            </a:avLst>
          </a:prstGeom>
          <a:solidFill>
            <a:srgbClr val="1A2E42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4"/>
          <p:cNvSpPr/>
          <p:nvPr/>
        </p:nvSpPr>
        <p:spPr>
          <a:xfrm>
            <a:off x="622399" y="2619077"/>
            <a:ext cx="1583248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kern="0" spc="53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REPORT INCIDENT</a:t>
            </a:r>
            <a:endParaRPr lang="en-US" sz="590" dirty="0"/>
          </a:p>
        </p:txBody>
      </p:sp>
      <p:pic>
        <p:nvPicPr>
          <p:cNvPr id="7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8194" y="2608817"/>
            <a:ext cx="132588" cy="132588"/>
          </a:xfrm>
          <a:prstGeom prst="rect">
            <a:avLst/>
          </a:prstGeom>
        </p:spPr>
      </p:pic>
      <p:sp>
        <p:nvSpPr>
          <p:cNvPr id="74" name="Text 65"/>
          <p:cNvSpPr/>
          <p:nvPr/>
        </p:nvSpPr>
        <p:spPr>
          <a:xfrm>
            <a:off x="509736" y="3456682"/>
            <a:ext cx="1462994" cy="299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0"/>
              </a:lnSpc>
              <a:buNone/>
            </a:pPr>
            <a:r>
              <a:rPr lang="en-US" sz="2360" b="1" kern="0" spc="-6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hr</a:t>
            </a:r>
            <a:endParaRPr lang="en-US" sz="2360" dirty="0"/>
          </a:p>
        </p:txBody>
      </p:sp>
      <p:sp>
        <p:nvSpPr>
          <p:cNvPr id="75" name="Text 66"/>
          <p:cNvSpPr/>
          <p:nvPr/>
        </p:nvSpPr>
        <p:spPr>
          <a:xfrm>
            <a:off x="509736" y="3785592"/>
            <a:ext cx="1504012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&lt;4 hours</a:t>
            </a: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Baseline: 18 hrs</a:t>
            </a:r>
            <a:endParaRPr lang="en-US" sz="650" dirty="0"/>
          </a:p>
        </p:txBody>
      </p:sp>
      <p:sp>
        <p:nvSpPr>
          <p:cNvPr id="76" name="Text 67"/>
          <p:cNvSpPr/>
          <p:nvPr/>
        </p:nvSpPr>
        <p:spPr>
          <a:xfrm>
            <a:off x="509736" y="3954214"/>
            <a:ext cx="1367284" cy="35421"/>
          </a:xfrm>
          <a:prstGeom prst="roundRect">
            <a:avLst>
              <a:gd name="adj" fmla="val 60953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68"/>
          <p:cNvSpPr/>
          <p:nvPr/>
        </p:nvSpPr>
        <p:spPr>
          <a:xfrm>
            <a:off x="509736" y="3954214"/>
            <a:ext cx="724644" cy="35421"/>
          </a:xfrm>
          <a:prstGeom prst="roundRect">
            <a:avLst>
              <a:gd name="adj" fmla="val 60953"/>
            </a:avLst>
          </a:prstGeom>
          <a:solidFill>
            <a:srgbClr val="22C55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69"/>
          <p:cNvSpPr/>
          <p:nvPr/>
        </p:nvSpPr>
        <p:spPr>
          <a:xfrm>
            <a:off x="509736" y="4032796"/>
            <a:ext cx="1394630" cy="180231"/>
          </a:xfrm>
          <a:prstGeom prst="roundRect">
            <a:avLst>
              <a:gd name="adj" fmla="val 2395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none" lIns="64770" tIns="21590" rIns="64770" bIns="2159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faster than original baseline</a:t>
            </a:r>
            <a:endParaRPr lang="en-US" sz="620" dirty="0"/>
          </a:p>
        </p:txBody>
      </p:sp>
      <p:sp>
        <p:nvSpPr>
          <p:cNvPr id="79" name="Text 70"/>
          <p:cNvSpPr/>
          <p:nvPr/>
        </p:nvSpPr>
        <p:spPr>
          <a:xfrm>
            <a:off x="2284958" y="3710285"/>
            <a:ext cx="705588" cy="187821"/>
          </a:xfrm>
          <a:prstGeom prst="roundRect">
            <a:avLst>
              <a:gd name="adj" fmla="val 76408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none" lIns="151100" tIns="29210" rIns="57150" bIns="2921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Improving</a:t>
            </a:r>
            <a:endParaRPr lang="en-US" sz="680" dirty="0"/>
          </a:p>
        </p:txBody>
      </p:sp>
      <p:pic>
        <p:nvPicPr>
          <p:cNvPr id="8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08184" y="3737827"/>
            <a:ext cx="132588" cy="132588"/>
          </a:xfrm>
          <a:prstGeom prst="rect">
            <a:avLst/>
          </a:prstGeom>
        </p:spPr>
      </p:pic>
      <p:sp>
        <p:nvSpPr>
          <p:cNvPr id="81" name="Text 71"/>
          <p:cNvSpPr/>
          <p:nvPr/>
        </p:nvSpPr>
        <p:spPr>
          <a:xfrm>
            <a:off x="2146399" y="3955256"/>
            <a:ext cx="49411" cy="257770"/>
          </a:xfrm>
          <a:prstGeom prst="roundRect">
            <a:avLst>
              <a:gd name="adj" fmla="val 43695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72"/>
          <p:cNvSpPr/>
          <p:nvPr/>
        </p:nvSpPr>
        <p:spPr>
          <a:xfrm>
            <a:off x="2217390" y="3975943"/>
            <a:ext cx="49411" cy="237083"/>
          </a:xfrm>
          <a:prstGeom prst="roundRect">
            <a:avLst>
              <a:gd name="adj" fmla="val 43695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73"/>
          <p:cNvSpPr/>
          <p:nvPr/>
        </p:nvSpPr>
        <p:spPr>
          <a:xfrm>
            <a:off x="2288381" y="3993952"/>
            <a:ext cx="49411" cy="219075"/>
          </a:xfrm>
          <a:prstGeom prst="roundRect">
            <a:avLst>
              <a:gd name="adj" fmla="val 43695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74"/>
          <p:cNvSpPr/>
          <p:nvPr/>
        </p:nvSpPr>
        <p:spPr>
          <a:xfrm>
            <a:off x="2359372" y="4019699"/>
            <a:ext cx="49411" cy="193328"/>
          </a:xfrm>
          <a:prstGeom prst="roundRect">
            <a:avLst>
              <a:gd name="adj" fmla="val 43695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75"/>
          <p:cNvSpPr/>
          <p:nvPr/>
        </p:nvSpPr>
        <p:spPr>
          <a:xfrm>
            <a:off x="2430363" y="4045595"/>
            <a:ext cx="49411" cy="167432"/>
          </a:xfrm>
          <a:prstGeom prst="roundRect">
            <a:avLst>
              <a:gd name="adj" fmla="val 43695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76"/>
          <p:cNvSpPr/>
          <p:nvPr/>
        </p:nvSpPr>
        <p:spPr>
          <a:xfrm>
            <a:off x="2501354" y="4066133"/>
            <a:ext cx="49411" cy="146893"/>
          </a:xfrm>
          <a:prstGeom prst="roundRect">
            <a:avLst>
              <a:gd name="adj" fmla="val 43695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77"/>
          <p:cNvSpPr/>
          <p:nvPr/>
        </p:nvSpPr>
        <p:spPr>
          <a:xfrm>
            <a:off x="2572345" y="4084141"/>
            <a:ext cx="49411" cy="128885"/>
          </a:xfrm>
          <a:prstGeom prst="roundRect">
            <a:avLst>
              <a:gd name="adj" fmla="val 43695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78"/>
          <p:cNvSpPr/>
          <p:nvPr/>
        </p:nvSpPr>
        <p:spPr>
          <a:xfrm>
            <a:off x="2643336" y="4102298"/>
            <a:ext cx="49411" cy="110728"/>
          </a:xfrm>
          <a:prstGeom prst="roundRect">
            <a:avLst>
              <a:gd name="adj" fmla="val 43695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79"/>
          <p:cNvSpPr/>
          <p:nvPr/>
        </p:nvSpPr>
        <p:spPr>
          <a:xfrm>
            <a:off x="2714327" y="4117777"/>
            <a:ext cx="49411" cy="95250"/>
          </a:xfrm>
          <a:prstGeom prst="ellipse">
            <a:avLst/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80"/>
          <p:cNvSpPr/>
          <p:nvPr/>
        </p:nvSpPr>
        <p:spPr>
          <a:xfrm>
            <a:off x="2785318" y="4130576"/>
            <a:ext cx="49411" cy="82451"/>
          </a:xfrm>
          <a:prstGeom prst="ellipse">
            <a:avLst/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1" name="Text 81"/>
          <p:cNvSpPr/>
          <p:nvPr/>
        </p:nvSpPr>
        <p:spPr>
          <a:xfrm>
            <a:off x="2856309" y="4146054"/>
            <a:ext cx="49411" cy="66973"/>
          </a:xfrm>
          <a:prstGeom prst="ellipse">
            <a:avLst/>
          </a:prstGeom>
          <a:solidFill>
            <a:srgbClr val="22C5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2" name="Text 82"/>
          <p:cNvSpPr/>
          <p:nvPr/>
        </p:nvSpPr>
        <p:spPr>
          <a:xfrm>
            <a:off x="2927300" y="4156323"/>
            <a:ext cx="49411" cy="56704"/>
          </a:xfrm>
          <a:prstGeom prst="ellipse">
            <a:avLst/>
          </a:prstGeom>
          <a:solidFill>
            <a:srgbClr val="22C55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3" name="Text 83"/>
          <p:cNvSpPr/>
          <p:nvPr/>
        </p:nvSpPr>
        <p:spPr>
          <a:xfrm>
            <a:off x="3200698" y="2509242"/>
            <a:ext cx="2742456" cy="1799630"/>
          </a:xfrm>
          <a:prstGeom prst="roundRect">
            <a:avLst>
              <a:gd name="adj" fmla="val 4799"/>
            </a:avLst>
          </a:prstGeom>
          <a:solidFill>
            <a:srgbClr val="1A2E42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4" name="Text 84"/>
          <p:cNvSpPr/>
          <p:nvPr/>
        </p:nvSpPr>
        <p:spPr>
          <a:xfrm>
            <a:off x="3451027" y="2619077"/>
            <a:ext cx="1961748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kern="0" spc="53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CLICKERS — HIGH-RISK COHORT</a:t>
            </a:r>
            <a:endParaRPr lang="en-US" sz="590" dirty="0"/>
          </a:p>
        </p:txBody>
      </p:sp>
      <p:pic>
        <p:nvPicPr>
          <p:cNvPr id="95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06821" y="2608817"/>
            <a:ext cx="132588" cy="132588"/>
          </a:xfrm>
          <a:prstGeom prst="rect">
            <a:avLst/>
          </a:prstGeom>
        </p:spPr>
      </p:pic>
      <p:sp>
        <p:nvSpPr>
          <p:cNvPr id="96" name="Text 85"/>
          <p:cNvSpPr/>
          <p:nvPr/>
        </p:nvSpPr>
        <p:spPr>
          <a:xfrm>
            <a:off x="3338364" y="3345210"/>
            <a:ext cx="1751389" cy="299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0"/>
              </a:lnSpc>
              <a:buNone/>
            </a:pPr>
            <a:r>
              <a:rPr lang="en-US" sz="2360" b="1" kern="0" spc="-6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</a:t>
            </a:r>
            <a:endParaRPr lang="en-US" sz="2360" dirty="0"/>
          </a:p>
        </p:txBody>
      </p:sp>
      <p:sp>
        <p:nvSpPr>
          <p:cNvPr id="97" name="Text 86"/>
          <p:cNvSpPr/>
          <p:nvPr/>
        </p:nvSpPr>
        <p:spPr>
          <a:xfrm>
            <a:off x="3338364" y="3674120"/>
            <a:ext cx="1669548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Tracked monthly</a:t>
            </a: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Enrolled in remediation</a:t>
            </a:r>
            <a:endParaRPr lang="en-US" sz="650" dirty="0"/>
          </a:p>
        </p:txBody>
      </p:sp>
      <p:sp>
        <p:nvSpPr>
          <p:cNvPr id="98" name="Text 87"/>
          <p:cNvSpPr/>
          <p:nvPr/>
        </p:nvSpPr>
        <p:spPr>
          <a:xfrm>
            <a:off x="3338364" y="3954214"/>
            <a:ext cx="1636812" cy="35421"/>
          </a:xfrm>
          <a:prstGeom prst="roundRect">
            <a:avLst>
              <a:gd name="adj" fmla="val 60953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9" name="Text 88"/>
          <p:cNvSpPr/>
          <p:nvPr/>
        </p:nvSpPr>
        <p:spPr>
          <a:xfrm>
            <a:off x="3338364" y="3954214"/>
            <a:ext cx="196304" cy="35421"/>
          </a:xfrm>
          <a:prstGeom prst="roundRect">
            <a:avLst>
              <a:gd name="adj" fmla="val 60953"/>
            </a:avLst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0" name="Text 89"/>
          <p:cNvSpPr/>
          <p:nvPr/>
        </p:nvSpPr>
        <p:spPr>
          <a:xfrm>
            <a:off x="3338364" y="4032796"/>
            <a:ext cx="1669548" cy="180231"/>
          </a:xfrm>
          <a:prstGeom prst="roundRect">
            <a:avLst>
              <a:gd name="adj" fmla="val 2395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none" lIns="64770" tIns="21590" rIns="64770" bIns="2159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in targeted 1:1 coaching track</a:t>
            </a:r>
            <a:endParaRPr lang="en-US" sz="620" dirty="0"/>
          </a:p>
        </p:txBody>
      </p:sp>
      <p:sp>
        <p:nvSpPr>
          <p:cNvPr id="101" name="Text 90"/>
          <p:cNvSpPr/>
          <p:nvPr/>
        </p:nvSpPr>
        <p:spPr>
          <a:xfrm>
            <a:off x="5142309" y="3710285"/>
            <a:ext cx="676442" cy="187821"/>
          </a:xfrm>
          <a:prstGeom prst="roundRect">
            <a:avLst>
              <a:gd name="adj" fmla="val 76408"/>
            </a:avLst>
          </a:prstGeom>
          <a:solidFill>
            <a:srgbClr val="E8A020">
              <a:alpha val="15000"/>
            </a:srgbClr>
          </a:solidFill>
          <a:ln/>
        </p:spPr>
        <p:txBody>
          <a:bodyPr wrap="none" lIns="151100" tIns="29210" rIns="57150" bIns="2921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Declining</a:t>
            </a:r>
            <a:endParaRPr lang="en-US" sz="680" dirty="0"/>
          </a:p>
        </p:txBody>
      </p:sp>
      <p:pic>
        <p:nvPicPr>
          <p:cNvPr id="102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65535" y="3737827"/>
            <a:ext cx="132588" cy="132588"/>
          </a:xfrm>
          <a:prstGeom prst="rect">
            <a:avLst/>
          </a:prstGeom>
        </p:spPr>
      </p:pic>
      <p:sp>
        <p:nvSpPr>
          <p:cNvPr id="103" name="Text 91"/>
          <p:cNvSpPr/>
          <p:nvPr/>
        </p:nvSpPr>
        <p:spPr>
          <a:xfrm>
            <a:off x="4975175" y="3955256"/>
            <a:ext cx="49411" cy="257770"/>
          </a:xfrm>
          <a:prstGeom prst="roundRect">
            <a:avLst>
              <a:gd name="adj" fmla="val 43695"/>
            </a:avLst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4" name="Text 92"/>
          <p:cNvSpPr/>
          <p:nvPr/>
        </p:nvSpPr>
        <p:spPr>
          <a:xfrm>
            <a:off x="5046166" y="3981152"/>
            <a:ext cx="49411" cy="231874"/>
          </a:xfrm>
          <a:prstGeom prst="roundRect">
            <a:avLst>
              <a:gd name="adj" fmla="val 43695"/>
            </a:avLst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5" name="Text 93"/>
          <p:cNvSpPr/>
          <p:nvPr/>
        </p:nvSpPr>
        <p:spPr>
          <a:xfrm>
            <a:off x="5117157" y="4006900"/>
            <a:ext cx="49411" cy="206127"/>
          </a:xfrm>
          <a:prstGeom prst="roundRect">
            <a:avLst>
              <a:gd name="adj" fmla="val 43695"/>
            </a:avLst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6" name="Text 94"/>
          <p:cNvSpPr/>
          <p:nvPr/>
        </p:nvSpPr>
        <p:spPr>
          <a:xfrm>
            <a:off x="5188148" y="4027438"/>
            <a:ext cx="49411" cy="185589"/>
          </a:xfrm>
          <a:prstGeom prst="roundRect">
            <a:avLst>
              <a:gd name="adj" fmla="val 43695"/>
            </a:avLst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7" name="Text 95"/>
          <p:cNvSpPr/>
          <p:nvPr/>
        </p:nvSpPr>
        <p:spPr>
          <a:xfrm>
            <a:off x="5259139" y="4053334"/>
            <a:ext cx="49411" cy="159693"/>
          </a:xfrm>
          <a:prstGeom prst="roundRect">
            <a:avLst>
              <a:gd name="adj" fmla="val 43695"/>
            </a:avLst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8" name="Text 96"/>
          <p:cNvSpPr/>
          <p:nvPr/>
        </p:nvSpPr>
        <p:spPr>
          <a:xfrm>
            <a:off x="5330130" y="4073872"/>
            <a:ext cx="49411" cy="139154"/>
          </a:xfrm>
          <a:prstGeom prst="roundRect">
            <a:avLst>
              <a:gd name="adj" fmla="val 43695"/>
            </a:avLst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9" name="Text 97"/>
          <p:cNvSpPr/>
          <p:nvPr/>
        </p:nvSpPr>
        <p:spPr>
          <a:xfrm>
            <a:off x="5401121" y="4094559"/>
            <a:ext cx="49411" cy="118467"/>
          </a:xfrm>
          <a:prstGeom prst="roundRect">
            <a:avLst>
              <a:gd name="adj" fmla="val 43695"/>
            </a:avLst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0" name="Text 98"/>
          <p:cNvSpPr/>
          <p:nvPr/>
        </p:nvSpPr>
        <p:spPr>
          <a:xfrm>
            <a:off x="5472113" y="4110038"/>
            <a:ext cx="49411" cy="102989"/>
          </a:xfrm>
          <a:prstGeom prst="roundRect">
            <a:avLst>
              <a:gd name="adj" fmla="val 43695"/>
            </a:avLst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1" name="Text 99"/>
          <p:cNvSpPr/>
          <p:nvPr/>
        </p:nvSpPr>
        <p:spPr>
          <a:xfrm>
            <a:off x="5543104" y="4128046"/>
            <a:ext cx="49411" cy="84981"/>
          </a:xfrm>
          <a:prstGeom prst="ellipse">
            <a:avLst/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2" name="Text 100"/>
          <p:cNvSpPr/>
          <p:nvPr/>
        </p:nvSpPr>
        <p:spPr>
          <a:xfrm>
            <a:off x="5614095" y="4143524"/>
            <a:ext cx="49411" cy="69503"/>
          </a:xfrm>
          <a:prstGeom prst="ellipse">
            <a:avLst/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3" name="Text 101"/>
          <p:cNvSpPr/>
          <p:nvPr/>
        </p:nvSpPr>
        <p:spPr>
          <a:xfrm>
            <a:off x="5685086" y="4156323"/>
            <a:ext cx="49411" cy="56704"/>
          </a:xfrm>
          <a:prstGeom prst="ellipse">
            <a:avLst/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4" name="Text 102"/>
          <p:cNvSpPr/>
          <p:nvPr/>
        </p:nvSpPr>
        <p:spPr>
          <a:xfrm>
            <a:off x="5756077" y="4169271"/>
            <a:ext cx="49411" cy="43755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5" name="Text 103"/>
          <p:cNvSpPr/>
          <p:nvPr/>
        </p:nvSpPr>
        <p:spPr>
          <a:xfrm>
            <a:off x="6029474" y="2509242"/>
            <a:ext cx="2742307" cy="1799630"/>
          </a:xfrm>
          <a:prstGeom prst="roundRect">
            <a:avLst>
              <a:gd name="adj" fmla="val 4799"/>
            </a:avLst>
          </a:prstGeom>
          <a:solidFill>
            <a:srgbClr val="1A2E42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6" name="Text 104"/>
          <p:cNvSpPr/>
          <p:nvPr/>
        </p:nvSpPr>
        <p:spPr>
          <a:xfrm>
            <a:off x="6279803" y="2619077"/>
            <a:ext cx="2144777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kern="0" spc="53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KNOWLEDGE ASSESSMENT SCORE</a:t>
            </a:r>
            <a:endParaRPr lang="en-US" sz="590" dirty="0"/>
          </a:p>
        </p:txBody>
      </p:sp>
      <p:pic>
        <p:nvPicPr>
          <p:cNvPr id="11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35597" y="2608817"/>
            <a:ext cx="132588" cy="132588"/>
          </a:xfrm>
          <a:prstGeom prst="rect">
            <a:avLst/>
          </a:prstGeom>
        </p:spPr>
      </p:pic>
      <p:sp>
        <p:nvSpPr>
          <p:cNvPr id="118" name="Text 105"/>
          <p:cNvSpPr/>
          <p:nvPr/>
        </p:nvSpPr>
        <p:spPr>
          <a:xfrm>
            <a:off x="6167140" y="3338661"/>
            <a:ext cx="1751229" cy="299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0"/>
              </a:lnSpc>
              <a:buNone/>
            </a:pPr>
            <a:r>
              <a:rPr lang="en-US" sz="2360" b="1" kern="0" spc="-6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88.7%</a:t>
            </a:r>
            <a:endParaRPr lang="en-US" sz="2360" dirty="0"/>
          </a:p>
        </p:txBody>
      </p:sp>
      <p:sp>
        <p:nvSpPr>
          <p:cNvPr id="119" name="Text 106"/>
          <p:cNvSpPr/>
          <p:nvPr/>
        </p:nvSpPr>
        <p:spPr>
          <a:xfrm>
            <a:off x="6167140" y="3667571"/>
            <a:ext cx="1800329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&gt;85%</a:t>
            </a: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Baseline: 61%</a:t>
            </a:r>
            <a:endParaRPr lang="en-US" sz="650" dirty="0"/>
          </a:p>
        </p:txBody>
      </p:sp>
      <p:sp>
        <p:nvSpPr>
          <p:cNvPr id="120" name="Text 107"/>
          <p:cNvSpPr/>
          <p:nvPr/>
        </p:nvSpPr>
        <p:spPr>
          <a:xfrm>
            <a:off x="6167140" y="3836194"/>
            <a:ext cx="1636663" cy="35421"/>
          </a:xfrm>
          <a:prstGeom prst="roundRect">
            <a:avLst>
              <a:gd name="adj" fmla="val 60953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1" name="Text 108"/>
          <p:cNvSpPr/>
          <p:nvPr/>
        </p:nvSpPr>
        <p:spPr>
          <a:xfrm>
            <a:off x="6167140" y="3836194"/>
            <a:ext cx="1456581" cy="35421"/>
          </a:xfrm>
          <a:prstGeom prst="roundRect">
            <a:avLst>
              <a:gd name="adj" fmla="val 60953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2" name="Text 109"/>
          <p:cNvSpPr/>
          <p:nvPr/>
        </p:nvSpPr>
        <p:spPr>
          <a:xfrm>
            <a:off x="6167140" y="3914775"/>
            <a:ext cx="1636663" cy="307199"/>
          </a:xfrm>
          <a:prstGeom prst="roundRect">
            <a:avLst>
              <a:gd name="adj" fmla="val 1405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lIns="64770" tIns="21590" rIns="64770" bIns="2159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Exceeding Target — +27.7pts vs. baseline</a:t>
            </a:r>
            <a:endParaRPr lang="en-US" sz="620" dirty="0"/>
          </a:p>
        </p:txBody>
      </p:sp>
      <p:sp>
        <p:nvSpPr>
          <p:cNvPr id="123" name="Text 110"/>
          <p:cNvSpPr/>
          <p:nvPr/>
        </p:nvSpPr>
        <p:spPr>
          <a:xfrm>
            <a:off x="7942362" y="3710285"/>
            <a:ext cx="705588" cy="187821"/>
          </a:xfrm>
          <a:prstGeom prst="roundRect">
            <a:avLst>
              <a:gd name="adj" fmla="val 76408"/>
            </a:avLst>
          </a:prstGeom>
          <a:solidFill>
            <a:srgbClr val="38BDF8">
              <a:alpha val="15000"/>
            </a:srgbClr>
          </a:solidFill>
          <a:ln/>
        </p:spPr>
        <p:txBody>
          <a:bodyPr wrap="none" lIns="151100" tIns="29210" rIns="57150" bIns="2921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Improving</a:t>
            </a:r>
            <a:endParaRPr lang="en-US" sz="680" dirty="0"/>
          </a:p>
        </p:txBody>
      </p:sp>
      <p:pic>
        <p:nvPicPr>
          <p:cNvPr id="124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65588" y="3737827"/>
            <a:ext cx="132588" cy="132588"/>
          </a:xfrm>
          <a:prstGeom prst="rect">
            <a:avLst/>
          </a:prstGeom>
        </p:spPr>
      </p:pic>
      <p:sp>
        <p:nvSpPr>
          <p:cNvPr id="125" name="Text 111"/>
          <p:cNvSpPr/>
          <p:nvPr/>
        </p:nvSpPr>
        <p:spPr>
          <a:xfrm>
            <a:off x="7803803" y="4122837"/>
            <a:ext cx="49411" cy="90190"/>
          </a:xfrm>
          <a:prstGeom prst="ellipse">
            <a:avLst/>
          </a:prstGeom>
          <a:solidFill>
            <a:srgbClr val="38BDF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6" name="Text 112"/>
          <p:cNvSpPr/>
          <p:nvPr/>
        </p:nvSpPr>
        <p:spPr>
          <a:xfrm>
            <a:off x="7874794" y="4104829"/>
            <a:ext cx="49411" cy="108198"/>
          </a:xfrm>
          <a:prstGeom prst="roundRect">
            <a:avLst>
              <a:gd name="adj" fmla="val 43695"/>
            </a:avLst>
          </a:prstGeom>
          <a:solidFill>
            <a:srgbClr val="38BDF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7" name="Text 113"/>
          <p:cNvSpPr/>
          <p:nvPr/>
        </p:nvSpPr>
        <p:spPr>
          <a:xfrm>
            <a:off x="7945785" y="4089350"/>
            <a:ext cx="49411" cy="123676"/>
          </a:xfrm>
          <a:prstGeom prst="roundRect">
            <a:avLst>
              <a:gd name="adj" fmla="val 43695"/>
            </a:avLst>
          </a:prstGeom>
          <a:solidFill>
            <a:srgbClr val="38BDF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8" name="Text 114"/>
          <p:cNvSpPr/>
          <p:nvPr/>
        </p:nvSpPr>
        <p:spPr>
          <a:xfrm>
            <a:off x="8016776" y="4071342"/>
            <a:ext cx="49411" cy="141684"/>
          </a:xfrm>
          <a:prstGeom prst="roundRect">
            <a:avLst>
              <a:gd name="adj" fmla="val 43695"/>
            </a:avLst>
          </a:prstGeom>
          <a:solidFill>
            <a:srgbClr val="38BDF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9" name="Text 115"/>
          <p:cNvSpPr/>
          <p:nvPr/>
        </p:nvSpPr>
        <p:spPr>
          <a:xfrm>
            <a:off x="8087767" y="4055864"/>
            <a:ext cx="49411" cy="157163"/>
          </a:xfrm>
          <a:prstGeom prst="roundRect">
            <a:avLst>
              <a:gd name="adj" fmla="val 43695"/>
            </a:avLst>
          </a:prstGeom>
          <a:solidFill>
            <a:srgbClr val="38BDF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0" name="Text 116"/>
          <p:cNvSpPr/>
          <p:nvPr/>
        </p:nvSpPr>
        <p:spPr>
          <a:xfrm>
            <a:off x="8158758" y="4040386"/>
            <a:ext cx="49411" cy="172641"/>
          </a:xfrm>
          <a:prstGeom prst="roundRect">
            <a:avLst>
              <a:gd name="adj" fmla="val 43695"/>
            </a:avLst>
          </a:prstGeom>
          <a:solidFill>
            <a:srgbClr val="38BDF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1" name="Text 117"/>
          <p:cNvSpPr/>
          <p:nvPr/>
        </p:nvSpPr>
        <p:spPr>
          <a:xfrm>
            <a:off x="8229749" y="4027438"/>
            <a:ext cx="49411" cy="185589"/>
          </a:xfrm>
          <a:prstGeom prst="roundRect">
            <a:avLst>
              <a:gd name="adj" fmla="val 43695"/>
            </a:avLst>
          </a:prstGeom>
          <a:solidFill>
            <a:srgbClr val="38BDF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2" name="Text 118"/>
          <p:cNvSpPr/>
          <p:nvPr/>
        </p:nvSpPr>
        <p:spPr>
          <a:xfrm>
            <a:off x="8300740" y="4017169"/>
            <a:ext cx="49411" cy="195858"/>
          </a:xfrm>
          <a:prstGeom prst="roundRect">
            <a:avLst>
              <a:gd name="adj" fmla="val 43695"/>
            </a:avLst>
          </a:prstGeom>
          <a:solidFill>
            <a:srgbClr val="38BDF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3" name="Text 119"/>
          <p:cNvSpPr/>
          <p:nvPr/>
        </p:nvSpPr>
        <p:spPr>
          <a:xfrm>
            <a:off x="8371731" y="4006900"/>
            <a:ext cx="49411" cy="206127"/>
          </a:xfrm>
          <a:prstGeom prst="roundRect">
            <a:avLst>
              <a:gd name="adj" fmla="val 43695"/>
            </a:avLst>
          </a:prstGeom>
          <a:solidFill>
            <a:srgbClr val="38BDF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4" name="Text 120"/>
          <p:cNvSpPr/>
          <p:nvPr/>
        </p:nvSpPr>
        <p:spPr>
          <a:xfrm>
            <a:off x="8442722" y="3996630"/>
            <a:ext cx="49411" cy="216396"/>
          </a:xfrm>
          <a:prstGeom prst="roundRect">
            <a:avLst>
              <a:gd name="adj" fmla="val 43695"/>
            </a:avLst>
          </a:prstGeom>
          <a:solidFill>
            <a:srgbClr val="38BDF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5" name="Text 121"/>
          <p:cNvSpPr/>
          <p:nvPr/>
        </p:nvSpPr>
        <p:spPr>
          <a:xfrm>
            <a:off x="8513713" y="3988891"/>
            <a:ext cx="49411" cy="224135"/>
          </a:xfrm>
          <a:prstGeom prst="roundRect">
            <a:avLst>
              <a:gd name="adj" fmla="val 43695"/>
            </a:avLst>
          </a:prstGeom>
          <a:solidFill>
            <a:srgbClr val="38BDF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6" name="Text 122"/>
          <p:cNvSpPr/>
          <p:nvPr/>
        </p:nvSpPr>
        <p:spPr>
          <a:xfrm>
            <a:off x="8584704" y="3973413"/>
            <a:ext cx="49411" cy="239613"/>
          </a:xfrm>
          <a:prstGeom prst="roundRect">
            <a:avLst>
              <a:gd name="adj" fmla="val 43695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7" name="Text 123"/>
          <p:cNvSpPr/>
          <p:nvPr/>
        </p:nvSpPr>
        <p:spPr>
          <a:xfrm>
            <a:off x="504379" y="4391323"/>
            <a:ext cx="55465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reported  to CISO/CRO and  to Board Risk Committee per CRI GV.RM-1</a:t>
            </a:r>
            <a:endParaRPr lang="en-US" sz="650" dirty="0"/>
          </a:p>
        </p:txBody>
      </p:sp>
      <p:pic>
        <p:nvPicPr>
          <p:cNvPr id="138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43355" y="4386867"/>
            <a:ext cx="132588" cy="132588"/>
          </a:xfrm>
          <a:prstGeom prst="rect">
            <a:avLst/>
          </a:prstGeom>
        </p:spPr>
      </p:pic>
      <p:sp>
        <p:nvSpPr>
          <p:cNvPr id="139" name="Text 124"/>
          <p:cNvSpPr/>
          <p:nvPr/>
        </p:nvSpPr>
        <p:spPr>
          <a:xfrm>
            <a:off x="5842992" y="4366022"/>
            <a:ext cx="899139" cy="174427"/>
          </a:xfrm>
          <a:prstGeom prst="roundRect">
            <a:avLst>
              <a:gd name="adj" fmla="val 1674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none" lIns="64770" tIns="21590" rIns="64770" bIns="21590" rtlCol="0" anchor="t"/>
          <a:lstStyle/>
          <a:p>
            <a:pPr marL="0" indent="0" algn="l">
              <a:buNone/>
            </a:pPr>
            <a:r>
              <a:rPr lang="en-US" sz="590" b="1" kern="0" spc="4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PROFILE V2.2</a:t>
            </a:r>
            <a:endParaRPr lang="en-US" sz="590" dirty="0"/>
          </a:p>
        </p:txBody>
      </p:sp>
      <p:sp>
        <p:nvSpPr>
          <p:cNvPr id="140" name="Text 125"/>
          <p:cNvSpPr/>
          <p:nvPr/>
        </p:nvSpPr>
        <p:spPr>
          <a:xfrm>
            <a:off x="6781651" y="4366022"/>
            <a:ext cx="691015" cy="174427"/>
          </a:xfrm>
          <a:prstGeom prst="roundRect">
            <a:avLst>
              <a:gd name="adj" fmla="val 1674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none" lIns="64770" tIns="21590" rIns="64770" bIns="21590" rtlCol="0" anchor="t"/>
          <a:lstStyle/>
          <a:p>
            <a:pPr marL="0" indent="0" algn="l">
              <a:buNone/>
            </a:pPr>
            <a:r>
              <a:rPr lang="en-US" sz="590" b="1" kern="0" spc="4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</a:t>
            </a:r>
            <a:endParaRPr lang="en-US" sz="590" dirty="0"/>
          </a:p>
        </p:txBody>
      </p:sp>
      <p:sp>
        <p:nvSpPr>
          <p:cNvPr id="141" name="Text 126"/>
          <p:cNvSpPr/>
          <p:nvPr/>
        </p:nvSpPr>
        <p:spPr>
          <a:xfrm>
            <a:off x="7516267" y="4366022"/>
            <a:ext cx="1280776" cy="174427"/>
          </a:xfrm>
          <a:prstGeom prst="roundRect">
            <a:avLst>
              <a:gd name="adj" fmla="val 1674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none" lIns="64770" tIns="21590" rIns="64770" bIns="21590" rtlCol="0" anchor="t"/>
          <a:lstStyle/>
          <a:p>
            <a:pPr marL="0" indent="0" algn="l">
              <a:buNone/>
            </a:pPr>
            <a:r>
              <a:rPr lang="en-US" sz="590" b="1" kern="0" spc="4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RISK FRAMEWORK</a:t>
            </a:r>
            <a:endParaRPr lang="en-US" sz="590" dirty="0"/>
          </a:p>
        </p:txBody>
      </p:sp>
      <p:sp>
        <p:nvSpPr>
          <p:cNvPr id="142" name="Text 127"/>
          <p:cNvSpPr/>
          <p:nvPr/>
        </p:nvSpPr>
        <p:spPr>
          <a:xfrm>
            <a:off x="381595" y="632966"/>
            <a:ext cx="2723255" cy="21580"/>
          </a:xfrm>
          <a:custGeom>
            <a:avLst/>
            <a:gdLst/>
            <a:ahLst/>
            <a:cxnLst/>
            <a:rect l="l" t="t" r="r" b="b"/>
            <a:pathLst>
              <a:path w="2723255" h="21580">
                <a:moveTo>
                  <a:pt x="86360" y="0"/>
                </a:moveTo>
                <a:lnTo>
                  <a:pt x="2636895" y="0"/>
                </a:lnTo>
                <a:lnTo>
                  <a:pt x="2658310" y="2698"/>
                </a:lnTo>
                <a:lnTo>
                  <a:pt x="2666940" y="5395"/>
                </a:lnTo>
                <a:lnTo>
                  <a:pt x="2673395" y="8093"/>
                </a:lnTo>
                <a:lnTo>
                  <a:pt x="2678694" y="10790"/>
                </a:lnTo>
                <a:lnTo>
                  <a:pt x="2683237" y="13488"/>
                </a:lnTo>
                <a:lnTo>
                  <a:pt x="2687229" y="16185"/>
                </a:lnTo>
                <a:lnTo>
                  <a:pt x="2690791" y="18883"/>
                </a:lnTo>
                <a:lnTo>
                  <a:pt x="269400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22C55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3" name="Text 128"/>
          <p:cNvSpPr/>
          <p:nvPr/>
        </p:nvSpPr>
        <p:spPr>
          <a:xfrm>
            <a:off x="3210223" y="632966"/>
            <a:ext cx="2723407" cy="21580"/>
          </a:xfrm>
          <a:custGeom>
            <a:avLst/>
            <a:gdLst/>
            <a:ahLst/>
            <a:cxnLst/>
            <a:rect l="l" t="t" r="r" b="b"/>
            <a:pathLst>
              <a:path w="2723407" h="21580">
                <a:moveTo>
                  <a:pt x="86360" y="0"/>
                </a:moveTo>
                <a:lnTo>
                  <a:pt x="2637047" y="0"/>
                </a:lnTo>
                <a:lnTo>
                  <a:pt x="2658463" y="2698"/>
                </a:lnTo>
                <a:lnTo>
                  <a:pt x="2667092" y="5395"/>
                </a:lnTo>
                <a:lnTo>
                  <a:pt x="2673547" y="8093"/>
                </a:lnTo>
                <a:lnTo>
                  <a:pt x="2678847" y="10790"/>
                </a:lnTo>
                <a:lnTo>
                  <a:pt x="2683390" y="13488"/>
                </a:lnTo>
                <a:lnTo>
                  <a:pt x="2687381" y="16185"/>
                </a:lnTo>
                <a:lnTo>
                  <a:pt x="2690944" y="18883"/>
                </a:lnTo>
                <a:lnTo>
                  <a:pt x="2694157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22C55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4" name="Text 129"/>
          <p:cNvSpPr/>
          <p:nvPr/>
        </p:nvSpPr>
        <p:spPr>
          <a:xfrm>
            <a:off x="6038999" y="632966"/>
            <a:ext cx="2723255" cy="21580"/>
          </a:xfrm>
          <a:custGeom>
            <a:avLst/>
            <a:gdLst/>
            <a:ahLst/>
            <a:cxnLst/>
            <a:rect l="l" t="t" r="r" b="b"/>
            <a:pathLst>
              <a:path w="2723255" h="21580">
                <a:moveTo>
                  <a:pt x="86360" y="0"/>
                </a:moveTo>
                <a:lnTo>
                  <a:pt x="2636895" y="0"/>
                </a:lnTo>
                <a:lnTo>
                  <a:pt x="2658310" y="2698"/>
                </a:lnTo>
                <a:lnTo>
                  <a:pt x="2666940" y="5395"/>
                </a:lnTo>
                <a:lnTo>
                  <a:pt x="2673395" y="8093"/>
                </a:lnTo>
                <a:lnTo>
                  <a:pt x="2678694" y="10790"/>
                </a:lnTo>
                <a:lnTo>
                  <a:pt x="2683237" y="13488"/>
                </a:lnTo>
                <a:lnTo>
                  <a:pt x="2687229" y="16185"/>
                </a:lnTo>
                <a:lnTo>
                  <a:pt x="2690791" y="18883"/>
                </a:lnTo>
                <a:lnTo>
                  <a:pt x="269400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5" name="Text 130"/>
          <p:cNvSpPr/>
          <p:nvPr/>
        </p:nvSpPr>
        <p:spPr>
          <a:xfrm>
            <a:off x="381595" y="2518767"/>
            <a:ext cx="2723255" cy="21580"/>
          </a:xfrm>
          <a:custGeom>
            <a:avLst/>
            <a:gdLst/>
            <a:ahLst/>
            <a:cxnLst/>
            <a:rect l="l" t="t" r="r" b="b"/>
            <a:pathLst>
              <a:path w="2723255" h="21580">
                <a:moveTo>
                  <a:pt x="86360" y="0"/>
                </a:moveTo>
                <a:lnTo>
                  <a:pt x="2636895" y="0"/>
                </a:lnTo>
                <a:lnTo>
                  <a:pt x="2658310" y="2698"/>
                </a:lnTo>
                <a:lnTo>
                  <a:pt x="2666940" y="5395"/>
                </a:lnTo>
                <a:lnTo>
                  <a:pt x="2673395" y="8093"/>
                </a:lnTo>
                <a:lnTo>
                  <a:pt x="2678694" y="10790"/>
                </a:lnTo>
                <a:lnTo>
                  <a:pt x="2683237" y="13488"/>
                </a:lnTo>
                <a:lnTo>
                  <a:pt x="2687229" y="16185"/>
                </a:lnTo>
                <a:lnTo>
                  <a:pt x="2690791" y="18883"/>
                </a:lnTo>
                <a:lnTo>
                  <a:pt x="269400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22C55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6" name="Text 131"/>
          <p:cNvSpPr/>
          <p:nvPr/>
        </p:nvSpPr>
        <p:spPr>
          <a:xfrm>
            <a:off x="3210223" y="2518767"/>
            <a:ext cx="2723407" cy="21580"/>
          </a:xfrm>
          <a:custGeom>
            <a:avLst/>
            <a:gdLst/>
            <a:ahLst/>
            <a:cxnLst/>
            <a:rect l="l" t="t" r="r" b="b"/>
            <a:pathLst>
              <a:path w="2723407" h="21580">
                <a:moveTo>
                  <a:pt x="86360" y="0"/>
                </a:moveTo>
                <a:lnTo>
                  <a:pt x="2637047" y="0"/>
                </a:lnTo>
                <a:lnTo>
                  <a:pt x="2658463" y="2698"/>
                </a:lnTo>
                <a:lnTo>
                  <a:pt x="2667092" y="5395"/>
                </a:lnTo>
                <a:lnTo>
                  <a:pt x="2673547" y="8093"/>
                </a:lnTo>
                <a:lnTo>
                  <a:pt x="2678847" y="10790"/>
                </a:lnTo>
                <a:lnTo>
                  <a:pt x="2683390" y="13488"/>
                </a:lnTo>
                <a:lnTo>
                  <a:pt x="2687381" y="16185"/>
                </a:lnTo>
                <a:lnTo>
                  <a:pt x="2690944" y="18883"/>
                </a:lnTo>
                <a:lnTo>
                  <a:pt x="2694157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7" name="Text 132"/>
          <p:cNvSpPr/>
          <p:nvPr/>
        </p:nvSpPr>
        <p:spPr>
          <a:xfrm>
            <a:off x="6038999" y="2518767"/>
            <a:ext cx="2723255" cy="21580"/>
          </a:xfrm>
          <a:custGeom>
            <a:avLst/>
            <a:gdLst/>
            <a:ahLst/>
            <a:cxnLst/>
            <a:rect l="l" t="t" r="r" b="b"/>
            <a:pathLst>
              <a:path w="2723255" h="21580">
                <a:moveTo>
                  <a:pt x="86360" y="0"/>
                </a:moveTo>
                <a:lnTo>
                  <a:pt x="2636895" y="0"/>
                </a:lnTo>
                <a:lnTo>
                  <a:pt x="2658310" y="2698"/>
                </a:lnTo>
                <a:lnTo>
                  <a:pt x="2666940" y="5395"/>
                </a:lnTo>
                <a:lnTo>
                  <a:pt x="2673395" y="8093"/>
                </a:lnTo>
                <a:lnTo>
                  <a:pt x="2678694" y="10790"/>
                </a:lnTo>
                <a:lnTo>
                  <a:pt x="2683237" y="13488"/>
                </a:lnTo>
                <a:lnTo>
                  <a:pt x="2687229" y="16185"/>
                </a:lnTo>
                <a:lnTo>
                  <a:pt x="2690791" y="18883"/>
                </a:lnTo>
                <a:lnTo>
                  <a:pt x="269400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alphaModFix amt="4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46636" y="1446386"/>
            <a:ext cx="2250728" cy="22507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7015" y="785515"/>
            <a:ext cx="6429970" cy="3572470"/>
          </a:xfrm>
          <a:prstGeom prst="rect">
            <a:avLst/>
          </a:prstGeom>
          <a:gradFill rotWithShape="1">
            <a:gsLst>
              <a:gs pos="0">
                <a:srgbClr val="E8A020">
                  <a:alpha val="7000"/>
                </a:srgbClr>
              </a:gs>
              <a:gs pos="70000">
                <a:srgbClr val="0D1B2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507285" y="1031974"/>
            <a:ext cx="412928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5"/>
              </a:lnSpc>
              <a:buNone/>
            </a:pPr>
            <a:r>
              <a:rPr lang="en-US" sz="730" kern="0" spc="204" dirty="0">
                <a:solidFill>
                  <a:srgbClr val="94AFC8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CULTURE OF SECURITY IS THE STRONGEST CONTROL</a:t>
            </a:r>
            <a:endParaRPr lang="en-US" sz="730" dirty="0"/>
          </a:p>
        </p:txBody>
      </p:sp>
      <p:sp>
        <p:nvSpPr>
          <p:cNvPr id="5" name="Text 2"/>
          <p:cNvSpPr/>
          <p:nvPr/>
        </p:nvSpPr>
        <p:spPr>
          <a:xfrm>
            <a:off x="3409652" y="1314450"/>
            <a:ext cx="255716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86" dirty="0">
                <a:solidFill>
                  <a:srgbClr val="E8A020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▮  SECURITY AWARENESS PRINCIPLE  ▮</a:t>
            </a:r>
            <a:endParaRPr lang="en-US" sz="620" dirty="0"/>
          </a:p>
        </p:txBody>
      </p:sp>
      <p:sp>
        <p:nvSpPr>
          <p:cNvPr id="6" name="Text 3"/>
          <p:cNvSpPr/>
          <p:nvPr/>
        </p:nvSpPr>
        <p:spPr>
          <a:xfrm>
            <a:off x="1143000" y="1907411"/>
            <a:ext cx="310592" cy="936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5400" dirty="0">
                <a:solidFill>
                  <a:srgbClr val="E8A020">
                    <a:alpha val="9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1365885" y="2073622"/>
            <a:ext cx="6412230" cy="979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49"/>
              </a:lnSpc>
              <a:buNone/>
            </a:pPr>
            <a:r>
              <a:rPr lang="en-US" sz="1580" kern="0" spc="16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 employee who </a:t>
            </a:r>
            <a:r>
              <a:rPr lang="en-US" sz="1580" kern="0" spc="16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recognizes and reports</a:t>
            </a:r>
            <a:r>
              <a:rPr lang="en-US" sz="1580" kern="0" spc="16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 threat is worth more than any firewall. Security awareness is not a checkbox — it is your institution's </a:t>
            </a:r>
            <a:r>
              <a:rPr lang="en-US" sz="1580" kern="0" spc="16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most scalable defense.</a:t>
            </a:r>
            <a:endParaRPr lang="en-US" sz="1580" dirty="0"/>
          </a:p>
        </p:txBody>
      </p:sp>
      <p:sp>
        <p:nvSpPr>
          <p:cNvPr id="8" name="Text 5"/>
          <p:cNvSpPr/>
          <p:nvPr/>
        </p:nvSpPr>
        <p:spPr>
          <a:xfrm>
            <a:off x="7696498" y="3446978"/>
            <a:ext cx="310592" cy="936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5400" dirty="0">
                <a:solidFill>
                  <a:srgbClr val="E8A020">
                    <a:alpha val="9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3571875" y="3510409"/>
            <a:ext cx="200025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E8A02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139263" y="3689449"/>
            <a:ext cx="486532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5"/>
              </a:lnSpc>
              <a:buNone/>
            </a:pPr>
            <a:r>
              <a:rPr lang="en-US" sz="730" b="1" kern="0" spc="13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PROGRAM</a:t>
            </a:r>
            <a:r>
              <a:rPr lang="en-US" sz="730" b="1" kern="0" spc="13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FINANCIAL INSTITUTIONS | </a:t>
            </a:r>
            <a:r>
              <a:rPr lang="en-US" sz="730" b="1" kern="0" spc="13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2171179" y="3928765"/>
            <a:ext cx="4801642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i="1" kern="0" spc="38" dirty="0">
                <a:solidFill>
                  <a:srgbClr val="F0F4F8">
                    <a:alpha val="6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people are your first line of defense — and your most powerful asset.</a:t>
            </a:r>
            <a:endParaRPr lang="en-US" sz="960" dirty="0"/>
          </a:p>
        </p:txBody>
      </p:sp>
      <p:sp>
        <p:nvSpPr>
          <p:cNvPr id="12" name="Text 9"/>
          <p:cNvSpPr/>
          <p:nvPr/>
        </p:nvSpPr>
        <p:spPr>
          <a:xfrm>
            <a:off x="228600" y="4657130"/>
            <a:ext cx="9525" cy="257770"/>
          </a:xfrm>
          <a:prstGeom prst="rect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905875" y="4657130"/>
            <a:ext cx="9525" cy="257770"/>
          </a:xfrm>
          <a:prstGeom prst="rect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00050" y="2392114"/>
            <a:ext cx="21580" cy="21580"/>
          </a:xfrm>
          <a:prstGeom prst="ellipse">
            <a:avLst/>
          </a:prstGeom>
          <a:solidFill>
            <a:srgbClr val="E8A020">
              <a:alpha val="1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00050" y="2470845"/>
            <a:ext cx="29170" cy="29170"/>
          </a:xfrm>
          <a:prstGeom prst="ellipse">
            <a:avLst/>
          </a:prstGeom>
          <a:solidFill>
            <a:srgbClr val="E8A020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00050" y="2557165"/>
            <a:ext cx="29170" cy="29170"/>
          </a:xfrm>
          <a:prstGeom prst="ellipse">
            <a:avLst/>
          </a:prstGeom>
          <a:solidFill>
            <a:srgbClr val="E8A020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00050" y="2643485"/>
            <a:ext cx="29170" cy="29170"/>
          </a:xfrm>
          <a:prstGeom prst="ellipse">
            <a:avLst/>
          </a:prstGeom>
          <a:solidFill>
            <a:srgbClr val="E8A020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00050" y="2729805"/>
            <a:ext cx="21580" cy="21580"/>
          </a:xfrm>
          <a:prstGeom prst="ellipse">
            <a:avLst/>
          </a:prstGeom>
          <a:solidFill>
            <a:srgbClr val="E8A020">
              <a:alpha val="1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8714780" y="2392114"/>
            <a:ext cx="21580" cy="21580"/>
          </a:xfrm>
          <a:prstGeom prst="ellipse">
            <a:avLst/>
          </a:prstGeom>
          <a:solidFill>
            <a:srgbClr val="E8A020">
              <a:alpha val="1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8714780" y="2470845"/>
            <a:ext cx="29170" cy="29170"/>
          </a:xfrm>
          <a:prstGeom prst="ellipse">
            <a:avLst/>
          </a:prstGeom>
          <a:solidFill>
            <a:srgbClr val="E8A020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8714780" y="2557165"/>
            <a:ext cx="29170" cy="29170"/>
          </a:xfrm>
          <a:prstGeom prst="ellipse">
            <a:avLst/>
          </a:prstGeom>
          <a:solidFill>
            <a:srgbClr val="E8A020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8714780" y="2643485"/>
            <a:ext cx="29170" cy="29170"/>
          </a:xfrm>
          <a:prstGeom prst="ellipse">
            <a:avLst/>
          </a:prstGeom>
          <a:solidFill>
            <a:srgbClr val="E8A020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8714780" y="2729805"/>
            <a:ext cx="21580" cy="21580"/>
          </a:xfrm>
          <a:prstGeom prst="ellipse">
            <a:avLst/>
          </a:prstGeom>
          <a:solidFill>
            <a:srgbClr val="E8A020">
              <a:alpha val="1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E8A020"/>
              </a:gs>
              <a:gs pos="80000">
                <a:srgbClr val="E8A020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0" y="512192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E8A020">
                  <a:alpha val="40000"/>
                </a:srgbClr>
              </a:gs>
              <a:gs pos="70000">
                <a:srgbClr val="E8A020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94AFC8">
                  <a:alpha val="7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6000"/>
                </a:srgbClr>
              </a:gs>
              <a:gs pos="40000">
                <a:srgbClr val="000000">
                  <a:alpha val="0"/>
                </a:srgbClr>
              </a:gs>
            </a:gsLst>
            <a:path path="circle">
              <a:fillToRect l="95000" t="50000" r="5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4000"/>
                </a:srgbClr>
              </a:gs>
              <a:gs pos="35000">
                <a:srgbClr val="000000">
                  <a:alpha val="0"/>
                </a:srgbClr>
              </a:gs>
            </a:gsLst>
            <a:path path="circle">
              <a:fillToRect l="5000" t="80000" r="95000" b="2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A2E42">
                  <a:alpha val="80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50000" r="50000" b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35421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5000">
                <a:srgbClr val="E8A020"/>
              </a:gs>
              <a:gs pos="75000">
                <a:srgbClr val="E8A020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9100" y="843707"/>
            <a:ext cx="4107809" cy="757238"/>
          </a:xfrm>
          <a:prstGeom prst="roundRect">
            <a:avLst>
              <a:gd name="adj" fmla="val 7547"/>
            </a:avLst>
          </a:prstGeom>
          <a:gradFill rotWithShape="1">
            <a:gsLst>
              <a:gs pos="0">
                <a:srgbClr val="E8A020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26471" y="843707"/>
            <a:ext cx="4107952" cy="757238"/>
          </a:xfrm>
          <a:prstGeom prst="roundRect">
            <a:avLst>
              <a:gd name="adj" fmla="val 7547"/>
            </a:avLst>
          </a:prstGeom>
          <a:gradFill rotWithShape="1">
            <a:gsLst>
              <a:gs pos="0">
                <a:srgbClr val="E8A020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9100" y="1690985"/>
            <a:ext cx="4107809" cy="757238"/>
          </a:xfrm>
          <a:prstGeom prst="roundRect">
            <a:avLst>
              <a:gd name="adj" fmla="val 7547"/>
            </a:avLst>
          </a:prstGeom>
          <a:gradFill rotWithShape="1">
            <a:gsLst>
              <a:gs pos="0">
                <a:srgbClr val="E8A020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26471" y="1690985"/>
            <a:ext cx="4107952" cy="757238"/>
          </a:xfrm>
          <a:prstGeom prst="roundRect">
            <a:avLst>
              <a:gd name="adj" fmla="val 7547"/>
            </a:avLst>
          </a:prstGeom>
          <a:gradFill rotWithShape="1">
            <a:gsLst>
              <a:gs pos="0">
                <a:srgbClr val="E8A020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0050" y="200620"/>
            <a:ext cx="1040755" cy="198254"/>
          </a:xfrm>
          <a:prstGeom prst="roundRect">
            <a:avLst>
              <a:gd name="adj" fmla="val 14734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COMMITMENT</a:t>
            </a:r>
            <a:endParaRPr lang="en-US" sz="620" dirty="0"/>
          </a:p>
        </p:txBody>
      </p:sp>
      <p:sp>
        <p:nvSpPr>
          <p:cNvPr id="12" name="Text 10"/>
          <p:cNvSpPr/>
          <p:nvPr/>
        </p:nvSpPr>
        <p:spPr>
          <a:xfrm>
            <a:off x="1527125" y="286941"/>
            <a:ext cx="342900" cy="7590"/>
          </a:xfrm>
          <a:prstGeom prst="rect">
            <a:avLst/>
          </a:prstGeom>
          <a:solidFill>
            <a:srgbClr val="E8A020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00050" y="410021"/>
            <a:ext cx="5640815" cy="2668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01"/>
              </a:lnSpc>
              <a:buNone/>
            </a:pPr>
            <a:r>
              <a:rPr lang="en-US" sz="1910" kern="0" spc="-19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Closing Action Steps: </a:t>
            </a:r>
            <a:r>
              <a:rPr lang="en-US" sz="1910" b="1" kern="0" spc="-19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2026 Security Pledge</a:t>
            </a:r>
            <a:endParaRPr lang="en-US" sz="1910" dirty="0"/>
          </a:p>
        </p:txBody>
      </p:sp>
      <p:sp>
        <p:nvSpPr>
          <p:cNvPr id="14" name="Text 12"/>
          <p:cNvSpPr/>
          <p:nvPr/>
        </p:nvSpPr>
        <p:spPr>
          <a:xfrm>
            <a:off x="400050" y="720030"/>
            <a:ext cx="457200" cy="13841"/>
          </a:xfrm>
          <a:prstGeom prst="rect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alphaModFix amt="5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65327" y="400952"/>
            <a:ext cx="132588" cy="13258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242572" y="408236"/>
            <a:ext cx="165151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PROGRAM</a:t>
            </a:r>
            <a:endParaRPr lang="en-US" sz="620" dirty="0"/>
          </a:p>
        </p:txBody>
      </p:sp>
      <p:sp>
        <p:nvSpPr>
          <p:cNvPr id="17" name="Text 14"/>
          <p:cNvSpPr/>
          <p:nvPr/>
        </p:nvSpPr>
        <p:spPr>
          <a:xfrm>
            <a:off x="400050" y="834182"/>
            <a:ext cx="4136380" cy="776288"/>
          </a:xfrm>
          <a:prstGeom prst="roundRect">
            <a:avLst>
              <a:gd name="adj" fmla="val 7362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00050" y="834182"/>
            <a:ext cx="19050" cy="776288"/>
          </a:xfrm>
          <a:custGeom>
            <a:avLst/>
            <a:gdLst/>
            <a:ahLst/>
            <a:cxnLst/>
            <a:rect l="l" t="t" r="r" b="b"/>
            <a:pathLst>
              <a:path w="19050" h="776288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761735"/>
                </a:lnTo>
                <a:lnTo>
                  <a:pt x="16669" y="759478"/>
                </a:lnTo>
                <a:lnTo>
                  <a:pt x="14288" y="756939"/>
                </a:lnTo>
                <a:lnTo>
                  <a:pt x="11906" y="754053"/>
                </a:lnTo>
                <a:lnTo>
                  <a:pt x="9525" y="750728"/>
                </a:lnTo>
                <a:lnTo>
                  <a:pt x="7144" y="746805"/>
                </a:lnTo>
                <a:lnTo>
                  <a:pt x="4763" y="741978"/>
                </a:lnTo>
                <a:lnTo>
                  <a:pt x="2381" y="735463"/>
                </a:lnTo>
                <a:lnTo>
                  <a:pt x="0" y="719138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328964" y="914698"/>
            <a:ext cx="119435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E8A020">
                    <a:alpha val="7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80" dirty="0"/>
          </a:p>
        </p:txBody>
      </p:sp>
      <p:sp>
        <p:nvSpPr>
          <p:cNvPr id="20" name="Text 17"/>
          <p:cNvSpPr/>
          <p:nvPr/>
        </p:nvSpPr>
        <p:spPr>
          <a:xfrm>
            <a:off x="533400" y="951607"/>
            <a:ext cx="257770" cy="257770"/>
          </a:xfrm>
          <a:prstGeom prst="ellipse">
            <a:avLst/>
          </a:prstGeom>
          <a:solidFill>
            <a:srgbClr val="22C55E">
              <a:alpha val="10000"/>
            </a:srgbClr>
          </a:solidFill>
          <a:ln w="9525">
            <a:solidFill>
              <a:srgbClr val="22C55E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991" y="1014198"/>
            <a:ext cx="132588" cy="13258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91480" y="944017"/>
            <a:ext cx="3617848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kern="0" spc="77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1</a:t>
            </a:r>
            <a:endParaRPr lang="en-US" sz="590" dirty="0"/>
          </a:p>
        </p:txBody>
      </p:sp>
      <p:sp>
        <p:nvSpPr>
          <p:cNvPr id="23" name="Text 19"/>
          <p:cNvSpPr/>
          <p:nvPr/>
        </p:nvSpPr>
        <p:spPr>
          <a:xfrm>
            <a:off x="891480" y="1077813"/>
            <a:ext cx="3617848" cy="132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44"/>
              </a:lnSpc>
              <a:buNone/>
            </a:pPr>
            <a:r>
              <a:rPr lang="en-US" sz="87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Monthly</a:t>
            </a:r>
            <a:endParaRPr lang="en-US" sz="870" dirty="0"/>
          </a:p>
        </p:txBody>
      </p:sp>
      <p:sp>
        <p:nvSpPr>
          <p:cNvPr id="24" name="Text 20"/>
          <p:cNvSpPr/>
          <p:nvPr/>
        </p:nvSpPr>
        <p:spPr>
          <a:xfrm>
            <a:off x="891480" y="1231850"/>
            <a:ext cx="3354732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your scheduled monthly webinar for your role — </a:t>
            </a:r>
            <a:r>
              <a:rPr lang="en-US" sz="730" b="1" dirty="0">
                <a:solidFill>
                  <a:srgbClr val="C8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 recorded</a:t>
            </a: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within 5 business days. No exceptions.</a:t>
            </a:r>
            <a:endParaRPr lang="en-US" sz="73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73460" y="950574"/>
            <a:ext cx="132588" cy="1325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607421" y="834182"/>
            <a:ext cx="4136529" cy="776288"/>
          </a:xfrm>
          <a:prstGeom prst="roundRect">
            <a:avLst>
              <a:gd name="adj" fmla="val 7362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4607421" y="834182"/>
            <a:ext cx="19050" cy="776288"/>
          </a:xfrm>
          <a:custGeom>
            <a:avLst/>
            <a:gdLst/>
            <a:ahLst/>
            <a:cxnLst/>
            <a:rect l="l" t="t" r="r" b="b"/>
            <a:pathLst>
              <a:path w="19050" h="776288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761735"/>
                </a:lnTo>
                <a:lnTo>
                  <a:pt x="16669" y="759478"/>
                </a:lnTo>
                <a:lnTo>
                  <a:pt x="14288" y="756939"/>
                </a:lnTo>
                <a:lnTo>
                  <a:pt x="11906" y="754053"/>
                </a:lnTo>
                <a:lnTo>
                  <a:pt x="9525" y="750728"/>
                </a:lnTo>
                <a:lnTo>
                  <a:pt x="7144" y="746805"/>
                </a:lnTo>
                <a:lnTo>
                  <a:pt x="4763" y="741978"/>
                </a:lnTo>
                <a:lnTo>
                  <a:pt x="2381" y="735463"/>
                </a:lnTo>
                <a:lnTo>
                  <a:pt x="0" y="719138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8536484" y="914698"/>
            <a:ext cx="119435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E8A020">
                    <a:alpha val="7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80" dirty="0"/>
          </a:p>
        </p:txBody>
      </p:sp>
      <p:sp>
        <p:nvSpPr>
          <p:cNvPr id="29" name="Text 24"/>
          <p:cNvSpPr/>
          <p:nvPr/>
        </p:nvSpPr>
        <p:spPr>
          <a:xfrm>
            <a:off x="4740771" y="951607"/>
            <a:ext cx="257770" cy="257770"/>
          </a:xfrm>
          <a:prstGeom prst="ellipse">
            <a:avLst/>
          </a:prstGeom>
          <a:solidFill>
            <a:srgbClr val="22C55E">
              <a:alpha val="10000"/>
            </a:srgbClr>
          </a:solidFill>
          <a:ln w="9525">
            <a:solidFill>
              <a:srgbClr val="22C55E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03362" y="1014198"/>
            <a:ext cx="132588" cy="13258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098852" y="944017"/>
            <a:ext cx="3618012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kern="0" spc="77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2</a:t>
            </a:r>
            <a:endParaRPr lang="en-US" sz="590" dirty="0"/>
          </a:p>
        </p:txBody>
      </p:sp>
      <p:sp>
        <p:nvSpPr>
          <p:cNvPr id="32" name="Text 26"/>
          <p:cNvSpPr/>
          <p:nvPr/>
        </p:nvSpPr>
        <p:spPr>
          <a:xfrm>
            <a:off x="5098852" y="1077813"/>
            <a:ext cx="3618012" cy="132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44"/>
              </a:lnSpc>
              <a:buNone/>
            </a:pPr>
            <a:r>
              <a:rPr lang="en-US" sz="87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&amp; Report</a:t>
            </a:r>
            <a:endParaRPr lang="en-US" sz="870" dirty="0"/>
          </a:p>
        </p:txBody>
      </p:sp>
      <p:sp>
        <p:nvSpPr>
          <p:cNvPr id="33" name="Text 27"/>
          <p:cNvSpPr/>
          <p:nvPr/>
        </p:nvSpPr>
        <p:spPr>
          <a:xfrm>
            <a:off x="5098852" y="1231850"/>
            <a:ext cx="3354884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quarterly phishing simulations — when in doubt, </a:t>
            </a:r>
            <a:r>
              <a:rPr lang="en-US" sz="730" b="1" dirty="0">
                <a:solidFill>
                  <a:srgbClr val="C8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</a:t>
            </a: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Use the </a:t>
            </a:r>
            <a:r>
              <a:rPr lang="en-US" sz="730" b="1" dirty="0">
                <a:solidFill>
                  <a:srgbClr val="C8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Phishing</a:t>
            </a: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button on every suspicious email.</a:t>
            </a:r>
            <a:endParaRPr lang="en-US" sz="73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80980" y="950574"/>
            <a:ext cx="132588" cy="13258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00050" y="1681460"/>
            <a:ext cx="4136380" cy="776288"/>
          </a:xfrm>
          <a:prstGeom prst="roundRect">
            <a:avLst>
              <a:gd name="adj" fmla="val 7362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400050" y="1681460"/>
            <a:ext cx="19050" cy="776288"/>
          </a:xfrm>
          <a:custGeom>
            <a:avLst/>
            <a:gdLst/>
            <a:ahLst/>
            <a:cxnLst/>
            <a:rect l="l" t="t" r="r" b="b"/>
            <a:pathLst>
              <a:path w="19050" h="776288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761735"/>
                </a:lnTo>
                <a:lnTo>
                  <a:pt x="16669" y="759478"/>
                </a:lnTo>
                <a:lnTo>
                  <a:pt x="14288" y="756939"/>
                </a:lnTo>
                <a:lnTo>
                  <a:pt x="11906" y="754053"/>
                </a:lnTo>
                <a:lnTo>
                  <a:pt x="9525" y="750728"/>
                </a:lnTo>
                <a:lnTo>
                  <a:pt x="7144" y="746805"/>
                </a:lnTo>
                <a:lnTo>
                  <a:pt x="4763" y="741978"/>
                </a:lnTo>
                <a:lnTo>
                  <a:pt x="2381" y="735463"/>
                </a:lnTo>
                <a:lnTo>
                  <a:pt x="0" y="719138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0"/>
          <p:cNvSpPr/>
          <p:nvPr/>
        </p:nvSpPr>
        <p:spPr>
          <a:xfrm>
            <a:off x="4328964" y="1761976"/>
            <a:ext cx="119435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E8A020">
                    <a:alpha val="7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80" dirty="0"/>
          </a:p>
        </p:txBody>
      </p:sp>
      <p:sp>
        <p:nvSpPr>
          <p:cNvPr id="38" name="Text 31"/>
          <p:cNvSpPr/>
          <p:nvPr/>
        </p:nvSpPr>
        <p:spPr>
          <a:xfrm>
            <a:off x="533400" y="1798886"/>
            <a:ext cx="257770" cy="257770"/>
          </a:xfrm>
          <a:prstGeom prst="ellipse">
            <a:avLst/>
          </a:prstGeom>
          <a:solidFill>
            <a:srgbClr val="22C55E">
              <a:alpha val="10000"/>
            </a:srgbClr>
          </a:solidFill>
          <a:ln w="9525">
            <a:solidFill>
              <a:srgbClr val="22C55E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5991" y="1861477"/>
            <a:ext cx="132588" cy="13258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91480" y="1791295"/>
            <a:ext cx="3617848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kern="0" spc="77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3</a:t>
            </a:r>
            <a:endParaRPr lang="en-US" sz="590" dirty="0"/>
          </a:p>
        </p:txBody>
      </p:sp>
      <p:sp>
        <p:nvSpPr>
          <p:cNvPr id="41" name="Text 33"/>
          <p:cNvSpPr/>
          <p:nvPr/>
        </p:nvSpPr>
        <p:spPr>
          <a:xfrm>
            <a:off x="891480" y="1925092"/>
            <a:ext cx="3617848" cy="132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44"/>
              </a:lnSpc>
              <a:buNone/>
            </a:pPr>
            <a:r>
              <a:rPr lang="en-US" sz="87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Before You Act</a:t>
            </a:r>
            <a:endParaRPr lang="en-US" sz="870" dirty="0"/>
          </a:p>
        </p:txBody>
      </p:sp>
      <p:sp>
        <p:nvSpPr>
          <p:cNvPr id="42" name="Text 34"/>
          <p:cNvSpPr/>
          <p:nvPr/>
        </p:nvSpPr>
        <p:spPr>
          <a:xfrm>
            <a:off x="891480" y="2079129"/>
            <a:ext cx="3354732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</a:t>
            </a:r>
            <a:r>
              <a:rPr lang="en-US" sz="730" b="1" dirty="0">
                <a:solidFill>
                  <a:srgbClr val="C8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payment, wire transfer, or account change</a:t>
            </a: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use out-of-band verification. </a:t>
            </a:r>
            <a:r>
              <a:rPr lang="en-US" sz="730" b="1" dirty="0">
                <a:solidFill>
                  <a:srgbClr val="C8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can stop a fraud.</a:t>
            </a:r>
            <a:endParaRPr lang="en-US" sz="730" dirty="0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73460" y="1797853"/>
            <a:ext cx="132588" cy="13258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4607421" y="1681460"/>
            <a:ext cx="4136529" cy="776288"/>
          </a:xfrm>
          <a:prstGeom prst="roundRect">
            <a:avLst>
              <a:gd name="adj" fmla="val 7362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6"/>
          <p:cNvSpPr/>
          <p:nvPr/>
        </p:nvSpPr>
        <p:spPr>
          <a:xfrm>
            <a:off x="4607421" y="1681460"/>
            <a:ext cx="19050" cy="776288"/>
          </a:xfrm>
          <a:custGeom>
            <a:avLst/>
            <a:gdLst/>
            <a:ahLst/>
            <a:cxnLst/>
            <a:rect l="l" t="t" r="r" b="b"/>
            <a:pathLst>
              <a:path w="19050" h="776288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761735"/>
                </a:lnTo>
                <a:lnTo>
                  <a:pt x="16669" y="759478"/>
                </a:lnTo>
                <a:lnTo>
                  <a:pt x="14288" y="756939"/>
                </a:lnTo>
                <a:lnTo>
                  <a:pt x="11906" y="754053"/>
                </a:lnTo>
                <a:lnTo>
                  <a:pt x="9525" y="750728"/>
                </a:lnTo>
                <a:lnTo>
                  <a:pt x="7144" y="746805"/>
                </a:lnTo>
                <a:lnTo>
                  <a:pt x="4763" y="741978"/>
                </a:lnTo>
                <a:lnTo>
                  <a:pt x="2381" y="735463"/>
                </a:lnTo>
                <a:lnTo>
                  <a:pt x="0" y="719138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7"/>
          <p:cNvSpPr/>
          <p:nvPr/>
        </p:nvSpPr>
        <p:spPr>
          <a:xfrm>
            <a:off x="8536484" y="1761976"/>
            <a:ext cx="119435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E8A020">
                    <a:alpha val="7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80" dirty="0"/>
          </a:p>
        </p:txBody>
      </p:sp>
      <p:sp>
        <p:nvSpPr>
          <p:cNvPr id="47" name="Text 38"/>
          <p:cNvSpPr/>
          <p:nvPr/>
        </p:nvSpPr>
        <p:spPr>
          <a:xfrm>
            <a:off x="4740771" y="1798886"/>
            <a:ext cx="257770" cy="257770"/>
          </a:xfrm>
          <a:prstGeom prst="ellipse">
            <a:avLst/>
          </a:prstGeom>
          <a:solidFill>
            <a:srgbClr val="22C55E">
              <a:alpha val="10000"/>
            </a:srgbClr>
          </a:solidFill>
          <a:ln w="9525">
            <a:solidFill>
              <a:srgbClr val="22C55E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03362" y="1861477"/>
            <a:ext cx="132588" cy="132588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5098852" y="1791295"/>
            <a:ext cx="3618012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kern="0" spc="77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4</a:t>
            </a:r>
            <a:endParaRPr lang="en-US" sz="590" dirty="0"/>
          </a:p>
        </p:txBody>
      </p:sp>
      <p:sp>
        <p:nvSpPr>
          <p:cNvPr id="50" name="Text 40"/>
          <p:cNvSpPr/>
          <p:nvPr/>
        </p:nvSpPr>
        <p:spPr>
          <a:xfrm>
            <a:off x="5098852" y="1925092"/>
            <a:ext cx="3618012" cy="132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44"/>
              </a:lnSpc>
              <a:buNone/>
            </a:pPr>
            <a:r>
              <a:rPr lang="en-US" sz="87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 Credentials</a:t>
            </a:r>
            <a:endParaRPr lang="en-US" sz="870" dirty="0"/>
          </a:p>
        </p:txBody>
      </p:sp>
      <p:sp>
        <p:nvSpPr>
          <p:cNvPr id="51" name="Text 41"/>
          <p:cNvSpPr/>
          <p:nvPr/>
        </p:nvSpPr>
        <p:spPr>
          <a:xfrm>
            <a:off x="5098852" y="2079129"/>
            <a:ext cx="3354884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r>
              <a:rPr lang="en-US" sz="730" b="1" dirty="0">
                <a:solidFill>
                  <a:srgbClr val="C8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phishing-resistant MFA</a:t>
            </a: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every account. Never share credentials — </a:t>
            </a:r>
            <a:r>
              <a:rPr lang="en-US" sz="730" b="1" dirty="0">
                <a:solidFill>
                  <a:srgbClr val="C8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even with IT.</a:t>
            </a: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Your password is yours alone.</a:t>
            </a:r>
            <a:endParaRPr lang="en-US" sz="730" dirty="0"/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80980" y="1797853"/>
            <a:ext cx="132588" cy="132588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400050" y="2528739"/>
            <a:ext cx="8343900" cy="688777"/>
          </a:xfrm>
          <a:prstGeom prst="roundRect">
            <a:avLst>
              <a:gd name="adj" fmla="val 8297"/>
            </a:avLst>
          </a:prstGeom>
          <a:gradFill rotWithShape="1">
            <a:gsLst>
              <a:gs pos="0">
                <a:srgbClr val="1F3A28"/>
              </a:gs>
              <a:gs pos="60000">
                <a:srgbClr val="1A2E42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3"/>
          <p:cNvSpPr/>
          <p:nvPr/>
        </p:nvSpPr>
        <p:spPr>
          <a:xfrm>
            <a:off x="400050" y="2528739"/>
            <a:ext cx="19050" cy="688777"/>
          </a:xfrm>
          <a:custGeom>
            <a:avLst/>
            <a:gdLst/>
            <a:ahLst/>
            <a:cxnLst/>
            <a:rect l="l" t="t" r="r" b="b"/>
            <a:pathLst>
              <a:path w="19050" h="688777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674224"/>
                </a:lnTo>
                <a:lnTo>
                  <a:pt x="16669" y="671967"/>
                </a:lnTo>
                <a:lnTo>
                  <a:pt x="14288" y="669428"/>
                </a:lnTo>
                <a:lnTo>
                  <a:pt x="11906" y="666543"/>
                </a:lnTo>
                <a:lnTo>
                  <a:pt x="9525" y="663217"/>
                </a:lnTo>
                <a:lnTo>
                  <a:pt x="7144" y="659294"/>
                </a:lnTo>
                <a:lnTo>
                  <a:pt x="4763" y="654467"/>
                </a:lnTo>
                <a:lnTo>
                  <a:pt x="2381" y="647952"/>
                </a:lnTo>
                <a:lnTo>
                  <a:pt x="0" y="631627"/>
                </a:lnTo>
                <a:close/>
              </a:path>
            </a:pathLst>
          </a:custGeom>
          <a:solidFill>
            <a:srgbClr val="22C55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4"/>
          <p:cNvSpPr/>
          <p:nvPr/>
        </p:nvSpPr>
        <p:spPr>
          <a:xfrm>
            <a:off x="419100" y="2538264"/>
            <a:ext cx="8315325" cy="669727"/>
          </a:xfrm>
          <a:prstGeom prst="rect">
            <a:avLst/>
          </a:prstGeom>
          <a:gradFill rotWithShape="1">
            <a:gsLst>
              <a:gs pos="0">
                <a:srgbClr val="22C55E">
                  <a:alpha val="7000"/>
                </a:srgbClr>
              </a:gs>
              <a:gs pos="55000">
                <a:srgbClr val="000000">
                  <a:alpha val="0"/>
                </a:srgbClr>
              </a:gs>
            </a:gsLst>
            <a:path path="circle">
              <a:fillToRect l="100000" t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5"/>
          <p:cNvSpPr/>
          <p:nvPr/>
        </p:nvSpPr>
        <p:spPr>
          <a:xfrm>
            <a:off x="8522494" y="2609255"/>
            <a:ext cx="119435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22C55E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80" dirty="0"/>
          </a:p>
        </p:txBody>
      </p:sp>
      <p:sp>
        <p:nvSpPr>
          <p:cNvPr id="57" name="Text 46"/>
          <p:cNvSpPr/>
          <p:nvPr/>
        </p:nvSpPr>
        <p:spPr>
          <a:xfrm>
            <a:off x="533400" y="2730252"/>
            <a:ext cx="285750" cy="285750"/>
          </a:xfrm>
          <a:prstGeom prst="ellipse">
            <a:avLst/>
          </a:prstGeom>
          <a:solidFill>
            <a:srgbClr val="22C55E">
              <a:alpha val="12000"/>
            </a:srgbClr>
          </a:solidFill>
          <a:ln w="9525">
            <a:solidFill>
              <a:srgbClr val="22C55E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8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9907" y="2806759"/>
            <a:ext cx="132588" cy="132588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919460" y="2644825"/>
            <a:ext cx="5981015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kern="0" spc="77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5 — PRIORITY</a:t>
            </a:r>
            <a:endParaRPr lang="en-US" sz="590" dirty="0"/>
          </a:p>
        </p:txBody>
      </p:sp>
      <p:sp>
        <p:nvSpPr>
          <p:cNvPr id="60" name="Text 48"/>
          <p:cNvSpPr/>
          <p:nvPr/>
        </p:nvSpPr>
        <p:spPr>
          <a:xfrm>
            <a:off x="919460" y="2778621"/>
            <a:ext cx="598101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Something, Say Something</a:t>
            </a:r>
            <a:endParaRPr lang="en-US" sz="900" dirty="0"/>
          </a:p>
        </p:txBody>
      </p:sp>
      <p:sp>
        <p:nvSpPr>
          <p:cNvPr id="61" name="Text 49"/>
          <p:cNvSpPr/>
          <p:nvPr/>
        </p:nvSpPr>
        <p:spPr>
          <a:xfrm>
            <a:off x="919460" y="2971651"/>
            <a:ext cx="5981015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dirty="0">
                <a:solidFill>
                  <a:srgbClr val="A3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emails, calls, or behavior to your </a:t>
            </a:r>
            <a:r>
              <a:rPr lang="en-US" sz="730" b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 immediately</a:t>
            </a:r>
            <a:r>
              <a:rPr lang="en-US" sz="730" dirty="0">
                <a:solidFill>
                  <a:srgbClr val="A3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anonymously if needed. Silence enables threats.</a:t>
            </a:r>
            <a:endParaRPr lang="en-US" sz="730" dirty="0"/>
          </a:p>
        </p:txBody>
      </p:sp>
      <p:sp>
        <p:nvSpPr>
          <p:cNvPr id="62" name="Text 50"/>
          <p:cNvSpPr/>
          <p:nvPr/>
        </p:nvSpPr>
        <p:spPr>
          <a:xfrm>
            <a:off x="6528197" y="2741712"/>
            <a:ext cx="1216819" cy="262830"/>
          </a:xfrm>
          <a:prstGeom prst="roundRect">
            <a:avLst>
              <a:gd name="adj" fmla="val 16429"/>
            </a:avLst>
          </a:prstGeom>
          <a:solidFill>
            <a:srgbClr val="22C55E">
              <a:alpha val="12000"/>
            </a:srgbClr>
          </a:solidFill>
          <a:ln w="9525">
            <a:solidFill>
              <a:srgbClr val="22C55E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3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14601" y="2806833"/>
            <a:ext cx="132588" cy="132588"/>
          </a:xfrm>
          <a:prstGeom prst="rect">
            <a:avLst/>
          </a:prstGeom>
        </p:spPr>
      </p:pic>
      <p:sp>
        <p:nvSpPr>
          <p:cNvPr id="64" name="Text 51"/>
          <p:cNvSpPr/>
          <p:nvPr/>
        </p:nvSpPr>
        <p:spPr>
          <a:xfrm>
            <a:off x="6766917" y="2808387"/>
            <a:ext cx="95509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Anonymously</a:t>
            </a:r>
            <a:endParaRPr lang="en-US" sz="680" dirty="0"/>
          </a:p>
        </p:txBody>
      </p:sp>
      <p:pic>
        <p:nvPicPr>
          <p:cNvPr id="65" name="Image 11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51949" y="2803624"/>
            <a:ext cx="139005" cy="139005"/>
          </a:xfrm>
          <a:prstGeom prst="rect">
            <a:avLst/>
          </a:prstGeom>
        </p:spPr>
      </p:pic>
      <p:sp>
        <p:nvSpPr>
          <p:cNvPr id="66" name="Text 52"/>
          <p:cNvSpPr/>
          <p:nvPr/>
        </p:nvSpPr>
        <p:spPr>
          <a:xfrm>
            <a:off x="0" y="4743450"/>
            <a:ext cx="9144000" cy="400050"/>
          </a:xfrm>
          <a:prstGeom prst="rect">
            <a:avLst/>
          </a:prstGeom>
          <a:gradFill rotWithShape="1">
            <a:gsLst>
              <a:gs pos="0">
                <a:srgbClr val="E8A020">
                  <a:alpha val="18000"/>
                </a:srgbClr>
              </a:gs>
              <a:gs pos="40000">
                <a:srgbClr val="1A2E42">
                  <a:alpha val="95000"/>
                </a:srgbClr>
              </a:gs>
              <a:gs pos="100000">
                <a:srgbClr val="1A2E42">
                  <a:alpha val="95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3"/>
          <p:cNvSpPr/>
          <p:nvPr/>
        </p:nvSpPr>
        <p:spPr>
          <a:xfrm>
            <a:off x="0" y="4743450"/>
            <a:ext cx="9144000" cy="9525"/>
          </a:xfrm>
          <a:prstGeom prst="rect">
            <a:avLst/>
          </a:prstGeom>
          <a:solidFill>
            <a:srgbClr val="E8A020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8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68433" y="4856336"/>
            <a:ext cx="132588" cy="183802"/>
          </a:xfrm>
          <a:prstGeom prst="rect">
            <a:avLst/>
          </a:prstGeom>
        </p:spPr>
      </p:pic>
      <p:sp>
        <p:nvSpPr>
          <p:cNvPr id="69" name="Text 54"/>
          <p:cNvSpPr/>
          <p:nvPr/>
        </p:nvSpPr>
        <p:spPr>
          <a:xfrm>
            <a:off x="612874" y="4797772"/>
            <a:ext cx="2630775" cy="315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Contact your Security Awareness Team or visit the Security Portal</a:t>
            </a:r>
            <a:endParaRPr lang="en-US" sz="790" dirty="0"/>
          </a:p>
        </p:txBody>
      </p:sp>
      <p:sp>
        <p:nvSpPr>
          <p:cNvPr id="70" name="Text 55"/>
          <p:cNvSpPr/>
          <p:nvPr/>
        </p:nvSpPr>
        <p:spPr>
          <a:xfrm>
            <a:off x="3335536" y="4933652"/>
            <a:ext cx="29170" cy="29170"/>
          </a:xfrm>
          <a:prstGeom prst="ellipse">
            <a:avLst/>
          </a:prstGeom>
          <a:solidFill>
            <a:srgbClr val="E8A020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1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468969" y="4856189"/>
            <a:ext cx="132588" cy="183948"/>
          </a:xfrm>
          <a:prstGeom prst="rect">
            <a:avLst/>
          </a:prstGeom>
        </p:spPr>
      </p:pic>
      <p:sp>
        <p:nvSpPr>
          <p:cNvPr id="72" name="Text 56"/>
          <p:cNvSpPr/>
          <p:nvPr/>
        </p:nvSpPr>
        <p:spPr>
          <a:xfrm>
            <a:off x="3705820" y="4872930"/>
            <a:ext cx="1565731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security.portal.institution.internal</a:t>
            </a:r>
            <a:endParaRPr lang="en-US" sz="790" dirty="0"/>
          </a:p>
        </p:txBody>
      </p:sp>
      <p:sp>
        <p:nvSpPr>
          <p:cNvPr id="73" name="Text 57"/>
          <p:cNvSpPr/>
          <p:nvPr/>
        </p:nvSpPr>
        <p:spPr>
          <a:xfrm>
            <a:off x="5272683" y="4933652"/>
            <a:ext cx="29170" cy="29170"/>
          </a:xfrm>
          <a:prstGeom prst="ellipse">
            <a:avLst/>
          </a:prstGeom>
          <a:solidFill>
            <a:srgbClr val="E8A020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4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406116" y="4856189"/>
            <a:ext cx="132588" cy="183948"/>
          </a:xfrm>
          <a:prstGeom prst="rect">
            <a:avLst/>
          </a:prstGeom>
        </p:spPr>
      </p:pic>
      <p:sp>
        <p:nvSpPr>
          <p:cNvPr id="75" name="Text 58"/>
          <p:cNvSpPr/>
          <p:nvPr/>
        </p:nvSpPr>
        <p:spPr>
          <a:xfrm>
            <a:off x="5642967" y="4797772"/>
            <a:ext cx="1882682" cy="315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Profile v2.2 | NIST CSF 2.0 | Human Risk Framework</a:t>
            </a:r>
            <a:endParaRPr lang="en-US" sz="790" dirty="0"/>
          </a:p>
        </p:txBody>
      </p:sp>
      <p:sp>
        <p:nvSpPr>
          <p:cNvPr id="76" name="Text 59"/>
          <p:cNvSpPr/>
          <p:nvPr/>
        </p:nvSpPr>
        <p:spPr>
          <a:xfrm>
            <a:off x="7632204" y="4863703"/>
            <a:ext cx="354464" cy="168920"/>
          </a:xfrm>
          <a:prstGeom prst="roundRect">
            <a:avLst>
              <a:gd name="adj" fmla="val 17292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lIns="71120" tIns="21590" rIns="71120" bIns="21590" rtlCol="0" anchor="t"/>
          <a:lstStyle/>
          <a:p>
            <a:pPr marL="0" indent="0" algn="l">
              <a:buNone/>
            </a:pPr>
            <a:r>
              <a:rPr lang="en-US" sz="560" b="1" kern="0" spc="56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560" dirty="0"/>
          </a:p>
        </p:txBody>
      </p:sp>
      <p:sp>
        <p:nvSpPr>
          <p:cNvPr id="77" name="Text 60"/>
          <p:cNvSpPr/>
          <p:nvPr/>
        </p:nvSpPr>
        <p:spPr>
          <a:xfrm>
            <a:off x="8022878" y="4810423"/>
            <a:ext cx="721072" cy="283899"/>
          </a:xfrm>
          <a:prstGeom prst="roundRect">
            <a:avLst>
              <a:gd name="adj" fmla="val 10289"/>
            </a:avLst>
          </a:prstGeom>
          <a:solidFill>
            <a:srgbClr val="22C55E">
              <a:alpha val="10000"/>
            </a:srgbClr>
          </a:solidFill>
          <a:ln w="9525">
            <a:solidFill>
              <a:srgbClr val="22C55E">
                <a:alpha val="25000"/>
              </a:srgbClr>
            </a:solidFill>
          </a:ln>
        </p:spPr>
        <p:txBody>
          <a:bodyPr wrap="none" lIns="71120" tIns="21590" rIns="71120" bIns="21590" rtlCol="0" anchor="t"/>
          <a:lstStyle/>
          <a:p>
            <a:pPr marL="0" indent="0" algn="l">
              <a:buNone/>
            </a:pPr>
            <a:r>
              <a:rPr lang="en-US" sz="560" b="1" kern="0" spc="56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COMMITMENT</a:t>
            </a:r>
            <a:endParaRPr lang="en-US" sz="5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14284" y="0"/>
            <a:ext cx="4429716" cy="4429716"/>
          </a:xfrm>
          <a:prstGeom prst="ellipse">
            <a:avLst/>
          </a:prstGeom>
          <a:noFill/>
          <a:ln w="9525">
            <a:solidFill>
              <a:srgbClr val="E8A020">
                <a:alpha val="4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29250" y="0"/>
            <a:ext cx="3714750" cy="3714702"/>
          </a:xfrm>
          <a:prstGeom prst="ellipse">
            <a:avLst/>
          </a:prstGeom>
          <a:noFill/>
          <a:ln w="9525">
            <a:solidFill>
              <a:srgbClr val="E8A020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43034" y="0"/>
            <a:ext cx="3000966" cy="3000966"/>
          </a:xfrm>
          <a:prstGeom prst="ellipse">
            <a:avLst/>
          </a:prstGeom>
          <a:noFill/>
          <a:ln w="9525">
            <a:solidFill>
              <a:srgbClr val="E8A020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2571705" cy="5143500"/>
          </a:xfrm>
          <a:prstGeom prst="rect">
            <a:avLst/>
          </a:prstGeom>
          <a:gradFill rotWithShape="1">
            <a:gsLst>
              <a:gs pos="0">
                <a:srgbClr val="0D1B2A">
                  <a:alpha val="0"/>
                </a:srgbClr>
              </a:gs>
              <a:gs pos="100000">
                <a:srgbClr val="E8A020">
                  <a:alpha val="4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0"/>
            <a:ext cx="4857750" cy="385703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43000"/>
            <a:ext cx="4429720" cy="4000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3875" y="1632645"/>
            <a:ext cx="2590352" cy="1852317"/>
          </a:xfrm>
          <a:prstGeom prst="roundRect">
            <a:avLst>
              <a:gd name="adj" fmla="val 3085"/>
            </a:avLst>
          </a:prstGeom>
          <a:gradFill rotWithShape="1">
            <a:gsLst>
              <a:gs pos="0">
                <a:srgbClr val="E8A020">
                  <a:alpha val="12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276749" y="1632645"/>
            <a:ext cx="2590505" cy="1852317"/>
          </a:xfrm>
          <a:prstGeom prst="roundRect">
            <a:avLst>
              <a:gd name="adj" fmla="val 3085"/>
            </a:avLst>
          </a:prstGeom>
          <a:gradFill rotWithShape="1">
            <a:gsLst>
              <a:gs pos="0">
                <a:srgbClr val="E8A020">
                  <a:alpha val="12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6029771" y="1632645"/>
            <a:ext cx="2590352" cy="1852317"/>
          </a:xfrm>
          <a:prstGeom prst="roundRect">
            <a:avLst>
              <a:gd name="adj" fmla="val 3085"/>
            </a:avLst>
          </a:prstGeom>
          <a:gradFill rotWithShape="1">
            <a:gsLst>
              <a:gs pos="0">
                <a:srgbClr val="E8A020">
                  <a:alpha val="12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alphaModFix amt="3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5720" y="1028700"/>
            <a:ext cx="2428280" cy="2571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0" y="0"/>
            <a:ext cx="4316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E8A020"/>
              </a:gs>
              <a:gs pos="70000">
                <a:srgbClr val="E8A020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3074045" y="380554"/>
            <a:ext cx="257770" cy="7590"/>
          </a:xfrm>
          <a:prstGeom prst="rect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3402806" y="314920"/>
            <a:ext cx="257222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SECURITY AWARENESS PROGRAM</a:t>
            </a:r>
            <a:endParaRPr lang="en-US" sz="730" dirty="0"/>
          </a:p>
        </p:txBody>
      </p:sp>
      <p:sp>
        <p:nvSpPr>
          <p:cNvPr id="17" name="Text 12"/>
          <p:cNvSpPr/>
          <p:nvPr/>
        </p:nvSpPr>
        <p:spPr>
          <a:xfrm>
            <a:off x="5812185" y="380554"/>
            <a:ext cx="257770" cy="7590"/>
          </a:xfrm>
          <a:prstGeom prst="rect">
            <a:avLst/>
          </a:prstGeom>
          <a:gradFill rotWithShape="1">
            <a:gsLst>
              <a:gs pos="0">
                <a:srgbClr val="E8A020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1882657" y="524917"/>
            <a:ext cx="5378537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90"/>
              </a:lnSpc>
              <a:spcAft>
                <a:spcPts val="340"/>
              </a:spcAft>
              <a:buNone/>
            </a:pPr>
            <a:r>
              <a:rPr lang="en-US" sz="1460" kern="0" spc="58" dirty="0">
                <a:solidFill>
                  <a:srgbClr val="94AF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Financial Institutions  |  Human Risk  |  Cyber Resilience</a:t>
            </a:r>
            <a:endParaRPr lang="en-US" sz="1460" dirty="0"/>
          </a:p>
        </p:txBody>
      </p:sp>
      <p:sp>
        <p:nvSpPr>
          <p:cNvPr id="19" name="Text 14"/>
          <p:cNvSpPr/>
          <p:nvPr/>
        </p:nvSpPr>
        <p:spPr>
          <a:xfrm>
            <a:off x="342725" y="846237"/>
            <a:ext cx="8458401" cy="4092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3223"/>
              </a:lnSpc>
              <a:buNone/>
            </a:pPr>
            <a:r>
              <a:rPr lang="en-US" sz="293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Together, We Build a </a:t>
            </a:r>
            <a:r>
              <a:rPr lang="en-US" sz="293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Cyber-Resilient</a:t>
            </a:r>
            <a:r>
              <a:rPr lang="en-US" sz="293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Institution.</a:t>
            </a:r>
            <a:endParaRPr lang="en-US" sz="2930" dirty="0"/>
          </a:p>
        </p:txBody>
      </p:sp>
      <p:sp>
        <p:nvSpPr>
          <p:cNvPr id="20" name="Text 15"/>
          <p:cNvSpPr/>
          <p:nvPr/>
        </p:nvSpPr>
        <p:spPr>
          <a:xfrm>
            <a:off x="3585865" y="1423690"/>
            <a:ext cx="85725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E8A02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 rot="2700000">
            <a:off x="4543425" y="1398984"/>
            <a:ext cx="57150" cy="57150"/>
          </a:xfrm>
          <a:prstGeom prst="rect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4700885" y="1423690"/>
            <a:ext cx="85725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E8A020"/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514350" y="1613595"/>
            <a:ext cx="2609404" cy="1880890"/>
          </a:xfrm>
          <a:prstGeom prst="roundRect">
            <a:avLst>
              <a:gd name="adj" fmla="val 3038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514350" y="1613595"/>
            <a:ext cx="2609404" cy="19050"/>
          </a:xfrm>
          <a:custGeom>
            <a:avLst/>
            <a:gdLst/>
            <a:ahLst/>
            <a:cxnLst/>
            <a:rect l="l" t="t" r="r" b="b"/>
            <a:pathLst>
              <a:path w="2609404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2594851" y="19050"/>
                </a:lnTo>
                <a:lnTo>
                  <a:pt x="2592594" y="16669"/>
                </a:lnTo>
                <a:lnTo>
                  <a:pt x="2590055" y="14288"/>
                </a:lnTo>
                <a:lnTo>
                  <a:pt x="2587169" y="11906"/>
                </a:lnTo>
                <a:lnTo>
                  <a:pt x="2583844" y="9525"/>
                </a:lnTo>
                <a:lnTo>
                  <a:pt x="2579921" y="7144"/>
                </a:lnTo>
                <a:lnTo>
                  <a:pt x="2575094" y="4763"/>
                </a:lnTo>
                <a:lnTo>
                  <a:pt x="2568579" y="2381"/>
                </a:lnTo>
                <a:lnTo>
                  <a:pt x="2552254" y="0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695325" y="1790105"/>
            <a:ext cx="57266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12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01</a:t>
            </a:r>
            <a:endParaRPr lang="en-US" sz="620" dirty="0"/>
          </a:p>
        </p:txBody>
      </p:sp>
      <p:sp>
        <p:nvSpPr>
          <p:cNvPr id="26" name="Text 21"/>
          <p:cNvSpPr/>
          <p:nvPr/>
        </p:nvSpPr>
        <p:spPr>
          <a:xfrm>
            <a:off x="695325" y="1979116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E8A020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6417" y="2070208"/>
            <a:ext cx="132588" cy="1325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5325" y="2380357"/>
            <a:ext cx="740301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</a:t>
            </a:r>
            <a:endParaRPr lang="en-US" sz="1240" dirty="0"/>
          </a:p>
        </p:txBody>
      </p:sp>
      <p:sp>
        <p:nvSpPr>
          <p:cNvPr id="29" name="Text 23"/>
          <p:cNvSpPr/>
          <p:nvPr/>
        </p:nvSpPr>
        <p:spPr>
          <a:xfrm>
            <a:off x="695325" y="2659707"/>
            <a:ext cx="171450" cy="13841"/>
          </a:xfrm>
          <a:prstGeom prst="roundRect">
            <a:avLst>
              <a:gd name="adj" fmla="val 55054"/>
            </a:avLst>
          </a:prstGeom>
          <a:solidFill>
            <a:srgbClr val="E8A020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695325" y="2722959"/>
            <a:ext cx="2292403" cy="487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8"/>
              </a:lnSpc>
              <a:buNone/>
            </a:pPr>
            <a:r>
              <a:rPr lang="en-US" sz="84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of CTI-informed, role-based webinar training — intelligence-led content tailored to financial sector threats and your job function.</a:t>
            </a:r>
            <a:endParaRPr lang="en-US" sz="840" dirty="0"/>
          </a:p>
        </p:txBody>
      </p:sp>
      <p:sp>
        <p:nvSpPr>
          <p:cNvPr id="31" name="Text 25"/>
          <p:cNvSpPr/>
          <p:nvPr/>
        </p:nvSpPr>
        <p:spPr>
          <a:xfrm>
            <a:off x="3267224" y="1613595"/>
            <a:ext cx="2609552" cy="1880890"/>
          </a:xfrm>
          <a:prstGeom prst="roundRect">
            <a:avLst>
              <a:gd name="adj" fmla="val 3038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3267224" y="1613595"/>
            <a:ext cx="2609552" cy="19050"/>
          </a:xfrm>
          <a:custGeom>
            <a:avLst/>
            <a:gdLst/>
            <a:ahLst/>
            <a:cxnLst/>
            <a:rect l="l" t="t" r="r" b="b"/>
            <a:pathLst>
              <a:path w="2609552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2594999" y="19050"/>
                </a:lnTo>
                <a:lnTo>
                  <a:pt x="2592743" y="16669"/>
                </a:lnTo>
                <a:lnTo>
                  <a:pt x="2590204" y="14288"/>
                </a:lnTo>
                <a:lnTo>
                  <a:pt x="2587318" y="11906"/>
                </a:lnTo>
                <a:lnTo>
                  <a:pt x="2583993" y="9525"/>
                </a:lnTo>
                <a:lnTo>
                  <a:pt x="2580070" y="7144"/>
                </a:lnTo>
                <a:lnTo>
                  <a:pt x="2575242" y="4763"/>
                </a:lnTo>
                <a:lnTo>
                  <a:pt x="2568727" y="2381"/>
                </a:lnTo>
                <a:lnTo>
                  <a:pt x="2552402" y="0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3448199" y="1790105"/>
            <a:ext cx="57266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12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02</a:t>
            </a:r>
            <a:endParaRPr lang="en-US" sz="620" dirty="0"/>
          </a:p>
        </p:txBody>
      </p:sp>
      <p:sp>
        <p:nvSpPr>
          <p:cNvPr id="34" name="Text 28"/>
          <p:cNvSpPr/>
          <p:nvPr/>
        </p:nvSpPr>
        <p:spPr>
          <a:xfrm>
            <a:off x="3448199" y="1979116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E8A020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39291" y="2070208"/>
            <a:ext cx="132588" cy="13258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448199" y="2380357"/>
            <a:ext cx="980956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Empowered</a:t>
            </a:r>
            <a:endParaRPr lang="en-US" sz="1240" dirty="0"/>
          </a:p>
        </p:txBody>
      </p:sp>
      <p:sp>
        <p:nvSpPr>
          <p:cNvPr id="37" name="Text 30"/>
          <p:cNvSpPr/>
          <p:nvPr/>
        </p:nvSpPr>
        <p:spPr>
          <a:xfrm>
            <a:off x="3448199" y="2659707"/>
            <a:ext cx="171450" cy="13841"/>
          </a:xfrm>
          <a:prstGeom prst="roundRect">
            <a:avLst>
              <a:gd name="adj" fmla="val 55054"/>
            </a:avLst>
          </a:prstGeom>
          <a:solidFill>
            <a:srgbClr val="E8A020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3448199" y="2722959"/>
            <a:ext cx="2292554" cy="487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8"/>
              </a:lnSpc>
              <a:buNone/>
            </a:pPr>
            <a:r>
              <a:rPr lang="en-US" sz="84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resources, and the authority to stop threats — every employee equipped to recognize, respond, and report with confidence.</a:t>
            </a:r>
            <a:endParaRPr lang="en-US" sz="840" dirty="0"/>
          </a:p>
        </p:txBody>
      </p:sp>
      <p:sp>
        <p:nvSpPr>
          <p:cNvPr id="39" name="Text 32"/>
          <p:cNvSpPr/>
          <p:nvPr/>
        </p:nvSpPr>
        <p:spPr>
          <a:xfrm>
            <a:off x="6020246" y="1613595"/>
            <a:ext cx="2609404" cy="1880890"/>
          </a:xfrm>
          <a:prstGeom prst="roundRect">
            <a:avLst>
              <a:gd name="adj" fmla="val 3038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6020246" y="1613595"/>
            <a:ext cx="2609404" cy="19050"/>
          </a:xfrm>
          <a:custGeom>
            <a:avLst/>
            <a:gdLst/>
            <a:ahLst/>
            <a:cxnLst/>
            <a:rect l="l" t="t" r="r" b="b"/>
            <a:pathLst>
              <a:path w="2609404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2594851" y="19050"/>
                </a:lnTo>
                <a:lnTo>
                  <a:pt x="2592594" y="16669"/>
                </a:lnTo>
                <a:lnTo>
                  <a:pt x="2590055" y="14288"/>
                </a:lnTo>
                <a:lnTo>
                  <a:pt x="2587169" y="11906"/>
                </a:lnTo>
                <a:lnTo>
                  <a:pt x="2583844" y="9525"/>
                </a:lnTo>
                <a:lnTo>
                  <a:pt x="2579921" y="7144"/>
                </a:lnTo>
                <a:lnTo>
                  <a:pt x="2575094" y="4763"/>
                </a:lnTo>
                <a:lnTo>
                  <a:pt x="2568579" y="2381"/>
                </a:lnTo>
                <a:lnTo>
                  <a:pt x="2552254" y="0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6201221" y="1790105"/>
            <a:ext cx="57266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12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03</a:t>
            </a:r>
            <a:endParaRPr lang="en-US" sz="620" dirty="0"/>
          </a:p>
        </p:txBody>
      </p:sp>
      <p:sp>
        <p:nvSpPr>
          <p:cNvPr id="42" name="Text 35"/>
          <p:cNvSpPr/>
          <p:nvPr/>
        </p:nvSpPr>
        <p:spPr>
          <a:xfrm>
            <a:off x="6201221" y="1979116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E8A020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92313" y="2070208"/>
            <a:ext cx="132588" cy="13258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201221" y="2380357"/>
            <a:ext cx="1038582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240" dirty="0"/>
          </a:p>
        </p:txBody>
      </p:sp>
      <p:sp>
        <p:nvSpPr>
          <p:cNvPr id="45" name="Text 37"/>
          <p:cNvSpPr/>
          <p:nvPr/>
        </p:nvSpPr>
        <p:spPr>
          <a:xfrm>
            <a:off x="6201221" y="2659707"/>
            <a:ext cx="171450" cy="13841"/>
          </a:xfrm>
          <a:prstGeom prst="roundRect">
            <a:avLst>
              <a:gd name="adj" fmla="val 55054"/>
            </a:avLst>
          </a:prstGeom>
          <a:solidFill>
            <a:srgbClr val="E8A020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8"/>
          <p:cNvSpPr/>
          <p:nvPr/>
        </p:nvSpPr>
        <p:spPr>
          <a:xfrm>
            <a:off x="6201221" y="2722959"/>
            <a:ext cx="2292403" cy="64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8"/>
              </a:lnSpc>
              <a:buNone/>
            </a:pPr>
            <a:r>
              <a:rPr lang="en-US" sz="84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outcomes tied to CRI/NIST framework — KPIs reported monthly to CISO/CRO and quarterly to the Board Risk Committee.</a:t>
            </a:r>
            <a:endParaRPr lang="en-US" sz="840" dirty="0"/>
          </a:p>
        </p:txBody>
      </p:sp>
      <p:sp>
        <p:nvSpPr>
          <p:cNvPr id="47" name="Text 39"/>
          <p:cNvSpPr/>
          <p:nvPr/>
        </p:nvSpPr>
        <p:spPr>
          <a:xfrm>
            <a:off x="2763887" y="3651945"/>
            <a:ext cx="1041532" cy="219373"/>
          </a:xfrm>
          <a:prstGeom prst="roundRect">
            <a:avLst>
              <a:gd name="adj" fmla="val 65418"/>
            </a:avLst>
          </a:prstGeom>
          <a:solidFill>
            <a:srgbClr val="E8A020">
              <a:alpha val="7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lIns="186670" tIns="35560" rIns="100330" bIns="35560" rtlCol="0" anchor="ctr"/>
          <a:lstStyle/>
          <a:p>
            <a:pPr marL="0" indent="0" algn="l">
              <a:buNone/>
            </a:pPr>
            <a:r>
              <a:rPr lang="en-US" sz="680" b="1" kern="0" spc="4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Profile v2.2</a:t>
            </a:r>
            <a:endParaRPr lang="en-US" sz="680" dirty="0"/>
          </a:p>
        </p:txBody>
      </p:sp>
      <p:sp>
        <p:nvSpPr>
          <p:cNvPr id="48" name="Text 40"/>
          <p:cNvSpPr/>
          <p:nvPr/>
        </p:nvSpPr>
        <p:spPr>
          <a:xfrm>
            <a:off x="2873722" y="3740051"/>
            <a:ext cx="43160" cy="43160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1"/>
          <p:cNvSpPr/>
          <p:nvPr/>
        </p:nvSpPr>
        <p:spPr>
          <a:xfrm>
            <a:off x="3855988" y="3675906"/>
            <a:ext cx="7590" cy="171450"/>
          </a:xfrm>
          <a:prstGeom prst="rect">
            <a:avLst/>
          </a:prstGeom>
          <a:solidFill>
            <a:srgbClr val="E8A020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2"/>
          <p:cNvSpPr/>
          <p:nvPr/>
        </p:nvSpPr>
        <p:spPr>
          <a:xfrm>
            <a:off x="3934569" y="3651945"/>
            <a:ext cx="922669" cy="219373"/>
          </a:xfrm>
          <a:prstGeom prst="roundRect">
            <a:avLst>
              <a:gd name="adj" fmla="val 65418"/>
            </a:avLst>
          </a:prstGeom>
          <a:solidFill>
            <a:srgbClr val="E8A020">
              <a:alpha val="7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lIns="186670" tIns="35560" rIns="100330" bIns="35560" rtlCol="0" anchor="ctr"/>
          <a:lstStyle/>
          <a:p>
            <a:pPr marL="0" indent="0" algn="l">
              <a:buNone/>
            </a:pPr>
            <a:r>
              <a:rPr lang="en-US" sz="680" b="1" kern="0" spc="4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</a:t>
            </a:r>
            <a:endParaRPr lang="en-US" sz="680" dirty="0"/>
          </a:p>
        </p:txBody>
      </p:sp>
      <p:sp>
        <p:nvSpPr>
          <p:cNvPr id="51" name="Text 43"/>
          <p:cNvSpPr/>
          <p:nvPr/>
        </p:nvSpPr>
        <p:spPr>
          <a:xfrm>
            <a:off x="4044404" y="3740051"/>
            <a:ext cx="43160" cy="43160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4"/>
          <p:cNvSpPr/>
          <p:nvPr/>
        </p:nvSpPr>
        <p:spPr>
          <a:xfrm>
            <a:off x="4910138" y="3675906"/>
            <a:ext cx="7590" cy="171450"/>
          </a:xfrm>
          <a:prstGeom prst="rect">
            <a:avLst/>
          </a:prstGeom>
          <a:solidFill>
            <a:srgbClr val="E8A020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5"/>
          <p:cNvSpPr/>
          <p:nvPr/>
        </p:nvSpPr>
        <p:spPr>
          <a:xfrm>
            <a:off x="4988719" y="3651945"/>
            <a:ext cx="1419222" cy="219373"/>
          </a:xfrm>
          <a:prstGeom prst="roundRect">
            <a:avLst>
              <a:gd name="adj" fmla="val 65418"/>
            </a:avLst>
          </a:prstGeom>
          <a:solidFill>
            <a:srgbClr val="E8A020">
              <a:alpha val="7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lIns="186670" tIns="35560" rIns="100330" bIns="35560" rtlCol="0" anchor="ctr"/>
          <a:lstStyle/>
          <a:p>
            <a:pPr marL="0" indent="0" algn="l">
              <a:buNone/>
            </a:pPr>
            <a:r>
              <a:rPr lang="en-US" sz="680" b="1" kern="0" spc="4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Risk Framework</a:t>
            </a:r>
            <a:endParaRPr lang="en-US" sz="680" dirty="0"/>
          </a:p>
        </p:txBody>
      </p:sp>
      <p:sp>
        <p:nvSpPr>
          <p:cNvPr id="54" name="Text 46"/>
          <p:cNvSpPr/>
          <p:nvPr/>
        </p:nvSpPr>
        <p:spPr>
          <a:xfrm>
            <a:off x="5098554" y="3740051"/>
            <a:ext cx="43160" cy="43160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7"/>
          <p:cNvSpPr/>
          <p:nvPr/>
        </p:nvSpPr>
        <p:spPr>
          <a:xfrm>
            <a:off x="0" y="4714280"/>
            <a:ext cx="9144000" cy="429220"/>
          </a:xfrm>
          <a:prstGeom prst="rect">
            <a:avLst/>
          </a:prstGeom>
          <a:solidFill>
            <a:srgbClr val="12203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8"/>
          <p:cNvSpPr/>
          <p:nvPr/>
        </p:nvSpPr>
        <p:spPr>
          <a:xfrm>
            <a:off x="0" y="4714280"/>
            <a:ext cx="9144000" cy="9525"/>
          </a:xfrm>
          <a:prstGeom prst="rect">
            <a:avLst/>
          </a:prstGeom>
          <a:solidFill>
            <a:srgbClr val="E8A020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8016" y="4867284"/>
            <a:ext cx="132588" cy="132588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651421" y="4864150"/>
            <a:ext cx="181637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security.awareness@yourinstitution.com</a:t>
            </a:r>
            <a:endParaRPr lang="en-US" sz="730" dirty="0"/>
          </a:p>
        </p:txBody>
      </p:sp>
      <p:sp>
        <p:nvSpPr>
          <p:cNvPr id="59" name="Text 50"/>
          <p:cNvSpPr/>
          <p:nvPr/>
        </p:nvSpPr>
        <p:spPr>
          <a:xfrm>
            <a:off x="2474119" y="4847927"/>
            <a:ext cx="5953" cy="171450"/>
          </a:xfrm>
          <a:prstGeom prst="rect">
            <a:avLst/>
          </a:prstGeom>
          <a:solidFill>
            <a:srgbClr val="94AFC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25188" y="4867284"/>
            <a:ext cx="132588" cy="132588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2788593" y="4794647"/>
            <a:ext cx="1679415" cy="291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Champions: intranet/security-champions</a:t>
            </a:r>
            <a:endParaRPr lang="en-US" sz="730" dirty="0"/>
          </a:p>
        </p:txBody>
      </p:sp>
      <p:sp>
        <p:nvSpPr>
          <p:cNvPr id="62" name="Text 52"/>
          <p:cNvSpPr/>
          <p:nvPr/>
        </p:nvSpPr>
        <p:spPr>
          <a:xfrm>
            <a:off x="4606528" y="4847927"/>
            <a:ext cx="5953" cy="171450"/>
          </a:xfrm>
          <a:prstGeom prst="rect">
            <a:avLst/>
          </a:prstGeom>
          <a:solidFill>
            <a:srgbClr val="94AFC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57598" y="4867284"/>
            <a:ext cx="132588" cy="132588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4921002" y="4794647"/>
            <a:ext cx="1310226" cy="291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Portal: intranet/security-portal</a:t>
            </a:r>
            <a:endParaRPr lang="en-US" sz="730" dirty="0"/>
          </a:p>
        </p:txBody>
      </p:sp>
      <p:sp>
        <p:nvSpPr>
          <p:cNvPr id="65" name="Text 54"/>
          <p:cNvSpPr/>
          <p:nvPr/>
        </p:nvSpPr>
        <p:spPr>
          <a:xfrm>
            <a:off x="6205538" y="4833342"/>
            <a:ext cx="157758" cy="200620"/>
          </a:xfrm>
          <a:prstGeom prst="roundRect">
            <a:avLst>
              <a:gd name="adj" fmla="val 27371"/>
            </a:avLst>
          </a:prstGeom>
          <a:solidFill>
            <a:srgbClr val="E8A020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18048" y="4867284"/>
            <a:ext cx="132588" cy="132588"/>
          </a:xfrm>
          <a:prstGeom prst="rect">
            <a:avLst/>
          </a:prstGeom>
        </p:spPr>
      </p:pic>
      <p:sp>
        <p:nvSpPr>
          <p:cNvPr id="67" name="Text 55"/>
          <p:cNvSpPr/>
          <p:nvPr/>
        </p:nvSpPr>
        <p:spPr>
          <a:xfrm>
            <a:off x="6420445" y="4794647"/>
            <a:ext cx="2253389" cy="291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Awareness Program  |  Financial Institutions  |  2026</a:t>
            </a:r>
            <a:endParaRPr lang="en-US" sz="7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3785</Words>
  <Application>Microsoft Office PowerPoint</Application>
  <PresentationFormat>On-screen Show (16:9)</PresentationFormat>
  <Paragraphs>675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Aaron Simmons</cp:lastModifiedBy>
  <cp:revision>2</cp:revision>
  <dcterms:created xsi:type="dcterms:W3CDTF">2026-05-15T15:50:14Z</dcterms:created>
  <dcterms:modified xsi:type="dcterms:W3CDTF">2026-05-15T16:06:00Z</dcterms:modified>
</cp:coreProperties>
</file>