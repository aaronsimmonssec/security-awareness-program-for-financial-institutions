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8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620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30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sv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svg"/><Relationship Id="rId7" Type="http://schemas.openxmlformats.org/officeDocument/2006/relationships/image" Target="../media/image3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4" Type="http://schemas.openxmlformats.org/officeDocument/2006/relationships/image" Target="../media/image32.svg"/><Relationship Id="rId9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sv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6.svg"/><Relationship Id="rId5" Type="http://schemas.openxmlformats.org/officeDocument/2006/relationships/image" Target="../media/image40.svg"/><Relationship Id="rId15" Type="http://schemas.openxmlformats.org/officeDocument/2006/relationships/image" Target="../media/image50.sv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svg"/><Relationship Id="rId14" Type="http://schemas.openxmlformats.org/officeDocument/2006/relationships/image" Target="../media/image4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svg"/><Relationship Id="rId3" Type="http://schemas.openxmlformats.org/officeDocument/2006/relationships/image" Target="../media/image51.svg"/><Relationship Id="rId7" Type="http://schemas.openxmlformats.org/officeDocument/2006/relationships/image" Target="../media/image55.svg"/><Relationship Id="rId12" Type="http://schemas.openxmlformats.org/officeDocument/2006/relationships/image" Target="../media/image6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svg"/><Relationship Id="rId11" Type="http://schemas.openxmlformats.org/officeDocument/2006/relationships/image" Target="../media/image59.svg"/><Relationship Id="rId5" Type="http://schemas.openxmlformats.org/officeDocument/2006/relationships/image" Target="../media/image53.svg"/><Relationship Id="rId10" Type="http://schemas.openxmlformats.org/officeDocument/2006/relationships/image" Target="../media/image58.svg"/><Relationship Id="rId4" Type="http://schemas.openxmlformats.org/officeDocument/2006/relationships/image" Target="../media/image52.svg"/><Relationship Id="rId9" Type="http://schemas.openxmlformats.org/officeDocument/2006/relationships/image" Target="../media/image5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svg"/><Relationship Id="rId13" Type="http://schemas.openxmlformats.org/officeDocument/2006/relationships/image" Target="../media/image71.svg"/><Relationship Id="rId3" Type="http://schemas.openxmlformats.org/officeDocument/2006/relationships/image" Target="../media/image61.svg"/><Relationship Id="rId7" Type="http://schemas.openxmlformats.org/officeDocument/2006/relationships/image" Target="../media/image65.svg"/><Relationship Id="rId12" Type="http://schemas.openxmlformats.org/officeDocument/2006/relationships/image" Target="../media/image70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svg"/><Relationship Id="rId11" Type="http://schemas.openxmlformats.org/officeDocument/2006/relationships/image" Target="../media/image69.svg"/><Relationship Id="rId5" Type="http://schemas.openxmlformats.org/officeDocument/2006/relationships/image" Target="../media/image63.svg"/><Relationship Id="rId15" Type="http://schemas.openxmlformats.org/officeDocument/2006/relationships/image" Target="../media/image73.svg"/><Relationship Id="rId10" Type="http://schemas.openxmlformats.org/officeDocument/2006/relationships/image" Target="../media/image68.svg"/><Relationship Id="rId4" Type="http://schemas.openxmlformats.org/officeDocument/2006/relationships/image" Target="../media/image62.svg"/><Relationship Id="rId9" Type="http://schemas.openxmlformats.org/officeDocument/2006/relationships/image" Target="../media/image67.svg"/><Relationship Id="rId14" Type="http://schemas.openxmlformats.org/officeDocument/2006/relationships/image" Target="../media/image7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svg"/><Relationship Id="rId13" Type="http://schemas.openxmlformats.org/officeDocument/2006/relationships/image" Target="../media/image85.svg"/><Relationship Id="rId3" Type="http://schemas.openxmlformats.org/officeDocument/2006/relationships/image" Target="../media/image75.svg"/><Relationship Id="rId7" Type="http://schemas.openxmlformats.org/officeDocument/2006/relationships/image" Target="../media/image79.svg"/><Relationship Id="rId12" Type="http://schemas.openxmlformats.org/officeDocument/2006/relationships/image" Target="../media/image8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11" Type="http://schemas.openxmlformats.org/officeDocument/2006/relationships/image" Target="../media/image83.svg"/><Relationship Id="rId5" Type="http://schemas.openxmlformats.org/officeDocument/2006/relationships/image" Target="../media/image77.svg"/><Relationship Id="rId10" Type="http://schemas.openxmlformats.org/officeDocument/2006/relationships/image" Target="../media/image82.svg"/><Relationship Id="rId4" Type="http://schemas.openxmlformats.org/officeDocument/2006/relationships/image" Target="../media/image76.svg"/><Relationship Id="rId9" Type="http://schemas.openxmlformats.org/officeDocument/2006/relationships/image" Target="../media/image81.svg"/><Relationship Id="rId14" Type="http://schemas.openxmlformats.org/officeDocument/2006/relationships/image" Target="../media/image8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13" Type="http://schemas.openxmlformats.org/officeDocument/2006/relationships/image" Target="../media/image97.svg"/><Relationship Id="rId3" Type="http://schemas.openxmlformats.org/officeDocument/2006/relationships/image" Target="../media/image87.svg"/><Relationship Id="rId7" Type="http://schemas.openxmlformats.org/officeDocument/2006/relationships/image" Target="../media/image91.svg"/><Relationship Id="rId12" Type="http://schemas.openxmlformats.org/officeDocument/2006/relationships/image" Target="../media/image9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11" Type="http://schemas.openxmlformats.org/officeDocument/2006/relationships/image" Target="../media/image95.svg"/><Relationship Id="rId5" Type="http://schemas.openxmlformats.org/officeDocument/2006/relationships/image" Target="../media/image89.svg"/><Relationship Id="rId10" Type="http://schemas.openxmlformats.org/officeDocument/2006/relationships/image" Target="../media/image94.svg"/><Relationship Id="rId4" Type="http://schemas.openxmlformats.org/officeDocument/2006/relationships/image" Target="../media/image88.svg"/><Relationship Id="rId9" Type="http://schemas.openxmlformats.org/officeDocument/2006/relationships/image" Target="../media/image9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svg"/><Relationship Id="rId13" Type="http://schemas.openxmlformats.org/officeDocument/2006/relationships/image" Target="../media/image108.svg"/><Relationship Id="rId18" Type="http://schemas.openxmlformats.org/officeDocument/2006/relationships/image" Target="../media/image113.svg"/><Relationship Id="rId3" Type="http://schemas.openxmlformats.org/officeDocument/2006/relationships/image" Target="../media/image98.svg"/><Relationship Id="rId7" Type="http://schemas.openxmlformats.org/officeDocument/2006/relationships/image" Target="../media/image102.svg"/><Relationship Id="rId12" Type="http://schemas.openxmlformats.org/officeDocument/2006/relationships/image" Target="../media/image107.svg"/><Relationship Id="rId17" Type="http://schemas.openxmlformats.org/officeDocument/2006/relationships/image" Target="../media/image112.sv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1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svg"/><Relationship Id="rId11" Type="http://schemas.openxmlformats.org/officeDocument/2006/relationships/image" Target="../media/image106.svg"/><Relationship Id="rId5" Type="http://schemas.openxmlformats.org/officeDocument/2006/relationships/image" Target="../media/image100.svg"/><Relationship Id="rId15" Type="http://schemas.openxmlformats.org/officeDocument/2006/relationships/image" Target="../media/image110.svg"/><Relationship Id="rId10" Type="http://schemas.openxmlformats.org/officeDocument/2006/relationships/image" Target="../media/image105.svg"/><Relationship Id="rId19" Type="http://schemas.openxmlformats.org/officeDocument/2006/relationships/image" Target="../media/image114.svg"/><Relationship Id="rId4" Type="http://schemas.openxmlformats.org/officeDocument/2006/relationships/image" Target="../media/image99.svg"/><Relationship Id="rId9" Type="http://schemas.openxmlformats.org/officeDocument/2006/relationships/image" Target="../media/image104.svg"/><Relationship Id="rId14" Type="http://schemas.openxmlformats.org/officeDocument/2006/relationships/image" Target="../media/image109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svg"/><Relationship Id="rId3" Type="http://schemas.openxmlformats.org/officeDocument/2006/relationships/image" Target="../media/image115.svg"/><Relationship Id="rId7" Type="http://schemas.openxmlformats.org/officeDocument/2006/relationships/image" Target="../media/image11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8.svg"/><Relationship Id="rId11" Type="http://schemas.openxmlformats.org/officeDocument/2006/relationships/image" Target="../media/image123.svg"/><Relationship Id="rId5" Type="http://schemas.openxmlformats.org/officeDocument/2006/relationships/image" Target="../media/image117.svg"/><Relationship Id="rId10" Type="http://schemas.openxmlformats.org/officeDocument/2006/relationships/image" Target="../media/image122.svg"/><Relationship Id="rId4" Type="http://schemas.openxmlformats.org/officeDocument/2006/relationships/image" Target="../media/image116.svg"/><Relationship Id="rId9" Type="http://schemas.openxmlformats.org/officeDocument/2006/relationships/image" Target="../media/image12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svg"/><Relationship Id="rId3" Type="http://schemas.openxmlformats.org/officeDocument/2006/relationships/image" Target="../media/image124.svg"/><Relationship Id="rId7" Type="http://schemas.openxmlformats.org/officeDocument/2006/relationships/image" Target="../media/image12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7.svg"/><Relationship Id="rId5" Type="http://schemas.openxmlformats.org/officeDocument/2006/relationships/image" Target="../media/image126.svg"/><Relationship Id="rId4" Type="http://schemas.openxmlformats.org/officeDocument/2006/relationships/image" Target="../media/image125.svg"/><Relationship Id="rId9" Type="http://schemas.openxmlformats.org/officeDocument/2006/relationships/image" Target="../media/image130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svg"/><Relationship Id="rId3" Type="http://schemas.openxmlformats.org/officeDocument/2006/relationships/image" Target="../media/image131.svg"/><Relationship Id="rId7" Type="http://schemas.openxmlformats.org/officeDocument/2006/relationships/image" Target="../media/image135.svg"/><Relationship Id="rId12" Type="http://schemas.openxmlformats.org/officeDocument/2006/relationships/image" Target="../media/image140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svg"/><Relationship Id="rId11" Type="http://schemas.openxmlformats.org/officeDocument/2006/relationships/image" Target="../media/image139.svg"/><Relationship Id="rId5" Type="http://schemas.openxmlformats.org/officeDocument/2006/relationships/image" Target="../media/image133.svg"/><Relationship Id="rId10" Type="http://schemas.openxmlformats.org/officeDocument/2006/relationships/image" Target="../media/image138.svg"/><Relationship Id="rId4" Type="http://schemas.openxmlformats.org/officeDocument/2006/relationships/image" Target="../media/image132.svg"/><Relationship Id="rId9" Type="http://schemas.openxmlformats.org/officeDocument/2006/relationships/image" Target="../media/image137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svg"/><Relationship Id="rId3" Type="http://schemas.openxmlformats.org/officeDocument/2006/relationships/image" Target="../media/image141.svg"/><Relationship Id="rId7" Type="http://schemas.openxmlformats.org/officeDocument/2006/relationships/image" Target="../media/image14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4.svg"/><Relationship Id="rId11" Type="http://schemas.openxmlformats.org/officeDocument/2006/relationships/image" Target="../media/image149.svg"/><Relationship Id="rId5" Type="http://schemas.openxmlformats.org/officeDocument/2006/relationships/image" Target="../media/image143.svg"/><Relationship Id="rId10" Type="http://schemas.openxmlformats.org/officeDocument/2006/relationships/image" Target="../media/image148.svg"/><Relationship Id="rId4" Type="http://schemas.openxmlformats.org/officeDocument/2006/relationships/image" Target="../media/image142.svg"/><Relationship Id="rId9" Type="http://schemas.openxmlformats.org/officeDocument/2006/relationships/image" Target="../media/image147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svg"/><Relationship Id="rId3" Type="http://schemas.openxmlformats.org/officeDocument/2006/relationships/image" Target="../media/image150.svg"/><Relationship Id="rId7" Type="http://schemas.openxmlformats.org/officeDocument/2006/relationships/image" Target="../media/image15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3.svg"/><Relationship Id="rId5" Type="http://schemas.openxmlformats.org/officeDocument/2006/relationships/image" Target="../media/image152.svg"/><Relationship Id="rId4" Type="http://schemas.openxmlformats.org/officeDocument/2006/relationships/image" Target="../media/image151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svg"/><Relationship Id="rId3" Type="http://schemas.openxmlformats.org/officeDocument/2006/relationships/image" Target="../media/image156.svg"/><Relationship Id="rId7" Type="http://schemas.openxmlformats.org/officeDocument/2006/relationships/image" Target="../media/image160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svg"/><Relationship Id="rId5" Type="http://schemas.openxmlformats.org/officeDocument/2006/relationships/image" Target="../media/image158.svg"/><Relationship Id="rId4" Type="http://schemas.openxmlformats.org/officeDocument/2006/relationships/image" Target="../media/image157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svg"/><Relationship Id="rId3" Type="http://schemas.openxmlformats.org/officeDocument/2006/relationships/image" Target="../media/image162.svg"/><Relationship Id="rId7" Type="http://schemas.openxmlformats.org/officeDocument/2006/relationships/image" Target="../media/image16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5.svg"/><Relationship Id="rId5" Type="http://schemas.openxmlformats.org/officeDocument/2006/relationships/image" Target="../media/image164.svg"/><Relationship Id="rId10" Type="http://schemas.openxmlformats.org/officeDocument/2006/relationships/image" Target="../media/image169.svg"/><Relationship Id="rId4" Type="http://schemas.openxmlformats.org/officeDocument/2006/relationships/image" Target="../media/image163.svg"/><Relationship Id="rId9" Type="http://schemas.openxmlformats.org/officeDocument/2006/relationships/image" Target="../media/image16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svg"/><Relationship Id="rId13" Type="http://schemas.openxmlformats.org/officeDocument/2006/relationships/image" Target="../media/image180.svg"/><Relationship Id="rId3" Type="http://schemas.openxmlformats.org/officeDocument/2006/relationships/image" Target="../media/image170.svg"/><Relationship Id="rId7" Type="http://schemas.openxmlformats.org/officeDocument/2006/relationships/image" Target="../media/image174.svg"/><Relationship Id="rId12" Type="http://schemas.openxmlformats.org/officeDocument/2006/relationships/image" Target="../media/image179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svg"/><Relationship Id="rId11" Type="http://schemas.openxmlformats.org/officeDocument/2006/relationships/image" Target="../media/image178.svg"/><Relationship Id="rId5" Type="http://schemas.openxmlformats.org/officeDocument/2006/relationships/image" Target="../media/image172.svg"/><Relationship Id="rId15" Type="http://schemas.openxmlformats.org/officeDocument/2006/relationships/image" Target="../media/image182.svg"/><Relationship Id="rId10" Type="http://schemas.openxmlformats.org/officeDocument/2006/relationships/image" Target="../media/image177.svg"/><Relationship Id="rId4" Type="http://schemas.openxmlformats.org/officeDocument/2006/relationships/image" Target="../media/image171.svg"/><Relationship Id="rId9" Type="http://schemas.openxmlformats.org/officeDocument/2006/relationships/image" Target="../media/image176.svg"/><Relationship Id="rId14" Type="http://schemas.openxmlformats.org/officeDocument/2006/relationships/image" Target="../media/image181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svg"/><Relationship Id="rId3" Type="http://schemas.openxmlformats.org/officeDocument/2006/relationships/image" Target="../media/image183.svg"/><Relationship Id="rId7" Type="http://schemas.openxmlformats.org/officeDocument/2006/relationships/image" Target="../media/image187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6.svg"/><Relationship Id="rId5" Type="http://schemas.openxmlformats.org/officeDocument/2006/relationships/image" Target="../media/image185.svg"/><Relationship Id="rId4" Type="http://schemas.openxmlformats.org/officeDocument/2006/relationships/image" Target="../media/image18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gradFill rotWithShape="1">
            <a:gsLst>
              <a:gs pos="0">
                <a:srgbClr val="0D1B2A">
                  <a:alpha val="72000"/>
                </a:srgbClr>
              </a:gs>
              <a:gs pos="100000">
                <a:srgbClr val="0D1B2A">
                  <a:alpha val="4500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gradFill rotWithShape="1">
            <a:gsLst>
              <a:gs pos="0">
                <a:srgbClr val="0D1B2A">
                  <a:alpha val="58000"/>
                </a:srgbClr>
              </a:gs>
              <a:gs pos="100000">
                <a:srgbClr val="0D1B2A">
                  <a:alpha val="35000"/>
                </a:srgbClr>
              </a:gs>
            </a:gsLst>
            <a:lin ang="108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8000"/>
                </a:srgbClr>
              </a:gs>
              <a:gs pos="60000">
                <a:srgbClr val="0050A0">
                  <a:alpha val="18000"/>
                </a:srgbClr>
              </a:gs>
              <a:gs pos="100000">
                <a:srgbClr val="0D1B2A">
                  <a:alpha val="30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000000">
                  <a:alpha val="18000"/>
                </a:srgbClr>
              </a:gs>
              <a:gs pos="100000">
                <a:srgbClr val="000000">
                  <a:alpha val="18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0" y="925711"/>
            <a:ext cx="4572000" cy="13841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572000" y="2211586"/>
            <a:ext cx="4572000" cy="7590"/>
          </a:xfrm>
          <a:prstGeom prst="rect">
            <a:avLst/>
          </a:prstGeom>
          <a:solidFill>
            <a:srgbClr val="64B4FF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572000" y="3446115"/>
            <a:ext cx="4572000" cy="21580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4572000" y="4166146"/>
            <a:ext cx="4572000" cy="7590"/>
          </a:xfrm>
          <a:prstGeom prst="rect">
            <a:avLst/>
          </a:prstGeom>
          <a:solidFill>
            <a:srgbClr val="64B4FF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2740362" y="3385753"/>
            <a:ext cx="100310" cy="100310"/>
          </a:xfrm>
          <a:prstGeom prst="ellipse">
            <a:avLst/>
          </a:prstGeom>
          <a:noFill/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086100" y="1785640"/>
            <a:ext cx="2286000" cy="1572220"/>
          </a:xfrm>
          <a:prstGeom prst="roundRect">
            <a:avLst>
              <a:gd name="adj" fmla="val 3635"/>
            </a:avLst>
          </a:prstGeom>
          <a:solidFill>
            <a:srgbClr val="0D1B2A">
              <a:alpha val="25000"/>
            </a:srgbClr>
          </a:solidFill>
          <a:ln w="9525">
            <a:solidFill>
              <a:srgbClr val="FFFFFF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095625" y="1795165"/>
            <a:ext cx="2266950" cy="200620"/>
          </a:xfrm>
          <a:prstGeom prst="rect">
            <a:avLst/>
          </a:prstGeom>
          <a:solidFill>
            <a:srgbClr val="0D1B2A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095625" y="1986260"/>
            <a:ext cx="2266950" cy="952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3166616" y="1862138"/>
            <a:ext cx="57150" cy="57150"/>
          </a:xfrm>
          <a:prstGeom prst="ellipse">
            <a:avLst/>
          </a:prstGeom>
          <a:solidFill>
            <a:srgbClr val="4ADE8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3266926" y="1862138"/>
            <a:ext cx="57150" cy="57150"/>
          </a:xfrm>
          <a:prstGeom prst="ellipse">
            <a:avLst/>
          </a:prstGeom>
          <a:solidFill>
            <a:srgbClr val="FACC15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367236" y="1862138"/>
            <a:ext cx="57150" cy="57150"/>
          </a:xfrm>
          <a:prstGeom prst="ellipse">
            <a:avLst/>
          </a:prstGeom>
          <a:solidFill>
            <a:srgbClr val="F87171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879056" y="1842195"/>
            <a:ext cx="1553781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FFFFFF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MEETING — AUTHENTICATED</a:t>
            </a:r>
            <a:endParaRPr lang="en-US" sz="510" dirty="0"/>
          </a:p>
        </p:txBody>
      </p:sp>
      <p:sp>
        <p:nvSpPr>
          <p:cNvPr id="19" name="Text 16"/>
          <p:cNvSpPr/>
          <p:nvPr/>
        </p:nvSpPr>
        <p:spPr>
          <a:xfrm>
            <a:off x="4793754" y="2052935"/>
            <a:ext cx="521905" cy="113407"/>
          </a:xfrm>
          <a:prstGeom prst="roundRect">
            <a:avLst>
              <a:gd name="adj" fmla="val 12318"/>
            </a:avLst>
          </a:prstGeom>
          <a:solidFill>
            <a:srgbClr val="50C850">
              <a:alpha val="85000"/>
            </a:srgbClr>
          </a:solidFill>
          <a:ln/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450" b="1" kern="0" spc="68" dirty="0">
                <a:solidFill>
                  <a:srgbClr val="0A1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VERIFIED</a:t>
            </a:r>
            <a:endParaRPr lang="en-US" sz="450" dirty="0"/>
          </a:p>
        </p:txBody>
      </p:sp>
      <p:sp>
        <p:nvSpPr>
          <p:cNvPr id="20" name="Text 17"/>
          <p:cNvSpPr/>
          <p:nvPr/>
        </p:nvSpPr>
        <p:spPr>
          <a:xfrm>
            <a:off x="3138785" y="3149798"/>
            <a:ext cx="2180630" cy="155377"/>
          </a:xfrm>
          <a:prstGeom prst="roundRect">
            <a:avLst>
              <a:gd name="adj" fmla="val 13895"/>
            </a:avLst>
          </a:prstGeom>
          <a:solidFill>
            <a:srgbClr val="0D1B2A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3195935" y="3205907"/>
            <a:ext cx="43160" cy="43160"/>
          </a:xfrm>
          <a:prstGeom prst="ellipse">
            <a:avLst/>
          </a:prstGeom>
          <a:solidFill>
            <a:srgbClr val="4ADE8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282255" y="3178969"/>
            <a:ext cx="1729115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FFFFFF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 — CFO | Confirmed Voice &amp; Video</a:t>
            </a:r>
            <a:endParaRPr lang="en-US" sz="510" dirty="0"/>
          </a:p>
        </p:txBody>
      </p:sp>
      <p:sp>
        <p:nvSpPr>
          <p:cNvPr id="23" name="Text 20"/>
          <p:cNvSpPr/>
          <p:nvPr/>
        </p:nvSpPr>
        <p:spPr>
          <a:xfrm>
            <a:off x="3771900" y="1785640"/>
            <a:ext cx="2286000" cy="1572220"/>
          </a:xfrm>
          <a:prstGeom prst="roundRect">
            <a:avLst>
              <a:gd name="adj" fmla="val 3635"/>
            </a:avLst>
          </a:prstGeom>
          <a:noFill/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781425" y="1795165"/>
            <a:ext cx="2266950" cy="200620"/>
          </a:xfrm>
          <a:prstGeom prst="rect">
            <a:avLst/>
          </a:prstGeom>
          <a:solidFill>
            <a:srgbClr val="0D1B2A">
              <a:alpha val="7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781425" y="1986260"/>
            <a:ext cx="2266950" cy="9525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3852416" y="1862138"/>
            <a:ext cx="57150" cy="57150"/>
          </a:xfrm>
          <a:prstGeom prst="ellipse">
            <a:avLst/>
          </a:prstGeom>
          <a:solidFill>
            <a:srgbClr val="E8A020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952726" y="1862138"/>
            <a:ext cx="57150" cy="57150"/>
          </a:xfrm>
          <a:prstGeom prst="ellipse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4053036" y="1862138"/>
            <a:ext cx="57150" cy="57150"/>
          </a:xfrm>
          <a:prstGeom prst="ellipse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4544318" y="1842195"/>
            <a:ext cx="157637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E8A020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• SYNTHETIC IDENTITY</a:t>
            </a:r>
            <a:endParaRPr lang="en-US" sz="510" dirty="0"/>
          </a:p>
        </p:txBody>
      </p:sp>
      <p:sp>
        <p:nvSpPr>
          <p:cNvPr id="30" name="Text 27"/>
          <p:cNvSpPr/>
          <p:nvPr/>
        </p:nvSpPr>
        <p:spPr>
          <a:xfrm>
            <a:off x="3781425" y="1995785"/>
            <a:ext cx="2266950" cy="13525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3333">
                <a:srgbClr val="000000">
                  <a:alpha val="0"/>
                </a:srgbClr>
              </a:gs>
              <a:gs pos="66667">
                <a:srgbClr val="E8A020">
                  <a:alpha val="7000"/>
                </a:srgbClr>
              </a:gs>
              <a:gs pos="100000">
                <a:srgbClr val="E8A020">
                  <a:alpha val="7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3781425" y="2293293"/>
            <a:ext cx="2266950" cy="13841"/>
          </a:xfrm>
          <a:prstGeom prst="rect">
            <a:avLst/>
          </a:prstGeom>
          <a:solidFill>
            <a:srgbClr val="E8A020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781425" y="2644973"/>
            <a:ext cx="2266950" cy="7590"/>
          </a:xfrm>
          <a:prstGeom prst="rect">
            <a:avLst/>
          </a:prstGeom>
          <a:solidFill>
            <a:srgbClr val="64A0FF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234755" y="2956024"/>
            <a:ext cx="1360140" cy="13841"/>
          </a:xfrm>
          <a:prstGeom prst="rect">
            <a:avLst/>
          </a:prstGeom>
          <a:solidFill>
            <a:srgbClr val="E8A020">
              <a:alpha val="5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5033963" y="2052935"/>
            <a:ext cx="976408" cy="113407"/>
          </a:xfrm>
          <a:prstGeom prst="roundRect">
            <a:avLst>
              <a:gd name="adj" fmla="val 12318"/>
            </a:avLst>
          </a:prstGeom>
          <a:solidFill>
            <a:srgbClr val="E8A020">
              <a:alpha val="90000"/>
            </a:srgbClr>
          </a:solidFill>
          <a:ln/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450" b="1" kern="0" spc="68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DEEPFAKE DETECTED</a:t>
            </a:r>
            <a:endParaRPr lang="en-US" sz="450" dirty="0"/>
          </a:p>
        </p:txBody>
      </p:sp>
      <p:sp>
        <p:nvSpPr>
          <p:cNvPr id="35" name="Text 32"/>
          <p:cNvSpPr/>
          <p:nvPr/>
        </p:nvSpPr>
        <p:spPr>
          <a:xfrm>
            <a:off x="3824585" y="3130748"/>
            <a:ext cx="2180630" cy="174427"/>
          </a:xfrm>
          <a:prstGeom prst="roundRect">
            <a:avLst>
              <a:gd name="adj" fmla="val 12378"/>
            </a:avLst>
          </a:prstGeom>
          <a:solidFill>
            <a:srgbClr val="0D1B2A">
              <a:alpha val="82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3891260" y="3196382"/>
            <a:ext cx="43160" cy="43160"/>
          </a:xfrm>
          <a:prstGeom prst="ellipse">
            <a:avLst/>
          </a:prstGeom>
          <a:solidFill>
            <a:srgbClr val="E8A020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3977580" y="3169444"/>
            <a:ext cx="1439019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E8A020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Clone — Voice &amp; Video Synthesised</a:t>
            </a:r>
            <a:endParaRPr lang="en-US" sz="510" dirty="0"/>
          </a:p>
        </p:txBody>
      </p:sp>
      <p:sp>
        <p:nvSpPr>
          <p:cNvPr id="38" name="Text 35"/>
          <p:cNvSpPr/>
          <p:nvPr/>
        </p:nvSpPr>
        <p:spPr>
          <a:xfrm>
            <a:off x="4557415" y="0"/>
            <a:ext cx="29170" cy="51435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2000">
                <a:srgbClr val="E8A020"/>
              </a:gs>
              <a:gs pos="88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  <a:effectLst>
            <a:outerShdw blurRad="128270" dist="50800" dir="16200000" algn="bl" rotWithShape="0">
              <a:srgbClr val="E8A020">
                <a:alpha val="4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474071" y="1938337"/>
            <a:ext cx="195858" cy="545485"/>
          </a:xfrm>
          <a:prstGeom prst="roundRect">
            <a:avLst>
              <a:gd name="adj" fmla="val 7133"/>
            </a:avLst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AI</a:t>
            </a:r>
            <a:endParaRPr lang="en-US" sz="510" dirty="0"/>
          </a:p>
        </p:txBody>
      </p:sp>
      <p:sp>
        <p:nvSpPr>
          <p:cNvPr id="40" name="Text 37"/>
          <p:cNvSpPr/>
          <p:nvPr/>
        </p:nvSpPr>
        <p:spPr>
          <a:xfrm>
            <a:off x="7782818" y="200620"/>
            <a:ext cx="1103412" cy="383232"/>
          </a:xfrm>
          <a:prstGeom prst="roundRect">
            <a:avLst>
              <a:gd name="adj" fmla="val 7622"/>
            </a:avLst>
          </a:prstGeom>
          <a:solidFill>
            <a:srgbClr val="0D1B2A">
              <a:alpha val="82000"/>
            </a:srgbClr>
          </a:solidFill>
          <a:ln w="9525">
            <a:solidFill>
              <a:srgbClr val="E8A02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7906643" y="267295"/>
            <a:ext cx="94133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SERIES</a:t>
            </a:r>
            <a:endParaRPr lang="en-US" sz="510" dirty="0"/>
          </a:p>
        </p:txBody>
      </p:sp>
      <p:sp>
        <p:nvSpPr>
          <p:cNvPr id="42" name="Text 39"/>
          <p:cNvSpPr/>
          <p:nvPr/>
        </p:nvSpPr>
        <p:spPr>
          <a:xfrm>
            <a:off x="7926288" y="378172"/>
            <a:ext cx="91972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5 of 12</a:t>
            </a:r>
            <a:endParaRPr lang="en-US" sz="730" dirty="0"/>
          </a:p>
        </p:txBody>
      </p:sp>
      <p:sp>
        <p:nvSpPr>
          <p:cNvPr id="43" name="Text 40"/>
          <p:cNvSpPr/>
          <p:nvPr/>
        </p:nvSpPr>
        <p:spPr>
          <a:xfrm>
            <a:off x="7926288" y="427434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1"/>
          <p:cNvSpPr/>
          <p:nvPr/>
        </p:nvSpPr>
        <p:spPr>
          <a:xfrm>
            <a:off x="3232845" y="1428970"/>
            <a:ext cx="294614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30" b="1" kern="0" spc="18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WEBINAR SERIES</a:t>
            </a:r>
            <a:endParaRPr lang="en-US" sz="730" dirty="0"/>
          </a:p>
        </p:txBody>
      </p:sp>
      <p:sp>
        <p:nvSpPr>
          <p:cNvPr id="45" name="Text 42"/>
          <p:cNvSpPr/>
          <p:nvPr/>
        </p:nvSpPr>
        <p:spPr>
          <a:xfrm>
            <a:off x="2818954" y="1485079"/>
            <a:ext cx="342900" cy="7590"/>
          </a:xfrm>
          <a:prstGeom prst="rect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5982146" y="1485079"/>
            <a:ext cx="342900" cy="7590"/>
          </a:xfrm>
          <a:prstGeom prst="rect">
            <a:avLst/>
          </a:pr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4"/>
          <p:cNvSpPr/>
          <p:nvPr/>
        </p:nvSpPr>
        <p:spPr>
          <a:xfrm>
            <a:off x="888415" y="1672751"/>
            <a:ext cx="7367171" cy="585490"/>
          </a:xfrm>
          <a:prstGeom prst="rect">
            <a:avLst/>
          </a:prstGeom>
          <a:noFill/>
          <a:ln/>
          <a:effectLst>
            <a:outerShdw blurRad="228600" dist="29210" dir="5400000" algn="bl" rotWithShape="0">
              <a:srgbClr val="000000">
                <a:alpha val="70000"/>
              </a:srgbClr>
            </a:outerShdw>
          </a:effectLst>
        </p:spPr>
        <p:txBody>
          <a:bodyPr wrap="none" lIns="0" tIns="0" rIns="0" bIns="0" rtlCol="0" anchor="t"/>
          <a:lstStyle/>
          <a:p>
            <a:pPr marL="0" indent="0" algn="ctr">
              <a:lnSpc>
                <a:spcPts val="4610"/>
              </a:lnSpc>
              <a:spcAft>
                <a:spcPts val="560"/>
              </a:spcAft>
              <a:buNone/>
            </a:pPr>
            <a:r>
              <a:rPr lang="en-US" sz="4610" kern="0" spc="-4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Threats and </a:t>
            </a:r>
            <a:r>
              <a:rPr lang="en-US" sz="4610" b="1" kern="0" spc="-46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Deepfakes</a:t>
            </a:r>
            <a:endParaRPr lang="en-US" sz="4610" dirty="0"/>
          </a:p>
        </p:txBody>
      </p:sp>
      <p:sp>
        <p:nvSpPr>
          <p:cNvPr id="48" name="Text 45"/>
          <p:cNvSpPr/>
          <p:nvPr/>
        </p:nvSpPr>
        <p:spPr>
          <a:xfrm>
            <a:off x="2753641" y="2329232"/>
            <a:ext cx="3636569" cy="516880"/>
          </a:xfrm>
          <a:prstGeom prst="rect">
            <a:avLst/>
          </a:prstGeom>
          <a:noFill/>
          <a:ln/>
          <a:effectLst>
            <a:outerShdw blurRad="114300" dist="13970" dir="5400000" algn="bl" rotWithShape="0">
              <a:srgbClr val="000000">
                <a:alpha val="60000"/>
              </a:srgbClr>
            </a:outerShdw>
          </a:effectLst>
        </p:spPr>
        <p:txBody>
          <a:bodyPr wrap="none" lIns="0" tIns="0" rIns="0" bIns="143510" rtlCol="0" anchor="t"/>
          <a:lstStyle/>
          <a:p>
            <a:pPr marL="0" indent="0" algn="ctr">
              <a:buNone/>
            </a:pPr>
            <a:r>
              <a:rPr lang="en-US" sz="1910" kern="0" spc="7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Could You Tell the Difference?</a:t>
            </a:r>
            <a:endParaRPr lang="en-US" sz="1910" dirty="0"/>
          </a:p>
        </p:txBody>
      </p:sp>
      <p:sp>
        <p:nvSpPr>
          <p:cNvPr id="49" name="Text 46"/>
          <p:cNvSpPr/>
          <p:nvPr/>
        </p:nvSpPr>
        <p:spPr>
          <a:xfrm>
            <a:off x="2806601" y="2836587"/>
            <a:ext cx="3530650" cy="9525"/>
          </a:xfrm>
          <a:prstGeom prst="rect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3737238" y="2989582"/>
            <a:ext cx="166952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kern="0" spc="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ALL STAFF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2638127" y="3318492"/>
            <a:ext cx="3867596" cy="234851"/>
          </a:xfrm>
          <a:prstGeom prst="roundRect">
            <a:avLst>
              <a:gd name="adj" fmla="val 61107"/>
            </a:avLst>
          </a:prstGeom>
          <a:solidFill>
            <a:srgbClr val="E8A020">
              <a:alpha val="14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2761952" y="3407343"/>
            <a:ext cx="57150" cy="5715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2700970" y="3371177"/>
            <a:ext cx="38562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THREAT LANDSCAPE — YOUR AWARENESS MATTERS TODAY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0" y="4810869"/>
            <a:ext cx="9144000" cy="332631"/>
          </a:xfrm>
          <a:prstGeom prst="rect">
            <a:avLst/>
          </a:prstGeom>
          <a:solidFill>
            <a:srgbClr val="0A1420">
              <a:alpha val="8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2"/>
          <p:cNvSpPr/>
          <p:nvPr/>
        </p:nvSpPr>
        <p:spPr>
          <a:xfrm>
            <a:off x="0" y="4810869"/>
            <a:ext cx="9144000" cy="9525"/>
          </a:xfrm>
          <a:prstGeom prst="rect">
            <a:avLst/>
          </a:prstGeom>
          <a:solidFill>
            <a:srgbClr val="E8A020">
              <a:alpha val="2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185" y="4915653"/>
            <a:ext cx="132588" cy="132588"/>
          </a:xfrm>
          <a:prstGeom prst="rect">
            <a:avLst/>
          </a:prstGeom>
        </p:spPr>
      </p:pic>
      <p:sp>
        <p:nvSpPr>
          <p:cNvPr id="57" name="Text 53"/>
          <p:cNvSpPr/>
          <p:nvPr/>
        </p:nvSpPr>
        <p:spPr>
          <a:xfrm>
            <a:off x="475208" y="4917132"/>
            <a:ext cx="116856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680" dirty="0"/>
          </a:p>
        </p:txBody>
      </p:sp>
      <p:sp>
        <p:nvSpPr>
          <p:cNvPr id="58" name="Text 54"/>
          <p:cNvSpPr/>
          <p:nvPr/>
        </p:nvSpPr>
        <p:spPr>
          <a:xfrm>
            <a:off x="1623864" y="4906714"/>
            <a:ext cx="3634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E8A02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790" dirty="0"/>
          </a:p>
        </p:txBody>
      </p:sp>
      <p:sp>
        <p:nvSpPr>
          <p:cNvPr id="59" name="Text 55"/>
          <p:cNvSpPr/>
          <p:nvPr/>
        </p:nvSpPr>
        <p:spPr>
          <a:xfrm>
            <a:off x="1743224" y="4917132"/>
            <a:ext cx="78548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680" dirty="0"/>
          </a:p>
        </p:txBody>
      </p:sp>
      <p:sp>
        <p:nvSpPr>
          <p:cNvPr id="60" name="Text 56"/>
          <p:cNvSpPr/>
          <p:nvPr/>
        </p:nvSpPr>
        <p:spPr>
          <a:xfrm>
            <a:off x="2543621" y="4906714"/>
            <a:ext cx="36344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E8A020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</a:t>
            </a:r>
            <a:endParaRPr lang="en-US" sz="790" dirty="0"/>
          </a:p>
        </p:txBody>
      </p:sp>
      <p:sp>
        <p:nvSpPr>
          <p:cNvPr id="61" name="Text 57"/>
          <p:cNvSpPr/>
          <p:nvPr/>
        </p:nvSpPr>
        <p:spPr>
          <a:xfrm>
            <a:off x="2662982" y="4917132"/>
            <a:ext cx="1372225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PROTECT.AT</a:t>
            </a:r>
            <a:endParaRPr lang="en-US" sz="680" dirty="0"/>
          </a:p>
        </p:txBody>
      </p:sp>
      <p:pic>
        <p:nvPicPr>
          <p:cNvPr id="6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7713" y="4915504"/>
            <a:ext cx="132588" cy="132588"/>
          </a:xfrm>
          <a:prstGeom prst="rect">
            <a:avLst/>
          </a:prstGeom>
        </p:spPr>
      </p:pic>
      <p:sp>
        <p:nvSpPr>
          <p:cNvPr id="63" name="Text 58"/>
          <p:cNvSpPr/>
          <p:nvPr/>
        </p:nvSpPr>
        <p:spPr>
          <a:xfrm>
            <a:off x="7745909" y="4917132"/>
            <a:ext cx="1160711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Use — All Staff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9220" y="1043583"/>
            <a:ext cx="8285559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40000">
                <a:srgbClr val="E8A020">
                  <a:alpha val="20000"/>
                </a:srgbClr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71780" y="0"/>
            <a:ext cx="1572220" cy="1572220"/>
          </a:xfrm>
          <a:prstGeom prst="rect">
            <a:avLst/>
          </a:prstGeom>
          <a:gradFill rotWithShape="1">
            <a:gsLst>
              <a:gs pos="0">
                <a:srgbClr val="E8A020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9220" y="228600"/>
            <a:ext cx="2427812" cy="180231"/>
          </a:xfrm>
          <a:prstGeom prst="roundRect">
            <a:avLst>
              <a:gd name="adj" fmla="val 16207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16758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OVERVIEW — WHAT WE COVER TODAY</a:t>
            </a:r>
            <a:endParaRPr lang="en-US" sz="62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083" y="252347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29220" y="465981"/>
            <a:ext cx="8865549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4"/>
              </a:lnSpc>
              <a:spcAft>
                <a:spcPts val="230"/>
              </a:spcAft>
              <a:buNone/>
            </a:pPr>
            <a:r>
              <a:rPr lang="en-US" sz="2140" kern="0" spc="-2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</a:t>
            </a:r>
            <a:r>
              <a:rPr lang="en-US" sz="2140" b="1" kern="0" spc="-2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Cover Today</a:t>
            </a:r>
            <a:endParaRPr lang="en-US" sz="2140" dirty="0"/>
          </a:p>
        </p:txBody>
      </p:sp>
      <p:sp>
        <p:nvSpPr>
          <p:cNvPr id="10" name="Text 7"/>
          <p:cNvSpPr/>
          <p:nvPr/>
        </p:nvSpPr>
        <p:spPr>
          <a:xfrm>
            <a:off x="429220" y="793998"/>
            <a:ext cx="9114115" cy="149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6"/>
              </a:lnSpc>
              <a:buNone/>
            </a:pPr>
            <a:r>
              <a:rPr lang="en-US" sz="84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will recognise, question, and report AI-enabled threats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29220" y="1151483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9220" y="1151483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281785" y="121041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548580" y="123958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8092" y="1309101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20651" y="1231999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Has Changed Everything</a:t>
            </a:r>
            <a:endParaRPr lang="en-US" sz="820" dirty="0"/>
          </a:p>
        </p:txBody>
      </p:sp>
      <p:sp>
        <p:nvSpPr>
          <p:cNvPr id="17" name="Text 13"/>
          <p:cNvSpPr/>
          <p:nvPr/>
        </p:nvSpPr>
        <p:spPr>
          <a:xfrm>
            <a:off x="920651" y="1370856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 landscape every employee must understand in 2026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4686300" y="1151483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4686300" y="1151483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8538865" y="121041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20" dirty="0"/>
          </a:p>
        </p:txBody>
      </p:sp>
      <p:sp>
        <p:nvSpPr>
          <p:cNvPr id="21" name="Text 17"/>
          <p:cNvSpPr/>
          <p:nvPr/>
        </p:nvSpPr>
        <p:spPr>
          <a:xfrm>
            <a:off x="4805660" y="1239589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5172" y="1309101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77730" y="1231999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Deepfakes Actually Are</a:t>
            </a:r>
            <a:endParaRPr lang="en-US" sz="820" dirty="0"/>
          </a:p>
        </p:txBody>
      </p:sp>
      <p:sp>
        <p:nvSpPr>
          <p:cNvPr id="24" name="Text 19"/>
          <p:cNvSpPr/>
          <p:nvPr/>
        </p:nvSpPr>
        <p:spPr>
          <a:xfrm>
            <a:off x="5177730" y="1370856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explanation with real examples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429220" y="1662857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29220" y="1662857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281785" y="1721793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20" dirty="0"/>
          </a:p>
        </p:txBody>
      </p:sp>
      <p:sp>
        <p:nvSpPr>
          <p:cNvPr id="28" name="Text 23"/>
          <p:cNvSpPr/>
          <p:nvPr/>
        </p:nvSpPr>
        <p:spPr>
          <a:xfrm>
            <a:off x="548580" y="1750963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092" y="1820475"/>
            <a:ext cx="132588" cy="13258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0651" y="1743373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— The Call That Was Not Real</a:t>
            </a:r>
            <a:endParaRPr lang="en-US" sz="820" dirty="0"/>
          </a:p>
        </p:txBody>
      </p:sp>
      <p:sp>
        <p:nvSpPr>
          <p:cNvPr id="31" name="Text 25"/>
          <p:cNvSpPr/>
          <p:nvPr/>
        </p:nvSpPr>
        <p:spPr>
          <a:xfrm>
            <a:off x="920651" y="1882229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fake your boss's voice in seconds</a:t>
            </a:r>
            <a:endParaRPr lang="en-US" sz="700" dirty="0"/>
          </a:p>
        </p:txBody>
      </p:sp>
      <p:sp>
        <p:nvSpPr>
          <p:cNvPr id="32" name="Text 26"/>
          <p:cNvSpPr/>
          <p:nvPr/>
        </p:nvSpPr>
        <p:spPr>
          <a:xfrm>
            <a:off x="4686300" y="1662857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686300" y="1662857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8538865" y="1721793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4805660" y="1750963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5172" y="1820475"/>
            <a:ext cx="132588" cy="132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177730" y="1743373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Video Calls — The Meeting That Never Happened</a:t>
            </a:r>
            <a:endParaRPr lang="en-US" sz="820" dirty="0"/>
          </a:p>
        </p:txBody>
      </p:sp>
      <p:sp>
        <p:nvSpPr>
          <p:cNvPr id="38" name="Text 31"/>
          <p:cNvSpPr/>
          <p:nvPr/>
        </p:nvSpPr>
        <p:spPr>
          <a:xfrm>
            <a:off x="5177730" y="1882229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$25 million fraud unfolded on Zoom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429220" y="2174230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429220" y="2174230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4"/>
          <p:cNvSpPr/>
          <p:nvPr/>
        </p:nvSpPr>
        <p:spPr>
          <a:xfrm>
            <a:off x="4281785" y="2233166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20" dirty="0"/>
          </a:p>
        </p:txBody>
      </p:sp>
      <p:sp>
        <p:nvSpPr>
          <p:cNvPr id="42" name="Text 35"/>
          <p:cNvSpPr/>
          <p:nvPr/>
        </p:nvSpPr>
        <p:spPr>
          <a:xfrm>
            <a:off x="548580" y="2262336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8092" y="2331848"/>
            <a:ext cx="132588" cy="13258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920651" y="2254746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Phishing in 2026</a:t>
            </a:r>
            <a:endParaRPr lang="en-US" sz="820" dirty="0"/>
          </a:p>
        </p:txBody>
      </p:sp>
      <p:sp>
        <p:nvSpPr>
          <p:cNvPr id="45" name="Text 37"/>
          <p:cNvSpPr/>
          <p:nvPr/>
        </p:nvSpPr>
        <p:spPr>
          <a:xfrm>
            <a:off x="920651" y="2393603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old advice no longer works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4686300" y="2174230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9"/>
          <p:cNvSpPr/>
          <p:nvPr/>
        </p:nvSpPr>
        <p:spPr>
          <a:xfrm>
            <a:off x="4686300" y="2174230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8538865" y="2233166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20" dirty="0"/>
          </a:p>
        </p:txBody>
      </p:sp>
      <p:sp>
        <p:nvSpPr>
          <p:cNvPr id="49" name="Text 41"/>
          <p:cNvSpPr/>
          <p:nvPr/>
        </p:nvSpPr>
        <p:spPr>
          <a:xfrm>
            <a:off x="4805660" y="2262336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5172" y="2331848"/>
            <a:ext cx="132588" cy="132588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5177730" y="2254746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 Studies</a:t>
            </a:r>
            <a:endParaRPr lang="en-US" sz="820" dirty="0"/>
          </a:p>
        </p:txBody>
      </p:sp>
      <p:sp>
        <p:nvSpPr>
          <p:cNvPr id="52" name="Text 43"/>
          <p:cNvSpPr/>
          <p:nvPr/>
        </p:nvSpPr>
        <p:spPr>
          <a:xfrm>
            <a:off x="5177730" y="2393603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incidents every financial institution must learn from</a:t>
            </a:r>
            <a:endParaRPr lang="en-US" sz="700" dirty="0"/>
          </a:p>
        </p:txBody>
      </p:sp>
      <p:sp>
        <p:nvSpPr>
          <p:cNvPr id="53" name="Text 44"/>
          <p:cNvSpPr/>
          <p:nvPr/>
        </p:nvSpPr>
        <p:spPr>
          <a:xfrm>
            <a:off x="429220" y="2685604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5"/>
          <p:cNvSpPr/>
          <p:nvPr/>
        </p:nvSpPr>
        <p:spPr>
          <a:xfrm>
            <a:off x="429220" y="2685604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6"/>
          <p:cNvSpPr/>
          <p:nvPr/>
        </p:nvSpPr>
        <p:spPr>
          <a:xfrm>
            <a:off x="4281785" y="274453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620" dirty="0"/>
          </a:p>
        </p:txBody>
      </p:sp>
      <p:sp>
        <p:nvSpPr>
          <p:cNvPr id="56" name="Text 47"/>
          <p:cNvSpPr/>
          <p:nvPr/>
        </p:nvSpPr>
        <p:spPr>
          <a:xfrm>
            <a:off x="548580" y="2773710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092" y="2843221"/>
            <a:ext cx="132588" cy="132588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920651" y="2766120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Spot It and Stop It</a:t>
            </a:r>
            <a:endParaRPr lang="en-US" sz="820" dirty="0"/>
          </a:p>
        </p:txBody>
      </p:sp>
      <p:sp>
        <p:nvSpPr>
          <p:cNvPr id="59" name="Text 49"/>
          <p:cNvSpPr/>
          <p:nvPr/>
        </p:nvSpPr>
        <p:spPr>
          <a:xfrm>
            <a:off x="920651" y="2904976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red flags and verification steps for every role</a:t>
            </a:r>
            <a:endParaRPr lang="en-US" sz="700" dirty="0"/>
          </a:p>
        </p:txBody>
      </p:sp>
      <p:sp>
        <p:nvSpPr>
          <p:cNvPr id="60" name="Text 50"/>
          <p:cNvSpPr/>
          <p:nvPr/>
        </p:nvSpPr>
        <p:spPr>
          <a:xfrm>
            <a:off x="4686300" y="2685604"/>
            <a:ext cx="4028480" cy="440382"/>
          </a:xfrm>
          <a:prstGeom prst="roundRect">
            <a:avLst>
              <a:gd name="adj" fmla="val 980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4686300" y="2685604"/>
            <a:ext cx="19050" cy="440382"/>
          </a:xfrm>
          <a:custGeom>
            <a:avLst/>
            <a:gdLst/>
            <a:ahLst/>
            <a:cxnLst/>
            <a:rect l="l" t="t" r="r" b="b"/>
            <a:pathLst>
              <a:path w="19050" h="440382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33011"/>
                </a:lnTo>
                <a:lnTo>
                  <a:pt x="16669" y="431286"/>
                </a:lnTo>
                <a:lnTo>
                  <a:pt x="14288" y="429292"/>
                </a:lnTo>
                <a:lnTo>
                  <a:pt x="11906" y="426976"/>
                </a:lnTo>
                <a:lnTo>
                  <a:pt x="9525" y="424255"/>
                </a:lnTo>
                <a:lnTo>
                  <a:pt x="7144" y="420991"/>
                </a:lnTo>
                <a:lnTo>
                  <a:pt x="4763" y="416916"/>
                </a:lnTo>
                <a:lnTo>
                  <a:pt x="2381" y="411344"/>
                </a:lnTo>
                <a:lnTo>
                  <a:pt x="0" y="397202"/>
                </a:lnTo>
                <a:close/>
              </a:path>
            </a:pathLst>
          </a:custGeom>
          <a:solidFill>
            <a:srgbClr val="E8A020">
              <a:alpha val="3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8538865" y="2744539"/>
            <a:ext cx="10493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620" dirty="0"/>
          </a:p>
        </p:txBody>
      </p:sp>
      <p:sp>
        <p:nvSpPr>
          <p:cNvPr id="63" name="Text 53"/>
          <p:cNvSpPr/>
          <p:nvPr/>
        </p:nvSpPr>
        <p:spPr>
          <a:xfrm>
            <a:off x="4805660" y="2773710"/>
            <a:ext cx="271760" cy="271760"/>
          </a:xfrm>
          <a:prstGeom prst="roundRect">
            <a:avLst>
              <a:gd name="adj" fmla="val 2103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75172" y="2843221"/>
            <a:ext cx="132588" cy="132588"/>
          </a:xfrm>
          <a:prstGeom prst="rect">
            <a:avLst/>
          </a:prstGeom>
        </p:spPr>
      </p:pic>
      <p:sp>
        <p:nvSpPr>
          <p:cNvPr id="65" name="Text 54"/>
          <p:cNvSpPr/>
          <p:nvPr/>
        </p:nvSpPr>
        <p:spPr>
          <a:xfrm>
            <a:off x="5177730" y="2766120"/>
            <a:ext cx="3769935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Action Pledge</a:t>
            </a:r>
            <a:endParaRPr lang="en-US" sz="820" dirty="0"/>
          </a:p>
        </p:txBody>
      </p:sp>
      <p:sp>
        <p:nvSpPr>
          <p:cNvPr id="66" name="Text 55"/>
          <p:cNvSpPr/>
          <p:nvPr/>
        </p:nvSpPr>
        <p:spPr>
          <a:xfrm>
            <a:off x="5177730" y="2904976"/>
            <a:ext cx="3769935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commitments that protect you and your institution</a:t>
            </a:r>
            <a:endParaRPr lang="en-US" sz="700" dirty="0"/>
          </a:p>
        </p:txBody>
      </p:sp>
      <p:sp>
        <p:nvSpPr>
          <p:cNvPr id="67" name="Text 56"/>
          <p:cNvSpPr/>
          <p:nvPr/>
        </p:nvSpPr>
        <p:spPr>
          <a:xfrm>
            <a:off x="0" y="4843909"/>
            <a:ext cx="9144000" cy="299591"/>
          </a:xfrm>
          <a:prstGeom prst="rect">
            <a:avLst/>
          </a:prstGeom>
          <a:gradFill rotWithShape="1">
            <a:gsLst>
              <a:gs pos="0">
                <a:srgbClr val="C27A10"/>
              </a:gs>
              <a:gs pos="35000">
                <a:srgbClr val="E8A020"/>
              </a:gs>
              <a:gs pos="60000">
                <a:srgbClr val="F0B535"/>
              </a:gs>
              <a:gs pos="100000">
                <a:srgbClr val="E8A020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354122" y="4927336"/>
            <a:ext cx="132588" cy="132588"/>
          </a:xfrm>
          <a:prstGeom prst="rect">
            <a:avLst/>
          </a:prstGeom>
        </p:spPr>
      </p:pic>
      <p:sp>
        <p:nvSpPr>
          <p:cNvPr id="69" name="Text 57"/>
          <p:cNvSpPr/>
          <p:nvPr/>
        </p:nvSpPr>
        <p:spPr>
          <a:xfrm>
            <a:off x="1606748" y="4921300"/>
            <a:ext cx="3466743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15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is for everyone — no technical background required.</a:t>
            </a:r>
            <a:endParaRPr lang="en-US" sz="760" dirty="0"/>
          </a:p>
        </p:txBody>
      </p:sp>
      <p:sp>
        <p:nvSpPr>
          <p:cNvPr id="70" name="Text 58"/>
          <p:cNvSpPr/>
          <p:nvPr/>
        </p:nvSpPr>
        <p:spPr>
          <a:xfrm>
            <a:off x="4901803" y="4975920"/>
            <a:ext cx="35421" cy="35421"/>
          </a:xfrm>
          <a:prstGeom prst="ellipse">
            <a:avLst/>
          </a:prstGeom>
          <a:solidFill>
            <a:srgbClr val="0D1B2A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9"/>
          <p:cNvSpPr/>
          <p:nvPr/>
        </p:nvSpPr>
        <p:spPr>
          <a:xfrm>
            <a:off x="5080695" y="4921300"/>
            <a:ext cx="2702213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kern="0" spc="15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instincts are your most powerful security tool.</a:t>
            </a:r>
            <a:endParaRPr lang="en-US" sz="760" dirty="0"/>
          </a:p>
        </p:txBody>
      </p:sp>
      <p:pic>
        <p:nvPicPr>
          <p:cNvPr id="72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57290" y="4927336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071390" y="0"/>
            <a:ext cx="500122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1072604"/>
            <a:ext cx="1952625" cy="571500"/>
          </a:xfrm>
          <a:prstGeom prst="roundRect">
            <a:avLst>
              <a:gd name="adj" fmla="val 7556"/>
            </a:avLst>
          </a:prstGeom>
          <a:gradFill rotWithShape="1">
            <a:gsLst>
              <a:gs pos="0">
                <a:srgbClr val="E8A02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552700" y="1072604"/>
            <a:ext cx="1952625" cy="571500"/>
          </a:xfrm>
          <a:prstGeom prst="roundRect">
            <a:avLst>
              <a:gd name="adj" fmla="val 7556"/>
            </a:avLst>
          </a:prstGeom>
          <a:gradFill rotWithShape="1">
            <a:gsLst>
              <a:gs pos="0">
                <a:srgbClr val="E05D5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38675" y="1072604"/>
            <a:ext cx="1952625" cy="571500"/>
          </a:xfrm>
          <a:prstGeom prst="roundRect">
            <a:avLst>
              <a:gd name="adj" fmla="val 7556"/>
            </a:avLst>
          </a:prstGeom>
          <a:gradFill rotWithShape="1">
            <a:gsLst>
              <a:gs pos="0">
                <a:srgbClr val="4EA8DE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724650" y="1072604"/>
            <a:ext cx="1952625" cy="571500"/>
          </a:xfrm>
          <a:prstGeom prst="roundRect">
            <a:avLst>
              <a:gd name="adj" fmla="val 7556"/>
            </a:avLst>
          </a:prstGeom>
          <a:gradFill rotWithShape="1">
            <a:gsLst>
              <a:gs pos="0">
                <a:srgbClr val="E05D5D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0195" y="1216075"/>
            <a:ext cx="1748969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Seconds</a:t>
            </a:r>
            <a:endParaRPr lang="en-US" sz="2590" dirty="0"/>
          </a:p>
        </p:txBody>
      </p:sp>
      <p:sp>
        <p:nvSpPr>
          <p:cNvPr id="10" name="Text 8"/>
          <p:cNvSpPr/>
          <p:nvPr/>
        </p:nvSpPr>
        <p:spPr>
          <a:xfrm>
            <a:off x="610195" y="1806773"/>
            <a:ext cx="1698998" cy="57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all the audio an attacker needs to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your CEO's voice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convincingly. One LinkedIn video. One earnings call. Three seconds is enough.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696170" y="1216075"/>
            <a:ext cx="1748969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 Million</a:t>
            </a:r>
            <a:endParaRPr lang="en-US" sz="2590" dirty="0"/>
          </a:p>
        </p:txBody>
      </p:sp>
      <p:sp>
        <p:nvSpPr>
          <p:cNvPr id="12" name="Text 10"/>
          <p:cNvSpPr/>
          <p:nvPr/>
        </p:nvSpPr>
        <p:spPr>
          <a:xfrm>
            <a:off x="2696170" y="1806773"/>
            <a:ext cx="1698998" cy="57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 a single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video call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where every face on screen — including the CFO — was artificially generated. The largest single deepfake loss recorded.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782145" y="1216075"/>
            <a:ext cx="1748969" cy="328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6B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Percent</a:t>
            </a:r>
            <a:endParaRPr lang="en-US" sz="2590" dirty="0"/>
          </a:p>
        </p:txBody>
      </p:sp>
      <p:sp>
        <p:nvSpPr>
          <p:cNvPr id="14" name="Text 12"/>
          <p:cNvSpPr/>
          <p:nvPr/>
        </p:nvSpPr>
        <p:spPr>
          <a:xfrm>
            <a:off x="4782145" y="1806773"/>
            <a:ext cx="1698998" cy="722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Click-through rate on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spear phishing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nearly triple traditional phishing — because emails reference real colleagues, projects, and personal context.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868120" y="1216075"/>
            <a:ext cx="1698998" cy="690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590" b="1" kern="0" spc="-6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+900 Percent</a:t>
            </a:r>
            <a:endParaRPr lang="en-US" sz="2590" dirty="0"/>
          </a:p>
        </p:txBody>
      </p:sp>
      <p:sp>
        <p:nvSpPr>
          <p:cNvPr id="16" name="Text 14"/>
          <p:cNvSpPr/>
          <p:nvPr/>
        </p:nvSpPr>
        <p:spPr>
          <a:xfrm>
            <a:off x="6868120" y="2135684"/>
            <a:ext cx="1698998" cy="57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rise in detected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fraud incidents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globally. North America saw a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1,700 percent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surge in the same period.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848725" y="4714280"/>
            <a:ext cx="9525" cy="228600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7200" y="240060"/>
            <a:ext cx="57150" cy="57150"/>
          </a:xfrm>
          <a:prstGeom prst="ellipse">
            <a:avLst/>
          </a:prstGeom>
          <a:solidFill>
            <a:srgbClr val="E8A020"/>
          </a:solidFill>
          <a:ln/>
          <a:effectLst>
            <a:outerShdw blurRad="101600" dist="50800" dir="16200000" algn="bl" rotWithShape="0">
              <a:srgbClr val="E8A020">
                <a:alpha val="25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389781"/>
            <a:ext cx="8805672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spcAft>
                <a:spcPts val="230"/>
              </a:spcAft>
              <a:buNone/>
            </a:pPr>
            <a:r>
              <a:rPr lang="en-US" sz="169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Threat Landscape — </a:t>
            </a:r>
            <a:r>
              <a:rPr lang="en-US" sz="1690" b="1" kern="0" spc="-2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2026 Is Different</a:t>
            </a:r>
            <a:endParaRPr lang="en-US" sz="1690" dirty="0"/>
          </a:p>
        </p:txBody>
      </p:sp>
      <p:sp>
        <p:nvSpPr>
          <p:cNvPr id="20" name="Text 18"/>
          <p:cNvSpPr/>
          <p:nvPr/>
        </p:nvSpPr>
        <p:spPr>
          <a:xfrm>
            <a:off x="457200" y="665708"/>
            <a:ext cx="905256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kern="0" spc="1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 have changed. Old instincts are not enough anymore.</a:t>
            </a:r>
            <a:endParaRPr lang="en-US" sz="790" dirty="0"/>
          </a:p>
        </p:txBody>
      </p:sp>
      <p:sp>
        <p:nvSpPr>
          <p:cNvPr id="21" name="Text 19"/>
          <p:cNvSpPr/>
          <p:nvPr/>
        </p:nvSpPr>
        <p:spPr>
          <a:xfrm>
            <a:off x="457200" y="902494"/>
            <a:ext cx="8229600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1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7200" y="1053554"/>
            <a:ext cx="1971675" cy="1770459"/>
          </a:xfrm>
          <a:prstGeom prst="roundRect">
            <a:avLst>
              <a:gd name="adj" fmla="val 2439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r>
              <a:rPr lang="en-US" b="1" dirty="0">
                <a:solidFill>
                  <a:srgbClr val="FFC000"/>
                </a:solidFill>
              </a:rPr>
              <a:t>3 Seconds</a:t>
            </a:r>
          </a:p>
          <a:p>
            <a:endParaRPr lang="en-US" b="1" dirty="0">
              <a:solidFill>
                <a:srgbClr val="FFC000"/>
              </a:solidFill>
            </a:endParaRPr>
          </a:p>
          <a:p>
            <a:endParaRPr lang="en-US" b="1" dirty="0">
              <a:solidFill>
                <a:srgbClr val="FFC000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That is all the audio an attacker needs to </a:t>
            </a:r>
            <a:r>
              <a:rPr lang="en-US" sz="900" b="1" dirty="0">
                <a:solidFill>
                  <a:schemeClr val="bg1"/>
                </a:solidFill>
              </a:rPr>
              <a:t>clone your CEO's voice</a:t>
            </a:r>
            <a:r>
              <a:rPr lang="en-US" sz="900" dirty="0">
                <a:solidFill>
                  <a:schemeClr val="bg1"/>
                </a:solidFill>
              </a:rPr>
              <a:t> convincingly. One LinkedIn video. One earnings call. Three seconds is enough.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1754332"/>
                </a:lnTo>
                <a:lnTo>
                  <a:pt x="8334" y="1752780"/>
                </a:lnTo>
                <a:lnTo>
                  <a:pt x="7144" y="1751068"/>
                </a:lnTo>
                <a:lnTo>
                  <a:pt x="5953" y="1749158"/>
                </a:lnTo>
                <a:lnTo>
                  <a:pt x="4763" y="1746993"/>
                </a:lnTo>
                <a:lnTo>
                  <a:pt x="3572" y="1744476"/>
                </a:lnTo>
                <a:lnTo>
                  <a:pt x="2381" y="1741421"/>
                </a:lnTo>
                <a:lnTo>
                  <a:pt x="1191" y="1737349"/>
                </a:lnTo>
                <a:lnTo>
                  <a:pt x="0" y="1727279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19350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16127"/>
                </a:moveTo>
                <a:lnTo>
                  <a:pt x="1191" y="17679"/>
                </a:lnTo>
                <a:lnTo>
                  <a:pt x="2381" y="19391"/>
                </a:lnTo>
                <a:lnTo>
                  <a:pt x="3572" y="21301"/>
                </a:lnTo>
                <a:lnTo>
                  <a:pt x="4763" y="23467"/>
                </a:lnTo>
                <a:lnTo>
                  <a:pt x="5953" y="25984"/>
                </a:lnTo>
                <a:lnTo>
                  <a:pt x="7144" y="29039"/>
                </a:lnTo>
                <a:lnTo>
                  <a:pt x="8334" y="33110"/>
                </a:lnTo>
                <a:lnTo>
                  <a:pt x="9525" y="43180"/>
                </a:lnTo>
                <a:lnTo>
                  <a:pt x="9525" y="1727279"/>
                </a:lnTo>
                <a:lnTo>
                  <a:pt x="8334" y="1737349"/>
                </a:lnTo>
                <a:lnTo>
                  <a:pt x="7144" y="1741421"/>
                </a:lnTo>
                <a:lnTo>
                  <a:pt x="5953" y="1744476"/>
                </a:lnTo>
                <a:lnTo>
                  <a:pt x="4763" y="1746993"/>
                </a:lnTo>
                <a:lnTo>
                  <a:pt x="3572" y="1749158"/>
                </a:lnTo>
                <a:lnTo>
                  <a:pt x="2381" y="1751068"/>
                </a:lnTo>
                <a:lnTo>
                  <a:pt x="1191" y="1752780"/>
                </a:lnTo>
                <a:lnTo>
                  <a:pt x="0" y="1754332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57200" y="1053554"/>
            <a:ext cx="1971675" cy="19050"/>
          </a:xfrm>
          <a:custGeom>
            <a:avLst/>
            <a:gdLst/>
            <a:ahLst/>
            <a:cxnLst/>
            <a:rect l="l" t="t" r="r" b="b"/>
            <a:pathLst>
              <a:path w="1971675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64304" y="19050"/>
                </a:lnTo>
                <a:lnTo>
                  <a:pt x="1962578" y="16669"/>
                </a:lnTo>
                <a:lnTo>
                  <a:pt x="1960585" y="14288"/>
                </a:lnTo>
                <a:lnTo>
                  <a:pt x="1958269" y="11906"/>
                </a:lnTo>
                <a:lnTo>
                  <a:pt x="1955548" y="9525"/>
                </a:lnTo>
                <a:lnTo>
                  <a:pt x="1952284" y="7144"/>
                </a:lnTo>
                <a:lnTo>
                  <a:pt x="1948208" y="4763"/>
                </a:lnTo>
                <a:lnTo>
                  <a:pt x="1942636" y="2381"/>
                </a:lnTo>
                <a:lnTo>
                  <a:pt x="1928495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8860" y="1172914"/>
            <a:ext cx="236190" cy="23619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10195" y="1588145"/>
            <a:ext cx="1047908" cy="147638"/>
          </a:xfrm>
          <a:prstGeom prst="roundRect">
            <a:avLst>
              <a:gd name="adj" fmla="val 14624"/>
            </a:avLst>
          </a:prstGeom>
          <a:solidFill>
            <a:srgbClr val="E8A020">
              <a:alpha val="10000"/>
            </a:srgbClr>
          </a:solidFill>
          <a:ln w="9525">
            <a:solidFill>
              <a:srgbClr val="E8A020">
                <a:alpha val="28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30" b="1" kern="0" spc="8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BRIGHTSIDE AI · 2025</a:t>
            </a:r>
            <a:endParaRPr lang="en-US" sz="530" dirty="0"/>
          </a:p>
        </p:txBody>
      </p:sp>
      <p:sp>
        <p:nvSpPr>
          <p:cNvPr id="28" name="Text 25"/>
          <p:cNvSpPr/>
          <p:nvPr/>
        </p:nvSpPr>
        <p:spPr>
          <a:xfrm>
            <a:off x="2543175" y="1053554"/>
            <a:ext cx="1971675" cy="1770459"/>
          </a:xfrm>
          <a:prstGeom prst="roundRect">
            <a:avLst>
              <a:gd name="adj" fmla="val 2439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5050"/>
                </a:solidFill>
              </a:rPr>
              <a:t>25 Million</a:t>
            </a:r>
          </a:p>
          <a:p>
            <a:pPr marL="0" indent="0">
              <a:buNone/>
            </a:pPr>
            <a:endParaRPr lang="en-US" dirty="0">
              <a:solidFill>
                <a:srgbClr val="FF505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5050"/>
              </a:solidFill>
            </a:endParaRPr>
          </a:p>
          <a:p>
            <a:r>
              <a:rPr lang="en-US" sz="900" dirty="0">
                <a:solidFill>
                  <a:schemeClr val="bg1"/>
                </a:solidFill>
              </a:rPr>
              <a:t>Lost in a single </a:t>
            </a:r>
            <a:r>
              <a:rPr lang="en-US" sz="900" b="1" dirty="0">
                <a:solidFill>
                  <a:schemeClr val="bg1"/>
                </a:solidFill>
              </a:rPr>
              <a:t>deepfake video call</a:t>
            </a:r>
            <a:r>
              <a:rPr lang="en-US" sz="900" dirty="0">
                <a:solidFill>
                  <a:schemeClr val="bg1"/>
                </a:solidFill>
              </a:rPr>
              <a:t> where every face on screen — including the CFO — was artificially generated. The largest single deepfake loss recorded.</a:t>
            </a:r>
          </a:p>
        </p:txBody>
      </p:sp>
      <p:sp>
        <p:nvSpPr>
          <p:cNvPr id="29" name="Text 26"/>
          <p:cNvSpPr/>
          <p:nvPr/>
        </p:nvSpPr>
        <p:spPr>
          <a:xfrm>
            <a:off x="2543175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1754332"/>
                </a:lnTo>
                <a:lnTo>
                  <a:pt x="8334" y="1752780"/>
                </a:lnTo>
                <a:lnTo>
                  <a:pt x="7144" y="1751068"/>
                </a:lnTo>
                <a:lnTo>
                  <a:pt x="5953" y="1749158"/>
                </a:lnTo>
                <a:lnTo>
                  <a:pt x="4763" y="1746993"/>
                </a:lnTo>
                <a:lnTo>
                  <a:pt x="3572" y="1744476"/>
                </a:lnTo>
                <a:lnTo>
                  <a:pt x="2381" y="1741421"/>
                </a:lnTo>
                <a:lnTo>
                  <a:pt x="1191" y="1737349"/>
                </a:lnTo>
                <a:lnTo>
                  <a:pt x="0" y="1727279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505325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16127"/>
                </a:moveTo>
                <a:lnTo>
                  <a:pt x="1191" y="17679"/>
                </a:lnTo>
                <a:lnTo>
                  <a:pt x="2381" y="19391"/>
                </a:lnTo>
                <a:lnTo>
                  <a:pt x="3572" y="21301"/>
                </a:lnTo>
                <a:lnTo>
                  <a:pt x="4763" y="23467"/>
                </a:lnTo>
                <a:lnTo>
                  <a:pt x="5953" y="25984"/>
                </a:lnTo>
                <a:lnTo>
                  <a:pt x="7144" y="29039"/>
                </a:lnTo>
                <a:lnTo>
                  <a:pt x="8334" y="33110"/>
                </a:lnTo>
                <a:lnTo>
                  <a:pt x="9525" y="43180"/>
                </a:lnTo>
                <a:lnTo>
                  <a:pt x="9525" y="1727279"/>
                </a:lnTo>
                <a:lnTo>
                  <a:pt x="8334" y="1737349"/>
                </a:lnTo>
                <a:lnTo>
                  <a:pt x="7144" y="1741421"/>
                </a:lnTo>
                <a:lnTo>
                  <a:pt x="5953" y="1744476"/>
                </a:lnTo>
                <a:lnTo>
                  <a:pt x="4763" y="1746993"/>
                </a:lnTo>
                <a:lnTo>
                  <a:pt x="3572" y="1749158"/>
                </a:lnTo>
                <a:lnTo>
                  <a:pt x="2381" y="1751068"/>
                </a:lnTo>
                <a:lnTo>
                  <a:pt x="1191" y="1752780"/>
                </a:lnTo>
                <a:lnTo>
                  <a:pt x="0" y="1754332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543175" y="1053554"/>
            <a:ext cx="1971675" cy="19050"/>
          </a:xfrm>
          <a:custGeom>
            <a:avLst/>
            <a:gdLst/>
            <a:ahLst/>
            <a:cxnLst/>
            <a:rect l="l" t="t" r="r" b="b"/>
            <a:pathLst>
              <a:path w="1971675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64304" y="19050"/>
                </a:lnTo>
                <a:lnTo>
                  <a:pt x="1962578" y="16669"/>
                </a:lnTo>
                <a:lnTo>
                  <a:pt x="1960585" y="14288"/>
                </a:lnTo>
                <a:lnTo>
                  <a:pt x="1958269" y="11906"/>
                </a:lnTo>
                <a:lnTo>
                  <a:pt x="1955548" y="9525"/>
                </a:lnTo>
                <a:lnTo>
                  <a:pt x="1952284" y="7144"/>
                </a:lnTo>
                <a:lnTo>
                  <a:pt x="1948208" y="4763"/>
                </a:lnTo>
                <a:lnTo>
                  <a:pt x="1942636" y="2381"/>
                </a:lnTo>
                <a:lnTo>
                  <a:pt x="1928495" y="0"/>
                </a:lnTo>
                <a:close/>
              </a:path>
            </a:pathLst>
          </a:custGeom>
          <a:solidFill>
            <a:srgbClr val="E05D5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4835" y="1172914"/>
            <a:ext cx="236190" cy="23619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2696170" y="1588145"/>
            <a:ext cx="1255273" cy="147638"/>
          </a:xfrm>
          <a:prstGeom prst="roundRect">
            <a:avLst>
              <a:gd name="adj" fmla="val 14624"/>
            </a:avLst>
          </a:prstGeom>
          <a:solidFill>
            <a:srgbClr val="E05D5D">
              <a:alpha val="10000"/>
            </a:srgbClr>
          </a:solidFill>
          <a:ln w="9525">
            <a:solidFill>
              <a:srgbClr val="E05D5D">
                <a:alpha val="28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30" b="1" kern="0" spc="8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ARUP · HONG KONG · 2024</a:t>
            </a:r>
            <a:endParaRPr lang="en-US" sz="530" dirty="0"/>
          </a:p>
        </p:txBody>
      </p:sp>
      <p:sp>
        <p:nvSpPr>
          <p:cNvPr id="34" name="Text 30"/>
          <p:cNvSpPr/>
          <p:nvPr/>
        </p:nvSpPr>
        <p:spPr>
          <a:xfrm>
            <a:off x="4629150" y="1053554"/>
            <a:ext cx="1971675" cy="1770459"/>
          </a:xfrm>
          <a:prstGeom prst="roundRect">
            <a:avLst>
              <a:gd name="adj" fmla="val 2439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54 Percent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sz="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Click-through rate on </a:t>
            </a:r>
            <a:r>
              <a:rPr lang="en-US" sz="9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AI-generated spear phishing</a:t>
            </a:r>
            <a:r>
              <a:rPr lang="en-US" sz="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 — nearly triple traditional phishing — because emails reference real colleagues, projects, and personal context.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5" name="Text 31"/>
          <p:cNvSpPr/>
          <p:nvPr/>
        </p:nvSpPr>
        <p:spPr>
          <a:xfrm>
            <a:off x="4629150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1754332"/>
                </a:lnTo>
                <a:lnTo>
                  <a:pt x="8334" y="1752780"/>
                </a:lnTo>
                <a:lnTo>
                  <a:pt x="7144" y="1751068"/>
                </a:lnTo>
                <a:lnTo>
                  <a:pt x="5953" y="1749158"/>
                </a:lnTo>
                <a:lnTo>
                  <a:pt x="4763" y="1746993"/>
                </a:lnTo>
                <a:lnTo>
                  <a:pt x="3572" y="1744476"/>
                </a:lnTo>
                <a:lnTo>
                  <a:pt x="2381" y="1741421"/>
                </a:lnTo>
                <a:lnTo>
                  <a:pt x="1191" y="1737349"/>
                </a:lnTo>
                <a:lnTo>
                  <a:pt x="0" y="1727279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591300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16127"/>
                </a:moveTo>
                <a:lnTo>
                  <a:pt x="1191" y="17679"/>
                </a:lnTo>
                <a:lnTo>
                  <a:pt x="2381" y="19391"/>
                </a:lnTo>
                <a:lnTo>
                  <a:pt x="3572" y="21301"/>
                </a:lnTo>
                <a:lnTo>
                  <a:pt x="4763" y="23467"/>
                </a:lnTo>
                <a:lnTo>
                  <a:pt x="5953" y="25984"/>
                </a:lnTo>
                <a:lnTo>
                  <a:pt x="7144" y="29039"/>
                </a:lnTo>
                <a:lnTo>
                  <a:pt x="8334" y="33110"/>
                </a:lnTo>
                <a:lnTo>
                  <a:pt x="9525" y="43180"/>
                </a:lnTo>
                <a:lnTo>
                  <a:pt x="9525" y="1727279"/>
                </a:lnTo>
                <a:lnTo>
                  <a:pt x="8334" y="1737349"/>
                </a:lnTo>
                <a:lnTo>
                  <a:pt x="7144" y="1741421"/>
                </a:lnTo>
                <a:lnTo>
                  <a:pt x="5953" y="1744476"/>
                </a:lnTo>
                <a:lnTo>
                  <a:pt x="4763" y="1746993"/>
                </a:lnTo>
                <a:lnTo>
                  <a:pt x="3572" y="1749158"/>
                </a:lnTo>
                <a:lnTo>
                  <a:pt x="2381" y="1751068"/>
                </a:lnTo>
                <a:lnTo>
                  <a:pt x="1191" y="1752780"/>
                </a:lnTo>
                <a:lnTo>
                  <a:pt x="0" y="1754332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629150" y="1053554"/>
            <a:ext cx="1971675" cy="19050"/>
          </a:xfrm>
          <a:custGeom>
            <a:avLst/>
            <a:gdLst/>
            <a:ahLst/>
            <a:cxnLst/>
            <a:rect l="l" t="t" r="r" b="b"/>
            <a:pathLst>
              <a:path w="1971675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64304" y="19050"/>
                </a:lnTo>
                <a:lnTo>
                  <a:pt x="1962578" y="16669"/>
                </a:lnTo>
                <a:lnTo>
                  <a:pt x="1960585" y="14288"/>
                </a:lnTo>
                <a:lnTo>
                  <a:pt x="1958269" y="11906"/>
                </a:lnTo>
                <a:lnTo>
                  <a:pt x="1955548" y="9525"/>
                </a:lnTo>
                <a:lnTo>
                  <a:pt x="1952284" y="7144"/>
                </a:lnTo>
                <a:lnTo>
                  <a:pt x="1948208" y="4763"/>
                </a:lnTo>
                <a:lnTo>
                  <a:pt x="1942636" y="2381"/>
                </a:lnTo>
                <a:lnTo>
                  <a:pt x="1928495" y="0"/>
                </a:lnTo>
                <a:close/>
              </a:path>
            </a:pathLst>
          </a:custGeom>
          <a:solidFill>
            <a:srgbClr val="4EA8DE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40810" y="1172914"/>
            <a:ext cx="236190" cy="23619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782145" y="1588145"/>
            <a:ext cx="1638428" cy="147638"/>
          </a:xfrm>
          <a:prstGeom prst="roundRect">
            <a:avLst>
              <a:gd name="adj" fmla="val 14624"/>
            </a:avLst>
          </a:prstGeom>
          <a:solidFill>
            <a:srgbClr val="4EA8DE">
              <a:alpha val="10000"/>
            </a:srgbClr>
          </a:solidFill>
          <a:ln w="9525">
            <a:solidFill>
              <a:srgbClr val="4EA8DE">
                <a:alpha val="28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30" b="1" kern="0" spc="80" dirty="0">
                <a:solidFill>
                  <a:srgbClr val="6BBD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HARVARD BUSINESS REVIEW · 2024</a:t>
            </a:r>
            <a:endParaRPr lang="en-US" sz="530" dirty="0"/>
          </a:p>
        </p:txBody>
      </p:sp>
      <p:sp>
        <p:nvSpPr>
          <p:cNvPr id="40" name="Text 35"/>
          <p:cNvSpPr/>
          <p:nvPr/>
        </p:nvSpPr>
        <p:spPr>
          <a:xfrm>
            <a:off x="6715125" y="1053554"/>
            <a:ext cx="1971675" cy="1770459"/>
          </a:xfrm>
          <a:prstGeom prst="roundRect">
            <a:avLst>
              <a:gd name="adj" fmla="val 2439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5050"/>
                </a:solidFill>
              </a:rPr>
              <a:t>+900 Percent</a:t>
            </a:r>
          </a:p>
          <a:p>
            <a:pPr marL="0" indent="0">
              <a:buNone/>
            </a:pPr>
            <a:endParaRPr lang="en-US" dirty="0">
              <a:solidFill>
                <a:srgbClr val="FF505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5050"/>
              </a:solidFill>
            </a:endParaRPr>
          </a:p>
          <a:p>
            <a:pPr marL="0" indent="0">
              <a:buNone/>
            </a:pPr>
            <a:r>
              <a:rPr lang="en-US" sz="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Year-over-year rise in detected </a:t>
            </a:r>
            <a:r>
              <a:rPr lang="en-US" sz="9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deepfake fraud incidents</a:t>
            </a:r>
            <a:r>
              <a:rPr lang="en-US" sz="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 globally. North America saw a </a:t>
            </a:r>
            <a:r>
              <a:rPr lang="en-US" sz="900" b="1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1,700 percent</a:t>
            </a:r>
            <a:r>
              <a:rPr lang="en-US" sz="900" b="0" i="0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 surge in the same period.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FF5050"/>
              </a:solidFill>
            </a:endParaRPr>
          </a:p>
        </p:txBody>
      </p:sp>
      <p:sp>
        <p:nvSpPr>
          <p:cNvPr id="41" name="Text 36"/>
          <p:cNvSpPr/>
          <p:nvPr/>
        </p:nvSpPr>
        <p:spPr>
          <a:xfrm>
            <a:off x="6715125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1754332"/>
                </a:lnTo>
                <a:lnTo>
                  <a:pt x="8334" y="1752780"/>
                </a:lnTo>
                <a:lnTo>
                  <a:pt x="7144" y="1751068"/>
                </a:lnTo>
                <a:lnTo>
                  <a:pt x="5953" y="1749158"/>
                </a:lnTo>
                <a:lnTo>
                  <a:pt x="4763" y="1746993"/>
                </a:lnTo>
                <a:lnTo>
                  <a:pt x="3572" y="1744476"/>
                </a:lnTo>
                <a:lnTo>
                  <a:pt x="2381" y="1741421"/>
                </a:lnTo>
                <a:lnTo>
                  <a:pt x="1191" y="1737349"/>
                </a:lnTo>
                <a:lnTo>
                  <a:pt x="0" y="1727279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/>
          <p:cNvSpPr/>
          <p:nvPr/>
        </p:nvSpPr>
        <p:spPr>
          <a:xfrm>
            <a:off x="8677275" y="1053554"/>
            <a:ext cx="9525" cy="1770459"/>
          </a:xfrm>
          <a:custGeom>
            <a:avLst/>
            <a:gdLst/>
            <a:ahLst/>
            <a:cxnLst/>
            <a:rect l="l" t="t" r="r" b="b"/>
            <a:pathLst>
              <a:path w="9525" h="1770459">
                <a:moveTo>
                  <a:pt x="0" y="16127"/>
                </a:moveTo>
                <a:lnTo>
                  <a:pt x="1191" y="17679"/>
                </a:lnTo>
                <a:lnTo>
                  <a:pt x="2381" y="19391"/>
                </a:lnTo>
                <a:lnTo>
                  <a:pt x="3572" y="21301"/>
                </a:lnTo>
                <a:lnTo>
                  <a:pt x="4763" y="23467"/>
                </a:lnTo>
                <a:lnTo>
                  <a:pt x="5953" y="25984"/>
                </a:lnTo>
                <a:lnTo>
                  <a:pt x="7144" y="29039"/>
                </a:lnTo>
                <a:lnTo>
                  <a:pt x="8334" y="33110"/>
                </a:lnTo>
                <a:lnTo>
                  <a:pt x="9525" y="43180"/>
                </a:lnTo>
                <a:lnTo>
                  <a:pt x="9525" y="1727279"/>
                </a:lnTo>
                <a:lnTo>
                  <a:pt x="8334" y="1737349"/>
                </a:lnTo>
                <a:lnTo>
                  <a:pt x="7144" y="1741421"/>
                </a:lnTo>
                <a:lnTo>
                  <a:pt x="5953" y="1744476"/>
                </a:lnTo>
                <a:lnTo>
                  <a:pt x="4763" y="1746993"/>
                </a:lnTo>
                <a:lnTo>
                  <a:pt x="3572" y="1749158"/>
                </a:lnTo>
                <a:lnTo>
                  <a:pt x="2381" y="1751068"/>
                </a:lnTo>
                <a:lnTo>
                  <a:pt x="1191" y="1752780"/>
                </a:lnTo>
                <a:lnTo>
                  <a:pt x="0" y="1754332"/>
                </a:lnTo>
                <a:close/>
              </a:path>
            </a:pathLst>
          </a:custGeom>
          <a:solidFill>
            <a:srgbClr val="FFFFFF">
              <a:alpha val="7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6715125" y="1053554"/>
            <a:ext cx="1971675" cy="19050"/>
          </a:xfrm>
          <a:custGeom>
            <a:avLst/>
            <a:gdLst/>
            <a:ahLst/>
            <a:cxnLst/>
            <a:rect l="l" t="t" r="r" b="b"/>
            <a:pathLst>
              <a:path w="1971675" h="19050">
                <a:moveTo>
                  <a:pt x="43180" y="0"/>
                </a:moveTo>
                <a:lnTo>
                  <a:pt x="29039" y="2381"/>
                </a:lnTo>
                <a:lnTo>
                  <a:pt x="23467" y="4763"/>
                </a:lnTo>
                <a:lnTo>
                  <a:pt x="19391" y="7144"/>
                </a:lnTo>
                <a:lnTo>
                  <a:pt x="16127" y="9525"/>
                </a:lnTo>
                <a:lnTo>
                  <a:pt x="13406" y="11906"/>
                </a:lnTo>
                <a:lnTo>
                  <a:pt x="11090" y="14288"/>
                </a:lnTo>
                <a:lnTo>
                  <a:pt x="9097" y="16669"/>
                </a:lnTo>
                <a:lnTo>
                  <a:pt x="7371" y="19050"/>
                </a:lnTo>
                <a:lnTo>
                  <a:pt x="1964304" y="19050"/>
                </a:lnTo>
                <a:lnTo>
                  <a:pt x="1962578" y="16669"/>
                </a:lnTo>
                <a:lnTo>
                  <a:pt x="1960585" y="14288"/>
                </a:lnTo>
                <a:lnTo>
                  <a:pt x="1958269" y="11906"/>
                </a:lnTo>
                <a:lnTo>
                  <a:pt x="1955548" y="9525"/>
                </a:lnTo>
                <a:lnTo>
                  <a:pt x="1952284" y="7144"/>
                </a:lnTo>
                <a:lnTo>
                  <a:pt x="1948208" y="4763"/>
                </a:lnTo>
                <a:lnTo>
                  <a:pt x="1942636" y="2381"/>
                </a:lnTo>
                <a:lnTo>
                  <a:pt x="1928495" y="0"/>
                </a:lnTo>
                <a:close/>
              </a:path>
            </a:pathLst>
          </a:custGeom>
          <a:solidFill>
            <a:srgbClr val="E05D5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>
            <a:alphaModFix amt="18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6785" y="1172914"/>
            <a:ext cx="236190" cy="236190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6834807" y="1570285"/>
            <a:ext cx="1695658" cy="147638"/>
          </a:xfrm>
          <a:prstGeom prst="roundRect">
            <a:avLst>
              <a:gd name="adj" fmla="val 14624"/>
            </a:avLst>
          </a:prstGeom>
          <a:solidFill>
            <a:srgbClr val="E05D5D">
              <a:alpha val="10000"/>
            </a:srgbClr>
          </a:solidFill>
          <a:ln w="9525">
            <a:solidFill>
              <a:srgbClr val="E05D5D">
                <a:alpha val="28000"/>
              </a:srgbClr>
            </a:solidFill>
          </a:ln>
        </p:spPr>
        <p:txBody>
          <a:bodyPr wrap="none" lIns="49530" tIns="13970" rIns="49530" bIns="13970" rtlCol="0" anchor="t"/>
          <a:lstStyle/>
          <a:p>
            <a:pPr marL="0" indent="0" algn="l">
              <a:buNone/>
            </a:pPr>
            <a:r>
              <a:rPr lang="en-US" sz="530" b="1" kern="0" spc="80" dirty="0">
                <a:solidFill>
                  <a:srgbClr val="E8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GAFA FORENSIC ACCOUNTING · 2025</a:t>
            </a:r>
            <a:endParaRPr lang="en-US" sz="530" dirty="0"/>
          </a:p>
        </p:txBody>
      </p:sp>
      <p:sp>
        <p:nvSpPr>
          <p:cNvPr id="46" name="Text 40"/>
          <p:cNvSpPr/>
          <p:nvPr/>
        </p:nvSpPr>
        <p:spPr>
          <a:xfrm>
            <a:off x="457200" y="2938314"/>
            <a:ext cx="8229600" cy="332333"/>
          </a:xfrm>
          <a:prstGeom prst="roundRect">
            <a:avLst>
              <a:gd name="adj" fmla="val 10700"/>
            </a:avLst>
          </a:prstGeom>
          <a:gradFill rotWithShape="1">
            <a:gsLst>
              <a:gs pos="0">
                <a:srgbClr val="E8A020">
                  <a:alpha val="14000"/>
                </a:srgbClr>
              </a:gs>
              <a:gs pos="100000">
                <a:srgbClr val="E8A020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457200" y="2938314"/>
            <a:ext cx="28575" cy="332333"/>
          </a:xfrm>
          <a:custGeom>
            <a:avLst/>
            <a:gdLst/>
            <a:ahLst/>
            <a:cxnLst/>
            <a:rect l="l" t="t" r="r" b="b"/>
            <a:pathLst>
              <a:path w="28575" h="332333">
                <a:moveTo>
                  <a:pt x="0" y="35560"/>
                </a:moveTo>
                <a:lnTo>
                  <a:pt x="3572" y="20027"/>
                </a:lnTo>
                <a:lnTo>
                  <a:pt x="7144" y="14182"/>
                </a:lnTo>
                <a:lnTo>
                  <a:pt x="10716" y="10118"/>
                </a:lnTo>
                <a:lnTo>
                  <a:pt x="14288" y="7064"/>
                </a:lnTo>
                <a:lnTo>
                  <a:pt x="17859" y="4718"/>
                </a:lnTo>
                <a:lnTo>
                  <a:pt x="21431" y="2927"/>
                </a:lnTo>
                <a:lnTo>
                  <a:pt x="25003" y="1603"/>
                </a:lnTo>
                <a:lnTo>
                  <a:pt x="28575" y="693"/>
                </a:lnTo>
                <a:lnTo>
                  <a:pt x="28575" y="331640"/>
                </a:lnTo>
                <a:lnTo>
                  <a:pt x="25003" y="330730"/>
                </a:lnTo>
                <a:lnTo>
                  <a:pt x="21431" y="329406"/>
                </a:lnTo>
                <a:lnTo>
                  <a:pt x="17859" y="327615"/>
                </a:lnTo>
                <a:lnTo>
                  <a:pt x="14288" y="325269"/>
                </a:lnTo>
                <a:lnTo>
                  <a:pt x="10716" y="322215"/>
                </a:lnTo>
                <a:lnTo>
                  <a:pt x="7144" y="318151"/>
                </a:lnTo>
                <a:lnTo>
                  <a:pt x="3572" y="312306"/>
                </a:lnTo>
                <a:lnTo>
                  <a:pt x="0" y="296773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941" y="3038186"/>
            <a:ext cx="132588" cy="132588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889546" y="3034159"/>
            <a:ext cx="6535504" cy="1406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7"/>
              </a:lnSpc>
              <a:buNone/>
            </a:pPr>
            <a:r>
              <a:rPr lang="en-US" sz="820" b="1" kern="0" spc="1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is no longer believing.</a:t>
            </a:r>
            <a:r>
              <a:rPr lang="en-US" sz="820" b="1" kern="0" spc="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820" b="1" kern="0" spc="1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Hearing is no longer proof.</a:t>
            </a:r>
            <a:r>
              <a:rPr lang="en-US" sz="820" b="1" kern="0" spc="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Verification is now your most important security habit.</a:t>
            </a:r>
            <a:endParaRPr lang="en-US" sz="820" dirty="0"/>
          </a:p>
        </p:txBody>
      </p:sp>
      <p:sp>
        <p:nvSpPr>
          <p:cNvPr id="50" name="Text 43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0" y="4914900"/>
            <a:ext cx="914400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5"/>
          <p:cNvSpPr/>
          <p:nvPr/>
        </p:nvSpPr>
        <p:spPr>
          <a:xfrm>
            <a:off x="457200" y="4980533"/>
            <a:ext cx="119590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</a:t>
            </a:r>
            <a:endParaRPr lang="en-US" sz="560" dirty="0"/>
          </a:p>
        </p:txBody>
      </p:sp>
      <p:sp>
        <p:nvSpPr>
          <p:cNvPr id="53" name="Text 46"/>
          <p:cNvSpPr/>
          <p:nvPr/>
        </p:nvSpPr>
        <p:spPr>
          <a:xfrm>
            <a:off x="1715839" y="4990802"/>
            <a:ext cx="7590" cy="86320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1894880" y="4980533"/>
            <a:ext cx="80676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</a:t>
            </a:r>
            <a:endParaRPr lang="en-US" sz="560" dirty="0"/>
          </a:p>
        </p:txBody>
      </p:sp>
      <p:sp>
        <p:nvSpPr>
          <p:cNvPr id="55" name="Text 48"/>
          <p:cNvSpPr/>
          <p:nvPr/>
        </p:nvSpPr>
        <p:spPr>
          <a:xfrm>
            <a:off x="2799755" y="4990802"/>
            <a:ext cx="7590" cy="86320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2978795" y="4980533"/>
            <a:ext cx="117921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PROTECT.AT</a:t>
            </a:r>
            <a:endParaRPr lang="en-US" sz="560" dirty="0"/>
          </a:p>
        </p:txBody>
      </p:sp>
      <p:sp>
        <p:nvSpPr>
          <p:cNvPr id="57" name="Text 50"/>
          <p:cNvSpPr/>
          <p:nvPr/>
        </p:nvSpPr>
        <p:spPr>
          <a:xfrm>
            <a:off x="4222254" y="4990802"/>
            <a:ext cx="7590" cy="86320"/>
          </a:xfrm>
          <a:prstGeom prst="rect">
            <a:avLst/>
          </a:prstGeom>
          <a:solidFill>
            <a:srgbClr val="94AFC8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4401294" y="4980533"/>
            <a:ext cx="239394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 WEBINAR SERIES · MAY 2026</a:t>
            </a:r>
            <a:endParaRPr lang="en-US" sz="5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326880" cy="418654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60000">
                <a:srgbClr val="112236"/>
              </a:gs>
              <a:gs pos="100000">
                <a:srgbClr val="0D1B2A"/>
              </a:gs>
            </a:gsLst>
            <a:lin ang="0" scaled="1"/>
          </a:gradFill>
          <a:ln/>
        </p:spPr>
        <p:txBody>
          <a:bodyPr wrap="none" lIns="372110" tIns="100330" rIns="372110" bIns="86360" rtlCol="0" anchor="t"/>
          <a:lstStyle/>
          <a:p>
            <a:pPr marL="0" indent="0" algn="l">
              <a:buNone/>
            </a:pPr>
            <a:r>
              <a:rPr lang="en-US" sz="1460" kern="0" spc="15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Is a Deepfake — </a:t>
            </a:r>
            <a:r>
              <a:rPr lang="en-US" sz="1460" b="1" kern="0" spc="15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Plain-English Explanation</a:t>
            </a:r>
            <a:endParaRPr lang="en-US" sz="1460" dirty="0"/>
          </a:p>
        </p:txBody>
      </p:sp>
      <p:sp>
        <p:nvSpPr>
          <p:cNvPr id="3" name="Text 1"/>
          <p:cNvSpPr/>
          <p:nvPr/>
        </p:nvSpPr>
        <p:spPr>
          <a:xfrm>
            <a:off x="0" y="409129"/>
            <a:ext cx="9144000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418654"/>
            <a:ext cx="4561136" cy="4656981"/>
          </a:xfrm>
          <a:prstGeom prst="rect">
            <a:avLst/>
          </a:prstGeom>
          <a:gradFill rotWithShape="1">
            <a:gsLst>
              <a:gs pos="0">
                <a:srgbClr val="0F2032"/>
              </a:gs>
              <a:gs pos="100000">
                <a:srgbClr val="13284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57770" y="562124"/>
            <a:ext cx="2074813" cy="261119"/>
          </a:xfrm>
          <a:prstGeom prst="roundRect">
            <a:avLst>
              <a:gd name="adj" fmla="val 8268"/>
            </a:avLst>
          </a:prstGeom>
          <a:solidFill>
            <a:srgbClr val="4ABA7A">
              <a:alpha val="18000"/>
            </a:srgbClr>
          </a:solidFill>
          <a:ln w="9525">
            <a:solidFill>
              <a:srgbClr val="4ABA7A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4ABA7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OLD WORLD — BEFORE AI</a:t>
            </a:r>
            <a:endParaRPr lang="en-US" sz="840" dirty="0"/>
          </a:p>
        </p:txBody>
      </p:sp>
      <p:sp>
        <p:nvSpPr>
          <p:cNvPr id="6" name="Text 4"/>
          <p:cNvSpPr/>
          <p:nvPr/>
        </p:nvSpPr>
        <p:spPr>
          <a:xfrm>
            <a:off x="257770" y="885825"/>
            <a:ext cx="4045595" cy="1057870"/>
          </a:xfrm>
          <a:prstGeom prst="rect">
            <a:avLst/>
          </a:prstGeom>
          <a:gradFill rotWithShape="1">
            <a:gsLst>
              <a:gs pos="0">
                <a:srgbClr val="1A3A5C"/>
              </a:gs>
              <a:gs pos="100000">
                <a:srgbClr val="0F2640"/>
              </a:gs>
            </a:gsLst>
            <a:lin ang="2700000" scaled="1"/>
          </a:gradFill>
          <a:ln w="9525">
            <a:solidFill>
              <a:srgbClr val="4ABA7A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67295" y="895350"/>
            <a:ext cx="4026545" cy="157460"/>
          </a:xfrm>
          <a:prstGeom prst="rect">
            <a:avLst/>
          </a:prstGeom>
          <a:solidFill>
            <a:srgbClr val="4ABA7A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8286" y="949375"/>
            <a:ext cx="49411" cy="49411"/>
          </a:xfrm>
          <a:prstGeom prst="ellipse">
            <a:avLst/>
          </a:prstGeom>
          <a:solidFill>
            <a:srgbClr val="4ABA7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3118" y="949375"/>
            <a:ext cx="49411" cy="49411"/>
          </a:xfrm>
          <a:prstGeom prst="ellipse">
            <a:avLst/>
          </a:prstGeom>
          <a:solidFill>
            <a:srgbClr val="4ABA7A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949375"/>
            <a:ext cx="49411" cy="49411"/>
          </a:xfrm>
          <a:prstGeom prst="ellipse">
            <a:avLst/>
          </a:prstGeom>
          <a:solidFill>
            <a:srgbClr val="4ABA7A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943" y="925562"/>
            <a:ext cx="107279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 — CONNECTED</a:t>
            </a:r>
            <a:endParaRPr lang="en-US" sz="510" dirty="0"/>
          </a:p>
        </p:txBody>
      </p:sp>
      <p:sp>
        <p:nvSpPr>
          <p:cNvPr id="12" name="Text 10"/>
          <p:cNvSpPr/>
          <p:nvPr/>
        </p:nvSpPr>
        <p:spPr>
          <a:xfrm>
            <a:off x="3975128" y="923627"/>
            <a:ext cx="250174" cy="100905"/>
          </a:xfrm>
          <a:prstGeom prst="roundRect">
            <a:avLst>
              <a:gd name="adj" fmla="val 1384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LIVE</a:t>
            </a:r>
            <a:endParaRPr lang="en-US" sz="450" dirty="0"/>
          </a:p>
        </p:txBody>
      </p:sp>
      <p:sp>
        <p:nvSpPr>
          <p:cNvPr id="13" name="Text 11"/>
          <p:cNvSpPr/>
          <p:nvPr/>
        </p:nvSpPr>
        <p:spPr>
          <a:xfrm>
            <a:off x="2065883" y="1203871"/>
            <a:ext cx="429220" cy="429220"/>
          </a:xfrm>
          <a:prstGeom prst="ellipse">
            <a:avLst/>
          </a:prstGeom>
          <a:gradFill rotWithShape="1">
            <a:gsLst>
              <a:gs pos="0">
                <a:srgbClr val="4A7AAA"/>
              </a:gs>
              <a:gs pos="100000">
                <a:srgbClr val="2A5A8A"/>
              </a:gs>
            </a:gsLst>
            <a:lin ang="2700000" scaled="1"/>
          </a:gradFill>
          <a:ln w="9525">
            <a:solidFill>
              <a:srgbClr val="4ABA7A">
                <a:alpha val="6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83755" y="1321743"/>
            <a:ext cx="193328" cy="19332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065883" y="1203871"/>
            <a:ext cx="429220" cy="429220"/>
          </a:xfrm>
          <a:custGeom>
            <a:avLst/>
            <a:gdLst/>
            <a:ahLst/>
            <a:cxnLst/>
            <a:rect l="l" t="t" r="r" b="b"/>
            <a:pathLst>
              <a:path w="429220" h="429220">
                <a:moveTo>
                  <a:pt x="429220" y="205075"/>
                </a:moveTo>
                <a:lnTo>
                  <a:pt x="429220" y="227293"/>
                </a:lnTo>
                <a:lnTo>
                  <a:pt x="427386" y="249296"/>
                </a:lnTo>
                <a:lnTo>
                  <a:pt x="421981" y="270873"/>
                </a:lnTo>
                <a:lnTo>
                  <a:pt x="414487" y="291817"/>
                </a:lnTo>
                <a:lnTo>
                  <a:pt x="404977" y="311925"/>
                </a:lnTo>
                <a:lnTo>
                  <a:pt x="393541" y="331004"/>
                </a:lnTo>
                <a:lnTo>
                  <a:pt x="380290" y="348870"/>
                </a:lnTo>
                <a:lnTo>
                  <a:pt x="365352" y="365352"/>
                </a:lnTo>
                <a:lnTo>
                  <a:pt x="348870" y="380290"/>
                </a:lnTo>
                <a:lnTo>
                  <a:pt x="331004" y="393541"/>
                </a:lnTo>
                <a:lnTo>
                  <a:pt x="311925" y="404977"/>
                </a:lnTo>
                <a:lnTo>
                  <a:pt x="291817" y="414487"/>
                </a:lnTo>
                <a:lnTo>
                  <a:pt x="270873" y="421981"/>
                </a:lnTo>
                <a:lnTo>
                  <a:pt x="249296" y="427386"/>
                </a:lnTo>
                <a:lnTo>
                  <a:pt x="227293" y="429220"/>
                </a:lnTo>
                <a:lnTo>
                  <a:pt x="205075" y="429220"/>
                </a:lnTo>
                <a:lnTo>
                  <a:pt x="182858" y="429220"/>
                </a:lnTo>
                <a:lnTo>
                  <a:pt x="160855" y="427386"/>
                </a:lnTo>
                <a:lnTo>
                  <a:pt x="139278" y="421981"/>
                </a:lnTo>
                <a:lnTo>
                  <a:pt x="118334" y="414487"/>
                </a:lnTo>
                <a:lnTo>
                  <a:pt x="98226" y="404977"/>
                </a:lnTo>
                <a:lnTo>
                  <a:pt x="79147" y="393541"/>
                </a:lnTo>
                <a:lnTo>
                  <a:pt x="61280" y="380290"/>
                </a:lnTo>
                <a:lnTo>
                  <a:pt x="44799" y="365352"/>
                </a:lnTo>
                <a:lnTo>
                  <a:pt x="29861" y="348870"/>
                </a:lnTo>
                <a:lnTo>
                  <a:pt x="16610" y="331004"/>
                </a:lnTo>
                <a:lnTo>
                  <a:pt x="5174" y="311925"/>
                </a:lnTo>
                <a:lnTo>
                  <a:pt x="0" y="291817"/>
                </a:lnTo>
                <a:lnTo>
                  <a:pt x="0" y="119369"/>
                </a:lnTo>
                <a:lnTo>
                  <a:pt x="5174" y="98226"/>
                </a:lnTo>
                <a:lnTo>
                  <a:pt x="16610" y="79147"/>
                </a:lnTo>
                <a:lnTo>
                  <a:pt x="29861" y="61280"/>
                </a:lnTo>
                <a:lnTo>
                  <a:pt x="44799" y="44799"/>
                </a:lnTo>
                <a:lnTo>
                  <a:pt x="61280" y="29861"/>
                </a:lnTo>
                <a:lnTo>
                  <a:pt x="79147" y="16610"/>
                </a:lnTo>
                <a:lnTo>
                  <a:pt x="98226" y="5174"/>
                </a:lnTo>
                <a:lnTo>
                  <a:pt x="118334" y="0"/>
                </a:lnTo>
                <a:lnTo>
                  <a:pt x="290782" y="0"/>
                </a:lnTo>
                <a:lnTo>
                  <a:pt x="311925" y="5174"/>
                </a:lnTo>
                <a:lnTo>
                  <a:pt x="331004" y="16610"/>
                </a:lnTo>
                <a:lnTo>
                  <a:pt x="348870" y="29861"/>
                </a:lnTo>
                <a:lnTo>
                  <a:pt x="365352" y="44799"/>
                </a:lnTo>
                <a:lnTo>
                  <a:pt x="380290" y="61280"/>
                </a:lnTo>
                <a:lnTo>
                  <a:pt x="393541" y="79147"/>
                </a:lnTo>
                <a:lnTo>
                  <a:pt x="404977" y="98226"/>
                </a:lnTo>
                <a:lnTo>
                  <a:pt x="414487" y="118334"/>
                </a:lnTo>
                <a:lnTo>
                  <a:pt x="421981" y="139278"/>
                </a:lnTo>
                <a:lnTo>
                  <a:pt x="427386" y="160855"/>
                </a:lnTo>
                <a:lnTo>
                  <a:pt x="429220" y="182858"/>
                </a:lnTo>
                <a:lnTo>
                  <a:pt x="429220" y="205075"/>
                </a:lnTo>
                <a:close/>
              </a:path>
            </a:pathLst>
          </a:custGeom>
          <a:noFill/>
          <a:ln w="9525">
            <a:solidFill>
              <a:srgbClr val="4ABA7A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1981498" y="1676251"/>
            <a:ext cx="65795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4ABA7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M. — CFO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267295" y="1778794"/>
            <a:ext cx="4026545" cy="155377"/>
          </a:xfrm>
          <a:prstGeom prst="rect">
            <a:avLst/>
          </a:prstGeom>
          <a:solidFill>
            <a:srgbClr val="4ABA7A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38286" y="1834902"/>
            <a:ext cx="43160" cy="43160"/>
          </a:xfrm>
          <a:prstGeom prst="ellipse">
            <a:avLst/>
          </a:prstGeom>
          <a:solidFill>
            <a:srgbClr val="4ABA7A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416868" y="1807964"/>
            <a:ext cx="1661502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4A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connection  ·  Encrypted  ·  1 participant</a:t>
            </a:r>
            <a:endParaRPr lang="en-US" sz="510" dirty="0"/>
          </a:p>
        </p:txBody>
      </p:sp>
      <p:sp>
        <p:nvSpPr>
          <p:cNvPr id="20" name="Text 17"/>
          <p:cNvSpPr/>
          <p:nvPr/>
        </p:nvSpPr>
        <p:spPr>
          <a:xfrm>
            <a:off x="257770" y="2044005"/>
            <a:ext cx="4126507" cy="8477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saw a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face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 trusted it. When you heard a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voice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you believed it. A call from your manager was your manager. A video call showing your CFO was your CFO.</a:t>
            </a:r>
            <a:br/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brains are wired to trust faces and voices — it is how human society has always worked.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257770" y="2951708"/>
            <a:ext cx="4045595" cy="318492"/>
          </a:xfrm>
          <a:prstGeom prst="roundRect">
            <a:avLst>
              <a:gd name="adj" fmla="val 13558"/>
            </a:avLst>
          </a:prstGeom>
          <a:solidFill>
            <a:srgbClr val="4ABA7A">
              <a:alpha val="9000"/>
            </a:srgbClr>
          </a:solidFill>
          <a:ln w="9525">
            <a:solidFill>
              <a:srgbClr val="4ABA7A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53616" y="3010644"/>
            <a:ext cx="200620" cy="200620"/>
          </a:xfrm>
          <a:prstGeom prst="ellipse">
            <a:avLst/>
          </a:prstGeom>
          <a:solidFill>
            <a:srgbClr val="4ABA7A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557" y="3044586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25227" y="3038475"/>
            <a:ext cx="279683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A8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760" dirty="0"/>
          </a:p>
        </p:txBody>
      </p:sp>
      <p:sp>
        <p:nvSpPr>
          <p:cNvPr id="25" name="Text 21"/>
          <p:cNvSpPr/>
          <p:nvPr/>
        </p:nvSpPr>
        <p:spPr>
          <a:xfrm>
            <a:off x="3238798" y="3035647"/>
            <a:ext cx="1424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90" dirty="0"/>
          </a:p>
        </p:txBody>
      </p:sp>
      <p:sp>
        <p:nvSpPr>
          <p:cNvPr id="26" name="Text 22"/>
          <p:cNvSpPr/>
          <p:nvPr/>
        </p:nvSpPr>
        <p:spPr>
          <a:xfrm>
            <a:off x="3439269" y="3041452"/>
            <a:ext cx="8450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✓ Trusted</a:t>
            </a:r>
            <a:endParaRPr lang="en-US" sz="730" dirty="0"/>
          </a:p>
        </p:txBody>
      </p:sp>
      <p:sp>
        <p:nvSpPr>
          <p:cNvPr id="27" name="Text 23"/>
          <p:cNvSpPr/>
          <p:nvPr/>
        </p:nvSpPr>
        <p:spPr>
          <a:xfrm>
            <a:off x="257770" y="3319611"/>
            <a:ext cx="4045595" cy="318492"/>
          </a:xfrm>
          <a:prstGeom prst="roundRect">
            <a:avLst>
              <a:gd name="adj" fmla="val 13558"/>
            </a:avLst>
          </a:prstGeom>
          <a:solidFill>
            <a:srgbClr val="4ABA7A">
              <a:alpha val="9000"/>
            </a:srgbClr>
          </a:solidFill>
          <a:ln w="9525">
            <a:solidFill>
              <a:srgbClr val="4ABA7A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53616" y="3378547"/>
            <a:ext cx="200620" cy="200620"/>
          </a:xfrm>
          <a:prstGeom prst="ellipse">
            <a:avLst/>
          </a:prstGeom>
          <a:solidFill>
            <a:srgbClr val="4ABA7A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7557" y="3412489"/>
            <a:ext cx="132588" cy="13258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5227" y="3406378"/>
            <a:ext cx="279683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A8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760" dirty="0"/>
          </a:p>
        </p:txBody>
      </p:sp>
      <p:sp>
        <p:nvSpPr>
          <p:cNvPr id="31" name="Text 26"/>
          <p:cNvSpPr/>
          <p:nvPr/>
        </p:nvSpPr>
        <p:spPr>
          <a:xfrm>
            <a:off x="3238798" y="3403550"/>
            <a:ext cx="1424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90" dirty="0"/>
          </a:p>
        </p:txBody>
      </p:sp>
      <p:sp>
        <p:nvSpPr>
          <p:cNvPr id="32" name="Text 27"/>
          <p:cNvSpPr/>
          <p:nvPr/>
        </p:nvSpPr>
        <p:spPr>
          <a:xfrm>
            <a:off x="3439269" y="3409355"/>
            <a:ext cx="8450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✓ Trusted</a:t>
            </a:r>
            <a:endParaRPr lang="en-US" sz="730" dirty="0"/>
          </a:p>
        </p:txBody>
      </p:sp>
      <p:sp>
        <p:nvSpPr>
          <p:cNvPr id="33" name="Text 28"/>
          <p:cNvSpPr/>
          <p:nvPr/>
        </p:nvSpPr>
        <p:spPr>
          <a:xfrm>
            <a:off x="257770" y="3687514"/>
            <a:ext cx="4045595" cy="318492"/>
          </a:xfrm>
          <a:prstGeom prst="roundRect">
            <a:avLst>
              <a:gd name="adj" fmla="val 13558"/>
            </a:avLst>
          </a:prstGeom>
          <a:solidFill>
            <a:srgbClr val="4ABA7A">
              <a:alpha val="9000"/>
            </a:srgbClr>
          </a:solidFill>
          <a:ln w="9525">
            <a:solidFill>
              <a:srgbClr val="4ABA7A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53616" y="3746450"/>
            <a:ext cx="200620" cy="200620"/>
          </a:xfrm>
          <a:prstGeom prst="ellipse">
            <a:avLst/>
          </a:prstGeom>
          <a:solidFill>
            <a:srgbClr val="4ABA7A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7557" y="3780392"/>
            <a:ext cx="132588" cy="13258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25227" y="3774281"/>
            <a:ext cx="255896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A8D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760" dirty="0"/>
          </a:p>
        </p:txBody>
      </p:sp>
      <p:sp>
        <p:nvSpPr>
          <p:cNvPr id="37" name="Text 31"/>
          <p:cNvSpPr/>
          <p:nvPr/>
        </p:nvSpPr>
        <p:spPr>
          <a:xfrm>
            <a:off x="3022550" y="3771454"/>
            <a:ext cx="1424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4AB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90" dirty="0"/>
          </a:p>
        </p:txBody>
      </p:sp>
      <p:sp>
        <p:nvSpPr>
          <p:cNvPr id="38" name="Text 32"/>
          <p:cNvSpPr/>
          <p:nvPr/>
        </p:nvSpPr>
        <p:spPr>
          <a:xfrm>
            <a:off x="3223022" y="3777258"/>
            <a:ext cx="108294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Now  ✓ Acted</a:t>
            </a:r>
            <a:endParaRPr lang="en-US" sz="730" dirty="0"/>
          </a:p>
        </p:txBody>
      </p:sp>
      <p:sp>
        <p:nvSpPr>
          <p:cNvPr id="39" name="Text 33"/>
          <p:cNvSpPr/>
          <p:nvPr/>
        </p:nvSpPr>
        <p:spPr>
          <a:xfrm>
            <a:off x="257770" y="4106317"/>
            <a:ext cx="4045595" cy="300038"/>
          </a:xfrm>
          <a:prstGeom prst="roundRect">
            <a:avLst>
              <a:gd name="adj" fmla="val 16508"/>
            </a:avLst>
          </a:prstGeom>
          <a:solidFill>
            <a:srgbClr val="4ABA7A">
              <a:alpha val="7000"/>
            </a:srgbClr>
          </a:solidFill>
          <a:ln w="9525">
            <a:solidFill>
              <a:srgbClr val="4ABA7A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4174" y="4170992"/>
            <a:ext cx="132588" cy="132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4321" y="4186833"/>
            <a:ext cx="385997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trust model built human civilisation. It worked for thousands of years — until now.</a:t>
            </a:r>
            <a:endParaRPr lang="en-US" sz="730" dirty="0"/>
          </a:p>
        </p:txBody>
      </p:sp>
      <p:sp>
        <p:nvSpPr>
          <p:cNvPr id="42" name="Text 35"/>
          <p:cNvSpPr/>
          <p:nvPr/>
        </p:nvSpPr>
        <p:spPr>
          <a:xfrm>
            <a:off x="4561136" y="418654"/>
            <a:ext cx="21580" cy="465698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5000">
                <a:srgbClr val="E8A020"/>
              </a:gs>
              <a:gs pos="85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4582716" y="418654"/>
            <a:ext cx="4561284" cy="4656981"/>
          </a:xfrm>
          <a:prstGeom prst="rect">
            <a:avLst/>
          </a:prstGeom>
          <a:gradFill rotWithShape="1">
            <a:gsLst>
              <a:gs pos="0">
                <a:srgbClr val="1A1215"/>
              </a:gs>
              <a:gs pos="50000">
                <a:srgbClr val="1E1520"/>
              </a:gs>
              <a:gs pos="100000">
                <a:srgbClr val="0F1E2F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4840486" y="562124"/>
            <a:ext cx="1716732" cy="261119"/>
          </a:xfrm>
          <a:prstGeom prst="roundRect">
            <a:avLst>
              <a:gd name="adj" fmla="val 8268"/>
            </a:avLst>
          </a:prstGeom>
          <a:solidFill>
            <a:srgbClr val="E05252">
              <a:alpha val="18000"/>
            </a:srgbClr>
          </a:solidFill>
          <a:ln w="9525">
            <a:solidFill>
              <a:srgbClr val="E05252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E0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NEW WORLD — 2026</a:t>
            </a:r>
            <a:endParaRPr lang="en-US" sz="840" dirty="0"/>
          </a:p>
        </p:txBody>
      </p:sp>
      <p:sp>
        <p:nvSpPr>
          <p:cNvPr id="45" name="Text 38"/>
          <p:cNvSpPr/>
          <p:nvPr/>
        </p:nvSpPr>
        <p:spPr>
          <a:xfrm>
            <a:off x="4840486" y="885825"/>
            <a:ext cx="4045744" cy="1057870"/>
          </a:xfrm>
          <a:prstGeom prst="rect">
            <a:avLst/>
          </a:prstGeom>
          <a:gradFill rotWithShape="1">
            <a:gsLst>
              <a:gs pos="0">
                <a:srgbClr val="1A0D1A"/>
              </a:gs>
              <a:gs pos="100000">
                <a:srgbClr val="0F1A2A"/>
              </a:gs>
            </a:gsLst>
            <a:lin ang="2700000" scaled="1"/>
          </a:gradFill>
          <a:ln w="9525">
            <a:solidFill>
              <a:srgbClr val="E05252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850011" y="895350"/>
            <a:ext cx="4026694" cy="157460"/>
          </a:xfrm>
          <a:prstGeom prst="rect">
            <a:avLst/>
          </a:prstGeom>
          <a:solidFill>
            <a:srgbClr val="E05252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4921002" y="949375"/>
            <a:ext cx="49411" cy="49411"/>
          </a:xfrm>
          <a:prstGeom prst="ellipse">
            <a:avLst/>
          </a:prstGeom>
          <a:solidFill>
            <a:srgbClr val="E0525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1"/>
          <p:cNvSpPr/>
          <p:nvPr/>
        </p:nvSpPr>
        <p:spPr>
          <a:xfrm>
            <a:off x="5005834" y="949375"/>
            <a:ext cx="49411" cy="49411"/>
          </a:xfrm>
          <a:prstGeom prst="ellipse">
            <a:avLst/>
          </a:prstGeom>
          <a:solidFill>
            <a:srgbClr val="E05252">
              <a:alpha val="4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5090666" y="949375"/>
            <a:ext cx="49411" cy="49411"/>
          </a:xfrm>
          <a:prstGeom prst="ellipse">
            <a:avLst/>
          </a:prstGeom>
          <a:solidFill>
            <a:srgbClr val="E0525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3"/>
          <p:cNvSpPr/>
          <p:nvPr/>
        </p:nvSpPr>
        <p:spPr>
          <a:xfrm>
            <a:off x="5218658" y="925562"/>
            <a:ext cx="117691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CALL — CONNECTING...</a:t>
            </a:r>
            <a:endParaRPr lang="en-US" sz="510" dirty="0"/>
          </a:p>
        </p:txBody>
      </p:sp>
      <p:sp>
        <p:nvSpPr>
          <p:cNvPr id="51" name="Text 44"/>
          <p:cNvSpPr/>
          <p:nvPr/>
        </p:nvSpPr>
        <p:spPr>
          <a:xfrm>
            <a:off x="8320342" y="923627"/>
            <a:ext cx="490177" cy="100905"/>
          </a:xfrm>
          <a:prstGeom prst="roundRect">
            <a:avLst>
              <a:gd name="adj" fmla="val 13845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450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UNVERIFIED</a:t>
            </a:r>
            <a:endParaRPr lang="en-US" sz="450" dirty="0"/>
          </a:p>
        </p:txBody>
      </p:sp>
      <p:sp>
        <p:nvSpPr>
          <p:cNvPr id="52" name="Text 45"/>
          <p:cNvSpPr/>
          <p:nvPr/>
        </p:nvSpPr>
        <p:spPr>
          <a:xfrm>
            <a:off x="4850011" y="1052810"/>
            <a:ext cx="4026694" cy="709910"/>
          </a:xfrm>
          <a:prstGeom prst="rect">
            <a:avLst/>
          </a:prstGeom>
          <a:gradFill rotWithShape="1">
            <a:gsLst>
              <a:gs pos="0">
                <a:srgbClr val="E85252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6"/>
          <p:cNvSpPr/>
          <p:nvPr/>
        </p:nvSpPr>
        <p:spPr>
          <a:xfrm>
            <a:off x="4850011" y="1052810"/>
            <a:ext cx="4026694" cy="709910"/>
          </a:xfrm>
          <a:prstGeom prst="rect">
            <a:avLst/>
          </a:prstGeom>
          <a:gradFill rotWithShape="1">
            <a:gsLst>
              <a:gs pos="0">
                <a:srgbClr val="E85252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648748" y="1203871"/>
            <a:ext cx="429220" cy="429220"/>
          </a:xfrm>
          <a:prstGeom prst="ellipse">
            <a:avLst/>
          </a:prstGeom>
          <a:gradFill rotWithShape="1">
            <a:gsLst>
              <a:gs pos="0">
                <a:srgbClr val="6A2A4A"/>
              </a:gs>
              <a:gs pos="100000">
                <a:srgbClr val="2A1A3A"/>
              </a:gs>
            </a:gsLst>
            <a:lin ang="2700000" scaled="1"/>
          </a:gradFill>
          <a:ln w="9525">
            <a:solidFill>
              <a:srgbClr val="E05252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66694" y="1321817"/>
            <a:ext cx="193328" cy="193328"/>
          </a:xfrm>
          <a:prstGeom prst="rect">
            <a:avLst/>
          </a:prstGeom>
        </p:spPr>
      </p:pic>
      <p:sp>
        <p:nvSpPr>
          <p:cNvPr id="57" name="Text 49"/>
          <p:cNvSpPr/>
          <p:nvPr/>
        </p:nvSpPr>
        <p:spPr>
          <a:xfrm rot="480000">
            <a:off x="6963668" y="1491109"/>
            <a:ext cx="171450" cy="128141"/>
          </a:xfrm>
          <a:prstGeom prst="roundRect">
            <a:avLst>
              <a:gd name="adj" fmla="val 10902"/>
            </a:avLst>
          </a:prstGeom>
          <a:solidFill>
            <a:srgbClr val="E8A02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5277445" y="885825"/>
            <a:ext cx="35421" cy="6211"/>
          </a:xfrm>
          <a:prstGeom prst="roundRect">
            <a:avLst>
              <a:gd name="adj" fmla="val 122686"/>
            </a:avLst>
          </a:prstGeom>
          <a:solidFill>
            <a:srgbClr val="E05252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1"/>
          <p:cNvSpPr/>
          <p:nvPr/>
        </p:nvSpPr>
        <p:spPr>
          <a:xfrm>
            <a:off x="7070378" y="1347341"/>
            <a:ext cx="29170" cy="29170"/>
          </a:xfrm>
          <a:prstGeom prst="ellipse">
            <a:avLst/>
          </a:prstGeom>
          <a:solidFill>
            <a:srgbClr val="7850FF">
              <a:alpha val="8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77757" y="1146721"/>
            <a:ext cx="428625" cy="407640"/>
          </a:xfrm>
          <a:prstGeom prst="rect">
            <a:avLst/>
          </a:prstGeom>
        </p:spPr>
      </p:pic>
      <p:sp>
        <p:nvSpPr>
          <p:cNvPr id="61" name="Text 52"/>
          <p:cNvSpPr/>
          <p:nvPr/>
        </p:nvSpPr>
        <p:spPr>
          <a:xfrm>
            <a:off x="6488609" y="1676251"/>
            <a:ext cx="824448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28" dirty="0">
                <a:solidFill>
                  <a:srgbClr val="E05252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Identity</a:t>
            </a:r>
            <a:endParaRPr lang="en-US" sz="560" dirty="0"/>
          </a:p>
        </p:txBody>
      </p:sp>
      <p:sp>
        <p:nvSpPr>
          <p:cNvPr id="62" name="Text 53"/>
          <p:cNvSpPr/>
          <p:nvPr/>
        </p:nvSpPr>
        <p:spPr>
          <a:xfrm>
            <a:off x="4850011" y="1778794"/>
            <a:ext cx="4026694" cy="155377"/>
          </a:xfrm>
          <a:prstGeom prst="rect">
            <a:avLst/>
          </a:prstGeom>
          <a:solidFill>
            <a:srgbClr val="E0525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4"/>
          <p:cNvSpPr/>
          <p:nvPr/>
        </p:nvSpPr>
        <p:spPr>
          <a:xfrm>
            <a:off x="4921002" y="1834902"/>
            <a:ext cx="43160" cy="43160"/>
          </a:xfrm>
          <a:prstGeom prst="ellipse">
            <a:avLst/>
          </a:prstGeom>
          <a:solidFill>
            <a:srgbClr val="E0525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55"/>
          <p:cNvSpPr/>
          <p:nvPr/>
        </p:nvSpPr>
        <p:spPr>
          <a:xfrm>
            <a:off x="4999583" y="1807964"/>
            <a:ext cx="212431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"Sarah M." — CFO  ·  Identity unverifiable  ·  Source unknown</a:t>
            </a:r>
            <a:endParaRPr lang="en-US" sz="510" dirty="0"/>
          </a:p>
        </p:txBody>
      </p:sp>
      <p:sp>
        <p:nvSpPr>
          <p:cNvPr id="65" name="Text 56"/>
          <p:cNvSpPr/>
          <p:nvPr/>
        </p:nvSpPr>
        <p:spPr>
          <a:xfrm>
            <a:off x="4840486" y="2044005"/>
            <a:ext cx="4126659" cy="508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that assumption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Deepfakes are AI-generated video, audio, or images that look and sound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like a real person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are completely fabricated. The technology is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fast, and available to criminals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worldwide.</a:t>
            </a:r>
            <a:endParaRPr lang="en-US" sz="820" dirty="0"/>
          </a:p>
        </p:txBody>
      </p:sp>
      <p:sp>
        <p:nvSpPr>
          <p:cNvPr id="66" name="Text 57"/>
          <p:cNvSpPr/>
          <p:nvPr/>
        </p:nvSpPr>
        <p:spPr>
          <a:xfrm>
            <a:off x="4840486" y="2628751"/>
            <a:ext cx="4045744" cy="318492"/>
          </a:xfrm>
          <a:prstGeom prst="roundRect">
            <a:avLst>
              <a:gd name="adj" fmla="val 13558"/>
            </a:avLst>
          </a:prstGeom>
          <a:solidFill>
            <a:srgbClr val="E05252">
              <a:alpha val="9000"/>
            </a:srgbClr>
          </a:solidFill>
          <a:ln w="9525">
            <a:solidFill>
              <a:srgbClr val="E05252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8"/>
          <p:cNvSpPr/>
          <p:nvPr/>
        </p:nvSpPr>
        <p:spPr>
          <a:xfrm>
            <a:off x="4936331" y="2687687"/>
            <a:ext cx="200620" cy="200620"/>
          </a:xfrm>
          <a:prstGeom prst="ellipse">
            <a:avLst/>
          </a:prstGeom>
          <a:solidFill>
            <a:srgbClr val="E0525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70273" y="2721629"/>
            <a:ext cx="132588" cy="132588"/>
          </a:xfrm>
          <a:prstGeom prst="rect">
            <a:avLst/>
          </a:prstGeom>
        </p:spPr>
      </p:pic>
      <p:sp>
        <p:nvSpPr>
          <p:cNvPr id="69" name="Text 59"/>
          <p:cNvSpPr/>
          <p:nvPr/>
        </p:nvSpPr>
        <p:spPr>
          <a:xfrm>
            <a:off x="5207943" y="2715518"/>
            <a:ext cx="237986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</a:t>
            </a:r>
            <a:endParaRPr lang="en-US" sz="760" dirty="0"/>
          </a:p>
        </p:txBody>
      </p:sp>
      <p:sp>
        <p:nvSpPr>
          <p:cNvPr id="70" name="Text 60"/>
          <p:cNvSpPr/>
          <p:nvPr/>
        </p:nvSpPr>
        <p:spPr>
          <a:xfrm>
            <a:off x="7440275" y="2731889"/>
            <a:ext cx="221635" cy="112216"/>
          </a:xfrm>
          <a:prstGeom prst="roundRect">
            <a:avLst>
              <a:gd name="adj" fmla="val 19240"/>
            </a:avLst>
          </a:prstGeom>
          <a:solidFill>
            <a:srgbClr val="E0525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510" dirty="0"/>
          </a:p>
        </p:txBody>
      </p:sp>
      <p:sp>
        <p:nvSpPr>
          <p:cNvPr id="71" name="Text 61"/>
          <p:cNvSpPr/>
          <p:nvPr/>
        </p:nvSpPr>
        <p:spPr>
          <a:xfrm>
            <a:off x="7730728" y="2712690"/>
            <a:ext cx="1424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90" dirty="0"/>
          </a:p>
        </p:txBody>
      </p:sp>
      <p:sp>
        <p:nvSpPr>
          <p:cNvPr id="72" name="Text 62"/>
          <p:cNvSpPr/>
          <p:nvPr/>
        </p:nvSpPr>
        <p:spPr>
          <a:xfrm>
            <a:off x="7931200" y="2718495"/>
            <a:ext cx="94510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✗ Verify first</a:t>
            </a:r>
            <a:endParaRPr lang="en-US" sz="730" dirty="0"/>
          </a:p>
        </p:txBody>
      </p:sp>
      <p:sp>
        <p:nvSpPr>
          <p:cNvPr id="73" name="Text 63"/>
          <p:cNvSpPr/>
          <p:nvPr/>
        </p:nvSpPr>
        <p:spPr>
          <a:xfrm>
            <a:off x="4840486" y="2996654"/>
            <a:ext cx="4045744" cy="318492"/>
          </a:xfrm>
          <a:prstGeom prst="roundRect">
            <a:avLst>
              <a:gd name="adj" fmla="val 13558"/>
            </a:avLst>
          </a:prstGeom>
          <a:solidFill>
            <a:srgbClr val="E05252">
              <a:alpha val="9000"/>
            </a:srgbClr>
          </a:solidFill>
          <a:ln w="9525">
            <a:solidFill>
              <a:srgbClr val="E05252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4"/>
          <p:cNvSpPr/>
          <p:nvPr/>
        </p:nvSpPr>
        <p:spPr>
          <a:xfrm>
            <a:off x="4936331" y="3055590"/>
            <a:ext cx="200620" cy="200620"/>
          </a:xfrm>
          <a:prstGeom prst="ellipse">
            <a:avLst/>
          </a:prstGeom>
          <a:solidFill>
            <a:srgbClr val="E0525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70273" y="3089532"/>
            <a:ext cx="132588" cy="132588"/>
          </a:xfrm>
          <a:prstGeom prst="rect">
            <a:avLst/>
          </a:prstGeom>
        </p:spPr>
      </p:pic>
      <p:sp>
        <p:nvSpPr>
          <p:cNvPr id="76" name="Text 65"/>
          <p:cNvSpPr/>
          <p:nvPr/>
        </p:nvSpPr>
        <p:spPr>
          <a:xfrm>
            <a:off x="5207943" y="3083421"/>
            <a:ext cx="2379866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760" dirty="0"/>
          </a:p>
        </p:txBody>
      </p:sp>
      <p:sp>
        <p:nvSpPr>
          <p:cNvPr id="77" name="Text 66"/>
          <p:cNvSpPr/>
          <p:nvPr/>
        </p:nvSpPr>
        <p:spPr>
          <a:xfrm>
            <a:off x="7440275" y="3099792"/>
            <a:ext cx="221635" cy="112216"/>
          </a:xfrm>
          <a:prstGeom prst="roundRect">
            <a:avLst>
              <a:gd name="adj" fmla="val 19240"/>
            </a:avLst>
          </a:prstGeom>
          <a:solidFill>
            <a:srgbClr val="E0525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510" dirty="0"/>
          </a:p>
        </p:txBody>
      </p:sp>
      <p:sp>
        <p:nvSpPr>
          <p:cNvPr id="78" name="Text 67"/>
          <p:cNvSpPr/>
          <p:nvPr/>
        </p:nvSpPr>
        <p:spPr>
          <a:xfrm>
            <a:off x="7730728" y="3080593"/>
            <a:ext cx="1424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90" dirty="0"/>
          </a:p>
        </p:txBody>
      </p:sp>
      <p:sp>
        <p:nvSpPr>
          <p:cNvPr id="79" name="Text 68"/>
          <p:cNvSpPr/>
          <p:nvPr/>
        </p:nvSpPr>
        <p:spPr>
          <a:xfrm>
            <a:off x="7931200" y="3086398"/>
            <a:ext cx="94510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✗ Verify first</a:t>
            </a:r>
            <a:endParaRPr lang="en-US" sz="730" dirty="0"/>
          </a:p>
        </p:txBody>
      </p:sp>
      <p:sp>
        <p:nvSpPr>
          <p:cNvPr id="80" name="Text 69"/>
          <p:cNvSpPr/>
          <p:nvPr/>
        </p:nvSpPr>
        <p:spPr>
          <a:xfrm>
            <a:off x="4840486" y="3364557"/>
            <a:ext cx="4045744" cy="318492"/>
          </a:xfrm>
          <a:prstGeom prst="roundRect">
            <a:avLst>
              <a:gd name="adj" fmla="val 13558"/>
            </a:avLst>
          </a:prstGeom>
          <a:solidFill>
            <a:srgbClr val="E05252">
              <a:alpha val="9000"/>
            </a:srgbClr>
          </a:solidFill>
          <a:ln w="9525">
            <a:solidFill>
              <a:srgbClr val="E05252">
                <a:alpha val="2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0"/>
          <p:cNvSpPr/>
          <p:nvPr/>
        </p:nvSpPr>
        <p:spPr>
          <a:xfrm>
            <a:off x="4936331" y="3423493"/>
            <a:ext cx="200620" cy="200620"/>
          </a:xfrm>
          <a:prstGeom prst="ellipse">
            <a:avLst/>
          </a:prstGeom>
          <a:solidFill>
            <a:srgbClr val="E05252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70273" y="3457435"/>
            <a:ext cx="132588" cy="132588"/>
          </a:xfrm>
          <a:prstGeom prst="rect">
            <a:avLst/>
          </a:prstGeom>
        </p:spPr>
      </p:pic>
      <p:sp>
        <p:nvSpPr>
          <p:cNvPr id="83" name="Text 71"/>
          <p:cNvSpPr/>
          <p:nvPr/>
        </p:nvSpPr>
        <p:spPr>
          <a:xfrm>
            <a:off x="5207943" y="3451324"/>
            <a:ext cx="2199948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b="1" dirty="0">
                <a:solidFill>
                  <a:srgbClr val="F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760" dirty="0"/>
          </a:p>
        </p:txBody>
      </p:sp>
      <p:sp>
        <p:nvSpPr>
          <p:cNvPr id="84" name="Text 72"/>
          <p:cNvSpPr/>
          <p:nvPr/>
        </p:nvSpPr>
        <p:spPr>
          <a:xfrm>
            <a:off x="7278886" y="3448496"/>
            <a:ext cx="142429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790" dirty="0"/>
          </a:p>
        </p:txBody>
      </p:sp>
      <p:sp>
        <p:nvSpPr>
          <p:cNvPr id="85" name="Text 73"/>
          <p:cNvSpPr/>
          <p:nvPr/>
        </p:nvSpPr>
        <p:spPr>
          <a:xfrm>
            <a:off x="7479357" y="3454301"/>
            <a:ext cx="14421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tactic  ⚠ Red flag</a:t>
            </a:r>
            <a:endParaRPr lang="en-US" sz="730" dirty="0"/>
          </a:p>
        </p:txBody>
      </p:sp>
      <p:sp>
        <p:nvSpPr>
          <p:cNvPr id="86" name="Text 74"/>
          <p:cNvSpPr/>
          <p:nvPr/>
        </p:nvSpPr>
        <p:spPr>
          <a:xfrm>
            <a:off x="4840486" y="3783360"/>
            <a:ext cx="4045744" cy="458093"/>
          </a:xfrm>
          <a:prstGeom prst="roundRect">
            <a:avLst>
              <a:gd name="adj" fmla="val 10812"/>
            </a:avLst>
          </a:prstGeom>
          <a:gradFill rotWithShape="1">
            <a:gsLst>
              <a:gs pos="0">
                <a:srgbClr val="E8A020">
                  <a:alpha val="14000"/>
                </a:srgbClr>
              </a:gs>
              <a:gs pos="100000">
                <a:srgbClr val="E8A020">
                  <a:alpha val="8000"/>
                </a:srgbClr>
              </a:gs>
            </a:gsLst>
            <a:lin ang="2700000" scaled="1"/>
          </a:gradFill>
          <a:ln w="9525">
            <a:solidFill>
              <a:srgbClr val="E8A02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7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32099" y="3853244"/>
            <a:ext cx="132588" cy="132588"/>
          </a:xfrm>
          <a:prstGeom prst="rect">
            <a:avLst/>
          </a:prstGeom>
        </p:spPr>
      </p:pic>
      <p:sp>
        <p:nvSpPr>
          <p:cNvPr id="88" name="Text 75"/>
          <p:cNvSpPr/>
          <p:nvPr/>
        </p:nvSpPr>
        <p:spPr>
          <a:xfrm>
            <a:off x="5117455" y="3863876"/>
            <a:ext cx="3732118" cy="311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deepfake is not science fiction.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is a fraud tool available on the dark web for as little as </a:t>
            </a:r>
            <a:r>
              <a:rPr lang="en-US" sz="7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 per target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right now, today, used against institutions like yours.</a:t>
            </a:r>
            <a:endParaRPr lang="en-US" sz="730" dirty="0"/>
          </a:p>
        </p:txBody>
      </p:sp>
      <p:sp>
        <p:nvSpPr>
          <p:cNvPr id="89" name="Text 76"/>
          <p:cNvSpPr/>
          <p:nvPr/>
        </p:nvSpPr>
        <p:spPr>
          <a:xfrm>
            <a:off x="0" y="0"/>
            <a:ext cx="35421" cy="409128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77"/>
          <p:cNvSpPr/>
          <p:nvPr/>
        </p:nvSpPr>
        <p:spPr>
          <a:xfrm>
            <a:off x="4468341" y="2652637"/>
            <a:ext cx="207020" cy="188863"/>
          </a:xfrm>
          <a:prstGeom prst="roundRect">
            <a:avLst>
              <a:gd name="adj" fmla="val 11432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1" name="Text 78"/>
          <p:cNvSpPr/>
          <p:nvPr/>
        </p:nvSpPr>
        <p:spPr>
          <a:xfrm>
            <a:off x="4850011" y="1407765"/>
            <a:ext cx="4026694" cy="13841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E05252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63178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42233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53653"/>
            <a:ext cx="9144000" cy="9525"/>
          </a:xfrm>
          <a:prstGeom prst="rect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04075" y="128141"/>
            <a:ext cx="1191211" cy="195411"/>
          </a:xfrm>
          <a:prstGeom prst="roundRect">
            <a:avLst>
              <a:gd name="adj" fmla="val 14948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62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AWARENESS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372070" y="128141"/>
            <a:ext cx="8987850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spcAft>
                <a:spcPts val="230"/>
              </a:spcAft>
              <a:buNone/>
            </a:pPr>
            <a:r>
              <a:rPr lang="en-US" sz="169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AI Threats Every Employee Faces in 2026</a:t>
            </a:r>
            <a:endParaRPr lang="en-US" sz="1690" dirty="0"/>
          </a:p>
        </p:txBody>
      </p:sp>
      <p:sp>
        <p:nvSpPr>
          <p:cNvPr id="6" name="Text 4"/>
          <p:cNvSpPr/>
          <p:nvPr/>
        </p:nvSpPr>
        <p:spPr>
          <a:xfrm>
            <a:off x="372070" y="393353"/>
            <a:ext cx="923984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1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be a technology expert — you need to recognise these three patterns</a:t>
            </a:r>
            <a:endParaRPr lang="en-US" sz="840" dirty="0"/>
          </a:p>
        </p:txBody>
      </p:sp>
      <p:sp>
        <p:nvSpPr>
          <p:cNvPr id="7" name="Text 5"/>
          <p:cNvSpPr/>
          <p:nvPr/>
        </p:nvSpPr>
        <p:spPr>
          <a:xfrm>
            <a:off x="372070" y="820638"/>
            <a:ext cx="2704207" cy="3807470"/>
          </a:xfrm>
          <a:prstGeom prst="roundRect">
            <a:avLst>
              <a:gd name="adj" fmla="val 2630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666256" y="901154"/>
            <a:ext cx="3005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dirty="0">
                <a:solidFill>
                  <a:srgbClr val="E8A020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4050" dirty="0"/>
          </a:p>
        </p:txBody>
      </p:sp>
      <p:sp>
        <p:nvSpPr>
          <p:cNvPr id="9" name="Text 7"/>
          <p:cNvSpPr/>
          <p:nvPr/>
        </p:nvSpPr>
        <p:spPr>
          <a:xfrm>
            <a:off x="381595" y="830163"/>
            <a:ext cx="2685157" cy="739973"/>
          </a:xfrm>
          <a:prstGeom prst="rect">
            <a:avLst/>
          </a:prstGeom>
          <a:gradFill rotWithShape="1">
            <a:gsLst>
              <a:gs pos="0">
                <a:srgbClr val="E8A020">
                  <a:alpha val="10000"/>
                </a:srgbClr>
              </a:gs>
              <a:gs pos="70000">
                <a:srgbClr val="1A2E42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595" y="1560612"/>
            <a:ext cx="2685157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2216" y="1002357"/>
            <a:ext cx="429220" cy="429220"/>
          </a:xfrm>
          <a:prstGeom prst="ellipse">
            <a:avLst/>
          </a:prstGeom>
          <a:solidFill>
            <a:srgbClr val="E8A020">
              <a:alpha val="14000"/>
            </a:srgbClr>
          </a:solidFill>
          <a:ln w="9525">
            <a:solidFill>
              <a:srgbClr val="E8A020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310" y="1136452"/>
            <a:ext cx="160883" cy="160883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25736" y="987623"/>
            <a:ext cx="1089654" cy="48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4"/>
              </a:lnSpc>
              <a:buNone/>
            </a:pPr>
            <a:r>
              <a:rPr lang="en-US" sz="730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01</a:t>
            </a:r>
            <a:r>
              <a:rPr lang="en-US" sz="107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 Voice Cloning</a:t>
            </a:r>
            <a:br/>
            <a:r>
              <a:rPr lang="en-US" sz="107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Vishing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582216" y="1684437"/>
            <a:ext cx="2329595" cy="1186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spcAft>
                <a:spcPts val="790"/>
              </a:spcAft>
              <a:buNone/>
            </a:pP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attacker records just a few seconds of your executive's voice from a public source — a conference video or LinkedIn post. AI clones it perfectly: same accent, same tone, same speech patterns. They then call you impersonating that executive with an urgent request. The voice is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indistinguishable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real person.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582216" y="2915096"/>
            <a:ext cx="251230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ACHIEVE</a:t>
            </a:r>
            <a:endParaRPr lang="en-US" sz="620" dirty="0"/>
          </a:p>
        </p:txBody>
      </p:sp>
      <p:sp>
        <p:nvSpPr>
          <p:cNvPr id="16" name="Text 13"/>
          <p:cNvSpPr/>
          <p:nvPr/>
        </p:nvSpPr>
        <p:spPr>
          <a:xfrm>
            <a:off x="682526" y="3099792"/>
            <a:ext cx="16156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 fraudulent wire transfers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582216" y="3125688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2526" y="3278088"/>
            <a:ext cx="203443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account passwords and bypass MFA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582216" y="3303984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82526" y="3456384"/>
            <a:ext cx="1804422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standard security procedures</a:t>
            </a:r>
            <a:endParaRPr lang="en-US" sz="760" dirty="0"/>
          </a:p>
        </p:txBody>
      </p:sp>
      <p:sp>
        <p:nvSpPr>
          <p:cNvPr id="21" name="Text 18"/>
          <p:cNvSpPr/>
          <p:nvPr/>
        </p:nvSpPr>
        <p:spPr>
          <a:xfrm>
            <a:off x="582216" y="3482280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82216" y="4113461"/>
            <a:ext cx="2283916" cy="390823"/>
          </a:xfrm>
          <a:prstGeom prst="roundRect">
            <a:avLst>
              <a:gd name="adj" fmla="val 11048"/>
            </a:avLst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132" y="4210620"/>
            <a:ext cx="132588" cy="196355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99951" y="4180136"/>
            <a:ext cx="1995473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little as 3 seconds of audio is enough to clone any voice convincingly</a:t>
            </a:r>
            <a:endParaRPr lang="en-US" sz="700" dirty="0"/>
          </a:p>
        </p:txBody>
      </p:sp>
      <p:sp>
        <p:nvSpPr>
          <p:cNvPr id="25" name="Text 21"/>
          <p:cNvSpPr/>
          <p:nvPr/>
        </p:nvSpPr>
        <p:spPr>
          <a:xfrm>
            <a:off x="3219748" y="820638"/>
            <a:ext cx="2704356" cy="3807470"/>
          </a:xfrm>
          <a:prstGeom prst="roundRect">
            <a:avLst>
              <a:gd name="adj" fmla="val 2630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5514082" y="901154"/>
            <a:ext cx="3005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dirty="0">
                <a:solidFill>
                  <a:srgbClr val="E8A020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4050" dirty="0"/>
          </a:p>
        </p:txBody>
      </p:sp>
      <p:sp>
        <p:nvSpPr>
          <p:cNvPr id="27" name="Text 23"/>
          <p:cNvSpPr/>
          <p:nvPr/>
        </p:nvSpPr>
        <p:spPr>
          <a:xfrm>
            <a:off x="3229273" y="830163"/>
            <a:ext cx="2685306" cy="739973"/>
          </a:xfrm>
          <a:prstGeom prst="rect">
            <a:avLst/>
          </a:prstGeom>
          <a:gradFill rotWithShape="1">
            <a:gsLst>
              <a:gs pos="0">
                <a:srgbClr val="E8A020">
                  <a:alpha val="10000"/>
                </a:srgbClr>
              </a:gs>
              <a:gs pos="70000">
                <a:srgbClr val="1A2E42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229273" y="1560612"/>
            <a:ext cx="268530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3429893" y="1002357"/>
            <a:ext cx="429220" cy="429220"/>
          </a:xfrm>
          <a:prstGeom prst="ellipse">
            <a:avLst/>
          </a:prstGeom>
          <a:solidFill>
            <a:srgbClr val="E8A020">
              <a:alpha val="14000"/>
            </a:srgbClr>
          </a:solidFill>
          <a:ln w="9525">
            <a:solidFill>
              <a:srgbClr val="E8A020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63987" y="1136452"/>
            <a:ext cx="160883" cy="160883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973413" y="987623"/>
            <a:ext cx="743843" cy="48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4"/>
              </a:lnSpc>
              <a:buNone/>
            </a:pPr>
            <a:r>
              <a:rPr lang="en-US" sz="730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02</a:t>
            </a:r>
            <a:r>
              <a:rPr lang="en-US" sz="107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Deepfake</a:t>
            </a:r>
            <a:br/>
            <a:r>
              <a:rPr lang="en-US" sz="107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Video Calls</a:t>
            </a:r>
            <a:endParaRPr lang="en-US" sz="1070" dirty="0"/>
          </a:p>
        </p:txBody>
      </p:sp>
      <p:sp>
        <p:nvSpPr>
          <p:cNvPr id="32" name="Text 27"/>
          <p:cNvSpPr/>
          <p:nvPr/>
        </p:nvSpPr>
        <p:spPr>
          <a:xfrm>
            <a:off x="3429893" y="1684437"/>
            <a:ext cx="2329747" cy="101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spcAft>
                <a:spcPts val="790"/>
              </a:spcAft>
              <a:buNone/>
            </a:pP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generates a live video of an executive's face during a Teams or Zoom call. The face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moves, speaks, and reacts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It looks completely real. Every person on the call may be fabricated — including the CFO, board members, and colleagues you trust.</a:t>
            </a:r>
            <a:endParaRPr lang="en-US" sz="820" dirty="0"/>
          </a:p>
        </p:txBody>
      </p:sp>
      <p:sp>
        <p:nvSpPr>
          <p:cNvPr id="33" name="Text 28"/>
          <p:cNvSpPr/>
          <p:nvPr/>
        </p:nvSpPr>
        <p:spPr>
          <a:xfrm>
            <a:off x="3429893" y="2753618"/>
            <a:ext cx="251247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ACHIEVE</a:t>
            </a:r>
            <a:endParaRPr lang="en-US" sz="620" dirty="0"/>
          </a:p>
        </p:txBody>
      </p:sp>
      <p:sp>
        <p:nvSpPr>
          <p:cNvPr id="34" name="Text 29"/>
          <p:cNvSpPr/>
          <p:nvPr/>
        </p:nvSpPr>
        <p:spPr>
          <a:xfrm>
            <a:off x="3530203" y="2938314"/>
            <a:ext cx="224676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multi-person board meetings and briefings</a:t>
            </a:r>
            <a:endParaRPr lang="en-US" sz="760" dirty="0"/>
          </a:p>
        </p:txBody>
      </p:sp>
      <p:sp>
        <p:nvSpPr>
          <p:cNvPr id="35" name="Text 30"/>
          <p:cNvSpPr/>
          <p:nvPr/>
        </p:nvSpPr>
        <p:spPr>
          <a:xfrm>
            <a:off x="3429893" y="2964210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3530203" y="3116610"/>
            <a:ext cx="1851571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acquisition or transfer approvals</a:t>
            </a:r>
            <a:endParaRPr lang="en-US" sz="760" dirty="0"/>
          </a:p>
        </p:txBody>
      </p:sp>
      <p:sp>
        <p:nvSpPr>
          <p:cNvPr id="37" name="Text 32"/>
          <p:cNvSpPr/>
          <p:nvPr/>
        </p:nvSpPr>
        <p:spPr>
          <a:xfrm>
            <a:off x="3429893" y="3142506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3"/>
          <p:cNvSpPr/>
          <p:nvPr/>
        </p:nvSpPr>
        <p:spPr>
          <a:xfrm>
            <a:off x="3530203" y="3294906"/>
            <a:ext cx="1851734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takeover authorisation at scale</a:t>
            </a:r>
            <a:endParaRPr lang="en-US" sz="760" dirty="0"/>
          </a:p>
        </p:txBody>
      </p:sp>
      <p:sp>
        <p:nvSpPr>
          <p:cNvPr id="39" name="Text 34"/>
          <p:cNvSpPr/>
          <p:nvPr/>
        </p:nvSpPr>
        <p:spPr>
          <a:xfrm>
            <a:off x="3429893" y="3320802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3429893" y="4113461"/>
            <a:ext cx="2284065" cy="390823"/>
          </a:xfrm>
          <a:prstGeom prst="roundRect">
            <a:avLst>
              <a:gd name="adj" fmla="val 11048"/>
            </a:avLst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96205" y="4199391"/>
            <a:ext cx="132588" cy="218814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3642420" y="4180136"/>
            <a:ext cx="2000938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$25.6M lost in a single deepfake Zoom call — Arup Engineering, Hong Kong 2024</a:t>
            </a:r>
            <a:endParaRPr lang="en-US" sz="700" dirty="0"/>
          </a:p>
        </p:txBody>
      </p:sp>
      <p:sp>
        <p:nvSpPr>
          <p:cNvPr id="43" name="Text 37"/>
          <p:cNvSpPr/>
          <p:nvPr/>
        </p:nvSpPr>
        <p:spPr>
          <a:xfrm>
            <a:off x="6067574" y="820638"/>
            <a:ext cx="2704356" cy="3807470"/>
          </a:xfrm>
          <a:prstGeom prst="roundRect">
            <a:avLst>
              <a:gd name="adj" fmla="val 2630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8"/>
          <p:cNvSpPr/>
          <p:nvPr/>
        </p:nvSpPr>
        <p:spPr>
          <a:xfrm>
            <a:off x="8361908" y="901154"/>
            <a:ext cx="3005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dirty="0">
                <a:solidFill>
                  <a:srgbClr val="E8A020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4050" dirty="0"/>
          </a:p>
        </p:txBody>
      </p:sp>
      <p:sp>
        <p:nvSpPr>
          <p:cNvPr id="45" name="Text 39"/>
          <p:cNvSpPr/>
          <p:nvPr/>
        </p:nvSpPr>
        <p:spPr>
          <a:xfrm>
            <a:off x="6077099" y="830163"/>
            <a:ext cx="2685306" cy="739973"/>
          </a:xfrm>
          <a:prstGeom prst="rect">
            <a:avLst/>
          </a:prstGeom>
          <a:gradFill rotWithShape="1">
            <a:gsLst>
              <a:gs pos="0">
                <a:srgbClr val="E8A020">
                  <a:alpha val="10000"/>
                </a:srgbClr>
              </a:gs>
              <a:gs pos="70000">
                <a:srgbClr val="1A2E42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6077099" y="1560612"/>
            <a:ext cx="2685306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1"/>
          <p:cNvSpPr/>
          <p:nvPr/>
        </p:nvSpPr>
        <p:spPr>
          <a:xfrm>
            <a:off x="6277719" y="1002357"/>
            <a:ext cx="429220" cy="429220"/>
          </a:xfrm>
          <a:prstGeom prst="ellipse">
            <a:avLst/>
          </a:prstGeom>
          <a:solidFill>
            <a:srgbClr val="E8A020">
              <a:alpha val="14000"/>
            </a:srgbClr>
          </a:solidFill>
          <a:ln w="9525">
            <a:solidFill>
              <a:srgbClr val="E8A020">
                <a:alpha val="4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1813" y="1136452"/>
            <a:ext cx="160883" cy="160883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6821239" y="987623"/>
            <a:ext cx="869385" cy="481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84"/>
              </a:lnSpc>
              <a:buNone/>
            </a:pPr>
            <a:r>
              <a:rPr lang="en-US" sz="730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03</a:t>
            </a:r>
            <a:r>
              <a:rPr lang="en-US" sz="107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AI-Generated</a:t>
            </a:r>
            <a:br/>
            <a:r>
              <a:rPr lang="en-US" sz="107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Phishing</a:t>
            </a:r>
            <a:endParaRPr lang="en-US" sz="1070" dirty="0"/>
          </a:p>
        </p:txBody>
      </p:sp>
      <p:sp>
        <p:nvSpPr>
          <p:cNvPr id="50" name="Text 43"/>
          <p:cNvSpPr/>
          <p:nvPr/>
        </p:nvSpPr>
        <p:spPr>
          <a:xfrm>
            <a:off x="6277719" y="1684437"/>
            <a:ext cx="2329747" cy="1017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71"/>
              </a:lnSpc>
              <a:spcAft>
                <a:spcPts val="790"/>
              </a:spcAft>
              <a:buNone/>
            </a:pP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write hyper-personalised emails referencing your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colleagues, current projects, and recent company news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scraped from public sources. No grammar errors. No suspicious formatting. Near-impossible to detect by reading alone.</a:t>
            </a:r>
            <a:endParaRPr lang="en-US" sz="820" dirty="0"/>
          </a:p>
        </p:txBody>
      </p:sp>
      <p:sp>
        <p:nvSpPr>
          <p:cNvPr id="51" name="Text 44"/>
          <p:cNvSpPr/>
          <p:nvPr/>
        </p:nvSpPr>
        <p:spPr>
          <a:xfrm>
            <a:off x="6277719" y="2753618"/>
            <a:ext cx="251247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ACHIEVE</a:t>
            </a:r>
            <a:endParaRPr lang="en-US" sz="620" dirty="0"/>
          </a:p>
        </p:txBody>
      </p:sp>
      <p:sp>
        <p:nvSpPr>
          <p:cNvPr id="52" name="Text 45"/>
          <p:cNvSpPr/>
          <p:nvPr/>
        </p:nvSpPr>
        <p:spPr>
          <a:xfrm>
            <a:off x="6378029" y="2938314"/>
            <a:ext cx="1804586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and password theft at scale</a:t>
            </a:r>
            <a:endParaRPr lang="en-US" sz="760" dirty="0"/>
          </a:p>
        </p:txBody>
      </p:sp>
      <p:sp>
        <p:nvSpPr>
          <p:cNvPr id="53" name="Text 46"/>
          <p:cNvSpPr/>
          <p:nvPr/>
        </p:nvSpPr>
        <p:spPr>
          <a:xfrm>
            <a:off x="6277719" y="2964210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6378029" y="3116610"/>
            <a:ext cx="161566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 and ransomware delivery</a:t>
            </a:r>
            <a:endParaRPr lang="en-US" sz="760" dirty="0"/>
          </a:p>
        </p:txBody>
      </p:sp>
      <p:sp>
        <p:nvSpPr>
          <p:cNvPr id="55" name="Text 48"/>
          <p:cNvSpPr/>
          <p:nvPr/>
        </p:nvSpPr>
        <p:spPr>
          <a:xfrm>
            <a:off x="6277719" y="3142506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9"/>
          <p:cNvSpPr/>
          <p:nvPr/>
        </p:nvSpPr>
        <p:spPr>
          <a:xfrm>
            <a:off x="6378029" y="3294906"/>
            <a:ext cx="1786905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diversion and payment fraud</a:t>
            </a:r>
            <a:endParaRPr lang="en-US" sz="760" dirty="0"/>
          </a:p>
        </p:txBody>
      </p:sp>
      <p:sp>
        <p:nvSpPr>
          <p:cNvPr id="57" name="Text 50"/>
          <p:cNvSpPr/>
          <p:nvPr/>
        </p:nvSpPr>
        <p:spPr>
          <a:xfrm>
            <a:off x="6277719" y="3320802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6277719" y="4113461"/>
            <a:ext cx="2284065" cy="390823"/>
          </a:xfrm>
          <a:prstGeom prst="roundRect">
            <a:avLst>
              <a:gd name="adj" fmla="val 11048"/>
            </a:avLst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47380" y="4213417"/>
            <a:ext cx="132588" cy="190761"/>
          </a:xfrm>
          <a:prstGeom prst="rect">
            <a:avLst/>
          </a:prstGeom>
        </p:spPr>
      </p:pic>
      <p:sp>
        <p:nvSpPr>
          <p:cNvPr id="60" name="Text 52"/>
          <p:cNvSpPr/>
          <p:nvPr/>
        </p:nvSpPr>
        <p:spPr>
          <a:xfrm>
            <a:off x="6496943" y="4180136"/>
            <a:ext cx="1994106" cy="2703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click-through rate — nearly triple traditional phishing (HBR 2024)</a:t>
            </a:r>
            <a:endParaRPr lang="en-US" sz="700" dirty="0"/>
          </a:p>
        </p:txBody>
      </p:sp>
      <p:sp>
        <p:nvSpPr>
          <p:cNvPr id="61" name="Text 53"/>
          <p:cNvSpPr/>
          <p:nvPr/>
        </p:nvSpPr>
        <p:spPr>
          <a:xfrm>
            <a:off x="0" y="4628108"/>
            <a:ext cx="9144000" cy="328910"/>
          </a:xfrm>
          <a:prstGeom prst="rect">
            <a:avLst/>
          </a:prstGeom>
          <a:solidFill>
            <a:srgbClr val="E8A02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4"/>
          <p:cNvSpPr/>
          <p:nvPr/>
        </p:nvSpPr>
        <p:spPr>
          <a:xfrm>
            <a:off x="0" y="4628108"/>
            <a:ext cx="9144000" cy="9525"/>
          </a:xfrm>
          <a:prstGeom prst="rect">
            <a:avLst/>
          </a:prstGeom>
          <a:solidFill>
            <a:srgbClr val="E8A020">
              <a:alpha val="3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03545" y="4731032"/>
            <a:ext cx="132588" cy="132588"/>
          </a:xfrm>
          <a:prstGeom prst="rect">
            <a:avLst/>
          </a:prstGeom>
        </p:spPr>
      </p:pic>
      <p:sp>
        <p:nvSpPr>
          <p:cNvPr id="64" name="Text 55"/>
          <p:cNvSpPr/>
          <p:nvPr/>
        </p:nvSpPr>
        <p:spPr>
          <a:xfrm>
            <a:off x="1699022" y="4722019"/>
            <a:ext cx="650963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are already being used against financial institutions right now — recognise the pattern before the call arrives</a:t>
            </a:r>
            <a:endParaRPr lang="en-US" sz="790" dirty="0"/>
          </a:p>
        </p:txBody>
      </p:sp>
      <p:sp>
        <p:nvSpPr>
          <p:cNvPr id="65" name="Text 56"/>
          <p:cNvSpPr/>
          <p:nvPr/>
        </p:nvSpPr>
        <p:spPr>
          <a:xfrm>
            <a:off x="372110" y="653653"/>
            <a:ext cx="457200" cy="13841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7"/>
          <p:cNvSpPr/>
          <p:nvPr/>
        </p:nvSpPr>
        <p:spPr>
          <a:xfrm>
            <a:off x="381595" y="830163"/>
            <a:ext cx="2685155" cy="21580"/>
          </a:xfrm>
          <a:custGeom>
            <a:avLst/>
            <a:gdLst/>
            <a:ahLst/>
            <a:cxnLst/>
            <a:rect l="l" t="t" r="r" b="b"/>
            <a:pathLst>
              <a:path w="2685155" h="21580">
                <a:moveTo>
                  <a:pt x="71120" y="0"/>
                </a:moveTo>
                <a:lnTo>
                  <a:pt x="2614035" y="0"/>
                </a:lnTo>
                <a:lnTo>
                  <a:pt x="2633436" y="2698"/>
                </a:lnTo>
                <a:lnTo>
                  <a:pt x="2641206" y="5395"/>
                </a:lnTo>
                <a:lnTo>
                  <a:pt x="2646983" y="8093"/>
                </a:lnTo>
                <a:lnTo>
                  <a:pt x="2651696" y="10790"/>
                </a:lnTo>
                <a:lnTo>
                  <a:pt x="2655707" y="13488"/>
                </a:lnTo>
                <a:lnTo>
                  <a:pt x="2659203" y="16185"/>
                </a:lnTo>
                <a:lnTo>
                  <a:pt x="2662297" y="18883"/>
                </a:lnTo>
                <a:lnTo>
                  <a:pt x="2665063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8"/>
          <p:cNvSpPr/>
          <p:nvPr/>
        </p:nvSpPr>
        <p:spPr>
          <a:xfrm>
            <a:off x="3229273" y="830163"/>
            <a:ext cx="2685307" cy="21580"/>
          </a:xfrm>
          <a:custGeom>
            <a:avLst/>
            <a:gdLst/>
            <a:ahLst/>
            <a:cxnLst/>
            <a:rect l="l" t="t" r="r" b="b"/>
            <a:pathLst>
              <a:path w="2685307" h="21580">
                <a:moveTo>
                  <a:pt x="71120" y="0"/>
                </a:moveTo>
                <a:lnTo>
                  <a:pt x="2614187" y="0"/>
                </a:lnTo>
                <a:lnTo>
                  <a:pt x="2633588" y="2698"/>
                </a:lnTo>
                <a:lnTo>
                  <a:pt x="2641358" y="5395"/>
                </a:lnTo>
                <a:lnTo>
                  <a:pt x="2647135" y="8093"/>
                </a:lnTo>
                <a:lnTo>
                  <a:pt x="2651848" y="10790"/>
                </a:lnTo>
                <a:lnTo>
                  <a:pt x="2655859" y="13488"/>
                </a:lnTo>
                <a:lnTo>
                  <a:pt x="2659356" y="16185"/>
                </a:lnTo>
                <a:lnTo>
                  <a:pt x="2662450" y="18883"/>
                </a:lnTo>
                <a:lnTo>
                  <a:pt x="2665215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9"/>
          <p:cNvSpPr/>
          <p:nvPr/>
        </p:nvSpPr>
        <p:spPr>
          <a:xfrm>
            <a:off x="6077099" y="830163"/>
            <a:ext cx="2685307" cy="21580"/>
          </a:xfrm>
          <a:custGeom>
            <a:avLst/>
            <a:gdLst/>
            <a:ahLst/>
            <a:cxnLst/>
            <a:rect l="l" t="t" r="r" b="b"/>
            <a:pathLst>
              <a:path w="2685307" h="21580">
                <a:moveTo>
                  <a:pt x="71120" y="0"/>
                </a:moveTo>
                <a:lnTo>
                  <a:pt x="2614187" y="0"/>
                </a:lnTo>
                <a:lnTo>
                  <a:pt x="2633588" y="2698"/>
                </a:lnTo>
                <a:lnTo>
                  <a:pt x="2641358" y="5395"/>
                </a:lnTo>
                <a:lnTo>
                  <a:pt x="2647135" y="8093"/>
                </a:lnTo>
                <a:lnTo>
                  <a:pt x="2651848" y="10790"/>
                </a:lnTo>
                <a:lnTo>
                  <a:pt x="2655859" y="13488"/>
                </a:lnTo>
                <a:lnTo>
                  <a:pt x="2659356" y="16185"/>
                </a:lnTo>
                <a:lnTo>
                  <a:pt x="2662450" y="18883"/>
                </a:lnTo>
                <a:lnTo>
                  <a:pt x="2665215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52896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1A2E42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43371"/>
            <a:ext cx="9144000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100310"/>
            <a:ext cx="5373122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Phishing in 2026 — Why the Old Rules No Longer Apply</a:t>
            </a:r>
            <a:endParaRPr lang="en-US" sz="1460" dirty="0"/>
          </a:p>
        </p:txBody>
      </p:sp>
      <p:sp>
        <p:nvSpPr>
          <p:cNvPr id="5" name="Text 3"/>
          <p:cNvSpPr/>
          <p:nvPr/>
        </p:nvSpPr>
        <p:spPr>
          <a:xfrm>
            <a:off x="342900" y="318046"/>
            <a:ext cx="552377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advice we have given for 20 years is now obsolete. Here is what has changed.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7639794" y="180975"/>
            <a:ext cx="1184532" cy="195411"/>
          </a:xfrm>
          <a:prstGeom prst="roundRect">
            <a:avLst>
              <a:gd name="adj" fmla="val 7344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620" b="1" kern="0" spc="3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AWARENESS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0" y="4899720"/>
            <a:ext cx="9144000" cy="243780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4185" y="4955241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9049" y="4956870"/>
            <a:ext cx="713435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email carefully is no longer enough — AI removes every signal we were taught to look for. Verification is the only defence that still works.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4565079" y="623888"/>
            <a:ext cx="13841" cy="3928170"/>
          </a:xfrm>
          <a:prstGeom prst="rect">
            <a:avLst/>
          </a:prstGeom>
          <a:gradFill rotWithShape="1">
            <a:gsLst>
              <a:gs pos="0">
                <a:srgbClr val="E8A020">
                  <a:alpha val="90000"/>
                </a:srgbClr>
              </a:gs>
              <a:gs pos="100000">
                <a:srgbClr val="E8A020">
                  <a:alpha val="1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43508" y="737741"/>
            <a:ext cx="3785741" cy="372963"/>
          </a:xfrm>
          <a:prstGeom prst="roundRect">
            <a:avLst>
              <a:gd name="adj" fmla="val 13280"/>
            </a:avLst>
          </a:prstGeom>
          <a:solidFill>
            <a:srgbClr val="DC3232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210199" y="737741"/>
            <a:ext cx="19050" cy="372963"/>
          </a:xfrm>
          <a:custGeom>
            <a:avLst/>
            <a:gdLst/>
            <a:ahLst/>
            <a:cxnLst/>
            <a:rect l="l" t="t" r="r" b="b"/>
            <a:pathLst>
              <a:path w="19050" h="372963">
                <a:moveTo>
                  <a:pt x="0" y="10489"/>
                </a:moveTo>
                <a:lnTo>
                  <a:pt x="2381" y="12471"/>
                </a:lnTo>
                <a:lnTo>
                  <a:pt x="4763" y="14728"/>
                </a:lnTo>
                <a:lnTo>
                  <a:pt x="7144" y="17317"/>
                </a:lnTo>
                <a:lnTo>
                  <a:pt x="9525" y="20327"/>
                </a:lnTo>
                <a:lnTo>
                  <a:pt x="11906" y="23905"/>
                </a:lnTo>
                <a:lnTo>
                  <a:pt x="14288" y="28338"/>
                </a:lnTo>
                <a:lnTo>
                  <a:pt x="16669" y="34357"/>
                </a:lnTo>
                <a:lnTo>
                  <a:pt x="19050" y="49530"/>
                </a:lnTo>
                <a:lnTo>
                  <a:pt x="19050" y="323433"/>
                </a:lnTo>
                <a:lnTo>
                  <a:pt x="16669" y="338606"/>
                </a:lnTo>
                <a:lnTo>
                  <a:pt x="14288" y="344625"/>
                </a:lnTo>
                <a:lnTo>
                  <a:pt x="11906" y="349058"/>
                </a:lnTo>
                <a:lnTo>
                  <a:pt x="9525" y="352636"/>
                </a:lnTo>
                <a:lnTo>
                  <a:pt x="7144" y="355646"/>
                </a:lnTo>
                <a:lnTo>
                  <a:pt x="4763" y="358235"/>
                </a:lnTo>
                <a:lnTo>
                  <a:pt x="2381" y="360492"/>
                </a:lnTo>
                <a:lnTo>
                  <a:pt x="0" y="362474"/>
                </a:lnTo>
                <a:close/>
              </a:path>
            </a:pathLst>
          </a:custGeom>
          <a:solidFill>
            <a:srgbClr val="E0525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11373" y="793263"/>
            <a:ext cx="132588" cy="1325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312834" y="812006"/>
            <a:ext cx="1667723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 1</a:t>
            </a:r>
            <a:endParaRPr lang="en-US" sz="510" dirty="0"/>
          </a:p>
        </p:txBody>
      </p:sp>
      <p:sp>
        <p:nvSpPr>
          <p:cNvPr id="15" name="Text 11"/>
          <p:cNvSpPr/>
          <p:nvPr/>
        </p:nvSpPr>
        <p:spPr>
          <a:xfrm>
            <a:off x="2312834" y="916632"/>
            <a:ext cx="1667723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spelling and grammar errors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4914751" y="677763"/>
            <a:ext cx="3785741" cy="492770"/>
          </a:xfrm>
          <a:prstGeom prst="roundRect">
            <a:avLst>
              <a:gd name="adj" fmla="val 1005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914751" y="677763"/>
            <a:ext cx="19050" cy="492770"/>
          </a:xfrm>
          <a:custGeom>
            <a:avLst/>
            <a:gdLst/>
            <a:ahLst/>
            <a:cxnLst/>
            <a:rect l="l" t="t" r="r" b="b"/>
            <a:pathLst>
              <a:path w="19050" h="492770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82281"/>
                </a:lnTo>
                <a:lnTo>
                  <a:pt x="16669" y="480299"/>
                </a:lnTo>
                <a:lnTo>
                  <a:pt x="14288" y="478042"/>
                </a:lnTo>
                <a:lnTo>
                  <a:pt x="11906" y="475453"/>
                </a:lnTo>
                <a:lnTo>
                  <a:pt x="9525" y="472443"/>
                </a:lnTo>
                <a:lnTo>
                  <a:pt x="7144" y="468865"/>
                </a:lnTo>
                <a:lnTo>
                  <a:pt x="4763" y="464432"/>
                </a:lnTo>
                <a:lnTo>
                  <a:pt x="2381" y="458413"/>
                </a:lnTo>
                <a:lnTo>
                  <a:pt x="0" y="443240"/>
                </a:lnTo>
                <a:close/>
              </a:path>
            </a:pathLst>
          </a:custGeom>
          <a:solidFill>
            <a:srgbClr val="94AFC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039" y="733285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63443" y="752029"/>
            <a:ext cx="377844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REALITY</a:t>
            </a:r>
            <a:endParaRPr lang="en-US" sz="510" dirty="0"/>
          </a:p>
        </p:txBody>
      </p:sp>
      <p:sp>
        <p:nvSpPr>
          <p:cNvPr id="20" name="Text 15"/>
          <p:cNvSpPr/>
          <p:nvPr/>
        </p:nvSpPr>
        <p:spPr>
          <a:xfrm>
            <a:off x="5163443" y="856655"/>
            <a:ext cx="350365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writes flawless text in any language in seconds.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Grammar errors no longer exist in AI phishing. </a:t>
            </a:r>
            <a:r>
              <a:rPr lang="en-US" sz="7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 flag is gone.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43508" y="1321594"/>
            <a:ext cx="3785741" cy="492770"/>
          </a:xfrm>
          <a:prstGeom prst="roundRect">
            <a:avLst>
              <a:gd name="adj" fmla="val 1005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4210199" y="1321594"/>
            <a:ext cx="19050" cy="492770"/>
          </a:xfrm>
          <a:custGeom>
            <a:avLst/>
            <a:gdLst/>
            <a:ahLst/>
            <a:cxnLst/>
            <a:rect l="l" t="t" r="r" b="b"/>
            <a:pathLst>
              <a:path w="19050" h="492770">
                <a:moveTo>
                  <a:pt x="0" y="10489"/>
                </a:moveTo>
                <a:lnTo>
                  <a:pt x="2381" y="12471"/>
                </a:lnTo>
                <a:lnTo>
                  <a:pt x="4763" y="14728"/>
                </a:lnTo>
                <a:lnTo>
                  <a:pt x="7144" y="17317"/>
                </a:lnTo>
                <a:lnTo>
                  <a:pt x="9525" y="20327"/>
                </a:lnTo>
                <a:lnTo>
                  <a:pt x="11906" y="23905"/>
                </a:lnTo>
                <a:lnTo>
                  <a:pt x="14288" y="28338"/>
                </a:lnTo>
                <a:lnTo>
                  <a:pt x="16669" y="34357"/>
                </a:lnTo>
                <a:lnTo>
                  <a:pt x="19050" y="49530"/>
                </a:lnTo>
                <a:lnTo>
                  <a:pt x="19050" y="443240"/>
                </a:lnTo>
                <a:lnTo>
                  <a:pt x="16669" y="458413"/>
                </a:lnTo>
                <a:lnTo>
                  <a:pt x="14288" y="464432"/>
                </a:lnTo>
                <a:lnTo>
                  <a:pt x="11906" y="468865"/>
                </a:lnTo>
                <a:lnTo>
                  <a:pt x="9525" y="472443"/>
                </a:lnTo>
                <a:lnTo>
                  <a:pt x="7144" y="475453"/>
                </a:lnTo>
                <a:lnTo>
                  <a:pt x="4763" y="478042"/>
                </a:lnTo>
                <a:lnTo>
                  <a:pt x="2381" y="480299"/>
                </a:lnTo>
                <a:lnTo>
                  <a:pt x="0" y="482281"/>
                </a:lnTo>
                <a:close/>
              </a:path>
            </a:pathLst>
          </a:custGeom>
          <a:solidFill>
            <a:srgbClr val="94AFC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1373" y="1377116"/>
            <a:ext cx="132588" cy="132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91631" y="1395859"/>
            <a:ext cx="378892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REALITY</a:t>
            </a:r>
            <a:endParaRPr lang="en-US" sz="510" dirty="0"/>
          </a:p>
        </p:txBody>
      </p:sp>
      <p:sp>
        <p:nvSpPr>
          <p:cNvPr id="25" name="Text 19"/>
          <p:cNvSpPr/>
          <p:nvPr/>
        </p:nvSpPr>
        <p:spPr>
          <a:xfrm>
            <a:off x="467189" y="1500485"/>
            <a:ext cx="3513368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phishing uses legitimate file-sharing services, QR codes, and link shorteners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bypass URL inspection. The link itself looks completely clean.</a:t>
            </a:r>
            <a:endParaRPr lang="en-US" sz="700" dirty="0"/>
          </a:p>
        </p:txBody>
      </p:sp>
      <p:sp>
        <p:nvSpPr>
          <p:cNvPr id="26" name="Text 20"/>
          <p:cNvSpPr/>
          <p:nvPr/>
        </p:nvSpPr>
        <p:spPr>
          <a:xfrm>
            <a:off x="4914751" y="1381571"/>
            <a:ext cx="3785741" cy="372963"/>
          </a:xfrm>
          <a:prstGeom prst="roundRect">
            <a:avLst>
              <a:gd name="adj" fmla="val 13280"/>
            </a:avLst>
          </a:prstGeom>
          <a:solidFill>
            <a:srgbClr val="DC3232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4914751" y="1381571"/>
            <a:ext cx="19050" cy="372963"/>
          </a:xfrm>
          <a:custGeom>
            <a:avLst/>
            <a:gdLst/>
            <a:ahLst/>
            <a:cxnLst/>
            <a:rect l="l" t="t" r="r" b="b"/>
            <a:pathLst>
              <a:path w="19050" h="372963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362474"/>
                </a:lnTo>
                <a:lnTo>
                  <a:pt x="16669" y="360492"/>
                </a:lnTo>
                <a:lnTo>
                  <a:pt x="14288" y="358235"/>
                </a:lnTo>
                <a:lnTo>
                  <a:pt x="11906" y="355646"/>
                </a:lnTo>
                <a:lnTo>
                  <a:pt x="9525" y="352636"/>
                </a:lnTo>
                <a:lnTo>
                  <a:pt x="7144" y="349058"/>
                </a:lnTo>
                <a:lnTo>
                  <a:pt x="4763" y="344625"/>
                </a:lnTo>
                <a:lnTo>
                  <a:pt x="2381" y="338606"/>
                </a:lnTo>
                <a:lnTo>
                  <a:pt x="0" y="323433"/>
                </a:lnTo>
                <a:close/>
              </a:path>
            </a:pathLst>
          </a:custGeom>
          <a:solidFill>
            <a:srgbClr val="E0525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00039" y="1437093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63443" y="1455837"/>
            <a:ext cx="1591761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 2</a:t>
            </a:r>
            <a:endParaRPr lang="en-US" sz="510" dirty="0"/>
          </a:p>
        </p:txBody>
      </p:sp>
      <p:sp>
        <p:nvSpPr>
          <p:cNvPr id="30" name="Text 23"/>
          <p:cNvSpPr/>
          <p:nvPr/>
        </p:nvSpPr>
        <p:spPr>
          <a:xfrm>
            <a:off x="5163443" y="1560463"/>
            <a:ext cx="1591761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the link to check the URL</a:t>
            </a:r>
            <a:endParaRPr lang="en-US" sz="700" dirty="0"/>
          </a:p>
        </p:txBody>
      </p:sp>
      <p:sp>
        <p:nvSpPr>
          <p:cNvPr id="31" name="Text 24"/>
          <p:cNvSpPr/>
          <p:nvPr/>
        </p:nvSpPr>
        <p:spPr>
          <a:xfrm>
            <a:off x="443508" y="2031355"/>
            <a:ext cx="3785741" cy="372963"/>
          </a:xfrm>
          <a:prstGeom prst="roundRect">
            <a:avLst>
              <a:gd name="adj" fmla="val 13280"/>
            </a:avLst>
          </a:prstGeom>
          <a:solidFill>
            <a:srgbClr val="DC3232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210199" y="2031355"/>
            <a:ext cx="19050" cy="372963"/>
          </a:xfrm>
          <a:custGeom>
            <a:avLst/>
            <a:gdLst/>
            <a:ahLst/>
            <a:cxnLst/>
            <a:rect l="l" t="t" r="r" b="b"/>
            <a:pathLst>
              <a:path w="19050" h="372963">
                <a:moveTo>
                  <a:pt x="0" y="10489"/>
                </a:moveTo>
                <a:lnTo>
                  <a:pt x="2381" y="12471"/>
                </a:lnTo>
                <a:lnTo>
                  <a:pt x="4763" y="14728"/>
                </a:lnTo>
                <a:lnTo>
                  <a:pt x="7144" y="17317"/>
                </a:lnTo>
                <a:lnTo>
                  <a:pt x="9525" y="20327"/>
                </a:lnTo>
                <a:lnTo>
                  <a:pt x="11906" y="23905"/>
                </a:lnTo>
                <a:lnTo>
                  <a:pt x="14288" y="28338"/>
                </a:lnTo>
                <a:lnTo>
                  <a:pt x="16669" y="34357"/>
                </a:lnTo>
                <a:lnTo>
                  <a:pt x="19050" y="49530"/>
                </a:lnTo>
                <a:lnTo>
                  <a:pt x="19050" y="323433"/>
                </a:lnTo>
                <a:lnTo>
                  <a:pt x="16669" y="338606"/>
                </a:lnTo>
                <a:lnTo>
                  <a:pt x="14288" y="344625"/>
                </a:lnTo>
                <a:lnTo>
                  <a:pt x="11906" y="349058"/>
                </a:lnTo>
                <a:lnTo>
                  <a:pt x="9525" y="352636"/>
                </a:lnTo>
                <a:lnTo>
                  <a:pt x="7144" y="355646"/>
                </a:lnTo>
                <a:lnTo>
                  <a:pt x="4763" y="358235"/>
                </a:lnTo>
                <a:lnTo>
                  <a:pt x="2381" y="360492"/>
                </a:lnTo>
                <a:lnTo>
                  <a:pt x="0" y="362474"/>
                </a:lnTo>
                <a:close/>
              </a:path>
            </a:pathLst>
          </a:custGeom>
          <a:solidFill>
            <a:srgbClr val="E0525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1373" y="2086877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45957" y="2105620"/>
            <a:ext cx="2634600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 3</a:t>
            </a:r>
            <a:endParaRPr lang="en-US" sz="510" dirty="0"/>
          </a:p>
        </p:txBody>
      </p:sp>
      <p:sp>
        <p:nvSpPr>
          <p:cNvPr id="35" name="Text 27"/>
          <p:cNvSpPr/>
          <p:nvPr/>
        </p:nvSpPr>
        <p:spPr>
          <a:xfrm>
            <a:off x="1345957" y="2210246"/>
            <a:ext cx="2634600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looks like it is from someone you know, it is probably safe</a:t>
            </a:r>
            <a:endParaRPr lang="en-US" sz="700" dirty="0"/>
          </a:p>
        </p:txBody>
      </p:sp>
      <p:sp>
        <p:nvSpPr>
          <p:cNvPr id="36" name="Text 28"/>
          <p:cNvSpPr/>
          <p:nvPr/>
        </p:nvSpPr>
        <p:spPr>
          <a:xfrm>
            <a:off x="4914751" y="1911548"/>
            <a:ext cx="3785741" cy="612577"/>
          </a:xfrm>
          <a:prstGeom prst="roundRect">
            <a:avLst>
              <a:gd name="adj" fmla="val 8086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4914751" y="1911548"/>
            <a:ext cx="19050" cy="612577"/>
          </a:xfrm>
          <a:custGeom>
            <a:avLst/>
            <a:gdLst/>
            <a:ahLst/>
            <a:cxnLst/>
            <a:rect l="l" t="t" r="r" b="b"/>
            <a:pathLst>
              <a:path w="19050" h="612577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602087"/>
                </a:lnTo>
                <a:lnTo>
                  <a:pt x="16669" y="600105"/>
                </a:lnTo>
                <a:lnTo>
                  <a:pt x="14288" y="597849"/>
                </a:lnTo>
                <a:lnTo>
                  <a:pt x="11906" y="595260"/>
                </a:lnTo>
                <a:lnTo>
                  <a:pt x="9525" y="592250"/>
                </a:lnTo>
                <a:lnTo>
                  <a:pt x="7144" y="588671"/>
                </a:lnTo>
                <a:lnTo>
                  <a:pt x="4763" y="584238"/>
                </a:lnTo>
                <a:lnTo>
                  <a:pt x="2381" y="578219"/>
                </a:lnTo>
                <a:lnTo>
                  <a:pt x="0" y="563047"/>
                </a:lnTo>
                <a:close/>
              </a:path>
            </a:pathLst>
          </a:custGeom>
          <a:solidFill>
            <a:srgbClr val="94AFC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00039" y="1967070"/>
            <a:ext cx="132588" cy="13258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163443" y="1985814"/>
            <a:ext cx="377844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REALITY</a:t>
            </a:r>
            <a:endParaRPr lang="en-US" sz="510" dirty="0"/>
          </a:p>
        </p:txBody>
      </p:sp>
      <p:sp>
        <p:nvSpPr>
          <p:cNvPr id="40" name="Text 31"/>
          <p:cNvSpPr/>
          <p:nvPr/>
        </p:nvSpPr>
        <p:spPr>
          <a:xfrm>
            <a:off x="5163443" y="2090440"/>
            <a:ext cx="3503652" cy="377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scrapes your LinkedIn, your company website, and public filings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write emails referencing your real colleagues, your real projects, and your real manager by name.</a:t>
            </a:r>
            <a:endParaRPr lang="en-US" sz="700" dirty="0"/>
          </a:p>
        </p:txBody>
      </p:sp>
      <p:sp>
        <p:nvSpPr>
          <p:cNvPr id="41" name="Text 32"/>
          <p:cNvSpPr/>
          <p:nvPr/>
        </p:nvSpPr>
        <p:spPr>
          <a:xfrm>
            <a:off x="443508" y="2621161"/>
            <a:ext cx="3785741" cy="492770"/>
          </a:xfrm>
          <a:prstGeom prst="roundRect">
            <a:avLst>
              <a:gd name="adj" fmla="val 1005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3"/>
          <p:cNvSpPr/>
          <p:nvPr/>
        </p:nvSpPr>
        <p:spPr>
          <a:xfrm>
            <a:off x="4210199" y="2621161"/>
            <a:ext cx="19050" cy="492770"/>
          </a:xfrm>
          <a:custGeom>
            <a:avLst/>
            <a:gdLst/>
            <a:ahLst/>
            <a:cxnLst/>
            <a:rect l="l" t="t" r="r" b="b"/>
            <a:pathLst>
              <a:path w="19050" h="492770">
                <a:moveTo>
                  <a:pt x="0" y="10489"/>
                </a:moveTo>
                <a:lnTo>
                  <a:pt x="2381" y="12471"/>
                </a:lnTo>
                <a:lnTo>
                  <a:pt x="4763" y="14728"/>
                </a:lnTo>
                <a:lnTo>
                  <a:pt x="7144" y="17317"/>
                </a:lnTo>
                <a:lnTo>
                  <a:pt x="9525" y="20327"/>
                </a:lnTo>
                <a:lnTo>
                  <a:pt x="11906" y="23905"/>
                </a:lnTo>
                <a:lnTo>
                  <a:pt x="14288" y="28338"/>
                </a:lnTo>
                <a:lnTo>
                  <a:pt x="16669" y="34357"/>
                </a:lnTo>
                <a:lnTo>
                  <a:pt x="19050" y="49530"/>
                </a:lnTo>
                <a:lnTo>
                  <a:pt x="19050" y="443240"/>
                </a:lnTo>
                <a:lnTo>
                  <a:pt x="16669" y="458413"/>
                </a:lnTo>
                <a:lnTo>
                  <a:pt x="14288" y="464432"/>
                </a:lnTo>
                <a:lnTo>
                  <a:pt x="11906" y="468865"/>
                </a:lnTo>
                <a:lnTo>
                  <a:pt x="9525" y="472443"/>
                </a:lnTo>
                <a:lnTo>
                  <a:pt x="7144" y="475453"/>
                </a:lnTo>
                <a:lnTo>
                  <a:pt x="4763" y="478042"/>
                </a:lnTo>
                <a:lnTo>
                  <a:pt x="2381" y="480299"/>
                </a:lnTo>
                <a:lnTo>
                  <a:pt x="0" y="482281"/>
                </a:lnTo>
                <a:close/>
              </a:path>
            </a:pathLst>
          </a:custGeom>
          <a:solidFill>
            <a:srgbClr val="94AFC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11373" y="2676683"/>
            <a:ext cx="132588" cy="13258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91631" y="2695426"/>
            <a:ext cx="378892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REALITY</a:t>
            </a:r>
            <a:endParaRPr lang="en-US" sz="510" dirty="0"/>
          </a:p>
        </p:txBody>
      </p:sp>
      <p:sp>
        <p:nvSpPr>
          <p:cNvPr id="45" name="Text 35"/>
          <p:cNvSpPr/>
          <p:nvPr/>
        </p:nvSpPr>
        <p:spPr>
          <a:xfrm>
            <a:off x="467189" y="2800052"/>
            <a:ext cx="3513368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click-through rate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AI phishing — nearly triple traditional phishing —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 because it references real context.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Familiarity is now a weapon against you.</a:t>
            </a:r>
            <a:endParaRPr lang="en-US" sz="700" dirty="0"/>
          </a:p>
        </p:txBody>
      </p:sp>
      <p:sp>
        <p:nvSpPr>
          <p:cNvPr id="46" name="Text 36"/>
          <p:cNvSpPr/>
          <p:nvPr/>
        </p:nvSpPr>
        <p:spPr>
          <a:xfrm>
            <a:off x="4914751" y="2681139"/>
            <a:ext cx="3785741" cy="372963"/>
          </a:xfrm>
          <a:prstGeom prst="roundRect">
            <a:avLst>
              <a:gd name="adj" fmla="val 13280"/>
            </a:avLst>
          </a:prstGeom>
          <a:solidFill>
            <a:srgbClr val="DC3232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4914751" y="2681139"/>
            <a:ext cx="19050" cy="372963"/>
          </a:xfrm>
          <a:custGeom>
            <a:avLst/>
            <a:gdLst/>
            <a:ahLst/>
            <a:cxnLst/>
            <a:rect l="l" t="t" r="r" b="b"/>
            <a:pathLst>
              <a:path w="19050" h="372963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362474"/>
                </a:lnTo>
                <a:lnTo>
                  <a:pt x="16669" y="360492"/>
                </a:lnTo>
                <a:lnTo>
                  <a:pt x="14288" y="358235"/>
                </a:lnTo>
                <a:lnTo>
                  <a:pt x="11906" y="355646"/>
                </a:lnTo>
                <a:lnTo>
                  <a:pt x="9525" y="352636"/>
                </a:lnTo>
                <a:lnTo>
                  <a:pt x="7144" y="349058"/>
                </a:lnTo>
                <a:lnTo>
                  <a:pt x="4763" y="344625"/>
                </a:lnTo>
                <a:lnTo>
                  <a:pt x="2381" y="338606"/>
                </a:lnTo>
                <a:lnTo>
                  <a:pt x="0" y="323433"/>
                </a:lnTo>
                <a:close/>
              </a:path>
            </a:pathLst>
          </a:custGeom>
          <a:solidFill>
            <a:srgbClr val="E0525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000039" y="2736660"/>
            <a:ext cx="132588" cy="132588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163443" y="2755404"/>
            <a:ext cx="2875746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 4</a:t>
            </a:r>
            <a:endParaRPr lang="en-US" sz="510" dirty="0"/>
          </a:p>
        </p:txBody>
      </p:sp>
      <p:sp>
        <p:nvSpPr>
          <p:cNvPr id="50" name="Text 39"/>
          <p:cNvSpPr/>
          <p:nvPr/>
        </p:nvSpPr>
        <p:spPr>
          <a:xfrm>
            <a:off x="5163443" y="2860030"/>
            <a:ext cx="2875746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trust a message that references your current work context</a:t>
            </a:r>
            <a:endParaRPr lang="en-US" sz="700" dirty="0"/>
          </a:p>
        </p:txBody>
      </p:sp>
      <p:sp>
        <p:nvSpPr>
          <p:cNvPr id="51" name="Text 40"/>
          <p:cNvSpPr/>
          <p:nvPr/>
        </p:nvSpPr>
        <p:spPr>
          <a:xfrm>
            <a:off x="443508" y="3324969"/>
            <a:ext cx="3785741" cy="372963"/>
          </a:xfrm>
          <a:prstGeom prst="roundRect">
            <a:avLst>
              <a:gd name="adj" fmla="val 13280"/>
            </a:avLst>
          </a:prstGeom>
          <a:solidFill>
            <a:srgbClr val="DC3232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1"/>
          <p:cNvSpPr/>
          <p:nvPr/>
        </p:nvSpPr>
        <p:spPr>
          <a:xfrm>
            <a:off x="4210199" y="3324969"/>
            <a:ext cx="19050" cy="372963"/>
          </a:xfrm>
          <a:custGeom>
            <a:avLst/>
            <a:gdLst/>
            <a:ahLst/>
            <a:cxnLst/>
            <a:rect l="l" t="t" r="r" b="b"/>
            <a:pathLst>
              <a:path w="19050" h="372963">
                <a:moveTo>
                  <a:pt x="0" y="10489"/>
                </a:moveTo>
                <a:lnTo>
                  <a:pt x="2381" y="12471"/>
                </a:lnTo>
                <a:lnTo>
                  <a:pt x="4763" y="14728"/>
                </a:lnTo>
                <a:lnTo>
                  <a:pt x="7144" y="17317"/>
                </a:lnTo>
                <a:lnTo>
                  <a:pt x="9525" y="20327"/>
                </a:lnTo>
                <a:lnTo>
                  <a:pt x="11906" y="23905"/>
                </a:lnTo>
                <a:lnTo>
                  <a:pt x="14288" y="28338"/>
                </a:lnTo>
                <a:lnTo>
                  <a:pt x="16669" y="34357"/>
                </a:lnTo>
                <a:lnTo>
                  <a:pt x="19050" y="49530"/>
                </a:lnTo>
                <a:lnTo>
                  <a:pt x="19050" y="323433"/>
                </a:lnTo>
                <a:lnTo>
                  <a:pt x="16669" y="338606"/>
                </a:lnTo>
                <a:lnTo>
                  <a:pt x="14288" y="344625"/>
                </a:lnTo>
                <a:lnTo>
                  <a:pt x="11906" y="349058"/>
                </a:lnTo>
                <a:lnTo>
                  <a:pt x="9525" y="352636"/>
                </a:lnTo>
                <a:lnTo>
                  <a:pt x="7144" y="355646"/>
                </a:lnTo>
                <a:lnTo>
                  <a:pt x="4763" y="358235"/>
                </a:lnTo>
                <a:lnTo>
                  <a:pt x="2381" y="360492"/>
                </a:lnTo>
                <a:lnTo>
                  <a:pt x="0" y="362474"/>
                </a:lnTo>
                <a:close/>
              </a:path>
            </a:pathLst>
          </a:custGeom>
          <a:solidFill>
            <a:srgbClr val="E0525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11373" y="3380491"/>
            <a:ext cx="132588" cy="132588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1711360" y="3399234"/>
            <a:ext cx="226919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RULE 5</a:t>
            </a:r>
            <a:endParaRPr lang="en-US" sz="510" dirty="0"/>
          </a:p>
        </p:txBody>
      </p:sp>
      <p:sp>
        <p:nvSpPr>
          <p:cNvPr id="55" name="Text 43"/>
          <p:cNvSpPr/>
          <p:nvPr/>
        </p:nvSpPr>
        <p:spPr>
          <a:xfrm>
            <a:off x="1711360" y="3503861"/>
            <a:ext cx="2269197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and finance staff are the only real targets</a:t>
            </a:r>
            <a:endParaRPr lang="en-US" sz="700" dirty="0"/>
          </a:p>
        </p:txBody>
      </p:sp>
      <p:sp>
        <p:nvSpPr>
          <p:cNvPr id="56" name="Text 44"/>
          <p:cNvSpPr/>
          <p:nvPr/>
        </p:nvSpPr>
        <p:spPr>
          <a:xfrm>
            <a:off x="4914751" y="3264991"/>
            <a:ext cx="3785741" cy="492770"/>
          </a:xfrm>
          <a:prstGeom prst="roundRect">
            <a:avLst>
              <a:gd name="adj" fmla="val 1005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5"/>
          <p:cNvSpPr/>
          <p:nvPr/>
        </p:nvSpPr>
        <p:spPr>
          <a:xfrm>
            <a:off x="4914751" y="3264991"/>
            <a:ext cx="19050" cy="492770"/>
          </a:xfrm>
          <a:custGeom>
            <a:avLst/>
            <a:gdLst/>
            <a:ahLst/>
            <a:cxnLst/>
            <a:rect l="l" t="t" r="r" b="b"/>
            <a:pathLst>
              <a:path w="19050" h="492770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82281"/>
                </a:lnTo>
                <a:lnTo>
                  <a:pt x="16669" y="480299"/>
                </a:lnTo>
                <a:lnTo>
                  <a:pt x="14288" y="478042"/>
                </a:lnTo>
                <a:lnTo>
                  <a:pt x="11906" y="475453"/>
                </a:lnTo>
                <a:lnTo>
                  <a:pt x="9525" y="472443"/>
                </a:lnTo>
                <a:lnTo>
                  <a:pt x="7144" y="468865"/>
                </a:lnTo>
                <a:lnTo>
                  <a:pt x="4763" y="464432"/>
                </a:lnTo>
                <a:lnTo>
                  <a:pt x="2381" y="458413"/>
                </a:lnTo>
                <a:lnTo>
                  <a:pt x="0" y="443240"/>
                </a:lnTo>
                <a:close/>
              </a:path>
            </a:pathLst>
          </a:custGeom>
          <a:solidFill>
            <a:srgbClr val="94AFC8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00039" y="3320513"/>
            <a:ext cx="132588" cy="1325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5163443" y="3339257"/>
            <a:ext cx="3778448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REALITY</a:t>
            </a:r>
            <a:endParaRPr lang="en-US" sz="510" dirty="0"/>
          </a:p>
        </p:txBody>
      </p:sp>
      <p:sp>
        <p:nvSpPr>
          <p:cNvPr id="60" name="Text 47"/>
          <p:cNvSpPr/>
          <p:nvPr/>
        </p:nvSpPr>
        <p:spPr>
          <a:xfrm>
            <a:off x="5163443" y="3443883"/>
            <a:ext cx="350365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has made precision targeting affordable for every employee.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role is now a potential entry point — because every account has value.</a:t>
            </a:r>
            <a:endParaRPr lang="en-US" sz="700" dirty="0"/>
          </a:p>
        </p:txBody>
      </p:sp>
      <p:sp>
        <p:nvSpPr>
          <p:cNvPr id="61" name="Text 48"/>
          <p:cNvSpPr/>
          <p:nvPr/>
        </p:nvSpPr>
        <p:spPr>
          <a:xfrm>
            <a:off x="443508" y="3908822"/>
            <a:ext cx="3785741" cy="492770"/>
          </a:xfrm>
          <a:prstGeom prst="roundRect">
            <a:avLst>
              <a:gd name="adj" fmla="val 10051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9"/>
          <p:cNvSpPr/>
          <p:nvPr/>
        </p:nvSpPr>
        <p:spPr>
          <a:xfrm>
            <a:off x="4210199" y="3908822"/>
            <a:ext cx="19050" cy="492770"/>
          </a:xfrm>
          <a:custGeom>
            <a:avLst/>
            <a:gdLst/>
            <a:ahLst/>
            <a:cxnLst/>
            <a:rect l="l" t="t" r="r" b="b"/>
            <a:pathLst>
              <a:path w="19050" h="492770">
                <a:moveTo>
                  <a:pt x="0" y="10489"/>
                </a:moveTo>
                <a:lnTo>
                  <a:pt x="2381" y="12471"/>
                </a:lnTo>
                <a:lnTo>
                  <a:pt x="4763" y="14728"/>
                </a:lnTo>
                <a:lnTo>
                  <a:pt x="7144" y="17317"/>
                </a:lnTo>
                <a:lnTo>
                  <a:pt x="9525" y="20327"/>
                </a:lnTo>
                <a:lnTo>
                  <a:pt x="11906" y="23905"/>
                </a:lnTo>
                <a:lnTo>
                  <a:pt x="14288" y="28338"/>
                </a:lnTo>
                <a:lnTo>
                  <a:pt x="16669" y="34357"/>
                </a:lnTo>
                <a:lnTo>
                  <a:pt x="19050" y="49530"/>
                </a:lnTo>
                <a:lnTo>
                  <a:pt x="19050" y="443240"/>
                </a:lnTo>
                <a:lnTo>
                  <a:pt x="16669" y="458413"/>
                </a:lnTo>
                <a:lnTo>
                  <a:pt x="14288" y="464432"/>
                </a:lnTo>
                <a:lnTo>
                  <a:pt x="11906" y="468865"/>
                </a:lnTo>
                <a:lnTo>
                  <a:pt x="9525" y="472443"/>
                </a:lnTo>
                <a:lnTo>
                  <a:pt x="7144" y="475453"/>
                </a:lnTo>
                <a:lnTo>
                  <a:pt x="4763" y="478042"/>
                </a:lnTo>
                <a:lnTo>
                  <a:pt x="2381" y="480299"/>
                </a:lnTo>
                <a:lnTo>
                  <a:pt x="0" y="482281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08471" y="3967246"/>
            <a:ext cx="132588" cy="132588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192212" y="3983087"/>
            <a:ext cx="3782541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INSTINCT IS DATA</a:t>
            </a:r>
            <a:endParaRPr lang="en-US" sz="510" dirty="0"/>
          </a:p>
        </p:txBody>
      </p:sp>
      <p:sp>
        <p:nvSpPr>
          <p:cNvPr id="65" name="Text 51"/>
          <p:cNvSpPr/>
          <p:nvPr/>
        </p:nvSpPr>
        <p:spPr>
          <a:xfrm>
            <a:off x="467305" y="4087713"/>
            <a:ext cx="3507447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945"/>
              </a:lnSpc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slightly off — even if you cannot explain exactly why — </a:t>
            </a: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feeling is your most reliable signal.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Act on it. Escalate it.</a:t>
            </a:r>
            <a:endParaRPr lang="en-US" sz="700" dirty="0"/>
          </a:p>
        </p:txBody>
      </p:sp>
      <p:sp>
        <p:nvSpPr>
          <p:cNvPr id="66" name="Text 52"/>
          <p:cNvSpPr/>
          <p:nvPr/>
        </p:nvSpPr>
        <p:spPr>
          <a:xfrm>
            <a:off x="4914751" y="3908822"/>
            <a:ext cx="3785741" cy="492770"/>
          </a:xfrm>
          <a:prstGeom prst="roundRect">
            <a:avLst>
              <a:gd name="adj" fmla="val 10051"/>
            </a:avLst>
          </a:prstGeom>
          <a:solidFill>
            <a:srgbClr val="E8A02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3"/>
          <p:cNvSpPr/>
          <p:nvPr/>
        </p:nvSpPr>
        <p:spPr>
          <a:xfrm>
            <a:off x="4914751" y="3908822"/>
            <a:ext cx="19050" cy="492770"/>
          </a:xfrm>
          <a:custGeom>
            <a:avLst/>
            <a:gdLst/>
            <a:ahLst/>
            <a:cxnLst/>
            <a:rect l="l" t="t" r="r" b="b"/>
            <a:pathLst>
              <a:path w="19050" h="492770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82281"/>
                </a:lnTo>
                <a:lnTo>
                  <a:pt x="16669" y="480299"/>
                </a:lnTo>
                <a:lnTo>
                  <a:pt x="14288" y="478042"/>
                </a:lnTo>
                <a:lnTo>
                  <a:pt x="11906" y="475453"/>
                </a:lnTo>
                <a:lnTo>
                  <a:pt x="9525" y="472443"/>
                </a:lnTo>
                <a:lnTo>
                  <a:pt x="7144" y="468865"/>
                </a:lnTo>
                <a:lnTo>
                  <a:pt x="4763" y="464432"/>
                </a:lnTo>
                <a:lnTo>
                  <a:pt x="2381" y="458413"/>
                </a:lnTo>
                <a:lnTo>
                  <a:pt x="0" y="44324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8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002941" y="3967246"/>
            <a:ext cx="132588" cy="132588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5169247" y="3983087"/>
            <a:ext cx="377206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RULE</a:t>
            </a:r>
            <a:endParaRPr lang="en-US" sz="510" dirty="0"/>
          </a:p>
        </p:txBody>
      </p:sp>
      <p:sp>
        <p:nvSpPr>
          <p:cNvPr id="70" name="Text 55"/>
          <p:cNvSpPr/>
          <p:nvPr/>
        </p:nvSpPr>
        <p:spPr>
          <a:xfrm>
            <a:off x="5169247" y="4087713"/>
            <a:ext cx="349773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verify through a separate channel.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Report Phishing button. Trust your instincts.</a:t>
            </a:r>
            <a:endParaRPr lang="en-US" sz="700" dirty="0"/>
          </a:p>
        </p:txBody>
      </p:sp>
      <p:sp>
        <p:nvSpPr>
          <p:cNvPr id="71" name="Text 56"/>
          <p:cNvSpPr/>
          <p:nvPr/>
        </p:nvSpPr>
        <p:spPr>
          <a:xfrm>
            <a:off x="4521845" y="874068"/>
            <a:ext cx="100310" cy="100310"/>
          </a:xfrm>
          <a:prstGeom prst="ellipse">
            <a:avLst/>
          </a:prstGeom>
          <a:solidFill>
            <a:srgbClr val="E8A020"/>
          </a:solidFill>
          <a:ln w="9525">
            <a:solidFill>
              <a:srgbClr val="0D1B2A"/>
            </a:solidFill>
          </a:ln>
          <a:effectLst>
            <a:outerShdw blurRad="101600" dist="50800" dir="16200000" algn="bl" rotWithShape="0">
              <a:srgbClr val="E8A020">
                <a:alpha val="3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7"/>
          <p:cNvSpPr/>
          <p:nvPr/>
        </p:nvSpPr>
        <p:spPr>
          <a:xfrm>
            <a:off x="4521845" y="1517898"/>
            <a:ext cx="100310" cy="100310"/>
          </a:xfrm>
          <a:prstGeom prst="ellipse">
            <a:avLst/>
          </a:prstGeom>
          <a:solidFill>
            <a:srgbClr val="E8A020"/>
          </a:solidFill>
          <a:ln w="9525">
            <a:solidFill>
              <a:srgbClr val="0D1B2A"/>
            </a:solidFill>
          </a:ln>
          <a:effectLst>
            <a:outerShdw blurRad="101600" dist="50800" dir="16200000" algn="bl" rotWithShape="0">
              <a:srgbClr val="E8A020">
                <a:alpha val="3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58"/>
          <p:cNvSpPr/>
          <p:nvPr/>
        </p:nvSpPr>
        <p:spPr>
          <a:xfrm>
            <a:off x="4521845" y="2167682"/>
            <a:ext cx="100310" cy="100310"/>
          </a:xfrm>
          <a:prstGeom prst="ellipse">
            <a:avLst/>
          </a:prstGeom>
          <a:solidFill>
            <a:srgbClr val="E8A020"/>
          </a:solidFill>
          <a:ln w="9525">
            <a:solidFill>
              <a:srgbClr val="0D1B2A"/>
            </a:solidFill>
          </a:ln>
          <a:effectLst>
            <a:outerShdw blurRad="101600" dist="50800" dir="16200000" algn="bl" rotWithShape="0">
              <a:srgbClr val="E8A020">
                <a:alpha val="3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59"/>
          <p:cNvSpPr/>
          <p:nvPr/>
        </p:nvSpPr>
        <p:spPr>
          <a:xfrm>
            <a:off x="4521845" y="2817465"/>
            <a:ext cx="100310" cy="100310"/>
          </a:xfrm>
          <a:prstGeom prst="ellipse">
            <a:avLst/>
          </a:prstGeom>
          <a:solidFill>
            <a:srgbClr val="E8A020"/>
          </a:solidFill>
          <a:ln w="9525">
            <a:solidFill>
              <a:srgbClr val="0D1B2A"/>
            </a:solidFill>
          </a:ln>
          <a:effectLst>
            <a:outerShdw blurRad="101600" dist="50800" dir="16200000" algn="bl" rotWithShape="0">
              <a:srgbClr val="E8A020">
                <a:alpha val="3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5" name="Text 60"/>
          <p:cNvSpPr/>
          <p:nvPr/>
        </p:nvSpPr>
        <p:spPr>
          <a:xfrm>
            <a:off x="4521845" y="3461296"/>
            <a:ext cx="100310" cy="100310"/>
          </a:xfrm>
          <a:prstGeom prst="ellipse">
            <a:avLst/>
          </a:prstGeom>
          <a:solidFill>
            <a:srgbClr val="E8A020"/>
          </a:solidFill>
          <a:ln w="9525">
            <a:solidFill>
              <a:srgbClr val="0D1B2A"/>
            </a:solidFill>
          </a:ln>
          <a:effectLst>
            <a:outerShdw blurRad="101600" dist="50800" dir="16200000" algn="bl" rotWithShape="0">
              <a:srgbClr val="E8A020">
                <a:alpha val="3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Text 61"/>
          <p:cNvSpPr/>
          <p:nvPr/>
        </p:nvSpPr>
        <p:spPr>
          <a:xfrm>
            <a:off x="4507855" y="4091136"/>
            <a:ext cx="128141" cy="128141"/>
          </a:xfrm>
          <a:prstGeom prst="ellipse">
            <a:avLst/>
          </a:prstGeom>
          <a:solidFill>
            <a:srgbClr val="E8A020"/>
          </a:solidFill>
          <a:ln w="9525">
            <a:solidFill>
              <a:srgbClr val="0D1B2A"/>
            </a:solidFill>
          </a:ln>
          <a:effectLst>
            <a:outerShdw blurRad="101600" dist="50800" dir="16200000" algn="bl" rotWithShape="0">
              <a:srgbClr val="E8A020">
                <a:alpha val="4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50000">
                <a:srgbClr val="C07010"/>
              </a:gs>
              <a:gs pos="100000">
                <a:srgbClr val="E8A02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29170"/>
            <a:ext cx="29170" cy="5114330"/>
          </a:xfrm>
          <a:prstGeom prst="rect">
            <a:avLst/>
          </a:prstGeom>
          <a:gradFill rotWithShape="1">
            <a:gsLst>
              <a:gs pos="0">
                <a:srgbClr val="E8A020">
                  <a:alpha val="5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39669" y="114300"/>
            <a:ext cx="234548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kern="0" spc="67" dirty="0">
                <a:solidFill>
                  <a:srgbClr val="94AF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· VISHING · SOCIAL ENGINEERING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372070" y="157460"/>
            <a:ext cx="923984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ANATOMY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372070" y="304651"/>
            <a:ext cx="898785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7"/>
              </a:lnSpc>
              <a:buNone/>
            </a:pPr>
            <a:r>
              <a:rPr lang="en-US" sz="1580" kern="0" spc="-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a </a:t>
            </a:r>
            <a:r>
              <a:rPr lang="en-US" sz="1580" b="1" kern="0" spc="-16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Cloning Attack</a:t>
            </a:r>
            <a:r>
              <a:rPr lang="en-US" sz="1580" kern="0" spc="-16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Works — Step by Step</a:t>
            </a:r>
            <a:endParaRPr lang="en-US" sz="1580" dirty="0"/>
          </a:p>
        </p:txBody>
      </p:sp>
      <p:sp>
        <p:nvSpPr>
          <p:cNvPr id="9" name="Text 7"/>
          <p:cNvSpPr/>
          <p:nvPr/>
        </p:nvSpPr>
        <p:spPr>
          <a:xfrm>
            <a:off x="372070" y="556915"/>
            <a:ext cx="923984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sequence has cost financial institutions millions — know every step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285750" y="772120"/>
            <a:ext cx="1599605" cy="2341215"/>
          </a:xfrm>
          <a:prstGeom prst="roundRect">
            <a:avLst>
              <a:gd name="adj" fmla="val 4446"/>
            </a:avLst>
          </a:prstGeom>
          <a:solidFill>
            <a:srgbClr val="1A2E42"/>
          </a:solidFill>
          <a:ln w="9525">
            <a:solidFill>
              <a:srgbClr val="E8A020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5585" y="895945"/>
            <a:ext cx="200620" cy="220682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653355" y="942826"/>
            <a:ext cx="45937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560" dirty="0"/>
          </a:p>
        </p:txBody>
      </p:sp>
      <p:sp>
        <p:nvSpPr>
          <p:cNvPr id="13" name="Text 11"/>
          <p:cNvSpPr/>
          <p:nvPr/>
        </p:nvSpPr>
        <p:spPr>
          <a:xfrm>
            <a:off x="935682" y="1167557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E8A02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9110" y="1250984"/>
            <a:ext cx="132588" cy="1325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6588" y="1553468"/>
            <a:ext cx="1517928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Search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381786" y="1740843"/>
            <a:ext cx="1407533" cy="109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finds CEO, CFO, or senior manager audio on </a:t>
            </a:r>
            <a:r>
              <a:rPr lang="en-US" sz="680" b="1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videos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webinar recordings, earnings calls, and conference presentations. </a:t>
            </a:r>
            <a:br/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i="1" dirty="0">
                <a:solidFill>
                  <a:srgbClr val="7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tools need as little as </a:t>
            </a:r>
            <a:r>
              <a:rPr lang="en-US" sz="680" b="1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seconds</a:t>
            </a:r>
            <a:r>
              <a:rPr lang="en-US" sz="680" i="1" dirty="0">
                <a:solidFill>
                  <a:srgbClr val="7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clear audio.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684312" y="2855863"/>
            <a:ext cx="802332" cy="162401"/>
          </a:xfrm>
          <a:prstGeom prst="roundRect">
            <a:avLst>
              <a:gd name="adj" fmla="val 17986"/>
            </a:avLst>
          </a:prstGeom>
          <a:solidFill>
            <a:srgbClr val="E05050">
              <a:alpha val="15000"/>
            </a:srgbClr>
          </a:solidFill>
          <a:ln w="9525">
            <a:solidFill>
              <a:srgbClr val="E0505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PHASE</a:t>
            </a:r>
            <a:endParaRPr lang="en-US" sz="53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0796" y="1876360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028825" y="772120"/>
            <a:ext cx="1599754" cy="2341215"/>
          </a:xfrm>
          <a:prstGeom prst="roundRect">
            <a:avLst>
              <a:gd name="adj" fmla="val 4446"/>
            </a:avLst>
          </a:prstGeom>
          <a:solidFill>
            <a:srgbClr val="1A2E42"/>
          </a:solidFill>
          <a:ln w="9525">
            <a:solidFill>
              <a:srgbClr val="E8A020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138660" y="895945"/>
            <a:ext cx="200620" cy="220682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21" name="Text 17"/>
          <p:cNvSpPr/>
          <p:nvPr/>
        </p:nvSpPr>
        <p:spPr>
          <a:xfrm>
            <a:off x="2396430" y="942826"/>
            <a:ext cx="33593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</a:t>
            </a:r>
            <a:endParaRPr lang="en-US" sz="560" dirty="0"/>
          </a:p>
        </p:txBody>
      </p:sp>
      <p:sp>
        <p:nvSpPr>
          <p:cNvPr id="22" name="Text 18"/>
          <p:cNvSpPr/>
          <p:nvPr/>
        </p:nvSpPr>
        <p:spPr>
          <a:xfrm>
            <a:off x="2678906" y="1167557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E8A02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333" y="1250984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069656" y="1553468"/>
            <a:ext cx="151809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Clone</a:t>
            </a:r>
            <a:endParaRPr lang="en-US" sz="820" dirty="0"/>
          </a:p>
        </p:txBody>
      </p:sp>
      <p:sp>
        <p:nvSpPr>
          <p:cNvPr id="25" name="Text 20"/>
          <p:cNvSpPr/>
          <p:nvPr/>
        </p:nvSpPr>
        <p:spPr>
          <a:xfrm>
            <a:off x="2124859" y="1740843"/>
            <a:ext cx="1407685" cy="109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commercial AI voice tool — available for as little as </a:t>
            </a: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$5/month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replicates the exact voice, accent, and cadence. </a:t>
            </a:r>
            <a:br/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i="1" dirty="0">
                <a:solidFill>
                  <a:srgbClr val="7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can now make the cloned voice </a:t>
            </a:r>
            <a:r>
              <a:rPr lang="en-US" sz="680" b="1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anything.</a:t>
            </a:r>
            <a:endParaRPr lang="en-US" sz="680" dirty="0"/>
          </a:p>
        </p:txBody>
      </p:sp>
      <p:sp>
        <p:nvSpPr>
          <p:cNvPr id="26" name="Text 21"/>
          <p:cNvSpPr/>
          <p:nvPr/>
        </p:nvSpPr>
        <p:spPr>
          <a:xfrm>
            <a:off x="2427536" y="2855863"/>
            <a:ext cx="802332" cy="162401"/>
          </a:xfrm>
          <a:prstGeom prst="roundRect">
            <a:avLst>
              <a:gd name="adj" fmla="val 17986"/>
            </a:avLst>
          </a:prstGeom>
          <a:solidFill>
            <a:srgbClr val="E05050">
              <a:alpha val="15000"/>
            </a:srgbClr>
          </a:solidFill>
          <a:ln w="9525">
            <a:solidFill>
              <a:srgbClr val="E0505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PHASE</a:t>
            </a:r>
            <a:endParaRPr lang="en-US" sz="53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4020" y="1876360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3772049" y="772120"/>
            <a:ext cx="1599754" cy="2341215"/>
          </a:xfrm>
          <a:prstGeom prst="roundRect">
            <a:avLst>
              <a:gd name="adj" fmla="val 4446"/>
            </a:avLst>
          </a:prstGeom>
          <a:solidFill>
            <a:srgbClr val="1A2E42"/>
          </a:solidFill>
          <a:ln w="9525">
            <a:solidFill>
              <a:srgbClr val="E8A020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881884" y="895945"/>
            <a:ext cx="200620" cy="220682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30" name="Text 24"/>
          <p:cNvSpPr/>
          <p:nvPr/>
        </p:nvSpPr>
        <p:spPr>
          <a:xfrm>
            <a:off x="4139654" y="942826"/>
            <a:ext cx="25833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560" dirty="0"/>
          </a:p>
        </p:txBody>
      </p:sp>
      <p:sp>
        <p:nvSpPr>
          <p:cNvPr id="31" name="Text 25"/>
          <p:cNvSpPr/>
          <p:nvPr/>
        </p:nvSpPr>
        <p:spPr>
          <a:xfrm>
            <a:off x="4422130" y="1167557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E8A02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557" y="1250984"/>
            <a:ext cx="132588" cy="13258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12880" y="1553468"/>
            <a:ext cx="151809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 Call</a:t>
            </a:r>
            <a:endParaRPr lang="en-US" sz="820" dirty="0"/>
          </a:p>
        </p:txBody>
      </p:sp>
      <p:sp>
        <p:nvSpPr>
          <p:cNvPr id="34" name="Text 27"/>
          <p:cNvSpPr/>
          <p:nvPr/>
        </p:nvSpPr>
        <p:spPr>
          <a:xfrm>
            <a:off x="3868083" y="1740843"/>
            <a:ext cx="1407685" cy="109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a finance team member or branch manager. Caller ID is </a:t>
            </a: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spoofed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show the real executive's name. </a:t>
            </a:r>
            <a:br/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i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"Process this wire now. Do not use normal channels. </a:t>
            </a:r>
            <a:r>
              <a:rPr lang="en-US" sz="680" b="1" i="1" dirty="0">
                <a:solidFill>
                  <a:srgbClr val="F0C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confidential.</a:t>
            </a:r>
            <a:r>
              <a:rPr lang="en-US" sz="680" i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680" dirty="0"/>
          </a:p>
        </p:txBody>
      </p:sp>
      <p:sp>
        <p:nvSpPr>
          <p:cNvPr id="35" name="Text 28"/>
          <p:cNvSpPr/>
          <p:nvPr/>
        </p:nvSpPr>
        <p:spPr>
          <a:xfrm>
            <a:off x="4170759" y="2855863"/>
            <a:ext cx="802332" cy="162401"/>
          </a:xfrm>
          <a:prstGeom prst="roundRect">
            <a:avLst>
              <a:gd name="adj" fmla="val 17986"/>
            </a:avLst>
          </a:prstGeom>
          <a:solidFill>
            <a:srgbClr val="E05050">
              <a:alpha val="15000"/>
            </a:srgbClr>
          </a:solidFill>
          <a:ln w="9525">
            <a:solidFill>
              <a:srgbClr val="E0505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PHASE</a:t>
            </a:r>
            <a:endParaRPr lang="en-US" sz="53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7244" y="1876360"/>
            <a:ext cx="132588" cy="132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515273" y="772120"/>
            <a:ext cx="1599754" cy="2341215"/>
          </a:xfrm>
          <a:prstGeom prst="roundRect">
            <a:avLst>
              <a:gd name="adj" fmla="val 4446"/>
            </a:avLst>
          </a:prstGeom>
          <a:solidFill>
            <a:srgbClr val="1A2E42"/>
          </a:solidFill>
          <a:ln w="9525">
            <a:solidFill>
              <a:srgbClr val="E8A020">
                <a:alpha val="14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5625108" y="895945"/>
            <a:ext cx="200620" cy="220682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39" name="Text 31"/>
          <p:cNvSpPr/>
          <p:nvPr/>
        </p:nvSpPr>
        <p:spPr>
          <a:xfrm>
            <a:off x="5882878" y="942826"/>
            <a:ext cx="529769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endParaRPr lang="en-US" sz="560" dirty="0"/>
          </a:p>
        </p:txBody>
      </p:sp>
      <p:sp>
        <p:nvSpPr>
          <p:cNvPr id="40" name="Text 32"/>
          <p:cNvSpPr/>
          <p:nvPr/>
        </p:nvSpPr>
        <p:spPr>
          <a:xfrm>
            <a:off x="6165354" y="1167557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E8A02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48781" y="1250984"/>
            <a:ext cx="132588" cy="132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556104" y="1553468"/>
            <a:ext cx="1518092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</a:t>
            </a:r>
            <a:endParaRPr lang="en-US" sz="820" dirty="0"/>
          </a:p>
        </p:txBody>
      </p:sp>
      <p:sp>
        <p:nvSpPr>
          <p:cNvPr id="43" name="Text 34"/>
          <p:cNvSpPr/>
          <p:nvPr/>
        </p:nvSpPr>
        <p:spPr>
          <a:xfrm>
            <a:off x="5611307" y="1740843"/>
            <a:ext cx="1407685" cy="1096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</a:t>
            </a:r>
            <a:r>
              <a:rPr lang="en-US" sz="68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· authority · confidentiality · fear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universal social engineering levers. </a:t>
            </a:r>
            <a:br/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i="1" dirty="0">
                <a:solidFill>
                  <a:srgbClr val="7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delivers these in a </a:t>
            </a:r>
            <a:r>
              <a:rPr lang="en-US" sz="680" b="1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voice</a:t>
            </a:r>
            <a:r>
              <a:rPr lang="en-US" sz="680" i="1" dirty="0">
                <a:solidFill>
                  <a:srgbClr val="7A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making resistance feel disloyal.</a:t>
            </a:r>
            <a:endParaRPr lang="en-US" sz="680" dirty="0"/>
          </a:p>
        </p:txBody>
      </p:sp>
      <p:sp>
        <p:nvSpPr>
          <p:cNvPr id="44" name="Text 35"/>
          <p:cNvSpPr/>
          <p:nvPr/>
        </p:nvSpPr>
        <p:spPr>
          <a:xfrm>
            <a:off x="5913983" y="2855863"/>
            <a:ext cx="802332" cy="162401"/>
          </a:xfrm>
          <a:prstGeom prst="roundRect">
            <a:avLst>
              <a:gd name="adj" fmla="val 17986"/>
            </a:avLst>
          </a:prstGeom>
          <a:solidFill>
            <a:srgbClr val="E05050">
              <a:alpha val="15000"/>
            </a:srgbClr>
          </a:solidFill>
          <a:ln w="9525">
            <a:solidFill>
              <a:srgbClr val="E0505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E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PHASE</a:t>
            </a:r>
            <a:endParaRPr lang="en-US" sz="530" dirty="0"/>
          </a:p>
        </p:txBody>
      </p:sp>
      <p:pic>
        <p:nvPicPr>
          <p:cNvPr id="45" name="Image 7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20467" y="1876360"/>
            <a:ext cx="132588" cy="13258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7258496" y="772120"/>
            <a:ext cx="1599754" cy="2341215"/>
          </a:xfrm>
          <a:prstGeom prst="roundRect">
            <a:avLst>
              <a:gd name="adj" fmla="val 4446"/>
            </a:avLst>
          </a:prstGeom>
          <a:solidFill>
            <a:srgbClr val="1F2E10"/>
          </a:solidFill>
          <a:ln w="9525">
            <a:solidFill>
              <a:srgbClr val="E8A020"/>
            </a:solidFill>
          </a:ln>
          <a:effectLst>
            <a:outerShdw blurRad="128270" dist="50800" dir="16200000" algn="bl" rotWithShape="0">
              <a:srgbClr val="E8A020">
                <a:alpha val="18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37"/>
          <p:cNvSpPr/>
          <p:nvPr/>
        </p:nvSpPr>
        <p:spPr>
          <a:xfrm>
            <a:off x="7368332" y="895945"/>
            <a:ext cx="200620" cy="220682"/>
          </a:xfrm>
          <a:prstGeom prst="ellipse">
            <a:avLst/>
          </a:prstGeom>
          <a:solidFill>
            <a:srgbClr val="E8A020">
              <a:alpha val="30000"/>
            </a:srgbClr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48" name="Text 38"/>
          <p:cNvSpPr/>
          <p:nvPr/>
        </p:nvSpPr>
        <p:spPr>
          <a:xfrm>
            <a:off x="7626102" y="942826"/>
            <a:ext cx="787613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9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DECISION</a:t>
            </a:r>
            <a:endParaRPr lang="en-US" sz="560" dirty="0"/>
          </a:p>
        </p:txBody>
      </p:sp>
      <p:sp>
        <p:nvSpPr>
          <p:cNvPr id="49" name="Text 39"/>
          <p:cNvSpPr/>
          <p:nvPr/>
        </p:nvSpPr>
        <p:spPr>
          <a:xfrm>
            <a:off x="7908578" y="1167557"/>
            <a:ext cx="299591" cy="299591"/>
          </a:xfrm>
          <a:prstGeom prst="roundRect">
            <a:avLst>
              <a:gd name="adj" fmla="val 19076"/>
            </a:avLst>
          </a:prstGeom>
          <a:solidFill>
            <a:srgbClr val="E8A020">
              <a:alpha val="1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2005" y="1250984"/>
            <a:ext cx="132588" cy="13258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7354531" y="1553468"/>
            <a:ext cx="1407685" cy="2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25"/>
              </a:lnSpc>
              <a:buNone/>
            </a:pPr>
            <a:r>
              <a:rPr lang="en-US" sz="8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Moment Decides Everything</a:t>
            </a:r>
            <a:endParaRPr lang="en-US" sz="820" dirty="0"/>
          </a:p>
        </p:txBody>
      </p:sp>
      <p:sp>
        <p:nvSpPr>
          <p:cNvPr id="52" name="Text 41"/>
          <p:cNvSpPr/>
          <p:nvPr/>
        </p:nvSpPr>
        <p:spPr>
          <a:xfrm>
            <a:off x="7354531" y="1871067"/>
            <a:ext cx="1407685" cy="9594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020"/>
              </a:lnSpc>
              <a:buNone/>
            </a:pPr>
            <a:r>
              <a:rPr lang="en-US" sz="680" dirty="0">
                <a:solidFill>
                  <a:srgbClr val="D0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saves the institution: </a:t>
            </a:r>
            <a:br/>
            <a:r>
              <a:rPr lang="en-US" sz="680" dirty="0">
                <a:solidFill>
                  <a:srgbClr val="D0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"I'll call you back on your registered number to confirm."</a:t>
            </a:r>
            <a:r>
              <a:rPr lang="en-US" sz="680" dirty="0">
                <a:solidFill>
                  <a:srgbClr val="D0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/>
            <a:r>
              <a:rPr lang="en-US" sz="680" dirty="0">
                <a:solidFill>
                  <a:srgbClr val="D0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680" i="1" dirty="0">
                <a:solidFill>
                  <a:srgbClr val="B8D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executive </a:t>
            </a:r>
            <a:r>
              <a:rPr lang="en-US" sz="680" b="1" i="1" dirty="0">
                <a:solidFill>
                  <a:srgbClr val="D4F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agrees.</a:t>
            </a:r>
            <a:r>
              <a:rPr lang="en-US" sz="680" i="1" dirty="0">
                <a:solidFill>
                  <a:srgbClr val="B8D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fraudster pushes back — or hangs up.</a:t>
            </a:r>
            <a:endParaRPr lang="en-US" sz="680" dirty="0"/>
          </a:p>
        </p:txBody>
      </p:sp>
      <p:sp>
        <p:nvSpPr>
          <p:cNvPr id="53" name="Text 42"/>
          <p:cNvSpPr/>
          <p:nvPr/>
        </p:nvSpPr>
        <p:spPr>
          <a:xfrm>
            <a:off x="7657654" y="2855863"/>
            <a:ext cx="801291" cy="162401"/>
          </a:xfrm>
          <a:prstGeom prst="roundRect">
            <a:avLst>
              <a:gd name="adj" fmla="val 17986"/>
            </a:avLst>
          </a:prstGeom>
          <a:solidFill>
            <a:srgbClr val="E8A020">
              <a:alpha val="20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YOUR DEFENCE</a:t>
            </a:r>
            <a:endParaRPr lang="en-US" sz="530" dirty="0"/>
          </a:p>
        </p:txBody>
      </p:sp>
      <p:sp>
        <p:nvSpPr>
          <p:cNvPr id="54" name="Text 43"/>
          <p:cNvSpPr/>
          <p:nvPr/>
        </p:nvSpPr>
        <p:spPr>
          <a:xfrm>
            <a:off x="285750" y="4581079"/>
            <a:ext cx="8572500" cy="434280"/>
          </a:xfrm>
          <a:prstGeom prst="roundRect">
            <a:avLst>
              <a:gd name="adj" fmla="val 16377"/>
            </a:avLst>
          </a:prstGeom>
          <a:gradFill rotWithShape="1">
            <a:gsLst>
              <a:gs pos="0">
                <a:srgbClr val="E8A020">
                  <a:alpha val="18000"/>
                </a:srgbClr>
              </a:gs>
              <a:gs pos="100000">
                <a:srgbClr val="E8A020">
                  <a:alpha val="8000"/>
                </a:srgbClr>
              </a:gs>
            </a:gsLst>
            <a:lin ang="2700000" scaled="1"/>
          </a:gradFill>
          <a:ln w="9525">
            <a:solidFill>
              <a:srgbClr val="E8A020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466725" y="4669334"/>
            <a:ext cx="257770" cy="257770"/>
          </a:xfrm>
          <a:prstGeom prst="ellipse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9242" y="4731850"/>
            <a:ext cx="132588" cy="132588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824805" y="4730651"/>
            <a:ext cx="7787074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callback is your shield. </a:t>
            </a: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every time — no matter who is asking or how urgent it sounds. A legitimate executive will always wait 60 seconds for you to verify.</a:t>
            </a:r>
            <a:endParaRPr lang="en-US" sz="760" dirty="0"/>
          </a:p>
        </p:txBody>
      </p:sp>
      <p:sp>
        <p:nvSpPr>
          <p:cNvPr id="58" name="Text 46"/>
          <p:cNvSpPr/>
          <p:nvPr/>
        </p:nvSpPr>
        <p:spPr>
          <a:xfrm>
            <a:off x="295275" y="781645"/>
            <a:ext cx="1580559" cy="21580"/>
          </a:xfrm>
          <a:custGeom>
            <a:avLst/>
            <a:gdLst/>
            <a:ahLst/>
            <a:cxnLst/>
            <a:rect l="l" t="t" r="r" b="b"/>
            <a:pathLst>
              <a:path w="1580559" h="21580">
                <a:moveTo>
                  <a:pt x="71120" y="0"/>
                </a:moveTo>
                <a:lnTo>
                  <a:pt x="1509439" y="0"/>
                </a:lnTo>
                <a:lnTo>
                  <a:pt x="1528841" y="2698"/>
                </a:lnTo>
                <a:lnTo>
                  <a:pt x="1536611" y="5395"/>
                </a:lnTo>
                <a:lnTo>
                  <a:pt x="1542388" y="8093"/>
                </a:lnTo>
                <a:lnTo>
                  <a:pt x="1547100" y="10790"/>
                </a:lnTo>
                <a:lnTo>
                  <a:pt x="1551111" y="13488"/>
                </a:lnTo>
                <a:lnTo>
                  <a:pt x="1554608" y="16185"/>
                </a:lnTo>
                <a:lnTo>
                  <a:pt x="1557702" y="18883"/>
                </a:lnTo>
                <a:lnTo>
                  <a:pt x="1560467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7"/>
          <p:cNvSpPr/>
          <p:nvPr/>
        </p:nvSpPr>
        <p:spPr>
          <a:xfrm>
            <a:off x="2038350" y="781645"/>
            <a:ext cx="1580702" cy="21580"/>
          </a:xfrm>
          <a:custGeom>
            <a:avLst/>
            <a:gdLst/>
            <a:ahLst/>
            <a:cxnLst/>
            <a:rect l="l" t="t" r="r" b="b"/>
            <a:pathLst>
              <a:path w="1580702" h="21580">
                <a:moveTo>
                  <a:pt x="71120" y="0"/>
                </a:moveTo>
                <a:lnTo>
                  <a:pt x="1509582" y="0"/>
                </a:lnTo>
                <a:lnTo>
                  <a:pt x="1528984" y="2698"/>
                </a:lnTo>
                <a:lnTo>
                  <a:pt x="1536754" y="5395"/>
                </a:lnTo>
                <a:lnTo>
                  <a:pt x="1542531" y="8093"/>
                </a:lnTo>
                <a:lnTo>
                  <a:pt x="1547243" y="10790"/>
                </a:lnTo>
                <a:lnTo>
                  <a:pt x="1551254" y="13488"/>
                </a:lnTo>
                <a:lnTo>
                  <a:pt x="1554751" y="16185"/>
                </a:lnTo>
                <a:lnTo>
                  <a:pt x="1557845" y="18883"/>
                </a:lnTo>
                <a:lnTo>
                  <a:pt x="1560610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8"/>
          <p:cNvSpPr/>
          <p:nvPr/>
        </p:nvSpPr>
        <p:spPr>
          <a:xfrm>
            <a:off x="3781574" y="781645"/>
            <a:ext cx="1580702" cy="21580"/>
          </a:xfrm>
          <a:custGeom>
            <a:avLst/>
            <a:gdLst/>
            <a:ahLst/>
            <a:cxnLst/>
            <a:rect l="l" t="t" r="r" b="b"/>
            <a:pathLst>
              <a:path w="1580702" h="21580">
                <a:moveTo>
                  <a:pt x="71120" y="0"/>
                </a:moveTo>
                <a:lnTo>
                  <a:pt x="1509582" y="0"/>
                </a:lnTo>
                <a:lnTo>
                  <a:pt x="1528984" y="2698"/>
                </a:lnTo>
                <a:lnTo>
                  <a:pt x="1536754" y="5395"/>
                </a:lnTo>
                <a:lnTo>
                  <a:pt x="1542531" y="8093"/>
                </a:lnTo>
                <a:lnTo>
                  <a:pt x="1547243" y="10790"/>
                </a:lnTo>
                <a:lnTo>
                  <a:pt x="1551254" y="13488"/>
                </a:lnTo>
                <a:lnTo>
                  <a:pt x="1554751" y="16185"/>
                </a:lnTo>
                <a:lnTo>
                  <a:pt x="1557845" y="18883"/>
                </a:lnTo>
                <a:lnTo>
                  <a:pt x="1560610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9"/>
          <p:cNvSpPr/>
          <p:nvPr/>
        </p:nvSpPr>
        <p:spPr>
          <a:xfrm>
            <a:off x="5524798" y="781645"/>
            <a:ext cx="1580702" cy="21580"/>
          </a:xfrm>
          <a:custGeom>
            <a:avLst/>
            <a:gdLst/>
            <a:ahLst/>
            <a:cxnLst/>
            <a:rect l="l" t="t" r="r" b="b"/>
            <a:pathLst>
              <a:path w="1580702" h="21580">
                <a:moveTo>
                  <a:pt x="71120" y="0"/>
                </a:moveTo>
                <a:lnTo>
                  <a:pt x="1509582" y="0"/>
                </a:lnTo>
                <a:lnTo>
                  <a:pt x="1528984" y="2698"/>
                </a:lnTo>
                <a:lnTo>
                  <a:pt x="1536754" y="5395"/>
                </a:lnTo>
                <a:lnTo>
                  <a:pt x="1542531" y="8093"/>
                </a:lnTo>
                <a:lnTo>
                  <a:pt x="1547243" y="10790"/>
                </a:lnTo>
                <a:lnTo>
                  <a:pt x="1551254" y="13488"/>
                </a:lnTo>
                <a:lnTo>
                  <a:pt x="1554751" y="16185"/>
                </a:lnTo>
                <a:lnTo>
                  <a:pt x="1557845" y="18883"/>
                </a:lnTo>
                <a:lnTo>
                  <a:pt x="1560610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0"/>
          <p:cNvSpPr/>
          <p:nvPr/>
        </p:nvSpPr>
        <p:spPr>
          <a:xfrm>
            <a:off x="7268021" y="781645"/>
            <a:ext cx="1580702" cy="21580"/>
          </a:xfrm>
          <a:custGeom>
            <a:avLst/>
            <a:gdLst/>
            <a:ahLst/>
            <a:cxnLst/>
            <a:rect l="l" t="t" r="r" b="b"/>
            <a:pathLst>
              <a:path w="1580702" h="21580">
                <a:moveTo>
                  <a:pt x="71120" y="0"/>
                </a:moveTo>
                <a:lnTo>
                  <a:pt x="1509582" y="0"/>
                </a:lnTo>
                <a:lnTo>
                  <a:pt x="1528984" y="2698"/>
                </a:lnTo>
                <a:lnTo>
                  <a:pt x="1536754" y="5395"/>
                </a:lnTo>
                <a:lnTo>
                  <a:pt x="1542531" y="8093"/>
                </a:lnTo>
                <a:lnTo>
                  <a:pt x="1547243" y="10790"/>
                </a:lnTo>
                <a:lnTo>
                  <a:pt x="1551254" y="13488"/>
                </a:lnTo>
                <a:lnTo>
                  <a:pt x="1554751" y="16185"/>
                </a:lnTo>
                <a:lnTo>
                  <a:pt x="1557845" y="18883"/>
                </a:lnTo>
                <a:lnTo>
                  <a:pt x="1560610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86085"/>
            <a:ext cx="4321671" cy="4258270"/>
          </a:xfrm>
          <a:prstGeom prst="rect">
            <a:avLst/>
          </a:prstGeom>
          <a:solidFill>
            <a:srgbClr val="F0F5F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2900" y="931366"/>
            <a:ext cx="3778151" cy="9525"/>
          </a:xfrm>
          <a:prstGeom prst="rect">
            <a:avLst/>
          </a:prstGeom>
          <a:solidFill>
            <a:srgbClr val="E84444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407" y="727927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494" y="714226"/>
            <a:ext cx="273495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VISUAL RED FLAGS DURING A VIDEO CALL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342900" y="1027212"/>
            <a:ext cx="3778151" cy="47699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42900" y="1027212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32941" y="1091952"/>
            <a:ext cx="242441" cy="242441"/>
          </a:xfrm>
          <a:prstGeom prst="ellipse">
            <a:avLst/>
          </a:prstGeom>
          <a:solidFill>
            <a:srgbClr val="FF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793" y="1146804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4112" y="1084362"/>
            <a:ext cx="362554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Blinking — Too Regular or Too Rare</a:t>
            </a:r>
            <a:endParaRPr lang="en-US" sz="760" dirty="0"/>
          </a:p>
        </p:txBody>
      </p:sp>
      <p:sp>
        <p:nvSpPr>
          <p:cNvPr id="11" name="Text 7"/>
          <p:cNvSpPr/>
          <p:nvPr/>
        </p:nvSpPr>
        <p:spPr>
          <a:xfrm>
            <a:off x="754112" y="1213991"/>
            <a:ext cx="3361867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 rhythmic blinks, no blink for extended periods, or oddly uniform blink timing. Real human blinking is naturally irregular.</a:t>
            </a:r>
            <a:endParaRPr lang="en-US" sz="680" dirty="0"/>
          </a:p>
        </p:txBody>
      </p:sp>
      <p:sp>
        <p:nvSpPr>
          <p:cNvPr id="12" name="Text 8"/>
          <p:cNvSpPr/>
          <p:nvPr/>
        </p:nvSpPr>
        <p:spPr>
          <a:xfrm>
            <a:off x="342900" y="1561356"/>
            <a:ext cx="3778151" cy="47699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42900" y="1561356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32941" y="1626096"/>
            <a:ext cx="242441" cy="242441"/>
          </a:xfrm>
          <a:prstGeom prst="ellipse">
            <a:avLst/>
          </a:prstGeom>
          <a:solidFill>
            <a:srgbClr val="FF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7793" y="1680948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4112" y="1618506"/>
            <a:ext cx="362554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 &amp; Hair Edges — Shimmer or Blur</a:t>
            </a:r>
            <a:endParaRPr lang="en-US" sz="760" dirty="0"/>
          </a:p>
        </p:txBody>
      </p:sp>
      <p:sp>
        <p:nvSpPr>
          <p:cNvPr id="17" name="Text 12"/>
          <p:cNvSpPr/>
          <p:nvPr/>
        </p:nvSpPr>
        <p:spPr>
          <a:xfrm>
            <a:off x="754112" y="1748135"/>
            <a:ext cx="3361867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soft halo glow, unnatural smoothing, or shimmer at the boundary between face and background — especially around ears and hairline.</a:t>
            </a:r>
            <a:endParaRPr lang="en-US" sz="680" dirty="0"/>
          </a:p>
        </p:txBody>
      </p:sp>
      <p:sp>
        <p:nvSpPr>
          <p:cNvPr id="18" name="Text 13"/>
          <p:cNvSpPr/>
          <p:nvPr/>
        </p:nvSpPr>
        <p:spPr>
          <a:xfrm>
            <a:off x="342900" y="2095500"/>
            <a:ext cx="3778151" cy="47699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42900" y="2095500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32941" y="2160240"/>
            <a:ext cx="242441" cy="242441"/>
          </a:xfrm>
          <a:prstGeom prst="ellipse">
            <a:avLst/>
          </a:prstGeom>
          <a:solidFill>
            <a:srgbClr val="FF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793" y="2215092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4112" y="2152650"/>
            <a:ext cx="362554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Reflections — Inconsistent or Absent</a:t>
            </a:r>
            <a:endParaRPr lang="en-US" sz="760" dirty="0"/>
          </a:p>
        </p:txBody>
      </p:sp>
      <p:sp>
        <p:nvSpPr>
          <p:cNvPr id="23" name="Text 17"/>
          <p:cNvSpPr/>
          <p:nvPr/>
        </p:nvSpPr>
        <p:spPr>
          <a:xfrm>
            <a:off x="754112" y="2282279"/>
            <a:ext cx="3361867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eyes should reflect the same room light sources. Deepfakes often show mismatched, absent, or artificially placed corneal reflections.</a:t>
            </a:r>
            <a:endParaRPr lang="en-US" sz="680" dirty="0"/>
          </a:p>
        </p:txBody>
      </p:sp>
      <p:sp>
        <p:nvSpPr>
          <p:cNvPr id="24" name="Text 18"/>
          <p:cNvSpPr/>
          <p:nvPr/>
        </p:nvSpPr>
        <p:spPr>
          <a:xfrm>
            <a:off x="342900" y="2629644"/>
            <a:ext cx="3778151" cy="47699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342900" y="2629644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432941" y="2694384"/>
            <a:ext cx="242441" cy="242441"/>
          </a:xfrm>
          <a:prstGeom prst="ellipse">
            <a:avLst/>
          </a:prstGeom>
          <a:solidFill>
            <a:srgbClr val="FF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7793" y="2749236"/>
            <a:ext cx="132588" cy="132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54112" y="2686794"/>
            <a:ext cx="362554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Lip Sync — Slight Audio Mismatch</a:t>
            </a:r>
            <a:endParaRPr lang="en-US" sz="760" dirty="0"/>
          </a:p>
        </p:txBody>
      </p:sp>
      <p:sp>
        <p:nvSpPr>
          <p:cNvPr id="29" name="Text 22"/>
          <p:cNvSpPr/>
          <p:nvPr/>
        </p:nvSpPr>
        <p:spPr>
          <a:xfrm>
            <a:off x="754112" y="2816423"/>
            <a:ext cx="3361867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mouth movement that trails or leads audio, especially on 'b', 'p', 'm' consonants where lip closure is visually distinct.</a:t>
            </a:r>
            <a:endParaRPr lang="en-US" sz="680" dirty="0"/>
          </a:p>
        </p:txBody>
      </p:sp>
      <p:sp>
        <p:nvSpPr>
          <p:cNvPr id="30" name="Text 23"/>
          <p:cNvSpPr/>
          <p:nvPr/>
        </p:nvSpPr>
        <p:spPr>
          <a:xfrm>
            <a:off x="342900" y="3163788"/>
            <a:ext cx="3778151" cy="47699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342900" y="3163788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32941" y="3228529"/>
            <a:ext cx="242441" cy="242441"/>
          </a:xfrm>
          <a:prstGeom prst="ellipse">
            <a:avLst/>
          </a:prstGeom>
          <a:solidFill>
            <a:srgbClr val="FF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793" y="3283381"/>
            <a:ext cx="132588" cy="13258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54112" y="3220938"/>
            <a:ext cx="362554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Texture — Unnaturally Smooth</a:t>
            </a:r>
            <a:endParaRPr lang="en-US" sz="760" dirty="0"/>
          </a:p>
        </p:txBody>
      </p:sp>
      <p:sp>
        <p:nvSpPr>
          <p:cNvPr id="35" name="Text 27"/>
          <p:cNvSpPr/>
          <p:nvPr/>
        </p:nvSpPr>
        <p:spPr>
          <a:xfrm>
            <a:off x="754112" y="3350568"/>
            <a:ext cx="3361867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skin shows pores, micro-shadows, and natural imperfections. AI faces often look plasticky, over-smoothed, or poreless at normal video resolution.</a:t>
            </a:r>
            <a:endParaRPr lang="en-US" sz="680" dirty="0"/>
          </a:p>
        </p:txBody>
      </p:sp>
      <p:sp>
        <p:nvSpPr>
          <p:cNvPr id="36" name="Text 28"/>
          <p:cNvSpPr/>
          <p:nvPr/>
        </p:nvSpPr>
        <p:spPr>
          <a:xfrm>
            <a:off x="342900" y="3697932"/>
            <a:ext cx="3778151" cy="476994"/>
          </a:xfrm>
          <a:prstGeom prst="roundRect">
            <a:avLst>
              <a:gd name="adj" fmla="val 10384"/>
            </a:avLst>
          </a:prstGeom>
          <a:solidFill>
            <a:srgbClr val="FFFFFF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342900" y="3697932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4444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432941" y="3762673"/>
            <a:ext cx="242441" cy="242441"/>
          </a:xfrm>
          <a:prstGeom prst="ellipse">
            <a:avLst/>
          </a:prstGeom>
          <a:solidFill>
            <a:srgbClr val="FFF0F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793" y="3817525"/>
            <a:ext cx="132588" cy="132588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54112" y="3755082"/>
            <a:ext cx="3625542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Lag — Expressions Trail Words</a:t>
            </a:r>
            <a:endParaRPr lang="en-US" sz="760" dirty="0"/>
          </a:p>
        </p:txBody>
      </p:sp>
      <p:sp>
        <p:nvSpPr>
          <p:cNvPr id="41" name="Text 32"/>
          <p:cNvSpPr/>
          <p:nvPr/>
        </p:nvSpPr>
        <p:spPr>
          <a:xfrm>
            <a:off x="754112" y="3884712"/>
            <a:ext cx="3361867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3A50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expressions that appear a fraction of a second after the spoken words — smiles arriving late, frowns delayed. Human emotion is simultaneous with speech.</a:t>
            </a:r>
            <a:endParaRPr lang="en-US" sz="680" dirty="0"/>
          </a:p>
        </p:txBody>
      </p:sp>
      <p:sp>
        <p:nvSpPr>
          <p:cNvPr id="42" name="Text 33"/>
          <p:cNvSpPr/>
          <p:nvPr/>
        </p:nvSpPr>
        <p:spPr>
          <a:xfrm>
            <a:off x="4321671" y="586085"/>
            <a:ext cx="4822180" cy="4258270"/>
          </a:xfrm>
          <a:prstGeom prst="rect">
            <a:avLst/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4"/>
          <p:cNvSpPr/>
          <p:nvPr/>
        </p:nvSpPr>
        <p:spPr>
          <a:xfrm>
            <a:off x="4321671" y="586085"/>
            <a:ext cx="19050" cy="4258270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5"/>
          <p:cNvSpPr/>
          <p:nvPr/>
        </p:nvSpPr>
        <p:spPr>
          <a:xfrm>
            <a:off x="4340721" y="586085"/>
            <a:ext cx="29170" cy="425827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6"/>
          <p:cNvSpPr/>
          <p:nvPr/>
        </p:nvSpPr>
        <p:spPr>
          <a:xfrm>
            <a:off x="4598491" y="931366"/>
            <a:ext cx="4287589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5999" y="727927"/>
            <a:ext cx="132588" cy="13258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777085" y="714226"/>
            <a:ext cx="192425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 RED FLAGS ON A CALL</a:t>
            </a:r>
            <a:endParaRPr lang="en-US" sz="840" dirty="0"/>
          </a:p>
        </p:txBody>
      </p:sp>
      <p:sp>
        <p:nvSpPr>
          <p:cNvPr id="48" name="Text 38"/>
          <p:cNvSpPr/>
          <p:nvPr/>
        </p:nvSpPr>
        <p:spPr>
          <a:xfrm>
            <a:off x="4598491" y="1027212"/>
            <a:ext cx="4287589" cy="476994"/>
          </a:xfrm>
          <a:prstGeom prst="roundRect">
            <a:avLst>
              <a:gd name="adj" fmla="val 1038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9"/>
          <p:cNvSpPr/>
          <p:nvPr/>
        </p:nvSpPr>
        <p:spPr>
          <a:xfrm>
            <a:off x="4598491" y="1027212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4688532" y="1091952"/>
            <a:ext cx="242441" cy="242441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43385" y="1146804"/>
            <a:ext cx="132588" cy="132588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5009704" y="1084362"/>
            <a:ext cx="418592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Unnatural Flatness — No Vocal Micro-Variation</a:t>
            </a:r>
            <a:endParaRPr lang="en-US" sz="760" dirty="0"/>
          </a:p>
        </p:txBody>
      </p:sp>
      <p:sp>
        <p:nvSpPr>
          <p:cNvPr id="53" name="Text 42"/>
          <p:cNvSpPr/>
          <p:nvPr/>
        </p:nvSpPr>
        <p:spPr>
          <a:xfrm>
            <a:off x="5009704" y="1213991"/>
            <a:ext cx="3881494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Cloned voices lack the subtle pitch wobbles, breath catches, and micro-pauses that characterise real human speech. The voice sounds eerily clean and even.</a:t>
            </a:r>
            <a:endParaRPr lang="en-US" sz="680" dirty="0"/>
          </a:p>
        </p:txBody>
      </p:sp>
      <p:sp>
        <p:nvSpPr>
          <p:cNvPr id="54" name="Text 43"/>
          <p:cNvSpPr/>
          <p:nvPr/>
        </p:nvSpPr>
        <p:spPr>
          <a:xfrm>
            <a:off x="4598491" y="1561356"/>
            <a:ext cx="4287589" cy="476994"/>
          </a:xfrm>
          <a:prstGeom prst="roundRect">
            <a:avLst>
              <a:gd name="adj" fmla="val 1038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4"/>
          <p:cNvSpPr/>
          <p:nvPr/>
        </p:nvSpPr>
        <p:spPr>
          <a:xfrm>
            <a:off x="4598491" y="1561356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5"/>
          <p:cNvSpPr/>
          <p:nvPr/>
        </p:nvSpPr>
        <p:spPr>
          <a:xfrm>
            <a:off x="4688532" y="1626096"/>
            <a:ext cx="242441" cy="242441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3385" y="1680948"/>
            <a:ext cx="132588" cy="132588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5009704" y="1618506"/>
            <a:ext cx="418592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Background Noise — Too Perfect</a:t>
            </a:r>
            <a:endParaRPr lang="en-US" sz="760" dirty="0"/>
          </a:p>
        </p:txBody>
      </p:sp>
      <p:sp>
        <p:nvSpPr>
          <p:cNvPr id="59" name="Text 47"/>
          <p:cNvSpPr/>
          <p:nvPr/>
        </p:nvSpPr>
        <p:spPr>
          <a:xfrm>
            <a:off x="5009704" y="1748135"/>
            <a:ext cx="3881494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calls carry ambient sound — room tone, keyboard clicks, HVAC hum. Synthesised voice audio is often studio-silent. Perfect silence on a phone call is suspicious.</a:t>
            </a:r>
            <a:endParaRPr lang="en-US" sz="680" dirty="0"/>
          </a:p>
        </p:txBody>
      </p:sp>
      <p:sp>
        <p:nvSpPr>
          <p:cNvPr id="60" name="Text 48"/>
          <p:cNvSpPr/>
          <p:nvPr/>
        </p:nvSpPr>
        <p:spPr>
          <a:xfrm>
            <a:off x="4598491" y="2095500"/>
            <a:ext cx="4287589" cy="476994"/>
          </a:xfrm>
          <a:prstGeom prst="roundRect">
            <a:avLst>
              <a:gd name="adj" fmla="val 1038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9"/>
          <p:cNvSpPr/>
          <p:nvPr/>
        </p:nvSpPr>
        <p:spPr>
          <a:xfrm>
            <a:off x="4598491" y="2095500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0"/>
          <p:cNvSpPr/>
          <p:nvPr/>
        </p:nvSpPr>
        <p:spPr>
          <a:xfrm>
            <a:off x="4688532" y="2160240"/>
            <a:ext cx="242441" cy="242441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43385" y="2215092"/>
            <a:ext cx="132588" cy="132588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5009704" y="2152650"/>
            <a:ext cx="418592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Awkward Pauses — Processing Gaps</a:t>
            </a:r>
            <a:endParaRPr lang="en-US" sz="760" dirty="0"/>
          </a:p>
        </p:txBody>
      </p:sp>
      <p:sp>
        <p:nvSpPr>
          <p:cNvPr id="65" name="Text 52"/>
          <p:cNvSpPr/>
          <p:nvPr/>
        </p:nvSpPr>
        <p:spPr>
          <a:xfrm>
            <a:off x="5009704" y="2282279"/>
            <a:ext cx="3881494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synthesis tools introduce unnatural hesitations — particularly at sentence boundaries and during longer utterances — while the model processes and generates.</a:t>
            </a:r>
            <a:endParaRPr lang="en-US" sz="680" dirty="0"/>
          </a:p>
        </p:txBody>
      </p:sp>
      <p:sp>
        <p:nvSpPr>
          <p:cNvPr id="66" name="Text 53"/>
          <p:cNvSpPr/>
          <p:nvPr/>
        </p:nvSpPr>
        <p:spPr>
          <a:xfrm>
            <a:off x="4598491" y="2629644"/>
            <a:ext cx="4287589" cy="476994"/>
          </a:xfrm>
          <a:prstGeom prst="roundRect">
            <a:avLst>
              <a:gd name="adj" fmla="val 10384"/>
            </a:avLst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4"/>
          <p:cNvSpPr/>
          <p:nvPr/>
        </p:nvSpPr>
        <p:spPr>
          <a:xfrm>
            <a:off x="4598491" y="2629644"/>
            <a:ext cx="19050" cy="476994"/>
          </a:xfrm>
          <a:custGeom>
            <a:avLst/>
            <a:gdLst/>
            <a:ahLst/>
            <a:cxnLst/>
            <a:rect l="l" t="t" r="r" b="b"/>
            <a:pathLst>
              <a:path w="19050" h="476994">
                <a:moveTo>
                  <a:pt x="0" y="49530"/>
                </a:moveTo>
                <a:lnTo>
                  <a:pt x="2381" y="34357"/>
                </a:lnTo>
                <a:lnTo>
                  <a:pt x="4763" y="28338"/>
                </a:lnTo>
                <a:lnTo>
                  <a:pt x="7144" y="23905"/>
                </a:lnTo>
                <a:lnTo>
                  <a:pt x="9525" y="20327"/>
                </a:lnTo>
                <a:lnTo>
                  <a:pt x="11906" y="17317"/>
                </a:lnTo>
                <a:lnTo>
                  <a:pt x="14288" y="14728"/>
                </a:lnTo>
                <a:lnTo>
                  <a:pt x="16669" y="12471"/>
                </a:lnTo>
                <a:lnTo>
                  <a:pt x="19050" y="10489"/>
                </a:lnTo>
                <a:lnTo>
                  <a:pt x="19050" y="466505"/>
                </a:lnTo>
                <a:lnTo>
                  <a:pt x="16669" y="464523"/>
                </a:lnTo>
                <a:lnTo>
                  <a:pt x="14288" y="462266"/>
                </a:lnTo>
                <a:lnTo>
                  <a:pt x="11906" y="459677"/>
                </a:lnTo>
                <a:lnTo>
                  <a:pt x="9525" y="456667"/>
                </a:lnTo>
                <a:lnTo>
                  <a:pt x="7144" y="453089"/>
                </a:lnTo>
                <a:lnTo>
                  <a:pt x="4763" y="448656"/>
                </a:lnTo>
                <a:lnTo>
                  <a:pt x="2381" y="442637"/>
                </a:lnTo>
                <a:lnTo>
                  <a:pt x="0" y="427464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5"/>
          <p:cNvSpPr/>
          <p:nvPr/>
        </p:nvSpPr>
        <p:spPr>
          <a:xfrm>
            <a:off x="4688532" y="2694384"/>
            <a:ext cx="242441" cy="242441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43385" y="2749236"/>
            <a:ext cx="132588" cy="132588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5009704" y="2686794"/>
            <a:ext cx="4185925" cy="115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12"/>
              </a:lnSpc>
              <a:buNone/>
            </a:pP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Go Off-Script — Ask Something Personal</a:t>
            </a:r>
            <a:endParaRPr lang="en-US" sz="760" dirty="0"/>
          </a:p>
        </p:txBody>
      </p:sp>
      <p:sp>
        <p:nvSpPr>
          <p:cNvPr id="71" name="Text 57"/>
          <p:cNvSpPr/>
          <p:nvPr/>
        </p:nvSpPr>
        <p:spPr>
          <a:xfrm>
            <a:off x="5009704" y="2816423"/>
            <a:ext cx="3881494" cy="244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8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 unexpected personal question — a shared memory, a detail only they would know. Cloned voices are scripted. Real people improvise naturally and immediately.</a:t>
            </a:r>
            <a:endParaRPr lang="en-US" sz="680" dirty="0"/>
          </a:p>
        </p:txBody>
      </p:sp>
      <p:sp>
        <p:nvSpPr>
          <p:cNvPr id="72" name="Text 58"/>
          <p:cNvSpPr/>
          <p:nvPr/>
        </p:nvSpPr>
        <p:spPr>
          <a:xfrm>
            <a:off x="4598491" y="3177629"/>
            <a:ext cx="4287589" cy="372963"/>
          </a:xfrm>
          <a:prstGeom prst="roundRect">
            <a:avLst>
              <a:gd name="adj" fmla="val 1328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90104" y="3297817"/>
            <a:ext cx="132588" cy="132588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4875461" y="3251895"/>
            <a:ext cx="3978801" cy="2356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84"/>
              </a:lnSpc>
              <a:buNone/>
            </a:pPr>
            <a:r>
              <a:rPr lang="en-US" sz="68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test question: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"What did we discuss at the end of last week's team meeting?" — something personal, recent, and unscriptable.</a:t>
            </a:r>
            <a:endParaRPr lang="en-US" sz="680" dirty="0"/>
          </a:p>
        </p:txBody>
      </p:sp>
      <p:sp>
        <p:nvSpPr>
          <p:cNvPr id="75" name="Text 60"/>
          <p:cNvSpPr/>
          <p:nvPr/>
        </p:nvSpPr>
        <p:spPr>
          <a:xfrm>
            <a:off x="0" y="4729609"/>
            <a:ext cx="9144000" cy="413891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C47D1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6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35616" y="4870260"/>
            <a:ext cx="132588" cy="132588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561231" y="4855964"/>
            <a:ext cx="655588" cy="177299"/>
          </a:xfrm>
          <a:prstGeom prst="roundRect">
            <a:avLst>
              <a:gd name="adj" fmla="val 12177"/>
            </a:avLst>
          </a:prstGeom>
          <a:solidFill>
            <a:srgbClr val="000000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620" dirty="0"/>
          </a:p>
        </p:txBody>
      </p:sp>
      <p:sp>
        <p:nvSpPr>
          <p:cNvPr id="78" name="Text 62"/>
          <p:cNvSpPr/>
          <p:nvPr/>
        </p:nvSpPr>
        <p:spPr>
          <a:xfrm>
            <a:off x="1317129" y="4876354"/>
            <a:ext cx="7963227" cy="1204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30" b="1" dirty="0">
                <a:solidFill>
                  <a:srgbClr val="1A0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 not your first line of defence. Verification protocol is. — Assume any unexpected urgent request is suspicious regardless of how real it looks or sounds.</a:t>
            </a:r>
            <a:endParaRPr lang="en-US" sz="730" dirty="0"/>
          </a:p>
        </p:txBody>
      </p:sp>
      <p:sp>
        <p:nvSpPr>
          <p:cNvPr id="79" name="Text 63"/>
          <p:cNvSpPr/>
          <p:nvPr/>
        </p:nvSpPr>
        <p:spPr>
          <a:xfrm>
            <a:off x="0" y="0"/>
            <a:ext cx="9144000" cy="586085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64"/>
          <p:cNvSpPr/>
          <p:nvPr/>
        </p:nvSpPr>
        <p:spPr>
          <a:xfrm>
            <a:off x="0" y="576560"/>
            <a:ext cx="9144000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65"/>
          <p:cNvSpPr/>
          <p:nvPr/>
        </p:nvSpPr>
        <p:spPr>
          <a:xfrm>
            <a:off x="342900" y="114300"/>
            <a:ext cx="4156960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Deepfake Video Calls — </a:t>
            </a:r>
            <a:r>
              <a:rPr lang="en-US" sz="1460" b="1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to Watch For</a:t>
            </a:r>
            <a:endParaRPr lang="en-US" sz="1460" dirty="0"/>
          </a:p>
        </p:txBody>
      </p:sp>
      <p:sp>
        <p:nvSpPr>
          <p:cNvPr id="82" name="Text 66"/>
          <p:cNvSpPr/>
          <p:nvPr/>
        </p:nvSpPr>
        <p:spPr>
          <a:xfrm>
            <a:off x="342900" y="339775"/>
            <a:ext cx="427351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kern="0" spc="1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eyes can still catch what your brain wants to trust — if you know what to look for</a:t>
            </a:r>
            <a:endParaRPr lang="en-US" sz="790" dirty="0"/>
          </a:p>
        </p:txBody>
      </p:sp>
      <p:sp>
        <p:nvSpPr>
          <p:cNvPr id="83" name="Text 67"/>
          <p:cNvSpPr/>
          <p:nvPr/>
        </p:nvSpPr>
        <p:spPr>
          <a:xfrm>
            <a:off x="7866757" y="219075"/>
            <a:ext cx="57150" cy="57150"/>
          </a:xfrm>
          <a:prstGeom prst="ellipse">
            <a:avLst/>
          </a:prstGeom>
          <a:solidFill>
            <a:srgbClr val="E8A020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4" name="Text 68"/>
          <p:cNvSpPr/>
          <p:nvPr/>
        </p:nvSpPr>
        <p:spPr>
          <a:xfrm>
            <a:off x="7981057" y="188714"/>
            <a:ext cx="90204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GUIDE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70000">
                <a:srgbClr val="E8A02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128141"/>
            <a:ext cx="3479819" cy="180231"/>
          </a:xfrm>
          <a:prstGeom prst="roundRect">
            <a:avLst>
              <a:gd name="adj" fmla="val 16207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lIns="185390" tIns="21590" rIns="71120" bIns="2159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INCIDENT · ARUP ENGINEERING · HONG KONG · 2024</a:t>
            </a:r>
            <a:endParaRPr lang="en-US" sz="62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662" y="151962"/>
            <a:ext cx="132588" cy="1325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2070" y="351532"/>
            <a:ext cx="8987850" cy="220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38"/>
              </a:lnSpc>
              <a:spcAft>
                <a:spcPts val="170"/>
              </a:spcAft>
              <a:buNone/>
            </a:pPr>
            <a:r>
              <a:rPr lang="en-US" sz="158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Study 1 — </a:t>
            </a:r>
            <a:r>
              <a:rPr lang="en-US" sz="158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25 Million Dollar Zoom Call</a:t>
            </a:r>
            <a:endParaRPr lang="en-US" sz="1580" dirty="0"/>
          </a:p>
        </p:txBody>
      </p:sp>
      <p:sp>
        <p:nvSpPr>
          <p:cNvPr id="8" name="Text 5"/>
          <p:cNvSpPr/>
          <p:nvPr/>
        </p:nvSpPr>
        <p:spPr>
          <a:xfrm>
            <a:off x="372070" y="593675"/>
            <a:ext cx="9239845" cy="144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40"/>
              </a:lnSpc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Arup Engineering, Hong Kong, 2024 — The largest single deepfake fraud loss ever recorded at that time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372070" y="786110"/>
            <a:ext cx="2035225" cy="3499991"/>
          </a:xfrm>
          <a:prstGeom prst="roundRect">
            <a:avLst>
              <a:gd name="adj" fmla="val 2808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1969443" y="3691086"/>
            <a:ext cx="375203" cy="64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5060" b="1" dirty="0">
                <a:solidFill>
                  <a:srgbClr val="FFFFFF">
                    <a:alpha val="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5060" dirty="0"/>
          </a:p>
        </p:txBody>
      </p:sp>
      <p:sp>
        <p:nvSpPr>
          <p:cNvPr id="11" name="Text 8"/>
          <p:cNvSpPr/>
          <p:nvPr/>
        </p:nvSpPr>
        <p:spPr>
          <a:xfrm>
            <a:off x="509736" y="939105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3B82F6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4588" y="993958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16918" y="1001316"/>
            <a:ext cx="58657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620" dirty="0"/>
          </a:p>
        </p:txBody>
      </p:sp>
      <p:sp>
        <p:nvSpPr>
          <p:cNvPr id="14" name="Text 10"/>
          <p:cNvSpPr/>
          <p:nvPr/>
        </p:nvSpPr>
        <p:spPr>
          <a:xfrm>
            <a:off x="509736" y="1274118"/>
            <a:ext cx="1795090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8"/>
              </a:lnSpc>
              <a:spcAft>
                <a:spcPts val="510"/>
              </a:spcAft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employee at global engineering firm </a:t>
            </a: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Arup in Hong Kong</a:t>
            </a: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received a calendar invitation to join a multi-person video conference.</a:t>
            </a:r>
            <a:endParaRPr lang="en-US" sz="760" dirty="0"/>
          </a:p>
        </p:txBody>
      </p:sp>
      <p:sp>
        <p:nvSpPr>
          <p:cNvPr id="15" name="Text 11"/>
          <p:cNvSpPr/>
          <p:nvPr/>
        </p:nvSpPr>
        <p:spPr>
          <a:xfrm>
            <a:off x="509736" y="1937147"/>
            <a:ext cx="1795090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8"/>
              </a:lnSpc>
              <a:spcAft>
                <a:spcPts val="510"/>
              </a:spcAft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meeting appeared to include the </a:t>
            </a: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CFO</a:t>
            </a: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several other senior executives.</a:t>
            </a:r>
            <a:endParaRPr lang="en-US" sz="760" dirty="0"/>
          </a:p>
        </p:txBody>
      </p:sp>
      <p:sp>
        <p:nvSpPr>
          <p:cNvPr id="16" name="Text 12"/>
          <p:cNvSpPr/>
          <p:nvPr/>
        </p:nvSpPr>
        <p:spPr>
          <a:xfrm>
            <a:off x="509736" y="2450604"/>
            <a:ext cx="1759893" cy="744141"/>
          </a:xfrm>
          <a:prstGeom prst="roundRect">
            <a:avLst>
              <a:gd name="adj" fmla="val 4779"/>
            </a:avLst>
          </a:prstGeom>
          <a:solidFill>
            <a:srgbClr val="3B82F6">
              <a:alpha val="10000"/>
            </a:srgbClr>
          </a:solidFill>
          <a:ln w="9525">
            <a:solidFill>
              <a:srgbClr val="3B82F6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590252" y="2517279"/>
            <a:ext cx="1758747" cy="121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620" b="1" kern="0" spc="56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EMPLOYEE SAW</a:t>
            </a:r>
            <a:endParaRPr lang="en-US" sz="620" dirty="0"/>
          </a:p>
        </p:txBody>
      </p:sp>
      <p:sp>
        <p:nvSpPr>
          <p:cNvPr id="18" name="Text 14"/>
          <p:cNvSpPr/>
          <p:nvPr/>
        </p:nvSpPr>
        <p:spPr>
          <a:xfrm>
            <a:off x="698153" y="2668339"/>
            <a:ext cx="1032689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faces on screen</a:t>
            </a:r>
            <a:endParaRPr lang="en-US" sz="68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328" y="2668944"/>
            <a:ext cx="132588" cy="1325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8153" y="2831306"/>
            <a:ext cx="964421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behaviour</a:t>
            </a:r>
            <a:endParaRPr lang="en-US" sz="68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6328" y="2831910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153" y="2994273"/>
            <a:ext cx="1043330" cy="1337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meeting format</a:t>
            </a:r>
            <a:endParaRPr lang="en-US" sz="68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6328" y="2994877"/>
            <a:ext cx="132588" cy="132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9736" y="3259485"/>
            <a:ext cx="1935882" cy="13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looked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normal.</a:t>
            </a:r>
            <a:endParaRPr lang="en-US" sz="700" dirty="0"/>
          </a:p>
        </p:txBody>
      </p:sp>
      <p:sp>
        <p:nvSpPr>
          <p:cNvPr id="25" name="Text 18"/>
          <p:cNvSpPr/>
          <p:nvPr/>
        </p:nvSpPr>
        <p:spPr>
          <a:xfrm>
            <a:off x="2493615" y="786110"/>
            <a:ext cx="2035225" cy="3499991"/>
          </a:xfrm>
          <a:prstGeom prst="roundRect">
            <a:avLst>
              <a:gd name="adj" fmla="val 2808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9"/>
          <p:cNvSpPr/>
          <p:nvPr/>
        </p:nvSpPr>
        <p:spPr>
          <a:xfrm>
            <a:off x="4090987" y="3691086"/>
            <a:ext cx="375203" cy="64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5060" b="1" dirty="0">
                <a:solidFill>
                  <a:srgbClr val="FFFFFF">
                    <a:alpha val="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5060" dirty="0"/>
          </a:p>
        </p:txBody>
      </p:sp>
      <p:sp>
        <p:nvSpPr>
          <p:cNvPr id="27" name="Text 20"/>
          <p:cNvSpPr/>
          <p:nvPr/>
        </p:nvSpPr>
        <p:spPr>
          <a:xfrm>
            <a:off x="2631281" y="939105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8B5CF6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86133" y="993958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938463" y="1001316"/>
            <a:ext cx="600819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FRAUD</a:t>
            </a:r>
            <a:endParaRPr lang="en-US" sz="620" dirty="0"/>
          </a:p>
        </p:txBody>
      </p:sp>
      <p:sp>
        <p:nvSpPr>
          <p:cNvPr id="30" name="Text 22"/>
          <p:cNvSpPr/>
          <p:nvPr/>
        </p:nvSpPr>
        <p:spPr>
          <a:xfrm>
            <a:off x="2631281" y="1274118"/>
            <a:ext cx="1795090" cy="314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8"/>
              </a:lnSpc>
              <a:spcAft>
                <a:spcPts val="450"/>
              </a:spcAft>
              <a:buNone/>
            </a:pP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person</a:t>
            </a: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that video call was an AI-generated deepfake.</a:t>
            </a:r>
            <a:endParaRPr lang="en-US" sz="760" dirty="0"/>
          </a:p>
        </p:txBody>
      </p:sp>
      <p:sp>
        <p:nvSpPr>
          <p:cNvPr id="31" name="Text 23"/>
          <p:cNvSpPr/>
          <p:nvPr/>
        </p:nvSpPr>
        <p:spPr>
          <a:xfrm>
            <a:off x="2631281" y="1630412"/>
            <a:ext cx="670173" cy="181273"/>
          </a:xfrm>
          <a:prstGeom prst="roundRect">
            <a:avLst>
              <a:gd name="adj" fmla="val 79168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4"/>
          <p:cNvSpPr/>
          <p:nvPr/>
        </p:nvSpPr>
        <p:spPr>
          <a:xfrm>
            <a:off x="2758083" y="1672530"/>
            <a:ext cx="173861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59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33151" y="1654754"/>
            <a:ext cx="132588" cy="1325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959150" y="1653778"/>
            <a:ext cx="283369" cy="147995"/>
          </a:xfrm>
          <a:prstGeom prst="roundRect">
            <a:avLst>
              <a:gd name="adj" fmla="val 14588"/>
            </a:avLst>
          </a:prstGeom>
          <a:solidFill>
            <a:srgbClr val="C0392B">
              <a:alpha val="20000"/>
            </a:srgbClr>
          </a:solidFill>
          <a:ln w="9525">
            <a:solidFill>
              <a:srgbClr val="C0392B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510" dirty="0"/>
          </a:p>
        </p:txBody>
      </p:sp>
      <p:sp>
        <p:nvSpPr>
          <p:cNvPr id="35" name="Text 26"/>
          <p:cNvSpPr/>
          <p:nvPr/>
        </p:nvSpPr>
        <p:spPr>
          <a:xfrm>
            <a:off x="3336875" y="1630412"/>
            <a:ext cx="903387" cy="181273"/>
          </a:xfrm>
          <a:prstGeom prst="roundRect">
            <a:avLst>
              <a:gd name="adj" fmla="val 79168"/>
            </a:avLst>
          </a:prstGeom>
          <a:solidFill>
            <a:srgbClr val="8B5CF6">
              <a:alpha val="15000"/>
            </a:srgbClr>
          </a:solidFill>
          <a:ln w="9525">
            <a:solidFill>
              <a:srgbClr val="8B5CF6">
                <a:alpha val="3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27"/>
          <p:cNvSpPr/>
          <p:nvPr/>
        </p:nvSpPr>
        <p:spPr>
          <a:xfrm>
            <a:off x="3463677" y="1672530"/>
            <a:ext cx="430396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9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</a:t>
            </a:r>
            <a:endParaRPr lang="en-US" sz="59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38745" y="1654754"/>
            <a:ext cx="132588" cy="132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897957" y="1653778"/>
            <a:ext cx="283369" cy="147995"/>
          </a:xfrm>
          <a:prstGeom prst="roundRect">
            <a:avLst>
              <a:gd name="adj" fmla="val 14588"/>
            </a:avLst>
          </a:prstGeom>
          <a:solidFill>
            <a:srgbClr val="C0392B">
              <a:alpha val="20000"/>
            </a:srgbClr>
          </a:solidFill>
          <a:ln w="9525">
            <a:solidFill>
              <a:srgbClr val="C0392B">
                <a:alpha val="5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510" dirty="0"/>
          </a:p>
        </p:txBody>
      </p:sp>
      <p:sp>
        <p:nvSpPr>
          <p:cNvPr id="39" name="Text 29"/>
          <p:cNvSpPr/>
          <p:nvPr/>
        </p:nvSpPr>
        <p:spPr>
          <a:xfrm>
            <a:off x="2631281" y="1868835"/>
            <a:ext cx="1795090" cy="43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built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deepfake avatars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publicly available footage of the actual executives.</a:t>
            </a:r>
            <a:endParaRPr lang="en-US" sz="700" dirty="0"/>
          </a:p>
        </p:txBody>
      </p:sp>
      <p:sp>
        <p:nvSpPr>
          <p:cNvPr id="40" name="Text 30"/>
          <p:cNvSpPr/>
          <p:nvPr/>
        </p:nvSpPr>
        <p:spPr>
          <a:xfrm>
            <a:off x="2631281" y="2338983"/>
            <a:ext cx="1759893" cy="550782"/>
          </a:xfrm>
          <a:prstGeom prst="roundRect">
            <a:avLst>
              <a:gd name="adj" fmla="val 6456"/>
            </a:avLst>
          </a:prstGeom>
          <a:solidFill>
            <a:srgbClr val="8B5CF6">
              <a:alpha val="10000"/>
            </a:srgbClr>
          </a:solidFill>
          <a:ln w="9525">
            <a:solidFill>
              <a:srgbClr val="8B5CF6">
                <a:alpha val="28000"/>
              </a:srgbClr>
            </a:solidFill>
          </a:ln>
        </p:spPr>
        <p:txBody>
          <a:bodyPr wrap="square" lIns="71120" tIns="57150" rIns="71120" bIns="57150" rtlCol="0" anchor="t"/>
          <a:lstStyle/>
          <a:p>
            <a:pPr marL="0" indent="0" algn="l">
              <a:buNone/>
            </a:pPr>
            <a:r>
              <a:rPr lang="en-US" sz="620" b="1" kern="0" spc="56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GIVEN</a:t>
            </a:r>
            <a:endParaRPr lang="en-US" sz="620" dirty="0"/>
          </a:p>
          <a:p>
            <a:pPr marL="0" indent="0" algn="l">
              <a:buNone/>
            </a:pPr>
            <a:r>
              <a:rPr lang="en-US" sz="68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"Authorise a series of wire transfers — this is a confidential business deal."</a:t>
            </a:r>
            <a:endParaRPr lang="en-US" sz="620" dirty="0"/>
          </a:p>
        </p:txBody>
      </p:sp>
      <p:sp>
        <p:nvSpPr>
          <p:cNvPr id="41" name="Text 31"/>
          <p:cNvSpPr/>
          <p:nvPr/>
        </p:nvSpPr>
        <p:spPr>
          <a:xfrm>
            <a:off x="2631281" y="2930872"/>
            <a:ext cx="1795090" cy="280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4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fabricated CFO delivered the instruction with authority and apparent legitimacy.</a:t>
            </a:r>
            <a:endParaRPr lang="en-US" sz="680" dirty="0"/>
          </a:p>
        </p:txBody>
      </p:sp>
      <p:sp>
        <p:nvSpPr>
          <p:cNvPr id="42" name="Text 32"/>
          <p:cNvSpPr/>
          <p:nvPr/>
        </p:nvSpPr>
        <p:spPr>
          <a:xfrm>
            <a:off x="4615160" y="786110"/>
            <a:ext cx="2035225" cy="3499991"/>
          </a:xfrm>
          <a:prstGeom prst="roundRect">
            <a:avLst>
              <a:gd name="adj" fmla="val 2808"/>
            </a:avLst>
          </a:prstGeom>
          <a:solidFill>
            <a:srgbClr val="1A2E42"/>
          </a:solidFill>
          <a:ln w="9525">
            <a:solidFill>
              <a:srgbClr val="FFFFFF">
                <a:alpha val="6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3"/>
          <p:cNvSpPr/>
          <p:nvPr/>
        </p:nvSpPr>
        <p:spPr>
          <a:xfrm>
            <a:off x="6212532" y="3691086"/>
            <a:ext cx="375203" cy="64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5060" b="1" dirty="0">
                <a:solidFill>
                  <a:srgbClr val="FFFFFF">
                    <a:alpha val="2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5060" dirty="0"/>
          </a:p>
        </p:txBody>
      </p:sp>
      <p:sp>
        <p:nvSpPr>
          <p:cNvPr id="44" name="Text 34"/>
          <p:cNvSpPr/>
          <p:nvPr/>
        </p:nvSpPr>
        <p:spPr>
          <a:xfrm>
            <a:off x="4752826" y="939105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C0392B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07678" y="993958"/>
            <a:ext cx="132588" cy="13258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060007" y="1001316"/>
            <a:ext cx="52240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LOSS</a:t>
            </a:r>
            <a:endParaRPr lang="en-US" sz="620" dirty="0"/>
          </a:p>
        </p:txBody>
      </p:sp>
      <p:sp>
        <p:nvSpPr>
          <p:cNvPr id="47" name="Text 36"/>
          <p:cNvSpPr/>
          <p:nvPr/>
        </p:nvSpPr>
        <p:spPr>
          <a:xfrm>
            <a:off x="4752826" y="1274118"/>
            <a:ext cx="1795090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8"/>
              </a:lnSpc>
              <a:spcAft>
                <a:spcPts val="450"/>
              </a:spcAft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</a:t>
            </a: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complied.</a:t>
            </a: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instructions came from apparent authority. There was no reason to doubt.</a:t>
            </a:r>
            <a:endParaRPr lang="en-US" sz="760" dirty="0"/>
          </a:p>
        </p:txBody>
      </p:sp>
      <p:sp>
        <p:nvSpPr>
          <p:cNvPr id="48" name="Text 37"/>
          <p:cNvSpPr/>
          <p:nvPr/>
        </p:nvSpPr>
        <p:spPr>
          <a:xfrm>
            <a:off x="4752826" y="1793825"/>
            <a:ext cx="1759893" cy="518590"/>
          </a:xfrm>
          <a:prstGeom prst="roundRect">
            <a:avLst>
              <a:gd name="adj" fmla="val 8326"/>
            </a:avLst>
          </a:prstGeom>
          <a:solidFill>
            <a:srgbClr val="C0392B">
              <a:alpha val="12000"/>
            </a:srgbClr>
          </a:solidFill>
          <a:ln w="9525">
            <a:solidFill>
              <a:srgbClr val="C0392B">
                <a:alpha val="35000"/>
              </a:srgbClr>
            </a:solidFill>
          </a:ln>
        </p:spPr>
        <p:txBody>
          <a:bodyPr wrap="square" lIns="86360" tIns="71120" rIns="86360" bIns="71120" rtlCol="0" anchor="t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F8717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$25.6M</a:t>
            </a:r>
            <a:endParaRPr lang="en-US" sz="158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HK$200 million — US dollars</a:t>
            </a:r>
            <a:endParaRPr lang="en-US" sz="1580" dirty="0"/>
          </a:p>
        </p:txBody>
      </p:sp>
      <p:sp>
        <p:nvSpPr>
          <p:cNvPr id="49" name="Text 38"/>
          <p:cNvSpPr/>
          <p:nvPr/>
        </p:nvSpPr>
        <p:spPr>
          <a:xfrm>
            <a:off x="4752826" y="2368302"/>
            <a:ext cx="1795090" cy="289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5"/>
              </a:lnSpc>
              <a:spcAft>
                <a:spcPts val="450"/>
              </a:spcAft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across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transactions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criminal accounts before anyone knew.</a:t>
            </a:r>
            <a:endParaRPr lang="en-US" sz="700" dirty="0"/>
          </a:p>
        </p:txBody>
      </p:sp>
      <p:sp>
        <p:nvSpPr>
          <p:cNvPr id="50" name="Text 39"/>
          <p:cNvSpPr/>
          <p:nvPr/>
        </p:nvSpPr>
        <p:spPr>
          <a:xfrm>
            <a:off x="4752826" y="2700784"/>
            <a:ext cx="1759893" cy="534073"/>
          </a:xfrm>
          <a:prstGeom prst="roundRect">
            <a:avLst>
              <a:gd name="adj" fmla="val 6658"/>
            </a:avLst>
          </a:prstGeom>
          <a:solidFill>
            <a:srgbClr val="C0392B">
              <a:alpha val="10000"/>
            </a:srgbClr>
          </a:solidFill>
          <a:ln w="9525">
            <a:solidFill>
              <a:srgbClr val="C0392B">
                <a:alpha val="30000"/>
              </a:srgbClr>
            </a:solidFill>
          </a:ln>
        </p:spPr>
        <p:txBody>
          <a:bodyPr wrap="square" lIns="71120" tIns="57150" rIns="71120" bIns="57150" rtlCol="0" anchor="t"/>
          <a:lstStyle/>
          <a:p>
            <a:pPr marL="0" indent="0" algn="l">
              <a:buNone/>
            </a:pPr>
            <a:r>
              <a:rPr lang="en-US" sz="620" b="1" kern="0" spc="56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DISCOVERED</a:t>
            </a:r>
            <a:endParaRPr lang="en-US" sz="620" dirty="0"/>
          </a:p>
          <a:p>
            <a:pPr marL="0" indent="0" algn="l">
              <a:buNone/>
            </a:pPr>
            <a:r>
              <a:rPr lang="en-US" sz="68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anyone knew, the money was gone. Unrecoverable.</a:t>
            </a:r>
            <a:endParaRPr lang="en-US" sz="620" dirty="0"/>
          </a:p>
        </p:txBody>
      </p:sp>
      <p:sp>
        <p:nvSpPr>
          <p:cNvPr id="51" name="Text 40"/>
          <p:cNvSpPr/>
          <p:nvPr/>
        </p:nvSpPr>
        <p:spPr>
          <a:xfrm>
            <a:off x="6736705" y="786110"/>
            <a:ext cx="2035225" cy="3499991"/>
          </a:xfrm>
          <a:prstGeom prst="roundRect">
            <a:avLst>
              <a:gd name="adj" fmla="val 2808"/>
            </a:avLst>
          </a:prstGeom>
          <a:solidFill>
            <a:srgbClr val="1C2E1A"/>
          </a:solidFill>
          <a:ln w="9525">
            <a:solidFill>
              <a:srgbClr val="E8A02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1"/>
          <p:cNvSpPr/>
          <p:nvPr/>
        </p:nvSpPr>
        <p:spPr>
          <a:xfrm>
            <a:off x="8334077" y="3691086"/>
            <a:ext cx="375203" cy="642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5060" b="1" dirty="0">
                <a:solidFill>
                  <a:srgbClr val="E8A020">
                    <a:alpha val="6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5060" dirty="0"/>
          </a:p>
        </p:txBody>
      </p:sp>
      <p:sp>
        <p:nvSpPr>
          <p:cNvPr id="53" name="Text 42"/>
          <p:cNvSpPr/>
          <p:nvPr/>
        </p:nvSpPr>
        <p:spPr>
          <a:xfrm>
            <a:off x="6874371" y="939105"/>
            <a:ext cx="242441" cy="242441"/>
          </a:xfrm>
          <a:prstGeom prst="roundRect">
            <a:avLst>
              <a:gd name="adj" fmla="val 17811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929223" y="993958"/>
            <a:ext cx="132588" cy="13258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7181552" y="1001316"/>
            <a:ext cx="66499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8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</a:t>
            </a:r>
            <a:endParaRPr lang="en-US" sz="620" dirty="0"/>
          </a:p>
        </p:txBody>
      </p:sp>
      <p:sp>
        <p:nvSpPr>
          <p:cNvPr id="56" name="Text 44"/>
          <p:cNvSpPr/>
          <p:nvPr/>
        </p:nvSpPr>
        <p:spPr>
          <a:xfrm>
            <a:off x="6874371" y="1309539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5"/>
          <p:cNvSpPr/>
          <p:nvPr/>
        </p:nvSpPr>
        <p:spPr>
          <a:xfrm>
            <a:off x="6966942" y="1274118"/>
            <a:ext cx="1700668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did everything a reasonable person would do.</a:t>
            </a:r>
            <a:endParaRPr lang="en-US" sz="730" dirty="0"/>
          </a:p>
        </p:txBody>
      </p:sp>
      <p:sp>
        <p:nvSpPr>
          <p:cNvPr id="58" name="Text 46"/>
          <p:cNvSpPr/>
          <p:nvPr/>
        </p:nvSpPr>
        <p:spPr>
          <a:xfrm>
            <a:off x="6874371" y="1635472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7"/>
          <p:cNvSpPr/>
          <p:nvPr/>
        </p:nvSpPr>
        <p:spPr>
          <a:xfrm>
            <a:off x="6966942" y="1600051"/>
            <a:ext cx="1700668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saw trusted faces. They heard familiar voices.</a:t>
            </a:r>
            <a:endParaRPr lang="en-US" sz="730" dirty="0"/>
          </a:p>
        </p:txBody>
      </p:sp>
      <p:sp>
        <p:nvSpPr>
          <p:cNvPr id="60" name="Text 48"/>
          <p:cNvSpPr/>
          <p:nvPr/>
        </p:nvSpPr>
        <p:spPr>
          <a:xfrm>
            <a:off x="6874371" y="1961406"/>
            <a:ext cx="43160" cy="4316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9"/>
          <p:cNvSpPr/>
          <p:nvPr/>
        </p:nvSpPr>
        <p:spPr>
          <a:xfrm>
            <a:off x="6966942" y="1925985"/>
            <a:ext cx="1700668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 is not that they failed — it is that our existing trust model has been broken by AI.</a:t>
            </a:r>
            <a:endParaRPr lang="en-US" sz="730" dirty="0"/>
          </a:p>
        </p:txBody>
      </p:sp>
      <p:sp>
        <p:nvSpPr>
          <p:cNvPr id="62" name="Text 50"/>
          <p:cNvSpPr/>
          <p:nvPr/>
        </p:nvSpPr>
        <p:spPr>
          <a:xfrm>
            <a:off x="6874371" y="2386310"/>
            <a:ext cx="1759893" cy="807690"/>
          </a:xfrm>
          <a:prstGeom prst="roundRect">
            <a:avLst>
              <a:gd name="adj" fmla="val 4403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51"/>
          <p:cNvSpPr/>
          <p:nvPr/>
        </p:nvSpPr>
        <p:spPr>
          <a:xfrm>
            <a:off x="6962626" y="2460575"/>
            <a:ext cx="1615050" cy="255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1"/>
              </a:lnSpc>
              <a:buNone/>
            </a:pPr>
            <a:r>
              <a:rPr lang="en-US" sz="620" b="1" kern="0" spc="56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STEP THAT WOULD HAVE STOPPED IT</a:t>
            </a:r>
            <a:endParaRPr lang="en-US" sz="620" dirty="0"/>
          </a:p>
        </p:txBody>
      </p:sp>
      <p:sp>
        <p:nvSpPr>
          <p:cNvPr id="64" name="Text 52"/>
          <p:cNvSpPr/>
          <p:nvPr/>
        </p:nvSpPr>
        <p:spPr>
          <a:xfrm>
            <a:off x="7056537" y="2733526"/>
            <a:ext cx="1412543" cy="4055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15"/>
              </a:lnSpc>
              <a:buNone/>
            </a:pPr>
            <a:r>
              <a:rPr lang="en-US" sz="700" dirty="0">
                <a:solidFill>
                  <a:srgbClr val="E8C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CFO's real mobile number  One call. The entire loss prevented.</a:t>
            </a:r>
            <a:endParaRPr lang="en-US" sz="700" dirty="0"/>
          </a:p>
        </p:txBody>
      </p:sp>
      <p:pic>
        <p:nvPicPr>
          <p:cNvPr id="65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928702" y="2860337"/>
            <a:ext cx="132588" cy="132588"/>
          </a:xfrm>
          <a:prstGeom prst="rect">
            <a:avLst/>
          </a:prstGeom>
        </p:spPr>
      </p:pic>
      <p:sp>
        <p:nvSpPr>
          <p:cNvPr id="66" name="Text 53"/>
          <p:cNvSpPr/>
          <p:nvPr/>
        </p:nvSpPr>
        <p:spPr>
          <a:xfrm>
            <a:off x="372070" y="4623643"/>
            <a:ext cx="8399859" cy="405557"/>
          </a:xfrm>
          <a:prstGeom prst="roundRect">
            <a:avLst>
              <a:gd name="adj" fmla="val 12213"/>
            </a:avLst>
          </a:prstGeom>
          <a:gradFill rotWithShape="1">
            <a:gsLst>
              <a:gs pos="0">
                <a:srgbClr val="E8A020">
                  <a:alpha val="18000"/>
                </a:srgbClr>
              </a:gs>
              <a:gs pos="60000">
                <a:srgbClr val="E8A020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9525">
            <a:solidFill>
              <a:srgbClr val="E8A020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7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5762" y="4760128"/>
            <a:ext cx="132588" cy="132588"/>
          </a:xfrm>
          <a:prstGeom prst="rect">
            <a:avLst/>
          </a:prstGeom>
        </p:spPr>
      </p:pic>
      <p:sp>
        <p:nvSpPr>
          <p:cNvPr id="68" name="Text 54"/>
          <p:cNvSpPr/>
          <p:nvPr/>
        </p:nvSpPr>
        <p:spPr>
          <a:xfrm>
            <a:off x="799207" y="4734967"/>
            <a:ext cx="407722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kern="0" spc="1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call. </a:t>
            </a:r>
            <a:r>
              <a:rPr lang="en-US" sz="790" b="1" kern="0" spc="1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</a:t>
            </a:r>
            <a:r>
              <a:rPr lang="en-US" sz="960" b="1" kern="0" spc="1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One question. </a:t>
            </a:r>
            <a:r>
              <a:rPr lang="en-US" sz="790" b="1" kern="0" spc="1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·</a:t>
            </a:r>
            <a:r>
              <a:rPr lang="en-US" sz="960" b="1" kern="0" spc="1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960" b="1" kern="0" spc="10" dirty="0">
                <a:solidFill>
                  <a:srgbClr val="F0E0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Twenty-five million dollars saved.</a:t>
            </a:r>
            <a:endParaRPr lang="en-US" sz="960" dirty="0"/>
          </a:p>
        </p:txBody>
      </p:sp>
      <p:sp>
        <p:nvSpPr>
          <p:cNvPr id="69" name="Text 55"/>
          <p:cNvSpPr/>
          <p:nvPr/>
        </p:nvSpPr>
        <p:spPr>
          <a:xfrm>
            <a:off x="6130870" y="4711898"/>
            <a:ext cx="2460084" cy="99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84"/>
              </a:lnSpc>
              <a:buNone/>
            </a:pPr>
            <a:r>
              <a:rPr lang="en-US" sz="560" b="1" kern="0" spc="56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PROTOCOL</a:t>
            </a:r>
            <a:endParaRPr lang="en-US" sz="560" dirty="0"/>
          </a:p>
        </p:txBody>
      </p:sp>
      <p:sp>
        <p:nvSpPr>
          <p:cNvPr id="70" name="Text 56"/>
          <p:cNvSpPr/>
          <p:nvPr/>
        </p:nvSpPr>
        <p:spPr>
          <a:xfrm>
            <a:off x="381595" y="795635"/>
            <a:ext cx="2016176" cy="21580"/>
          </a:xfrm>
          <a:custGeom>
            <a:avLst/>
            <a:gdLst/>
            <a:ahLst/>
            <a:cxnLst/>
            <a:rect l="l" t="t" r="r" b="b"/>
            <a:pathLst>
              <a:path w="2016176" h="21580">
                <a:moveTo>
                  <a:pt x="57150" y="0"/>
                </a:moveTo>
                <a:lnTo>
                  <a:pt x="1959026" y="0"/>
                </a:lnTo>
                <a:lnTo>
                  <a:pt x="1976377" y="2698"/>
                </a:lnTo>
                <a:lnTo>
                  <a:pt x="1983265" y="5395"/>
                </a:lnTo>
                <a:lnTo>
                  <a:pt x="1988343" y="8093"/>
                </a:lnTo>
                <a:lnTo>
                  <a:pt x="1992445" y="10790"/>
                </a:lnTo>
                <a:lnTo>
                  <a:pt x="1995900" y="13488"/>
                </a:lnTo>
                <a:lnTo>
                  <a:pt x="1998875" y="16185"/>
                </a:lnTo>
                <a:lnTo>
                  <a:pt x="2001473" y="18883"/>
                </a:lnTo>
                <a:lnTo>
                  <a:pt x="2003757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gradFill rotWithShape="1">
            <a:gsLst>
              <a:gs pos="0">
                <a:srgbClr val="3B82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7"/>
          <p:cNvSpPr/>
          <p:nvPr/>
        </p:nvSpPr>
        <p:spPr>
          <a:xfrm>
            <a:off x="2503140" y="795635"/>
            <a:ext cx="2016176" cy="21580"/>
          </a:xfrm>
          <a:custGeom>
            <a:avLst/>
            <a:gdLst/>
            <a:ahLst/>
            <a:cxnLst/>
            <a:rect l="l" t="t" r="r" b="b"/>
            <a:pathLst>
              <a:path w="2016176" h="21580">
                <a:moveTo>
                  <a:pt x="57150" y="0"/>
                </a:moveTo>
                <a:lnTo>
                  <a:pt x="1959026" y="0"/>
                </a:lnTo>
                <a:lnTo>
                  <a:pt x="1976377" y="2698"/>
                </a:lnTo>
                <a:lnTo>
                  <a:pt x="1983265" y="5395"/>
                </a:lnTo>
                <a:lnTo>
                  <a:pt x="1988343" y="8093"/>
                </a:lnTo>
                <a:lnTo>
                  <a:pt x="1992445" y="10790"/>
                </a:lnTo>
                <a:lnTo>
                  <a:pt x="1995900" y="13488"/>
                </a:lnTo>
                <a:lnTo>
                  <a:pt x="1998875" y="16185"/>
                </a:lnTo>
                <a:lnTo>
                  <a:pt x="2001473" y="18883"/>
                </a:lnTo>
                <a:lnTo>
                  <a:pt x="2003757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gradFill rotWithShape="1">
            <a:gsLst>
              <a:gs pos="0">
                <a:srgbClr val="8B5CF6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8"/>
          <p:cNvSpPr/>
          <p:nvPr/>
        </p:nvSpPr>
        <p:spPr>
          <a:xfrm>
            <a:off x="4624685" y="795635"/>
            <a:ext cx="2016176" cy="21580"/>
          </a:xfrm>
          <a:custGeom>
            <a:avLst/>
            <a:gdLst/>
            <a:ahLst/>
            <a:cxnLst/>
            <a:rect l="l" t="t" r="r" b="b"/>
            <a:pathLst>
              <a:path w="2016176" h="21580">
                <a:moveTo>
                  <a:pt x="57150" y="0"/>
                </a:moveTo>
                <a:lnTo>
                  <a:pt x="1959026" y="0"/>
                </a:lnTo>
                <a:lnTo>
                  <a:pt x="1976377" y="2698"/>
                </a:lnTo>
                <a:lnTo>
                  <a:pt x="1983265" y="5395"/>
                </a:lnTo>
                <a:lnTo>
                  <a:pt x="1988343" y="8093"/>
                </a:lnTo>
                <a:lnTo>
                  <a:pt x="1992445" y="10790"/>
                </a:lnTo>
                <a:lnTo>
                  <a:pt x="1995900" y="13488"/>
                </a:lnTo>
                <a:lnTo>
                  <a:pt x="1998875" y="16185"/>
                </a:lnTo>
                <a:lnTo>
                  <a:pt x="2001473" y="18883"/>
                </a:lnTo>
                <a:lnTo>
                  <a:pt x="2003757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gradFill rotWithShape="1">
            <a:gsLst>
              <a:gs pos="0">
                <a:srgbClr val="C0392B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59"/>
          <p:cNvSpPr/>
          <p:nvPr/>
        </p:nvSpPr>
        <p:spPr>
          <a:xfrm>
            <a:off x="6746230" y="795635"/>
            <a:ext cx="2016176" cy="21580"/>
          </a:xfrm>
          <a:custGeom>
            <a:avLst/>
            <a:gdLst/>
            <a:ahLst/>
            <a:cxnLst/>
            <a:rect l="l" t="t" r="r" b="b"/>
            <a:pathLst>
              <a:path w="2016176" h="21580">
                <a:moveTo>
                  <a:pt x="57150" y="0"/>
                </a:moveTo>
                <a:lnTo>
                  <a:pt x="1959026" y="0"/>
                </a:lnTo>
                <a:lnTo>
                  <a:pt x="1976377" y="2698"/>
                </a:lnTo>
                <a:lnTo>
                  <a:pt x="1983265" y="5395"/>
                </a:lnTo>
                <a:lnTo>
                  <a:pt x="1988343" y="8093"/>
                </a:lnTo>
                <a:lnTo>
                  <a:pt x="1992445" y="10790"/>
                </a:lnTo>
                <a:lnTo>
                  <a:pt x="1995900" y="13488"/>
                </a:lnTo>
                <a:lnTo>
                  <a:pt x="1998875" y="16185"/>
                </a:lnTo>
                <a:lnTo>
                  <a:pt x="2001473" y="18883"/>
                </a:lnTo>
                <a:lnTo>
                  <a:pt x="2003757" y="21580"/>
                </a:lnTo>
                <a:lnTo>
                  <a:pt x="12419" y="21580"/>
                </a:lnTo>
                <a:lnTo>
                  <a:pt x="14703" y="18883"/>
                </a:lnTo>
                <a:lnTo>
                  <a:pt x="17300" y="16185"/>
                </a:lnTo>
                <a:lnTo>
                  <a:pt x="20276" y="13488"/>
                </a:lnTo>
                <a:lnTo>
                  <a:pt x="23730" y="10790"/>
                </a:lnTo>
                <a:lnTo>
                  <a:pt x="27833" y="8093"/>
                </a:lnTo>
                <a:lnTo>
                  <a:pt x="32911" y="5395"/>
                </a:lnTo>
                <a:lnTo>
                  <a:pt x="39799" y="2698"/>
                </a:lnTo>
                <a:close/>
              </a:path>
            </a:pathLst>
          </a:cu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4660"/>
          </a:xfrm>
          <a:prstGeom prst="rect">
            <a:avLst/>
          </a:prstGeom>
          <a:gradFill rotWithShape="1">
            <a:gsLst>
              <a:gs pos="0">
                <a:srgbClr val="0A1520"/>
              </a:gs>
              <a:gs pos="100000">
                <a:srgbClr val="1A2E42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05135"/>
            <a:ext cx="9144000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148786" y="0"/>
            <a:ext cx="1015118" cy="165050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lIns="86360" tIns="29210" rIns="86360" bIns="29210" rtlCol="0" anchor="t"/>
          <a:lstStyle/>
          <a:p>
            <a:pPr marL="0" indent="0" algn="l">
              <a:buNone/>
            </a:pPr>
            <a:r>
              <a:rPr lang="en-US" sz="560" b="1" kern="0" spc="6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2 OF 3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342900" y="120253"/>
            <a:ext cx="9050274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Case Study 2</a:t>
            </a:r>
            <a:r>
              <a:rPr lang="en-US" sz="1460" b="1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The $499,000 Singapore Zoom Fraud</a:t>
            </a:r>
            <a:endParaRPr lang="en-US" sz="1460" dirty="0"/>
          </a:p>
        </p:txBody>
      </p:sp>
      <p:sp>
        <p:nvSpPr>
          <p:cNvPr id="6" name="Text 4"/>
          <p:cNvSpPr/>
          <p:nvPr/>
        </p:nvSpPr>
        <p:spPr>
          <a:xfrm>
            <a:off x="342900" y="345728"/>
            <a:ext cx="930402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1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2025  ·  A routine Zoom call. Familiar faces. Urgent instructions. All of it fabricated.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328910" y="728960"/>
            <a:ext cx="1502122" cy="3333899"/>
          </a:xfrm>
          <a:prstGeom prst="roundRect">
            <a:avLst>
              <a:gd name="adj" fmla="val 473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8910" y="728960"/>
            <a:ext cx="1502122" cy="19050"/>
          </a:xfrm>
          <a:custGeom>
            <a:avLst/>
            <a:gdLst/>
            <a:ahLst/>
            <a:cxnLst/>
            <a:rect l="l" t="t" r="r" b="b"/>
            <a:pathLst>
              <a:path w="1502122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79446" y="19050"/>
                </a:lnTo>
                <a:lnTo>
                  <a:pt x="1476753" y="16669"/>
                </a:lnTo>
                <a:lnTo>
                  <a:pt x="1473759" y="14288"/>
                </a:lnTo>
                <a:lnTo>
                  <a:pt x="1470395" y="11906"/>
                </a:lnTo>
                <a:lnTo>
                  <a:pt x="1466557" y="9525"/>
                </a:lnTo>
                <a:lnTo>
                  <a:pt x="1462068" y="7144"/>
                </a:lnTo>
                <a:lnTo>
                  <a:pt x="1456590" y="4763"/>
                </a:lnTo>
                <a:lnTo>
                  <a:pt x="1449252" y="2381"/>
                </a:lnTo>
                <a:lnTo>
                  <a:pt x="1431002" y="0"/>
                </a:lnTo>
                <a:close/>
              </a:path>
            </a:pathLst>
          </a:custGeom>
          <a:solidFill>
            <a:srgbClr val="2A4A6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8910" y="1112341"/>
            <a:ext cx="1502122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21481" y="826740"/>
            <a:ext cx="214610" cy="236071"/>
          </a:xfrm>
          <a:prstGeom prst="ellipse">
            <a:avLst/>
          </a:prstGeom>
          <a:solidFill>
            <a:srgbClr val="2A4A6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790" dirty="0"/>
          </a:p>
        </p:txBody>
      </p:sp>
      <p:sp>
        <p:nvSpPr>
          <p:cNvPr id="11" name="Text 9"/>
          <p:cNvSpPr/>
          <p:nvPr/>
        </p:nvSpPr>
        <p:spPr>
          <a:xfrm>
            <a:off x="707082" y="872133"/>
            <a:ext cx="844094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70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INVITATION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922437" y="1192857"/>
            <a:ext cx="314920" cy="31492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3528" y="1283949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21481" y="1550938"/>
            <a:ext cx="1343320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finance director at a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Singapore-based multinational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received a calendar invite for a routine Zoom call with senior leadership.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421481" y="2260104"/>
            <a:ext cx="1343320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invite looked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legitimate.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attendee list included the CFO and other named executives — all familiar, all expected.</a:t>
            </a:r>
            <a:endParaRPr lang="en-US" sz="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6629" y="2300966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74813" y="728960"/>
            <a:ext cx="1502271" cy="3333899"/>
          </a:xfrm>
          <a:prstGeom prst="roundRect">
            <a:avLst>
              <a:gd name="adj" fmla="val 4734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2074813" y="728960"/>
            <a:ext cx="1502271" cy="19050"/>
          </a:xfrm>
          <a:custGeom>
            <a:avLst/>
            <a:gdLst/>
            <a:ahLst/>
            <a:cxnLst/>
            <a:rect l="l" t="t" r="r" b="b"/>
            <a:pathLst>
              <a:path w="1502271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79595" y="19050"/>
                </a:lnTo>
                <a:lnTo>
                  <a:pt x="1476902" y="16669"/>
                </a:lnTo>
                <a:lnTo>
                  <a:pt x="1473908" y="14288"/>
                </a:lnTo>
                <a:lnTo>
                  <a:pt x="1470544" y="11906"/>
                </a:lnTo>
                <a:lnTo>
                  <a:pt x="1466705" y="9525"/>
                </a:lnTo>
                <a:lnTo>
                  <a:pt x="1462217" y="7144"/>
                </a:lnTo>
                <a:lnTo>
                  <a:pt x="1456739" y="4763"/>
                </a:lnTo>
                <a:lnTo>
                  <a:pt x="1449400" y="2381"/>
                </a:lnTo>
                <a:lnTo>
                  <a:pt x="1431151" y="0"/>
                </a:lnTo>
                <a:close/>
              </a:path>
            </a:pathLst>
          </a:custGeom>
          <a:solidFill>
            <a:srgbClr val="2A4A6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2074813" y="1112341"/>
            <a:ext cx="1502271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167384" y="826740"/>
            <a:ext cx="214610" cy="236071"/>
          </a:xfrm>
          <a:prstGeom prst="ellipse">
            <a:avLst/>
          </a:prstGeom>
          <a:solidFill>
            <a:srgbClr val="2A4A6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790" dirty="0"/>
          </a:p>
        </p:txBody>
      </p:sp>
      <p:sp>
        <p:nvSpPr>
          <p:cNvPr id="21" name="Text 17"/>
          <p:cNvSpPr/>
          <p:nvPr/>
        </p:nvSpPr>
        <p:spPr>
          <a:xfrm>
            <a:off x="2452985" y="872133"/>
            <a:ext cx="72736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70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MEETING</a:t>
            </a:r>
            <a:endParaRPr lang="en-US" sz="650" dirty="0"/>
          </a:p>
        </p:txBody>
      </p:sp>
      <p:sp>
        <p:nvSpPr>
          <p:cNvPr id="22" name="Text 18"/>
          <p:cNvSpPr/>
          <p:nvPr/>
        </p:nvSpPr>
        <p:spPr>
          <a:xfrm>
            <a:off x="2668488" y="1192857"/>
            <a:ext cx="314920" cy="31492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59580" y="1283949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2167384" y="1550938"/>
            <a:ext cx="1343471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began. The CFO appeared on screen — looking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tired, perhaps jet-lagged,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dim hotel room lighting.</a:t>
            </a:r>
            <a:endParaRPr lang="en-US" sz="700" dirty="0"/>
          </a:p>
        </p:txBody>
      </p:sp>
      <p:sp>
        <p:nvSpPr>
          <p:cNvPr id="25" name="Text 20"/>
          <p:cNvSpPr/>
          <p:nvPr/>
        </p:nvSpPr>
        <p:spPr>
          <a:xfrm>
            <a:off x="2167384" y="2260104"/>
            <a:ext cx="1343471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executives were present. The conversation was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professional, contextually appropriate,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completely convincing. Nothing felt wrong.</a:t>
            </a:r>
            <a:endParaRPr lang="en-US" sz="7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2680" y="2300966"/>
            <a:ext cx="132588" cy="1325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820864" y="728960"/>
            <a:ext cx="1502122" cy="3333899"/>
          </a:xfrm>
          <a:prstGeom prst="roundRect">
            <a:avLst>
              <a:gd name="adj" fmla="val 4735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3820864" y="728960"/>
            <a:ext cx="1502122" cy="19050"/>
          </a:xfrm>
          <a:custGeom>
            <a:avLst/>
            <a:gdLst/>
            <a:ahLst/>
            <a:cxnLst/>
            <a:rect l="l" t="t" r="r" b="b"/>
            <a:pathLst>
              <a:path w="1502122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79446" y="19050"/>
                </a:lnTo>
                <a:lnTo>
                  <a:pt x="1476753" y="16669"/>
                </a:lnTo>
                <a:lnTo>
                  <a:pt x="1473759" y="14288"/>
                </a:lnTo>
                <a:lnTo>
                  <a:pt x="1470395" y="11906"/>
                </a:lnTo>
                <a:lnTo>
                  <a:pt x="1466557" y="9525"/>
                </a:lnTo>
                <a:lnTo>
                  <a:pt x="1462068" y="7144"/>
                </a:lnTo>
                <a:lnTo>
                  <a:pt x="1456590" y="4763"/>
                </a:lnTo>
                <a:lnTo>
                  <a:pt x="1449252" y="2381"/>
                </a:lnTo>
                <a:lnTo>
                  <a:pt x="1431002" y="0"/>
                </a:lnTo>
                <a:close/>
              </a:path>
            </a:pathLst>
          </a:custGeom>
          <a:solidFill>
            <a:srgbClr val="E0525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3820864" y="1112341"/>
            <a:ext cx="1502122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3913436" y="826740"/>
            <a:ext cx="214610" cy="236071"/>
          </a:xfrm>
          <a:prstGeom prst="ellipse">
            <a:avLst/>
          </a:prstGeom>
          <a:solidFill>
            <a:srgbClr val="E05252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790" dirty="0"/>
          </a:p>
        </p:txBody>
      </p:sp>
      <p:sp>
        <p:nvSpPr>
          <p:cNvPr id="31" name="Text 25"/>
          <p:cNvSpPr/>
          <p:nvPr/>
        </p:nvSpPr>
        <p:spPr>
          <a:xfrm>
            <a:off x="4199037" y="872133"/>
            <a:ext cx="752743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70" dirty="0">
                <a:solidFill>
                  <a:srgbClr val="E0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REQUEST</a:t>
            </a:r>
            <a:endParaRPr lang="en-US" sz="650" dirty="0"/>
          </a:p>
        </p:txBody>
      </p:sp>
      <p:sp>
        <p:nvSpPr>
          <p:cNvPr id="32" name="Text 26"/>
          <p:cNvSpPr/>
          <p:nvPr/>
        </p:nvSpPr>
        <p:spPr>
          <a:xfrm>
            <a:off x="4414391" y="1192857"/>
            <a:ext cx="314920" cy="314920"/>
          </a:xfrm>
          <a:prstGeom prst="ellipse">
            <a:avLst/>
          </a:prstGeom>
          <a:solidFill>
            <a:srgbClr val="E05252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5483" y="1283949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913436" y="1550938"/>
            <a:ext cx="1343320" cy="559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CFO made an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request for a $499,000 wire transfer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cover a time-sensitive vendor payment.</a:t>
            </a:r>
            <a:endParaRPr lang="en-US" sz="700" dirty="0"/>
          </a:p>
        </p:txBody>
      </p:sp>
      <p:sp>
        <p:nvSpPr>
          <p:cNvPr id="35" name="Text 28"/>
          <p:cNvSpPr/>
          <p:nvPr/>
        </p:nvSpPr>
        <p:spPr>
          <a:xfrm>
            <a:off x="3913436" y="2126903"/>
            <a:ext cx="1343320" cy="559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 was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instruction was direct. The authority was entirely apparent. </a:t>
            </a:r>
            <a:r>
              <a:rPr lang="en-US" sz="7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Stop point.</a:t>
            </a:r>
            <a:endParaRPr lang="en-US" sz="700" dirty="0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8583" y="2300966"/>
            <a:ext cx="132588" cy="13258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5566767" y="728960"/>
            <a:ext cx="1502271" cy="3333899"/>
          </a:xfrm>
          <a:prstGeom prst="roundRect">
            <a:avLst>
              <a:gd name="adj" fmla="val 4734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0"/>
          <p:cNvSpPr/>
          <p:nvPr/>
        </p:nvSpPr>
        <p:spPr>
          <a:xfrm>
            <a:off x="5566767" y="728960"/>
            <a:ext cx="1502271" cy="19050"/>
          </a:xfrm>
          <a:custGeom>
            <a:avLst/>
            <a:gdLst/>
            <a:ahLst/>
            <a:cxnLst/>
            <a:rect l="l" t="t" r="r" b="b"/>
            <a:pathLst>
              <a:path w="1502271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79595" y="19050"/>
                </a:lnTo>
                <a:lnTo>
                  <a:pt x="1476902" y="16669"/>
                </a:lnTo>
                <a:lnTo>
                  <a:pt x="1473908" y="14288"/>
                </a:lnTo>
                <a:lnTo>
                  <a:pt x="1470544" y="11906"/>
                </a:lnTo>
                <a:lnTo>
                  <a:pt x="1466705" y="9525"/>
                </a:lnTo>
                <a:lnTo>
                  <a:pt x="1462217" y="7144"/>
                </a:lnTo>
                <a:lnTo>
                  <a:pt x="1456739" y="4763"/>
                </a:lnTo>
                <a:lnTo>
                  <a:pt x="1449400" y="2381"/>
                </a:lnTo>
                <a:lnTo>
                  <a:pt x="1431151" y="0"/>
                </a:lnTo>
                <a:close/>
              </a:path>
            </a:pathLst>
          </a:custGeom>
          <a:solidFill>
            <a:srgbClr val="2A4A66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1"/>
          <p:cNvSpPr/>
          <p:nvPr/>
        </p:nvSpPr>
        <p:spPr>
          <a:xfrm>
            <a:off x="5566767" y="1112341"/>
            <a:ext cx="1502271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2"/>
          <p:cNvSpPr/>
          <p:nvPr/>
        </p:nvSpPr>
        <p:spPr>
          <a:xfrm>
            <a:off x="5659338" y="826740"/>
            <a:ext cx="214610" cy="236071"/>
          </a:xfrm>
          <a:prstGeom prst="ellipse">
            <a:avLst/>
          </a:prstGeom>
          <a:solidFill>
            <a:srgbClr val="2A4A66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790" dirty="0"/>
          </a:p>
        </p:txBody>
      </p:sp>
      <p:sp>
        <p:nvSpPr>
          <p:cNvPr id="41" name="Text 33"/>
          <p:cNvSpPr/>
          <p:nvPr/>
        </p:nvSpPr>
        <p:spPr>
          <a:xfrm>
            <a:off x="5944939" y="872133"/>
            <a:ext cx="1118637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70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AUTHORISATION</a:t>
            </a:r>
            <a:endParaRPr lang="en-US" sz="650" dirty="0"/>
          </a:p>
        </p:txBody>
      </p:sp>
      <p:sp>
        <p:nvSpPr>
          <p:cNvPr id="42" name="Text 34"/>
          <p:cNvSpPr/>
          <p:nvPr/>
        </p:nvSpPr>
        <p:spPr>
          <a:xfrm>
            <a:off x="6160443" y="1192857"/>
            <a:ext cx="314920" cy="314920"/>
          </a:xfrm>
          <a:prstGeom prst="ellipse">
            <a:avLst/>
          </a:prstGeom>
          <a:solidFill>
            <a:srgbClr val="FFFFFF">
              <a:alpha val="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1534" y="1283949"/>
            <a:ext cx="132588" cy="132588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659338" y="1550938"/>
            <a:ext cx="1343471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director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the transfer.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Everything had seemed completely normal.</a:t>
            </a:r>
            <a:endParaRPr lang="en-US" sz="700" dirty="0"/>
          </a:p>
        </p:txBody>
      </p:sp>
      <p:sp>
        <p:nvSpPr>
          <p:cNvPr id="45" name="Text 36"/>
          <p:cNvSpPr/>
          <p:nvPr/>
        </p:nvSpPr>
        <p:spPr>
          <a:xfrm>
            <a:off x="5659338" y="1993702"/>
            <a:ext cx="1343471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obvious reason to doubt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what their own eyes and ears were telling them. The faces were familiar. The voices were right.</a:t>
            </a:r>
            <a:endParaRPr lang="en-US" sz="700" dirty="0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24635" y="2300966"/>
            <a:ext cx="132588" cy="13258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312819" y="728960"/>
            <a:ext cx="1502271" cy="3333899"/>
          </a:xfrm>
          <a:prstGeom prst="roundRect">
            <a:avLst>
              <a:gd name="adj" fmla="val 4734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8"/>
          <p:cNvSpPr/>
          <p:nvPr/>
        </p:nvSpPr>
        <p:spPr>
          <a:xfrm>
            <a:off x="7312819" y="728960"/>
            <a:ext cx="1502271" cy="19050"/>
          </a:xfrm>
          <a:custGeom>
            <a:avLst/>
            <a:gdLst/>
            <a:ahLst/>
            <a:cxnLst/>
            <a:rect l="l" t="t" r="r" b="b"/>
            <a:pathLst>
              <a:path w="1502271" h="19050">
                <a:moveTo>
                  <a:pt x="71120" y="0"/>
                </a:moveTo>
                <a:lnTo>
                  <a:pt x="52871" y="2381"/>
                </a:lnTo>
                <a:lnTo>
                  <a:pt x="45532" y="4763"/>
                </a:lnTo>
                <a:lnTo>
                  <a:pt x="40054" y="7144"/>
                </a:lnTo>
                <a:lnTo>
                  <a:pt x="35566" y="9525"/>
                </a:lnTo>
                <a:lnTo>
                  <a:pt x="31727" y="11906"/>
                </a:lnTo>
                <a:lnTo>
                  <a:pt x="28363" y="14288"/>
                </a:lnTo>
                <a:lnTo>
                  <a:pt x="25369" y="16669"/>
                </a:lnTo>
                <a:lnTo>
                  <a:pt x="22677" y="19050"/>
                </a:lnTo>
                <a:lnTo>
                  <a:pt x="1479595" y="19050"/>
                </a:lnTo>
                <a:lnTo>
                  <a:pt x="1476902" y="16669"/>
                </a:lnTo>
                <a:lnTo>
                  <a:pt x="1473908" y="14288"/>
                </a:lnTo>
                <a:lnTo>
                  <a:pt x="1470544" y="11906"/>
                </a:lnTo>
                <a:lnTo>
                  <a:pt x="1466705" y="9525"/>
                </a:lnTo>
                <a:lnTo>
                  <a:pt x="1462217" y="7144"/>
                </a:lnTo>
                <a:lnTo>
                  <a:pt x="1456739" y="4763"/>
                </a:lnTo>
                <a:lnTo>
                  <a:pt x="1449400" y="2381"/>
                </a:lnTo>
                <a:lnTo>
                  <a:pt x="1431151" y="0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39"/>
          <p:cNvSpPr/>
          <p:nvPr/>
        </p:nvSpPr>
        <p:spPr>
          <a:xfrm>
            <a:off x="7312819" y="1112341"/>
            <a:ext cx="1502271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0"/>
          <p:cNvSpPr/>
          <p:nvPr/>
        </p:nvSpPr>
        <p:spPr>
          <a:xfrm>
            <a:off x="7405390" y="826740"/>
            <a:ext cx="214610" cy="236071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790" dirty="0"/>
          </a:p>
        </p:txBody>
      </p:sp>
      <p:sp>
        <p:nvSpPr>
          <p:cNvPr id="51" name="Text 41"/>
          <p:cNvSpPr/>
          <p:nvPr/>
        </p:nvSpPr>
        <p:spPr>
          <a:xfrm>
            <a:off x="7690991" y="872133"/>
            <a:ext cx="864721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kern="0" spc="7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DISCOVERY</a:t>
            </a:r>
            <a:endParaRPr lang="en-US" sz="650" dirty="0"/>
          </a:p>
        </p:txBody>
      </p:sp>
      <p:sp>
        <p:nvSpPr>
          <p:cNvPr id="52" name="Text 42"/>
          <p:cNvSpPr/>
          <p:nvPr/>
        </p:nvSpPr>
        <p:spPr>
          <a:xfrm>
            <a:off x="7906494" y="1192857"/>
            <a:ext cx="314920" cy="31492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97586" y="1283949"/>
            <a:ext cx="132588" cy="13258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405390" y="1550938"/>
            <a:ext cx="1343471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money had moved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did the company discover that every person on that call had been an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deepfake.</a:t>
            </a:r>
            <a:endParaRPr lang="en-US" sz="700" dirty="0"/>
          </a:p>
        </p:txBody>
      </p:sp>
      <p:sp>
        <p:nvSpPr>
          <p:cNvPr id="55" name="Text 44"/>
          <p:cNvSpPr/>
          <p:nvPr/>
        </p:nvSpPr>
        <p:spPr>
          <a:xfrm>
            <a:off x="7405390" y="2260104"/>
            <a:ext cx="1343471" cy="41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executives had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knowledge of the meeting.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$499,000 was gone.</a:t>
            </a:r>
            <a:endParaRPr lang="en-US" sz="700" dirty="0"/>
          </a:p>
        </p:txBody>
      </p:sp>
      <p:sp>
        <p:nvSpPr>
          <p:cNvPr id="56" name="Text 45"/>
          <p:cNvSpPr/>
          <p:nvPr/>
        </p:nvSpPr>
        <p:spPr>
          <a:xfrm>
            <a:off x="285750" y="4133850"/>
            <a:ext cx="8572500" cy="598884"/>
          </a:xfrm>
          <a:prstGeom prst="roundRect">
            <a:avLst>
              <a:gd name="adj" fmla="val 9543"/>
            </a:avLst>
          </a:prstGeom>
          <a:gradFill rotWithShape="1">
            <a:gsLst>
              <a:gs pos="0">
                <a:srgbClr val="E05252">
                  <a:alpha val="18000"/>
                </a:srgbClr>
              </a:gs>
              <a:gs pos="100000">
                <a:srgbClr val="E05252">
                  <a:alpha val="8000"/>
                </a:srgbClr>
              </a:gs>
            </a:gsLst>
            <a:lin ang="2700000" scaled="1"/>
          </a:gradFill>
          <a:ln w="9525">
            <a:solidFill>
              <a:srgbClr val="E05252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5775" y="4228207"/>
            <a:ext cx="107603" cy="171450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409575" y="4428827"/>
            <a:ext cx="286167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65"/>
              </a:lnSpc>
              <a:buNone/>
            </a:pPr>
            <a:r>
              <a:rPr lang="en-US" sz="51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510" dirty="0"/>
          </a:p>
        </p:txBody>
      </p:sp>
      <p:sp>
        <p:nvSpPr>
          <p:cNvPr id="59" name="Text 47"/>
          <p:cNvSpPr/>
          <p:nvPr/>
        </p:nvSpPr>
        <p:spPr>
          <a:xfrm>
            <a:off x="740718" y="4214366"/>
            <a:ext cx="8793078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0" dirty="0">
                <a:solidFill>
                  <a:srgbClr val="E0525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← THIS IS WHERE ONE SENTENCE STOPS EVERYTHING</a:t>
            </a:r>
            <a:endParaRPr lang="en-US" sz="620" dirty="0"/>
          </a:p>
        </p:txBody>
      </p:sp>
      <p:sp>
        <p:nvSpPr>
          <p:cNvPr id="60" name="Text 48"/>
          <p:cNvSpPr/>
          <p:nvPr/>
        </p:nvSpPr>
        <p:spPr>
          <a:xfrm>
            <a:off x="740718" y="4353967"/>
            <a:ext cx="879307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will need to confirm this through our standard authorisation process before processing."</a:t>
            </a:r>
            <a:r>
              <a:rPr lang="en-US" sz="73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I call you back on your registered line?</a:t>
            </a:r>
            <a:endParaRPr lang="en-US" sz="730" dirty="0"/>
          </a:p>
        </p:txBody>
      </p:sp>
      <p:sp>
        <p:nvSpPr>
          <p:cNvPr id="61" name="Text 49"/>
          <p:cNvSpPr/>
          <p:nvPr/>
        </p:nvSpPr>
        <p:spPr>
          <a:xfrm>
            <a:off x="740718" y="4528393"/>
            <a:ext cx="8793078" cy="123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CFO will always say yes. A deepfake cannot take a callback — because there is no real person on the other end of the line.</a:t>
            </a:r>
            <a:endParaRPr lang="en-US" sz="650" dirty="0"/>
          </a:p>
        </p:txBody>
      </p:sp>
      <p:sp>
        <p:nvSpPr>
          <p:cNvPr id="62" name="Text 50"/>
          <p:cNvSpPr/>
          <p:nvPr/>
        </p:nvSpPr>
        <p:spPr>
          <a:xfrm>
            <a:off x="285750" y="4803725"/>
            <a:ext cx="8572500" cy="253305"/>
          </a:xfrm>
          <a:prstGeom prst="roundRect">
            <a:avLst>
              <a:gd name="adj" fmla="val 17047"/>
            </a:avLst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6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0998" y="4864084"/>
            <a:ext cx="132588" cy="132588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596354" y="4860875"/>
            <a:ext cx="7295733" cy="278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$499,000 lost. One callback. One question. That is all it would have taken to stop it.</a:t>
            </a:r>
            <a:endParaRPr lang="en-US" sz="730" dirty="0"/>
          </a:p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      ·  The verification protocol costs nothing. The fraud costs everything.</a:t>
            </a:r>
            <a:endParaRPr lang="en-US" sz="730" dirty="0"/>
          </a:p>
        </p:txBody>
      </p:sp>
      <p:sp>
        <p:nvSpPr>
          <p:cNvPr id="65" name="Text 52"/>
          <p:cNvSpPr/>
          <p:nvPr/>
        </p:nvSpPr>
        <p:spPr>
          <a:xfrm>
            <a:off x="1867938" y="929620"/>
            <a:ext cx="13841" cy="3133277"/>
          </a:xfrm>
          <a:prstGeom prst="rect">
            <a:avLst/>
          </a:prstGeom>
          <a:solidFill>
            <a:srgbClr val="2A4A6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3"/>
          <p:cNvSpPr/>
          <p:nvPr/>
        </p:nvSpPr>
        <p:spPr>
          <a:xfrm>
            <a:off x="3613993" y="929620"/>
            <a:ext cx="13841" cy="3133277"/>
          </a:xfrm>
          <a:prstGeom prst="rect">
            <a:avLst/>
          </a:prstGeom>
          <a:solidFill>
            <a:srgbClr val="2A4A6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4"/>
          <p:cNvSpPr/>
          <p:nvPr/>
        </p:nvSpPr>
        <p:spPr>
          <a:xfrm>
            <a:off x="5359893" y="929620"/>
            <a:ext cx="13841" cy="3133277"/>
          </a:xfrm>
          <a:prstGeom prst="rect">
            <a:avLst/>
          </a:prstGeom>
          <a:solidFill>
            <a:srgbClr val="2A4A6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5"/>
          <p:cNvSpPr/>
          <p:nvPr/>
        </p:nvSpPr>
        <p:spPr>
          <a:xfrm>
            <a:off x="7105948" y="929620"/>
            <a:ext cx="13841" cy="3133277"/>
          </a:xfrm>
          <a:prstGeom prst="rect">
            <a:avLst/>
          </a:prstGeom>
          <a:solidFill>
            <a:srgbClr val="2A4A66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42491"/>
          </a:xfrm>
          <a:prstGeom prst="rect">
            <a:avLst/>
          </a:prstGeom>
          <a:gradFill rotWithShape="1">
            <a:gsLst>
              <a:gs pos="0">
                <a:srgbClr val="0B1929"/>
              </a:gs>
              <a:gs pos="60000">
                <a:srgbClr val="112236"/>
              </a:gs>
              <a:gs pos="100000">
                <a:srgbClr val="0D1B2A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632966"/>
            <a:ext cx="9144000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72070" y="35421"/>
            <a:ext cx="2120256" cy="164753"/>
          </a:xfrm>
          <a:prstGeom prst="roundRect">
            <a:avLst>
              <a:gd name="adj" fmla="val 17730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lIns="167580" tIns="13970" rIns="71120" bIns="13970" rtlCol="0" anchor="ctr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3 · REAL INCIDENT · 2024</a:t>
            </a:r>
            <a:endParaRPr lang="en-US" sz="62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33" y="51429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2070" y="229344"/>
            <a:ext cx="3294802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Ferrari</a:t>
            </a:r>
            <a:r>
              <a:rPr lang="en-US" sz="146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Stopped by </a:t>
            </a:r>
            <a:r>
              <a:rPr lang="en-US" sz="14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</a:t>
            </a:r>
            <a:endParaRPr lang="en-US" sz="1460" dirty="0"/>
          </a:p>
        </p:txBody>
      </p:sp>
      <p:sp>
        <p:nvSpPr>
          <p:cNvPr id="7" name="Text 4"/>
          <p:cNvSpPr/>
          <p:nvPr/>
        </p:nvSpPr>
        <p:spPr>
          <a:xfrm>
            <a:off x="7655272" y="70545"/>
            <a:ext cx="1138991" cy="180231"/>
          </a:xfrm>
          <a:prstGeom prst="roundRect">
            <a:avLst>
              <a:gd name="adj" fmla="val 79626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153610" tIns="21590" rIns="86360" bIns="21590" rtlCol="0" anchor="ctr"/>
          <a:lstStyle/>
          <a:p>
            <a:pPr marL="0" indent="0" algn="l">
              <a:buNone/>
            </a:pPr>
            <a:r>
              <a:rPr lang="en-US" sz="620" b="1" kern="0" spc="5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Financial Loss</a:t>
            </a:r>
            <a:endParaRPr lang="en-US" sz="62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2294" y="94292"/>
            <a:ext cx="132588" cy="132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61778" y="279946"/>
            <a:ext cx="181015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Clone Attack · Benedetto Vigna · 2024</a:t>
            </a:r>
            <a:endParaRPr lang="en-US" sz="620" dirty="0"/>
          </a:p>
        </p:txBody>
      </p:sp>
      <p:sp>
        <p:nvSpPr>
          <p:cNvPr id="10" name="Text 6"/>
          <p:cNvSpPr/>
          <p:nvPr/>
        </p:nvSpPr>
        <p:spPr>
          <a:xfrm>
            <a:off x="372070" y="447080"/>
            <a:ext cx="923984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simple personal verification question defeated a sophisticated AI voice attack</a:t>
            </a:r>
            <a:endParaRPr lang="en-US" sz="790" dirty="0"/>
          </a:p>
        </p:txBody>
      </p:sp>
      <p:sp>
        <p:nvSpPr>
          <p:cNvPr id="11" name="Text 7"/>
          <p:cNvSpPr/>
          <p:nvPr/>
        </p:nvSpPr>
        <p:spPr>
          <a:xfrm>
            <a:off x="0" y="642491"/>
            <a:ext cx="4572000" cy="3690937"/>
          </a:xfrm>
          <a:prstGeom prst="rect">
            <a:avLst/>
          </a:prstGeom>
          <a:gradFill rotWithShape="1">
            <a:gsLst>
              <a:gs pos="0">
                <a:srgbClr val="1A1220"/>
              </a:gs>
              <a:gs pos="100000">
                <a:srgbClr val="1A1A2A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562475" y="642491"/>
            <a:ext cx="9525" cy="3690937"/>
          </a:xfrm>
          <a:prstGeom prst="rect">
            <a:avLst/>
          </a:prstGeom>
          <a:solidFill>
            <a:srgbClr val="DC4444">
              <a:alpha val="2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72070" y="81394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DC3C3C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922" y="868793"/>
            <a:ext cx="132588" cy="132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5502" y="876151"/>
            <a:ext cx="65746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D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</a:t>
            </a:r>
            <a:endParaRPr lang="en-US" sz="620" dirty="0"/>
          </a:p>
        </p:txBody>
      </p:sp>
      <p:sp>
        <p:nvSpPr>
          <p:cNvPr id="16" name="Text 11"/>
          <p:cNvSpPr/>
          <p:nvPr/>
        </p:nvSpPr>
        <p:spPr>
          <a:xfrm>
            <a:off x="372070" y="1170682"/>
            <a:ext cx="435798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790"/>
              </a:spcAft>
              <a:buNone/>
            </a:pPr>
            <a:r>
              <a:rPr lang="en-US" sz="11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AI Voice Clone of CEO Benedetto Vigna</a:t>
            </a:r>
            <a:endParaRPr lang="en-US" sz="1130" dirty="0"/>
          </a:p>
        </p:txBody>
      </p:sp>
      <p:sp>
        <p:nvSpPr>
          <p:cNvPr id="17" name="Text 12"/>
          <p:cNvSpPr/>
          <p:nvPr/>
        </p:nvSpPr>
        <p:spPr>
          <a:xfrm>
            <a:off x="372070" y="1443038"/>
            <a:ext cx="4041041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spcAft>
                <a:spcPts val="790"/>
              </a:spcAft>
              <a:buNone/>
            </a:pP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2024, Ferrari executives received a series of messages appearing to come from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Benedetto Vigna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followed by a phone call using an AI-generated clone of his voice. The clone replicated his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 accent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striking accuracy.</a:t>
            </a:r>
            <a:endParaRPr lang="en-US" sz="820" dirty="0"/>
          </a:p>
        </p:txBody>
      </p:sp>
      <p:sp>
        <p:nvSpPr>
          <p:cNvPr id="18" name="Text 13"/>
          <p:cNvSpPr/>
          <p:nvPr/>
        </p:nvSpPr>
        <p:spPr>
          <a:xfrm>
            <a:off x="372070" y="2043410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72070" y="2043410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DC4444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1582" y="2089407"/>
            <a:ext cx="132588" cy="132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8827" y="2108150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D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convincing voice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Vigna's exact accent, cadence, and tone reproduced using publicly available audio recordings</a:t>
            </a:r>
            <a:endParaRPr lang="en-US" sz="760" dirty="0"/>
          </a:p>
        </p:txBody>
      </p:sp>
      <p:sp>
        <p:nvSpPr>
          <p:cNvPr id="22" name="Text 16"/>
          <p:cNvSpPr/>
          <p:nvPr/>
        </p:nvSpPr>
        <p:spPr>
          <a:xfrm>
            <a:off x="372070" y="2510135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372070" y="2510135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DC4444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1582" y="2556132"/>
            <a:ext cx="132588" cy="13258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8827" y="2574875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D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Manufactured urgency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confidential acquisition deal demanding immediate financial action with no time to verify</a:t>
            </a:r>
            <a:endParaRPr lang="en-US" sz="760" dirty="0"/>
          </a:p>
        </p:txBody>
      </p:sp>
      <p:sp>
        <p:nvSpPr>
          <p:cNvPr id="26" name="Text 19"/>
          <p:cNvSpPr/>
          <p:nvPr/>
        </p:nvSpPr>
        <p:spPr>
          <a:xfrm>
            <a:off x="372070" y="2976860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0"/>
          <p:cNvSpPr/>
          <p:nvPr/>
        </p:nvSpPr>
        <p:spPr>
          <a:xfrm>
            <a:off x="372070" y="2976860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DC4444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1582" y="3022857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18827" y="3041600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D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 to real news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call coincided with legitimate corporate announcements to maximise believability</a:t>
            </a:r>
            <a:endParaRPr lang="en-US" sz="760" dirty="0"/>
          </a:p>
        </p:txBody>
      </p:sp>
      <p:sp>
        <p:nvSpPr>
          <p:cNvPr id="30" name="Text 22"/>
          <p:cNvSpPr/>
          <p:nvPr/>
        </p:nvSpPr>
        <p:spPr>
          <a:xfrm>
            <a:off x="372070" y="3443585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372070" y="3443585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DC4444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1582" y="3489582"/>
            <a:ext cx="132588" cy="132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18827" y="3508325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D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prior research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attacker knew Ferrari's corporate context, deal terminology, and executive relationships</a:t>
            </a:r>
            <a:endParaRPr lang="en-US" sz="760" dirty="0"/>
          </a:p>
        </p:txBody>
      </p:sp>
      <p:sp>
        <p:nvSpPr>
          <p:cNvPr id="34" name="Text 25"/>
          <p:cNvSpPr/>
          <p:nvPr/>
        </p:nvSpPr>
        <p:spPr>
          <a:xfrm>
            <a:off x="372070" y="3953470"/>
            <a:ext cx="2211035" cy="272355"/>
          </a:xfrm>
          <a:prstGeom prst="roundRect">
            <a:avLst>
              <a:gd name="adj" fmla="val 15854"/>
            </a:avLst>
          </a:prstGeom>
          <a:solidFill>
            <a:srgbClr val="DC3C3C">
              <a:alpha val="12000"/>
            </a:srgbClr>
          </a:solidFill>
          <a:ln w="9525">
            <a:solidFill>
              <a:srgbClr val="DC4444">
                <a:alpha val="30000"/>
              </a:srgbClr>
            </a:solidFill>
          </a:ln>
        </p:spPr>
        <p:txBody>
          <a:bodyPr wrap="none" lIns="232638" tIns="57150" rIns="100330" bIns="5715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D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pointed to a genuine CEO call</a:t>
            </a:r>
            <a:endParaRPr lang="en-US" sz="73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3191" y="4023280"/>
            <a:ext cx="132588" cy="1325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572000" y="642491"/>
            <a:ext cx="4572000" cy="3690937"/>
          </a:xfrm>
          <a:prstGeom prst="rect">
            <a:avLst/>
          </a:prstGeom>
          <a:gradFill rotWithShape="1">
            <a:gsLst>
              <a:gs pos="0">
                <a:srgbClr val="0D1F18"/>
              </a:gs>
              <a:gs pos="100000">
                <a:srgbClr val="0F1D2A"/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27"/>
          <p:cNvSpPr/>
          <p:nvPr/>
        </p:nvSpPr>
        <p:spPr>
          <a:xfrm>
            <a:off x="4572000" y="642491"/>
            <a:ext cx="9525" cy="3690937"/>
          </a:xfrm>
          <a:prstGeom prst="rect">
            <a:avLst/>
          </a:prstGeom>
          <a:solidFill>
            <a:srgbClr val="2ECC71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28"/>
          <p:cNvSpPr/>
          <p:nvPr/>
        </p:nvSpPr>
        <p:spPr>
          <a:xfrm>
            <a:off x="4810125" y="813941"/>
            <a:ext cx="242441" cy="242441"/>
          </a:xfrm>
          <a:prstGeom prst="roundRect">
            <a:avLst>
              <a:gd name="adj" fmla="val 23573"/>
            </a:avLst>
          </a:prstGeom>
          <a:solidFill>
            <a:srgbClr val="2ECC71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64977" y="868793"/>
            <a:ext cx="132588" cy="13258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123557" y="876151"/>
            <a:ext cx="7434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DEFENCE</a:t>
            </a:r>
            <a:endParaRPr lang="en-US" sz="620" dirty="0"/>
          </a:p>
        </p:txBody>
      </p:sp>
      <p:sp>
        <p:nvSpPr>
          <p:cNvPr id="41" name="Text 30"/>
          <p:cNvSpPr/>
          <p:nvPr/>
        </p:nvSpPr>
        <p:spPr>
          <a:xfrm>
            <a:off x="4810125" y="1170682"/>
            <a:ext cx="435798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790"/>
              </a:spcAft>
              <a:buNone/>
            </a:pPr>
            <a:r>
              <a:rPr lang="en-US" sz="11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Question. The Attacker Had No Answer.</a:t>
            </a:r>
            <a:endParaRPr lang="en-US" sz="1130" dirty="0"/>
          </a:p>
        </p:txBody>
      </p:sp>
      <p:sp>
        <p:nvSpPr>
          <p:cNvPr id="42" name="Text 31"/>
          <p:cNvSpPr/>
          <p:nvPr/>
        </p:nvSpPr>
        <p:spPr>
          <a:xfrm>
            <a:off x="4810125" y="1443038"/>
            <a:ext cx="4041041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2"/>
              </a:lnSpc>
              <a:spcAft>
                <a:spcPts val="790"/>
              </a:spcAft>
              <a:buNone/>
            </a:pP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executive was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of the urgency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despite the convincing voice. He did not reach for a security tool. He did not file a report. He simply asked </a:t>
            </a:r>
            <a:r>
              <a:rPr lang="en-US" sz="82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personal question</a:t>
            </a:r>
            <a:r>
              <a:rPr lang="en-US" sz="8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20" dirty="0"/>
          </a:p>
        </p:txBody>
      </p:sp>
      <p:sp>
        <p:nvSpPr>
          <p:cNvPr id="43" name="Text 32"/>
          <p:cNvSpPr/>
          <p:nvPr/>
        </p:nvSpPr>
        <p:spPr>
          <a:xfrm>
            <a:off x="4810125" y="2043410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3"/>
          <p:cNvSpPr/>
          <p:nvPr/>
        </p:nvSpPr>
        <p:spPr>
          <a:xfrm>
            <a:off x="4810125" y="2043410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2ECC71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879637" y="2089407"/>
            <a:ext cx="132588" cy="13258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056882" y="2108150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over instruction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executive trusted the feeling that something was off, despite no obvious technical flaw in the voice</a:t>
            </a:r>
            <a:endParaRPr lang="en-US" sz="760" dirty="0"/>
          </a:p>
        </p:txBody>
      </p:sp>
      <p:sp>
        <p:nvSpPr>
          <p:cNvPr id="47" name="Text 35"/>
          <p:cNvSpPr/>
          <p:nvPr/>
        </p:nvSpPr>
        <p:spPr>
          <a:xfrm>
            <a:off x="4810125" y="2510135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36"/>
          <p:cNvSpPr/>
          <p:nvPr/>
        </p:nvSpPr>
        <p:spPr>
          <a:xfrm>
            <a:off x="4810125" y="2510135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2ECC71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79637" y="2556132"/>
            <a:ext cx="132588" cy="132588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5056882" y="2574875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personal reference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shared detail not available in any public source, database, or training data the AI could access</a:t>
            </a:r>
            <a:endParaRPr lang="en-US" sz="760" dirty="0"/>
          </a:p>
        </p:txBody>
      </p:sp>
      <p:sp>
        <p:nvSpPr>
          <p:cNvPr id="51" name="Text 38"/>
          <p:cNvSpPr/>
          <p:nvPr/>
        </p:nvSpPr>
        <p:spPr>
          <a:xfrm>
            <a:off x="4810125" y="2976860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39"/>
          <p:cNvSpPr/>
          <p:nvPr/>
        </p:nvSpPr>
        <p:spPr>
          <a:xfrm>
            <a:off x="4810125" y="2976860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2ECC71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79637" y="3022857"/>
            <a:ext cx="132588" cy="132588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5056882" y="3041600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attacker could not answer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call ended immediately. The fraud collapsed. No technology required. No tool deployed.</a:t>
            </a:r>
            <a:endParaRPr lang="en-US" sz="760" dirty="0"/>
          </a:p>
        </p:txBody>
      </p:sp>
      <p:sp>
        <p:nvSpPr>
          <p:cNvPr id="55" name="Text 41"/>
          <p:cNvSpPr/>
          <p:nvPr/>
        </p:nvSpPr>
        <p:spPr>
          <a:xfrm>
            <a:off x="4810125" y="3443585"/>
            <a:ext cx="3961805" cy="409575"/>
          </a:xfrm>
          <a:prstGeom prst="roundRect">
            <a:avLst>
              <a:gd name="adj" fmla="val 10543"/>
            </a:avLst>
          </a:prstGeom>
          <a:solidFill>
            <a:srgbClr val="FFFFFF">
              <a:alpha val="3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2"/>
          <p:cNvSpPr/>
          <p:nvPr/>
        </p:nvSpPr>
        <p:spPr>
          <a:xfrm>
            <a:off x="4810125" y="3443585"/>
            <a:ext cx="9525" cy="409575"/>
          </a:xfrm>
          <a:custGeom>
            <a:avLst/>
            <a:gdLst/>
            <a:ahLst/>
            <a:cxnLst/>
            <a:rect l="l" t="t" r="r" b="b"/>
            <a:pathLst>
              <a:path w="9525" h="409575">
                <a:moveTo>
                  <a:pt x="0" y="43180"/>
                </a:moveTo>
                <a:lnTo>
                  <a:pt x="1191" y="33110"/>
                </a:lnTo>
                <a:lnTo>
                  <a:pt x="2381" y="29039"/>
                </a:lnTo>
                <a:lnTo>
                  <a:pt x="3572" y="25984"/>
                </a:lnTo>
                <a:lnTo>
                  <a:pt x="4763" y="23467"/>
                </a:lnTo>
                <a:lnTo>
                  <a:pt x="5953" y="21301"/>
                </a:lnTo>
                <a:lnTo>
                  <a:pt x="7144" y="19391"/>
                </a:lnTo>
                <a:lnTo>
                  <a:pt x="8334" y="17679"/>
                </a:lnTo>
                <a:lnTo>
                  <a:pt x="9525" y="16127"/>
                </a:lnTo>
                <a:lnTo>
                  <a:pt x="9525" y="393448"/>
                </a:lnTo>
                <a:lnTo>
                  <a:pt x="8334" y="391896"/>
                </a:lnTo>
                <a:lnTo>
                  <a:pt x="7144" y="390184"/>
                </a:lnTo>
                <a:lnTo>
                  <a:pt x="5953" y="388274"/>
                </a:lnTo>
                <a:lnTo>
                  <a:pt x="4763" y="386108"/>
                </a:lnTo>
                <a:lnTo>
                  <a:pt x="3572" y="383591"/>
                </a:lnTo>
                <a:lnTo>
                  <a:pt x="2381" y="380536"/>
                </a:lnTo>
                <a:lnTo>
                  <a:pt x="1191" y="376465"/>
                </a:lnTo>
                <a:lnTo>
                  <a:pt x="0" y="366395"/>
                </a:lnTo>
                <a:close/>
              </a:path>
            </a:pathLst>
          </a:custGeom>
          <a:solidFill>
            <a:srgbClr val="2ECC71">
              <a:alpha val="5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79637" y="3489582"/>
            <a:ext cx="132588" cy="132588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5056882" y="3508325"/>
            <a:ext cx="3701302" cy="2940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02"/>
              </a:lnSpc>
              <a:buNone/>
            </a:pPr>
            <a:r>
              <a:rPr lang="en-US" sz="76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financial loss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of the world's most high-profile companies, protected by one human instinct and one private question</a:t>
            </a:r>
            <a:endParaRPr lang="en-US" sz="760" dirty="0"/>
          </a:p>
        </p:txBody>
      </p:sp>
      <p:sp>
        <p:nvSpPr>
          <p:cNvPr id="59" name="Text 44"/>
          <p:cNvSpPr/>
          <p:nvPr/>
        </p:nvSpPr>
        <p:spPr>
          <a:xfrm>
            <a:off x="4810125" y="3953470"/>
            <a:ext cx="2394871" cy="272355"/>
          </a:xfrm>
          <a:prstGeom prst="roundRect">
            <a:avLst>
              <a:gd name="adj" fmla="val 15854"/>
            </a:avLst>
          </a:prstGeom>
          <a:solidFill>
            <a:srgbClr val="2ECC71">
              <a:alpha val="12000"/>
            </a:srgbClr>
          </a:solidFill>
          <a:ln w="9525">
            <a:solidFill>
              <a:srgbClr val="2ECC71">
                <a:alpha val="30000"/>
              </a:srgbClr>
            </a:solidFill>
          </a:ln>
        </p:spPr>
        <p:txBody>
          <a:bodyPr wrap="none" lIns="232638" tIns="57150" rIns="100330" bIns="57150" rtlCol="0" anchor="ctr"/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ended. The fraud collapsed. Loss: $0</a:t>
            </a:r>
            <a:endParaRPr lang="en-US" sz="730" dirty="0"/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91245" y="4023280"/>
            <a:ext cx="132588" cy="132588"/>
          </a:xfrm>
          <a:prstGeom prst="rect">
            <a:avLst/>
          </a:prstGeom>
        </p:spPr>
      </p:pic>
      <p:sp>
        <p:nvSpPr>
          <p:cNvPr id="61" name="Text 45"/>
          <p:cNvSpPr/>
          <p:nvPr/>
        </p:nvSpPr>
        <p:spPr>
          <a:xfrm>
            <a:off x="0" y="4333429"/>
            <a:ext cx="9144000" cy="409873"/>
          </a:xfrm>
          <a:prstGeom prst="rect">
            <a:avLst/>
          </a:prstGeom>
          <a:gradFill rotWithShape="1">
            <a:gsLst>
              <a:gs pos="0">
                <a:srgbClr val="E8A020">
                  <a:alpha val="18000"/>
                </a:srgbClr>
              </a:gs>
              <a:gs pos="60000">
                <a:srgbClr val="E8A02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2070" y="4463058"/>
            <a:ext cx="150465" cy="150465"/>
          </a:xfrm>
          <a:prstGeom prst="rect">
            <a:avLst/>
          </a:prstGeom>
        </p:spPr>
      </p:pic>
      <p:sp>
        <p:nvSpPr>
          <p:cNvPr id="63" name="Text 46"/>
          <p:cNvSpPr/>
          <p:nvPr/>
        </p:nvSpPr>
        <p:spPr>
          <a:xfrm>
            <a:off x="650677" y="4443264"/>
            <a:ext cx="7865001" cy="1902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44"/>
              </a:lnSpc>
              <a:buNone/>
            </a:pPr>
            <a:r>
              <a:rPr lang="en-US" sz="107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zero-dollar loss.</a:t>
            </a:r>
            <a:r>
              <a:rPr lang="en-US" sz="96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Not from technology. Not from AI detection tools. From </a:t>
            </a:r>
            <a:r>
              <a:rPr lang="en-US" sz="107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personal question</a:t>
            </a:r>
            <a:r>
              <a:rPr lang="en-US" sz="96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that an AI could not answer.</a:t>
            </a:r>
            <a:endParaRPr lang="en-US" sz="960" dirty="0"/>
          </a:p>
        </p:txBody>
      </p:sp>
      <p:sp>
        <p:nvSpPr>
          <p:cNvPr id="64" name="Text 47"/>
          <p:cNvSpPr/>
          <p:nvPr/>
        </p:nvSpPr>
        <p:spPr>
          <a:xfrm>
            <a:off x="0" y="4743301"/>
            <a:ext cx="9144000" cy="400050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5" name="Image 1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9578" y="4876958"/>
            <a:ext cx="132588" cy="132588"/>
          </a:xfrm>
          <a:prstGeom prst="rect">
            <a:avLst/>
          </a:prstGeom>
        </p:spPr>
      </p:pic>
      <p:sp>
        <p:nvSpPr>
          <p:cNvPr id="66" name="Text 48"/>
          <p:cNvSpPr/>
          <p:nvPr/>
        </p:nvSpPr>
        <p:spPr>
          <a:xfrm>
            <a:off x="593973" y="4875758"/>
            <a:ext cx="8443555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model for your institution. </a:t>
            </a:r>
            <a:r>
              <a:rPr lang="en-US" sz="760" b="1" dirty="0">
                <a:solidFill>
                  <a:srgbClr val="0D1B2A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personal code question with your direct leadership team today — no technology required, no cost, just one private conversation.</a:t>
            </a:r>
            <a:endParaRPr lang="en-US" sz="760" dirty="0"/>
          </a:p>
        </p:txBody>
      </p:sp>
      <p:sp>
        <p:nvSpPr>
          <p:cNvPr id="67" name="Text 49"/>
          <p:cNvSpPr/>
          <p:nvPr/>
        </p:nvSpPr>
        <p:spPr>
          <a:xfrm>
            <a:off x="0" y="639217"/>
            <a:ext cx="9144000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8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0"/>
          <p:cNvSpPr/>
          <p:nvPr/>
        </p:nvSpPr>
        <p:spPr>
          <a:xfrm>
            <a:off x="0" y="642491"/>
            <a:ext cx="21580" cy="3690937"/>
          </a:xfrm>
          <a:prstGeom prst="rect">
            <a:avLst/>
          </a:prstGeom>
          <a:gradFill rotWithShape="1">
            <a:gsLst>
              <a:gs pos="0">
                <a:srgbClr val="DC4444"/>
              </a:gs>
              <a:gs pos="100000">
                <a:srgbClr val="DC4444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51"/>
          <p:cNvSpPr/>
          <p:nvPr/>
        </p:nvSpPr>
        <p:spPr>
          <a:xfrm>
            <a:off x="3562941" y="213231"/>
            <a:ext cx="1428750" cy="1428750"/>
          </a:xfrm>
          <a:prstGeom prst="rect">
            <a:avLst/>
          </a:prstGeom>
          <a:gradFill rotWithShape="1">
            <a:gsLst>
              <a:gs pos="0">
                <a:srgbClr val="DC4444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2"/>
          <p:cNvSpPr/>
          <p:nvPr/>
        </p:nvSpPr>
        <p:spPr>
          <a:xfrm>
            <a:off x="9122416" y="642491"/>
            <a:ext cx="21580" cy="3690937"/>
          </a:xfrm>
          <a:prstGeom prst="rect">
            <a:avLst/>
          </a:prstGeom>
          <a:gradFill rotWithShape="1">
            <a:gsLst>
              <a:gs pos="0">
                <a:srgbClr val="2ECC71"/>
              </a:gs>
              <a:gs pos="100000">
                <a:srgbClr val="2ECC71">
                  <a:alpha val="15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3"/>
          <p:cNvSpPr/>
          <p:nvPr/>
        </p:nvSpPr>
        <p:spPr>
          <a:xfrm>
            <a:off x="4152265" y="213231"/>
            <a:ext cx="1428750" cy="1428750"/>
          </a:xfrm>
          <a:prstGeom prst="rect">
            <a:avLst/>
          </a:prstGeom>
          <a:gradFill rotWithShape="1">
            <a:gsLst>
              <a:gs pos="0">
                <a:srgbClr val="2ECC71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54"/>
          <p:cNvSpPr/>
          <p:nvPr/>
        </p:nvSpPr>
        <p:spPr>
          <a:xfrm>
            <a:off x="4385965" y="2301925"/>
            <a:ext cx="372070" cy="372070"/>
          </a:xfrm>
          <a:prstGeom prst="ellipse">
            <a:avLst/>
          </a:prstGeom>
          <a:solidFill>
            <a:srgbClr val="0D1B2A"/>
          </a:solidFill>
          <a:ln w="9525">
            <a:solidFill>
              <a:srgbClr val="E8A02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3" name="Image 1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05632" y="2421591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157460"/>
            <a:ext cx="4964178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spcAft>
                <a:spcPts val="170"/>
              </a:spcAft>
              <a:buNone/>
            </a:pPr>
            <a:r>
              <a:rPr lang="en-US" sz="169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AI-Generated Phishing — </a:t>
            </a:r>
            <a:r>
              <a:rPr lang="en-US" sz="1690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It Looks Like Now</a:t>
            </a:r>
            <a:endParaRPr lang="en-US" sz="1690" dirty="0"/>
          </a:p>
        </p:txBody>
      </p:sp>
      <p:sp>
        <p:nvSpPr>
          <p:cNvPr id="3" name="Text 1"/>
          <p:cNvSpPr/>
          <p:nvPr/>
        </p:nvSpPr>
        <p:spPr>
          <a:xfrm>
            <a:off x="372070" y="415082"/>
            <a:ext cx="510336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kern="0" spc="1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you spot this? Most people cannot — and that is the point.</a:t>
            </a:r>
            <a:endParaRPr lang="en-US" sz="84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8746" y="435927"/>
            <a:ext cx="132588" cy="1325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25779" y="443210"/>
            <a:ext cx="148076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CSF 2.0 · PR.AT-1 · DE.AE-1</a:t>
            </a:r>
            <a:endParaRPr lang="en-US" sz="620" dirty="0"/>
          </a:p>
        </p:txBody>
      </p:sp>
      <p:sp>
        <p:nvSpPr>
          <p:cNvPr id="6" name="Text 3"/>
          <p:cNvSpPr/>
          <p:nvPr/>
        </p:nvSpPr>
        <p:spPr>
          <a:xfrm>
            <a:off x="372070" y="632222"/>
            <a:ext cx="8399859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50000">
                <a:srgbClr val="E8A02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72070" y="740122"/>
            <a:ext cx="2035225" cy="4400550"/>
          </a:xfrm>
          <a:prstGeom prst="roundRect">
            <a:avLst>
              <a:gd name="adj" fmla="val 3494"/>
            </a:avLst>
          </a:prstGeom>
          <a:gradFill rotWithShape="1">
            <a:gsLst>
              <a:gs pos="0">
                <a:srgbClr val="1F1828"/>
              </a:gs>
              <a:gs pos="100000">
                <a:srgbClr val="1A2E42"/>
              </a:gs>
            </a:gsLst>
            <a:lin ang="4200000" scaled="1"/>
          </a:gradFill>
          <a:ln w="9525">
            <a:solidFill>
              <a:srgbClr val="E05252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94568" y="849957"/>
            <a:ext cx="698227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8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PHISHING</a:t>
            </a:r>
            <a:endParaRPr lang="en-US" sz="56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363" y="837018"/>
            <a:ext cx="132588" cy="132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1905" y="1027658"/>
            <a:ext cx="1815554" cy="3250555"/>
          </a:xfrm>
          <a:prstGeom prst="roundRect">
            <a:avLst>
              <a:gd name="adj" fmla="val 2378"/>
            </a:avLst>
          </a:prstGeom>
          <a:solidFill>
            <a:srgbClr val="0A1520"/>
          </a:solidFill>
          <a:ln w="9525">
            <a:solidFill>
              <a:srgbClr val="E05252">
                <a:alpha val="5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562421" y="1320105"/>
            <a:ext cx="1654522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562421" y="1117699"/>
            <a:ext cx="157460" cy="173206"/>
          </a:xfrm>
          <a:prstGeom prst="ellipse">
            <a:avLst/>
          </a:prstGeom>
          <a:solidFill>
            <a:srgbClr val="E05252">
              <a:alpha val="2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560" dirty="0"/>
          </a:p>
        </p:txBody>
      </p:sp>
      <p:sp>
        <p:nvSpPr>
          <p:cNvPr id="13" name="Text 9"/>
          <p:cNvSpPr/>
          <p:nvPr/>
        </p:nvSpPr>
        <p:spPr>
          <a:xfrm>
            <a:off x="763042" y="1108174"/>
            <a:ext cx="1016972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Security-Dept Noreply</a:t>
            </a:r>
            <a:endParaRPr lang="en-US" sz="560" dirty="0"/>
          </a:p>
        </p:txBody>
      </p:sp>
      <p:sp>
        <p:nvSpPr>
          <p:cNvPr id="14" name="Text 10"/>
          <p:cNvSpPr/>
          <p:nvPr/>
        </p:nvSpPr>
        <p:spPr>
          <a:xfrm>
            <a:off x="763042" y="1200596"/>
            <a:ext cx="1016972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3"/>
              </a:lnSpc>
              <a:buNone/>
            </a:pPr>
            <a:r>
              <a:rPr lang="en-US" sz="51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securit-alert@acounts-verify.info</a:t>
            </a:r>
            <a:endParaRPr lang="en-US" sz="510" dirty="0"/>
          </a:p>
        </p:txBody>
      </p:sp>
      <p:sp>
        <p:nvSpPr>
          <p:cNvPr id="15" name="Text 11"/>
          <p:cNvSpPr/>
          <p:nvPr/>
        </p:nvSpPr>
        <p:spPr>
          <a:xfrm>
            <a:off x="562421" y="1372791"/>
            <a:ext cx="181997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acount has been </a:t>
            </a:r>
            <a:r>
              <a:rPr lang="en-US" sz="56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suspened</a:t>
            </a:r>
            <a:r>
              <a:rPr lang="en-US" sz="5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!!!</a:t>
            </a:r>
            <a:endParaRPr lang="en-US" sz="560" dirty="0"/>
          </a:p>
        </p:txBody>
      </p:sp>
      <p:sp>
        <p:nvSpPr>
          <p:cNvPr id="16" name="Text 12"/>
          <p:cNvSpPr/>
          <p:nvPr/>
        </p:nvSpPr>
        <p:spPr>
          <a:xfrm>
            <a:off x="736104" y="1514921"/>
            <a:ext cx="59328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Valued Costumer</a:t>
            </a:r>
            <a:endParaRPr lang="en-US" sz="560" dirty="0"/>
          </a:p>
        </p:txBody>
      </p:sp>
      <p:sp>
        <p:nvSpPr>
          <p:cNvPr id="17" name="Text 13"/>
          <p:cNvSpPr/>
          <p:nvPr/>
        </p:nvSpPr>
        <p:spPr>
          <a:xfrm>
            <a:off x="1117550" y="1721197"/>
            <a:ext cx="36474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suspisious</a:t>
            </a:r>
            <a:endParaRPr lang="en-US" sz="560" dirty="0"/>
          </a:p>
        </p:txBody>
      </p:sp>
      <p:sp>
        <p:nvSpPr>
          <p:cNvPr id="18" name="Text 14"/>
          <p:cNvSpPr/>
          <p:nvPr/>
        </p:nvSpPr>
        <p:spPr>
          <a:xfrm>
            <a:off x="562421" y="2272308"/>
            <a:ext cx="1530042" cy="93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40"/>
              </a:lnSpc>
              <a:buNone/>
            </a:pPr>
            <a:r>
              <a:rPr lang="en-US" sz="510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http://secure-verify-account.xyz/login?id=928371</a:t>
            </a:r>
            <a:endParaRPr lang="en-US" sz="510" dirty="0"/>
          </a:p>
        </p:txBody>
      </p:sp>
      <p:sp>
        <p:nvSpPr>
          <p:cNvPr id="19" name="Text 15"/>
          <p:cNvSpPr/>
          <p:nvPr/>
        </p:nvSpPr>
        <p:spPr>
          <a:xfrm>
            <a:off x="481905" y="4378375"/>
            <a:ext cx="35421" cy="35421"/>
          </a:xfrm>
          <a:prstGeom prst="ellipse">
            <a:avLst/>
          </a:prstGeom>
          <a:solidFill>
            <a:srgbClr val="E0525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1905" y="4510980"/>
            <a:ext cx="35421" cy="35421"/>
          </a:xfrm>
          <a:prstGeom prst="ellipse">
            <a:avLst/>
          </a:prstGeom>
          <a:solidFill>
            <a:srgbClr val="E0525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481905" y="4643586"/>
            <a:ext cx="35421" cy="35421"/>
          </a:xfrm>
          <a:prstGeom prst="ellipse">
            <a:avLst/>
          </a:prstGeom>
          <a:solidFill>
            <a:srgbClr val="E0525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81905" y="4776192"/>
            <a:ext cx="35421" cy="35421"/>
          </a:xfrm>
          <a:prstGeom prst="ellipse">
            <a:avLst/>
          </a:prstGeom>
          <a:solidFill>
            <a:srgbClr val="E0525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361434" y="4928592"/>
            <a:ext cx="2056498" cy="202555"/>
          </a:xfrm>
          <a:prstGeom prst="rect">
            <a:avLst/>
          </a:prstGeom>
          <a:solidFill>
            <a:srgbClr val="E05252">
              <a:alpha val="18000"/>
            </a:srgbClr>
          </a:solidFill>
          <a:ln/>
        </p:spPr>
        <p:txBody>
          <a:bodyPr wrap="none" lIns="100330" tIns="43180" rIns="100330" bIns="43180" rtlCol="0" anchor="t"/>
          <a:lstStyle/>
          <a:p>
            <a:pPr marL="0" indent="0" algn="ctr">
              <a:buNone/>
            </a:pPr>
            <a:r>
              <a:rPr lang="en-US" sz="560" b="1" kern="0" spc="2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Easy to spot — this era is over</a:t>
            </a:r>
            <a:endParaRPr lang="en-US" sz="560" dirty="0"/>
          </a:p>
        </p:txBody>
      </p:sp>
      <p:sp>
        <p:nvSpPr>
          <p:cNvPr id="24" name="Text 20"/>
          <p:cNvSpPr/>
          <p:nvPr/>
        </p:nvSpPr>
        <p:spPr>
          <a:xfrm>
            <a:off x="381595" y="4928592"/>
            <a:ext cx="2016175" cy="9525"/>
          </a:xfrm>
          <a:prstGeom prst="rect">
            <a:avLst/>
          </a:prstGeom>
          <a:solidFill>
            <a:srgbClr val="E05252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2493615" y="740122"/>
            <a:ext cx="2035225" cy="4400550"/>
          </a:xfrm>
          <a:prstGeom prst="roundRect">
            <a:avLst>
              <a:gd name="adj" fmla="val 3494"/>
            </a:avLst>
          </a:prstGeom>
          <a:gradFill rotWithShape="1">
            <a:gsLst>
              <a:gs pos="0">
                <a:srgbClr val="1A2810"/>
              </a:gs>
              <a:gs pos="100000">
                <a:srgbClr val="1A2E42"/>
              </a:gs>
            </a:gsLst>
            <a:lin ang="4200000" scaled="1"/>
          </a:gra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2716113" y="849957"/>
            <a:ext cx="85162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8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PHISHING 2026</a:t>
            </a:r>
            <a:endParaRPr lang="en-US" sz="56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1908" y="837018"/>
            <a:ext cx="132588" cy="13258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2603450" y="1027658"/>
            <a:ext cx="1815554" cy="2734866"/>
          </a:xfrm>
          <a:prstGeom prst="roundRect">
            <a:avLst>
              <a:gd name="adj" fmla="val 2378"/>
            </a:avLst>
          </a:prstGeom>
          <a:solidFill>
            <a:srgbClr val="0A1520"/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2683966" y="1320105"/>
            <a:ext cx="1654522" cy="9525"/>
          </a:xfrm>
          <a:prstGeom prst="rect">
            <a:avLst/>
          </a:prstGeom>
          <a:solidFill>
            <a:srgbClr val="FFFFFF">
              <a:alpha val="7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2683966" y="1117699"/>
            <a:ext cx="157460" cy="173206"/>
          </a:xfrm>
          <a:prstGeom prst="ellipse">
            <a:avLst/>
          </a:prstGeom>
          <a:solidFill>
            <a:srgbClr val="3DBD7A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3DB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560" dirty="0"/>
          </a:p>
        </p:txBody>
      </p:sp>
      <p:sp>
        <p:nvSpPr>
          <p:cNvPr id="31" name="Text 26"/>
          <p:cNvSpPr/>
          <p:nvPr/>
        </p:nvSpPr>
        <p:spPr>
          <a:xfrm>
            <a:off x="2884587" y="1108174"/>
            <a:ext cx="1013043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28"/>
              </a:lnSpc>
              <a:buNone/>
            </a:pPr>
            <a:r>
              <a:rPr lang="en-US" sz="5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Weston</a:t>
            </a:r>
            <a:endParaRPr lang="en-US" sz="560" dirty="0"/>
          </a:p>
        </p:txBody>
      </p:sp>
      <p:sp>
        <p:nvSpPr>
          <p:cNvPr id="32" name="Text 27"/>
          <p:cNvSpPr/>
          <p:nvPr/>
        </p:nvSpPr>
        <p:spPr>
          <a:xfrm>
            <a:off x="2884587" y="1200596"/>
            <a:ext cx="1013043" cy="8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63"/>
              </a:lnSpc>
              <a:buNone/>
            </a:pPr>
            <a:r>
              <a:rPr lang="en-US" sz="510" dirty="0">
                <a:solidFill>
                  <a:srgbClr val="5B9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tom.weston@yourcompany.com</a:t>
            </a:r>
            <a:endParaRPr lang="en-US" sz="510" dirty="0"/>
          </a:p>
        </p:txBody>
      </p:sp>
      <p:sp>
        <p:nvSpPr>
          <p:cNvPr id="33" name="Text 28"/>
          <p:cNvSpPr/>
          <p:nvPr/>
        </p:nvSpPr>
        <p:spPr>
          <a:xfrm>
            <a:off x="2683966" y="1372791"/>
            <a:ext cx="181997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EMEA cost centre model — Thursday review</a:t>
            </a:r>
            <a:endParaRPr lang="en-US" sz="560" dirty="0"/>
          </a:p>
        </p:txBody>
      </p:sp>
      <p:sp>
        <p:nvSpPr>
          <p:cNvPr id="34" name="Text 29"/>
          <p:cNvSpPr/>
          <p:nvPr/>
        </p:nvSpPr>
        <p:spPr>
          <a:xfrm>
            <a:off x="3267968" y="1721197"/>
            <a:ext cx="895335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EMEA budget review</a:t>
            </a:r>
            <a:endParaRPr lang="en-US" sz="560" dirty="0"/>
          </a:p>
        </p:txBody>
      </p:sp>
      <p:sp>
        <p:nvSpPr>
          <p:cNvPr id="35" name="Text 30"/>
          <p:cNvSpPr/>
          <p:nvPr/>
        </p:nvSpPr>
        <p:spPr>
          <a:xfrm>
            <a:off x="2683966" y="1824335"/>
            <a:ext cx="1344534" cy="1983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 realignment</a:t>
            </a:r>
            <a:endParaRPr lang="en-US" sz="560" dirty="0"/>
          </a:p>
        </p:txBody>
      </p:sp>
      <p:sp>
        <p:nvSpPr>
          <p:cNvPr id="36" name="Text 31"/>
          <p:cNvSpPr/>
          <p:nvPr/>
        </p:nvSpPr>
        <p:spPr>
          <a:xfrm>
            <a:off x="3721745" y="1927473"/>
            <a:ext cx="182374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12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</a:t>
            </a:r>
            <a:endParaRPr lang="en-US" sz="560" dirty="0"/>
          </a:p>
        </p:txBody>
      </p:sp>
      <p:sp>
        <p:nvSpPr>
          <p:cNvPr id="37" name="Text 32"/>
          <p:cNvSpPr/>
          <p:nvPr/>
        </p:nvSpPr>
        <p:spPr>
          <a:xfrm>
            <a:off x="2683966" y="2486323"/>
            <a:ext cx="1687613" cy="187375"/>
          </a:xfrm>
          <a:prstGeom prst="roundRect">
            <a:avLst>
              <a:gd name="adj" fmla="val 15589"/>
            </a:avLst>
          </a:prstGeom>
          <a:solidFill>
            <a:srgbClr val="5B9CF6">
              <a:alpha val="10000"/>
            </a:srgbClr>
          </a:solidFill>
          <a:ln w="9525">
            <a:solidFill>
              <a:srgbClr val="5B9CF6">
                <a:alpha val="25000"/>
              </a:srgbClr>
            </a:solidFill>
          </a:ln>
        </p:spPr>
        <p:txBody>
          <a:bodyPr wrap="none" lIns="57150" tIns="35560" rIns="57150" bIns="35560" rtlCol="0" anchor="t"/>
          <a:lstStyle/>
          <a:p>
            <a:pPr marL="0" indent="0" algn="l">
              <a:buNone/>
            </a:pPr>
            <a:r>
              <a:rPr lang="en-US" sz="530" dirty="0">
                <a:solidFill>
                  <a:srgbClr val="7AB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 EMEA_CostCentre_Model_v3_FINAL.xlsx</a:t>
            </a:r>
            <a:endParaRPr lang="en-US" sz="530" dirty="0"/>
          </a:p>
        </p:txBody>
      </p:sp>
      <p:sp>
        <p:nvSpPr>
          <p:cNvPr id="38" name="Text 33"/>
          <p:cNvSpPr/>
          <p:nvPr/>
        </p:nvSpPr>
        <p:spPr>
          <a:xfrm>
            <a:off x="2603450" y="3833515"/>
            <a:ext cx="199711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b="1" kern="0" spc="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WORKS:</a:t>
            </a:r>
            <a:endParaRPr lang="en-US" sz="530" dirty="0"/>
          </a:p>
        </p:txBody>
      </p:sp>
      <p:sp>
        <p:nvSpPr>
          <p:cNvPr id="39" name="Text 34"/>
          <p:cNvSpPr/>
          <p:nvPr/>
        </p:nvSpPr>
        <p:spPr>
          <a:xfrm>
            <a:off x="2603450" y="3983682"/>
            <a:ext cx="913507" cy="158145"/>
          </a:xfrm>
          <a:prstGeom prst="roundRect">
            <a:avLst>
              <a:gd name="adj" fmla="val 13652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 colleague name</a:t>
            </a:r>
            <a:endParaRPr lang="en-US" sz="510" dirty="0"/>
          </a:p>
        </p:txBody>
      </p:sp>
      <p:sp>
        <p:nvSpPr>
          <p:cNvPr id="40" name="Text 35"/>
          <p:cNvSpPr/>
          <p:nvPr/>
        </p:nvSpPr>
        <p:spPr>
          <a:xfrm>
            <a:off x="2603450" y="4162871"/>
            <a:ext cx="964555" cy="158145"/>
          </a:xfrm>
          <a:prstGeom prst="roundRect">
            <a:avLst>
              <a:gd name="adj" fmla="val 13652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 project reference</a:t>
            </a:r>
            <a:endParaRPr lang="en-US" sz="510" dirty="0"/>
          </a:p>
        </p:txBody>
      </p:sp>
      <p:sp>
        <p:nvSpPr>
          <p:cNvPr id="41" name="Text 36"/>
          <p:cNvSpPr/>
          <p:nvPr/>
        </p:nvSpPr>
        <p:spPr>
          <a:xfrm>
            <a:off x="2603450" y="4342061"/>
            <a:ext cx="888355" cy="158145"/>
          </a:xfrm>
          <a:prstGeom prst="roundRect">
            <a:avLst>
              <a:gd name="adj" fmla="val 13652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 recent meeting</a:t>
            </a:r>
            <a:endParaRPr lang="en-US" sz="510" dirty="0"/>
          </a:p>
        </p:txBody>
      </p:sp>
      <p:sp>
        <p:nvSpPr>
          <p:cNvPr id="42" name="Text 37"/>
          <p:cNvSpPr/>
          <p:nvPr/>
        </p:nvSpPr>
        <p:spPr>
          <a:xfrm>
            <a:off x="3527227" y="4342061"/>
            <a:ext cx="851892" cy="158145"/>
          </a:xfrm>
          <a:prstGeom prst="roundRect">
            <a:avLst>
              <a:gd name="adj" fmla="val 13652"/>
            </a:avLst>
          </a:prstGeom>
          <a:solidFill>
            <a:srgbClr val="3DBD7A">
              <a:alpha val="15000"/>
            </a:srgbClr>
          </a:solidFill>
          <a:ln w="9525">
            <a:solidFill>
              <a:srgbClr val="3DBD7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3DB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grammar errors</a:t>
            </a:r>
            <a:endParaRPr lang="en-US" sz="510" dirty="0"/>
          </a:p>
        </p:txBody>
      </p:sp>
      <p:sp>
        <p:nvSpPr>
          <p:cNvPr id="43" name="Text 38"/>
          <p:cNvSpPr/>
          <p:nvPr/>
        </p:nvSpPr>
        <p:spPr>
          <a:xfrm>
            <a:off x="2603450" y="4521250"/>
            <a:ext cx="1094333" cy="158145"/>
          </a:xfrm>
          <a:prstGeom prst="roundRect">
            <a:avLst>
              <a:gd name="adj" fmla="val 13652"/>
            </a:avLst>
          </a:prstGeom>
          <a:solidFill>
            <a:srgbClr val="3DBD7A">
              <a:alpha val="15000"/>
            </a:srgbClr>
          </a:solidFill>
          <a:ln w="9525">
            <a:solidFill>
              <a:srgbClr val="3DBD7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3DB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Legitimate sender domain</a:t>
            </a:r>
            <a:endParaRPr lang="en-US" sz="510" dirty="0"/>
          </a:p>
        </p:txBody>
      </p:sp>
      <p:sp>
        <p:nvSpPr>
          <p:cNvPr id="44" name="Text 39"/>
          <p:cNvSpPr/>
          <p:nvPr/>
        </p:nvSpPr>
        <p:spPr>
          <a:xfrm>
            <a:off x="2603450" y="4700439"/>
            <a:ext cx="1015008" cy="158145"/>
          </a:xfrm>
          <a:prstGeom prst="roundRect">
            <a:avLst>
              <a:gd name="adj" fmla="val 13652"/>
            </a:avLst>
          </a:prstGeom>
          <a:solidFill>
            <a:srgbClr val="3DBD7A">
              <a:alpha val="15000"/>
            </a:srgbClr>
          </a:solidFill>
          <a:ln w="9525">
            <a:solidFill>
              <a:srgbClr val="3DBD7A">
                <a:alpha val="3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10" b="1" dirty="0">
                <a:solidFill>
                  <a:srgbClr val="3DB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Professional formatting</a:t>
            </a:r>
            <a:endParaRPr lang="en-US" sz="510" dirty="0"/>
          </a:p>
        </p:txBody>
      </p:sp>
      <p:sp>
        <p:nvSpPr>
          <p:cNvPr id="45" name="Text 40"/>
          <p:cNvSpPr/>
          <p:nvPr/>
        </p:nvSpPr>
        <p:spPr>
          <a:xfrm>
            <a:off x="2482978" y="4928592"/>
            <a:ext cx="2056498" cy="202555"/>
          </a:xfrm>
          <a:prstGeom prst="rect">
            <a:avLst/>
          </a:prstGeom>
          <a:solidFill>
            <a:srgbClr val="E8A020">
              <a:alpha val="16000"/>
            </a:srgbClr>
          </a:solidFill>
          <a:ln/>
        </p:spPr>
        <p:txBody>
          <a:bodyPr wrap="none" lIns="100330" tIns="43180" rIns="100330" bIns="43180" rtlCol="0" anchor="t"/>
          <a:lstStyle/>
          <a:p>
            <a:pPr marL="0" indent="0" algn="ctr">
              <a:buNone/>
            </a:pPr>
            <a:r>
              <a:rPr lang="en-US" sz="560" b="1" kern="0" spc="2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Indistinguishable by reading alone</a:t>
            </a:r>
            <a:endParaRPr lang="en-US" sz="560" dirty="0"/>
          </a:p>
        </p:txBody>
      </p:sp>
      <p:sp>
        <p:nvSpPr>
          <p:cNvPr id="46" name="Text 41"/>
          <p:cNvSpPr/>
          <p:nvPr/>
        </p:nvSpPr>
        <p:spPr>
          <a:xfrm>
            <a:off x="2503140" y="4928592"/>
            <a:ext cx="2016175" cy="9525"/>
          </a:xfrm>
          <a:prstGeom prst="rect">
            <a:avLst/>
          </a:prstGeom>
          <a:solidFill>
            <a:srgbClr val="E8A02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4615160" y="740122"/>
            <a:ext cx="2035225" cy="4400550"/>
          </a:xfrm>
          <a:prstGeom prst="roundRect">
            <a:avLst>
              <a:gd name="adj" fmla="val 3494"/>
            </a:avLst>
          </a:prstGeom>
          <a:solidFill>
            <a:srgbClr val="1A2E42"/>
          </a:solidFill>
          <a:ln w="9525">
            <a:solidFill>
              <a:srgbClr val="94AFC8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3"/>
          <p:cNvSpPr/>
          <p:nvPr/>
        </p:nvSpPr>
        <p:spPr>
          <a:xfrm>
            <a:off x="4837658" y="849957"/>
            <a:ext cx="72704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560" dirty="0"/>
          </a:p>
        </p:txBody>
      </p:sp>
      <p:pic>
        <p:nvPicPr>
          <p:cNvPr id="4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3453" y="837018"/>
            <a:ext cx="132588" cy="132588"/>
          </a:xfrm>
          <a:prstGeom prst="rect">
            <a:avLst/>
          </a:prstGeom>
        </p:spPr>
      </p:pic>
      <p:sp>
        <p:nvSpPr>
          <p:cNvPr id="50" name="Text 44"/>
          <p:cNvSpPr/>
          <p:nvPr/>
        </p:nvSpPr>
        <p:spPr>
          <a:xfrm>
            <a:off x="4724995" y="1070818"/>
            <a:ext cx="28575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4724995" y="1141809"/>
            <a:ext cx="1815554" cy="662583"/>
          </a:xfrm>
          <a:prstGeom prst="roundRect">
            <a:avLst>
              <a:gd name="adj" fmla="val 651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58714" y="1175379"/>
            <a:ext cx="132588" cy="132588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4925020" y="1191220"/>
            <a:ext cx="1589547" cy="59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your colleagues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scrapes LinkedIn, your company website, and press releases to map your team, your reporting lines, and your working relationships.</a:t>
            </a:r>
            <a:endParaRPr lang="en-US" sz="620" dirty="0"/>
          </a:p>
        </p:txBody>
      </p:sp>
      <p:sp>
        <p:nvSpPr>
          <p:cNvPr id="54" name="Text 47"/>
          <p:cNvSpPr/>
          <p:nvPr/>
        </p:nvSpPr>
        <p:spPr>
          <a:xfrm>
            <a:off x="4724995" y="1847552"/>
            <a:ext cx="1815554" cy="552450"/>
          </a:xfrm>
          <a:prstGeom prst="roundRect">
            <a:avLst>
              <a:gd name="adj" fmla="val 781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58714" y="1881122"/>
            <a:ext cx="132588" cy="132588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4925020" y="1896963"/>
            <a:ext cx="1589547" cy="476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your projects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Public filings, earnings calls, and news releases reveal your current work priorities, deal names, and strategic initiatives.</a:t>
            </a:r>
            <a:endParaRPr lang="en-US" sz="620" dirty="0"/>
          </a:p>
        </p:txBody>
      </p:sp>
      <p:sp>
        <p:nvSpPr>
          <p:cNvPr id="57" name="Text 49"/>
          <p:cNvSpPr/>
          <p:nvPr/>
        </p:nvSpPr>
        <p:spPr>
          <a:xfrm>
            <a:off x="4724995" y="2443163"/>
            <a:ext cx="1815554" cy="662583"/>
          </a:xfrm>
          <a:prstGeom prst="roundRect">
            <a:avLst>
              <a:gd name="adj" fmla="val 6517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58714" y="2476732"/>
            <a:ext cx="132588" cy="132588"/>
          </a:xfrm>
          <a:prstGeom prst="rect">
            <a:avLst/>
          </a:prstGeom>
        </p:spPr>
      </p:pic>
      <p:sp>
        <p:nvSpPr>
          <p:cNvPr id="59" name="Text 50"/>
          <p:cNvSpPr/>
          <p:nvPr/>
        </p:nvSpPr>
        <p:spPr>
          <a:xfrm>
            <a:off x="4925020" y="2492573"/>
            <a:ext cx="1589547" cy="59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68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feels internal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email reads as though it came from inside the building — because it was built from real internal context scraped from public sources.</a:t>
            </a:r>
            <a:endParaRPr lang="en-US" sz="620" dirty="0"/>
          </a:p>
        </p:txBody>
      </p:sp>
      <p:sp>
        <p:nvSpPr>
          <p:cNvPr id="60" name="Text 51"/>
          <p:cNvSpPr/>
          <p:nvPr/>
        </p:nvSpPr>
        <p:spPr>
          <a:xfrm>
            <a:off x="4724995" y="4469606"/>
            <a:ext cx="1815554" cy="592477"/>
          </a:xfrm>
          <a:prstGeom prst="roundRect">
            <a:avLst>
              <a:gd name="adj" fmla="val 8360"/>
            </a:avLst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square" lIns="86360" tIns="71120" rIns="86360" bIns="71120" rtlCol="0" anchor="t"/>
          <a:lstStyle/>
          <a:p>
            <a:pPr marL="0" indent="0" algn="ctr">
              <a:buNone/>
            </a:pPr>
            <a:r>
              <a:rPr lang="en-US" sz="158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54%</a:t>
            </a:r>
            <a:endParaRPr lang="en-US" sz="1580" dirty="0"/>
          </a:p>
          <a:p>
            <a:pPr marL="0" indent="0" algn="ctr">
              <a:buNone/>
            </a:pP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phishing click-through rate — nearly </a:t>
            </a:r>
            <a:r>
              <a:rPr lang="en-US" sz="5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</a:t>
            </a:r>
            <a:r>
              <a:rPr lang="en-US" sz="5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traditional phishing</a:t>
            </a:r>
            <a:endParaRPr lang="en-US" sz="1580" dirty="0"/>
          </a:p>
        </p:txBody>
      </p:sp>
      <p:sp>
        <p:nvSpPr>
          <p:cNvPr id="61" name="Text 52"/>
          <p:cNvSpPr/>
          <p:nvPr/>
        </p:nvSpPr>
        <p:spPr>
          <a:xfrm>
            <a:off x="6736705" y="740122"/>
            <a:ext cx="2035225" cy="4400550"/>
          </a:xfrm>
          <a:prstGeom prst="roundRect">
            <a:avLst>
              <a:gd name="adj" fmla="val 3494"/>
            </a:avLst>
          </a:prstGeom>
          <a:gradFill rotWithShape="1">
            <a:gsLst>
              <a:gs pos="0">
                <a:srgbClr val="2A1E08"/>
              </a:gs>
              <a:gs pos="100000">
                <a:srgbClr val="1A2030"/>
              </a:gs>
            </a:gsLst>
            <a:lin ang="4200000" scaled="1"/>
          </a:gradFill>
          <a:ln w="9525">
            <a:solidFill>
              <a:srgbClr val="E8A020"/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3"/>
          <p:cNvSpPr/>
          <p:nvPr/>
        </p:nvSpPr>
        <p:spPr>
          <a:xfrm>
            <a:off x="6959203" y="849957"/>
            <a:ext cx="1313125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kern="0" spc="8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DETECTION RULE</a:t>
            </a:r>
            <a:endParaRPr lang="en-US" sz="560" dirty="0"/>
          </a:p>
        </p:txBody>
      </p:sp>
      <p:pic>
        <p:nvPicPr>
          <p:cNvPr id="6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4998" y="837018"/>
            <a:ext cx="132588" cy="132588"/>
          </a:xfrm>
          <a:prstGeom prst="rect">
            <a:avLst/>
          </a:prstGeom>
        </p:spPr>
      </p:pic>
      <p:sp>
        <p:nvSpPr>
          <p:cNvPr id="64" name="Text 54"/>
          <p:cNvSpPr/>
          <p:nvPr/>
        </p:nvSpPr>
        <p:spPr>
          <a:xfrm>
            <a:off x="6846540" y="1070818"/>
            <a:ext cx="285750" cy="13841"/>
          </a:xfrm>
          <a:prstGeom prst="roundRect">
            <a:avLst>
              <a:gd name="adj" fmla="val 55054"/>
            </a:avLst>
          </a:prstGeom>
          <a:gradFill rotWithShape="1">
            <a:gsLst>
              <a:gs pos="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6846540" y="1141809"/>
            <a:ext cx="1851865" cy="2609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reading the email to spot fraud.</a:t>
            </a:r>
            <a:br/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Ask yourself these two questions instead:</a:t>
            </a:r>
            <a:endParaRPr lang="en-US" sz="700" dirty="0"/>
          </a:p>
        </p:txBody>
      </p:sp>
      <p:sp>
        <p:nvSpPr>
          <p:cNvPr id="66" name="Text 56"/>
          <p:cNvSpPr/>
          <p:nvPr/>
        </p:nvSpPr>
        <p:spPr>
          <a:xfrm>
            <a:off x="6846540" y="1447502"/>
            <a:ext cx="1815554" cy="642938"/>
          </a:xfrm>
          <a:prstGeom prst="roundRect">
            <a:avLst>
              <a:gd name="adj" fmla="val 671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7"/>
          <p:cNvSpPr/>
          <p:nvPr/>
        </p:nvSpPr>
        <p:spPr>
          <a:xfrm>
            <a:off x="6911280" y="1504504"/>
            <a:ext cx="125730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560" dirty="0"/>
          </a:p>
        </p:txBody>
      </p:sp>
      <p:sp>
        <p:nvSpPr>
          <p:cNvPr id="68" name="Text 58"/>
          <p:cNvSpPr/>
          <p:nvPr/>
        </p:nvSpPr>
        <p:spPr>
          <a:xfrm>
            <a:off x="7082730" y="1496913"/>
            <a:ext cx="1544916" cy="571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37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I expecting this request?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Unsolicited requests for access, approvals, or payments are always suspicious — regardless of how familiar the sender looks.</a:t>
            </a:r>
            <a:endParaRPr lang="en-US" sz="620" dirty="0"/>
          </a:p>
        </p:txBody>
      </p:sp>
      <p:sp>
        <p:nvSpPr>
          <p:cNvPr id="69" name="Text 59"/>
          <p:cNvSpPr/>
          <p:nvPr/>
        </p:nvSpPr>
        <p:spPr>
          <a:xfrm>
            <a:off x="6846540" y="2139851"/>
            <a:ext cx="1815554" cy="648146"/>
          </a:xfrm>
          <a:prstGeom prst="roundRect">
            <a:avLst>
              <a:gd name="adj" fmla="val 6662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0"/>
          <p:cNvSpPr/>
          <p:nvPr/>
        </p:nvSpPr>
        <p:spPr>
          <a:xfrm>
            <a:off x="6911280" y="2196852"/>
            <a:ext cx="125730" cy="9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6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560" dirty="0"/>
          </a:p>
        </p:txBody>
      </p:sp>
      <p:sp>
        <p:nvSpPr>
          <p:cNvPr id="71" name="Text 61"/>
          <p:cNvSpPr/>
          <p:nvPr/>
        </p:nvSpPr>
        <p:spPr>
          <a:xfrm>
            <a:off x="7082730" y="2189262"/>
            <a:ext cx="1544916" cy="576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37"/>
              </a:lnSpc>
              <a:buNone/>
            </a:pPr>
            <a:r>
              <a:rPr lang="en-US" sz="65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ask me to click, download, or approve urgently?</a:t>
            </a: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Urgency plus action is the universal signature of social engineering. AI just disguises it better.</a:t>
            </a:r>
            <a:endParaRPr lang="en-US" sz="620" dirty="0"/>
          </a:p>
        </p:txBody>
      </p:sp>
      <p:sp>
        <p:nvSpPr>
          <p:cNvPr id="72" name="Text 62"/>
          <p:cNvSpPr/>
          <p:nvPr/>
        </p:nvSpPr>
        <p:spPr>
          <a:xfrm>
            <a:off x="6846540" y="2866579"/>
            <a:ext cx="1815554" cy="454521"/>
          </a:xfrm>
          <a:prstGeom prst="roundRect">
            <a:avLst>
              <a:gd name="adj" fmla="val 95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3"/>
          <p:cNvSpPr/>
          <p:nvPr/>
        </p:nvSpPr>
        <p:spPr>
          <a:xfrm>
            <a:off x="6920805" y="2917924"/>
            <a:ext cx="146685" cy="143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4"/>
              </a:lnSpc>
              <a:buNone/>
            </a:pPr>
            <a:r>
              <a:rPr lang="en-US" sz="84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🛑</a:t>
            </a:r>
            <a:endParaRPr lang="en-US" sz="840" dirty="0"/>
          </a:p>
        </p:txBody>
      </p:sp>
      <p:sp>
        <p:nvSpPr>
          <p:cNvPr id="74" name="Text 64"/>
          <p:cNvSpPr/>
          <p:nvPr/>
        </p:nvSpPr>
        <p:spPr>
          <a:xfrm>
            <a:off x="7111305" y="2925514"/>
            <a:ext cx="1506054" cy="353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837"/>
              </a:lnSpc>
              <a:buNone/>
            </a:pPr>
            <a:r>
              <a:rPr lang="en-US" sz="68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to both — STOP</a:t>
            </a:r>
            <a:r>
              <a:rPr lang="en-US" sz="62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 the sender on their known registered number before taking any action.</a:t>
            </a:r>
            <a:endParaRPr lang="en-US" sz="620" dirty="0"/>
          </a:p>
        </p:txBody>
      </p:sp>
      <p:sp>
        <p:nvSpPr>
          <p:cNvPr id="75" name="Text 65"/>
          <p:cNvSpPr/>
          <p:nvPr/>
        </p:nvSpPr>
        <p:spPr>
          <a:xfrm>
            <a:off x="6846540" y="4335959"/>
            <a:ext cx="1815554" cy="447377"/>
          </a:xfrm>
          <a:prstGeom prst="roundRect">
            <a:avLst>
              <a:gd name="adj" fmla="val 9652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6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900499" y="4479449"/>
            <a:ext cx="132588" cy="160397"/>
          </a:xfrm>
          <a:prstGeom prst="rect">
            <a:avLst/>
          </a:prstGeom>
        </p:spPr>
      </p:pic>
      <p:sp>
        <p:nvSpPr>
          <p:cNvPr id="77" name="Text 66"/>
          <p:cNvSpPr/>
          <p:nvPr/>
        </p:nvSpPr>
        <p:spPr>
          <a:xfrm>
            <a:off x="7063680" y="4402634"/>
            <a:ext cx="1669688" cy="112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5"/>
              </a:lnSpc>
              <a:buNone/>
            </a:pPr>
            <a:r>
              <a:rPr lang="en-US" sz="5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report — real or not</a:t>
            </a:r>
            <a:endParaRPr lang="en-US" sz="590" dirty="0"/>
          </a:p>
        </p:txBody>
      </p:sp>
      <p:sp>
        <p:nvSpPr>
          <p:cNvPr id="78" name="Text 67"/>
          <p:cNvSpPr/>
          <p:nvPr/>
        </p:nvSpPr>
        <p:spPr>
          <a:xfrm>
            <a:off x="7063680" y="4514850"/>
            <a:ext cx="1548256" cy="211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95"/>
              </a:lnSpc>
              <a:buNone/>
            </a:pPr>
            <a:r>
              <a:rPr lang="en-US" sz="5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Phishing Report button in your email client every time</a:t>
            </a:r>
            <a:endParaRPr lang="en-US" sz="530" dirty="0"/>
          </a:p>
        </p:txBody>
      </p:sp>
      <p:sp>
        <p:nvSpPr>
          <p:cNvPr id="79" name="Text 68"/>
          <p:cNvSpPr/>
          <p:nvPr/>
        </p:nvSpPr>
        <p:spPr>
          <a:xfrm>
            <a:off x="6828385" y="4840486"/>
            <a:ext cx="1851865" cy="204341"/>
          </a:xfrm>
          <a:prstGeom prst="roundRect">
            <a:avLst>
              <a:gd name="adj" fmla="val 17402"/>
            </a:avLst>
          </a:prstGeom>
          <a:solidFill>
            <a:srgbClr val="E8A020"/>
          </a:solidFill>
          <a:ln/>
        </p:spPr>
        <p:txBody>
          <a:bodyPr wrap="none" lIns="71120" tIns="43180" rIns="71120" bIns="43180" rtlCol="0" anchor="t"/>
          <a:lstStyle/>
          <a:p>
            <a:pPr marL="0" indent="0" algn="ctr">
              <a:buNone/>
            </a:pPr>
            <a:r>
              <a:rPr lang="en-US" sz="620" b="1" kern="0" spc="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· VERIFY · REPORT</a:t>
            </a:r>
            <a:endParaRPr lang="en-US" sz="6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595" y="805755"/>
            <a:ext cx="21580" cy="1880292"/>
          </a:xfrm>
          <a:custGeom>
            <a:avLst/>
            <a:gdLst/>
            <a:ahLst/>
            <a:cxnLst/>
            <a:rect l="l" t="t" r="r" b="b"/>
            <a:pathLst>
              <a:path w="21580" h="1880292">
                <a:moveTo>
                  <a:pt x="0" y="43180"/>
                </a:moveTo>
                <a:lnTo>
                  <a:pt x="2698" y="28157"/>
                </a:lnTo>
                <a:lnTo>
                  <a:pt x="5395" y="22280"/>
                </a:lnTo>
                <a:lnTo>
                  <a:pt x="8093" y="18013"/>
                </a:lnTo>
                <a:lnTo>
                  <a:pt x="10790" y="14625"/>
                </a:lnTo>
                <a:lnTo>
                  <a:pt x="13488" y="11829"/>
                </a:lnTo>
                <a:lnTo>
                  <a:pt x="16185" y="9479"/>
                </a:lnTo>
                <a:lnTo>
                  <a:pt x="18883" y="7485"/>
                </a:lnTo>
                <a:lnTo>
                  <a:pt x="21580" y="5791"/>
                </a:lnTo>
                <a:lnTo>
                  <a:pt x="21580" y="1874501"/>
                </a:lnTo>
                <a:lnTo>
                  <a:pt x="18883" y="1872807"/>
                </a:lnTo>
                <a:lnTo>
                  <a:pt x="16185" y="1870814"/>
                </a:lnTo>
                <a:lnTo>
                  <a:pt x="13488" y="1868463"/>
                </a:lnTo>
                <a:lnTo>
                  <a:pt x="10790" y="1865667"/>
                </a:lnTo>
                <a:lnTo>
                  <a:pt x="8093" y="1862279"/>
                </a:lnTo>
                <a:lnTo>
                  <a:pt x="5395" y="1858012"/>
                </a:lnTo>
                <a:lnTo>
                  <a:pt x="2698" y="1852135"/>
                </a:lnTo>
                <a:lnTo>
                  <a:pt x="0" y="1837112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595" y="805755"/>
            <a:ext cx="2733523" cy="1880292"/>
          </a:xfrm>
          <a:prstGeom prst="roundRect">
            <a:avLst>
              <a:gd name="adj" fmla="val 2296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05163" y="805755"/>
            <a:ext cx="21580" cy="1880292"/>
          </a:xfrm>
          <a:custGeom>
            <a:avLst/>
            <a:gdLst/>
            <a:ahLst/>
            <a:cxnLst/>
            <a:rect l="l" t="t" r="r" b="b"/>
            <a:pathLst>
              <a:path w="21580" h="1880292">
                <a:moveTo>
                  <a:pt x="0" y="43180"/>
                </a:moveTo>
                <a:lnTo>
                  <a:pt x="2698" y="28157"/>
                </a:lnTo>
                <a:lnTo>
                  <a:pt x="5395" y="22280"/>
                </a:lnTo>
                <a:lnTo>
                  <a:pt x="8093" y="18013"/>
                </a:lnTo>
                <a:lnTo>
                  <a:pt x="10790" y="14625"/>
                </a:lnTo>
                <a:lnTo>
                  <a:pt x="13488" y="11829"/>
                </a:lnTo>
                <a:lnTo>
                  <a:pt x="16185" y="9479"/>
                </a:lnTo>
                <a:lnTo>
                  <a:pt x="18883" y="7485"/>
                </a:lnTo>
                <a:lnTo>
                  <a:pt x="21580" y="5791"/>
                </a:lnTo>
                <a:lnTo>
                  <a:pt x="21580" y="1874501"/>
                </a:lnTo>
                <a:lnTo>
                  <a:pt x="18883" y="1872807"/>
                </a:lnTo>
                <a:lnTo>
                  <a:pt x="16185" y="1870814"/>
                </a:lnTo>
                <a:lnTo>
                  <a:pt x="13488" y="1868463"/>
                </a:lnTo>
                <a:lnTo>
                  <a:pt x="10790" y="1865667"/>
                </a:lnTo>
                <a:lnTo>
                  <a:pt x="8093" y="1862279"/>
                </a:lnTo>
                <a:lnTo>
                  <a:pt x="5395" y="1858012"/>
                </a:lnTo>
                <a:lnTo>
                  <a:pt x="2698" y="1852135"/>
                </a:lnTo>
                <a:lnTo>
                  <a:pt x="0" y="1837112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05163" y="805755"/>
            <a:ext cx="2733523" cy="1880292"/>
          </a:xfrm>
          <a:prstGeom prst="roundRect">
            <a:avLst>
              <a:gd name="adj" fmla="val 2296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28730" y="805755"/>
            <a:ext cx="21580" cy="1880292"/>
          </a:xfrm>
          <a:custGeom>
            <a:avLst/>
            <a:gdLst/>
            <a:ahLst/>
            <a:cxnLst/>
            <a:rect l="l" t="t" r="r" b="b"/>
            <a:pathLst>
              <a:path w="21580" h="1880292">
                <a:moveTo>
                  <a:pt x="0" y="43180"/>
                </a:moveTo>
                <a:lnTo>
                  <a:pt x="2698" y="28157"/>
                </a:lnTo>
                <a:lnTo>
                  <a:pt x="5395" y="22280"/>
                </a:lnTo>
                <a:lnTo>
                  <a:pt x="8093" y="18013"/>
                </a:lnTo>
                <a:lnTo>
                  <a:pt x="10790" y="14625"/>
                </a:lnTo>
                <a:lnTo>
                  <a:pt x="13488" y="11829"/>
                </a:lnTo>
                <a:lnTo>
                  <a:pt x="16185" y="9479"/>
                </a:lnTo>
                <a:lnTo>
                  <a:pt x="18883" y="7485"/>
                </a:lnTo>
                <a:lnTo>
                  <a:pt x="21580" y="5791"/>
                </a:lnTo>
                <a:lnTo>
                  <a:pt x="21580" y="1874501"/>
                </a:lnTo>
                <a:lnTo>
                  <a:pt x="18883" y="1872807"/>
                </a:lnTo>
                <a:lnTo>
                  <a:pt x="16185" y="1870814"/>
                </a:lnTo>
                <a:lnTo>
                  <a:pt x="13488" y="1868463"/>
                </a:lnTo>
                <a:lnTo>
                  <a:pt x="10790" y="1865667"/>
                </a:lnTo>
                <a:lnTo>
                  <a:pt x="8093" y="1862279"/>
                </a:lnTo>
                <a:lnTo>
                  <a:pt x="5395" y="1858012"/>
                </a:lnTo>
                <a:lnTo>
                  <a:pt x="2698" y="1852135"/>
                </a:lnTo>
                <a:lnTo>
                  <a:pt x="0" y="1837112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28730" y="805755"/>
            <a:ext cx="2733675" cy="1880292"/>
          </a:xfrm>
          <a:prstGeom prst="roundRect">
            <a:avLst>
              <a:gd name="adj" fmla="val 2296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81595" y="2776091"/>
            <a:ext cx="21580" cy="1880445"/>
          </a:xfrm>
          <a:custGeom>
            <a:avLst/>
            <a:gdLst/>
            <a:ahLst/>
            <a:cxnLst/>
            <a:rect l="l" t="t" r="r" b="b"/>
            <a:pathLst>
              <a:path w="21580" h="1880445">
                <a:moveTo>
                  <a:pt x="0" y="43180"/>
                </a:moveTo>
                <a:lnTo>
                  <a:pt x="2698" y="28157"/>
                </a:lnTo>
                <a:lnTo>
                  <a:pt x="5395" y="22280"/>
                </a:lnTo>
                <a:lnTo>
                  <a:pt x="8093" y="18013"/>
                </a:lnTo>
                <a:lnTo>
                  <a:pt x="10790" y="14625"/>
                </a:lnTo>
                <a:lnTo>
                  <a:pt x="13488" y="11829"/>
                </a:lnTo>
                <a:lnTo>
                  <a:pt x="16185" y="9479"/>
                </a:lnTo>
                <a:lnTo>
                  <a:pt x="18883" y="7485"/>
                </a:lnTo>
                <a:lnTo>
                  <a:pt x="21580" y="5791"/>
                </a:lnTo>
                <a:lnTo>
                  <a:pt x="21580" y="1874654"/>
                </a:lnTo>
                <a:lnTo>
                  <a:pt x="18883" y="1872960"/>
                </a:lnTo>
                <a:lnTo>
                  <a:pt x="16185" y="1870966"/>
                </a:lnTo>
                <a:lnTo>
                  <a:pt x="13488" y="1868615"/>
                </a:lnTo>
                <a:lnTo>
                  <a:pt x="10790" y="1865820"/>
                </a:lnTo>
                <a:lnTo>
                  <a:pt x="8093" y="1862432"/>
                </a:lnTo>
                <a:lnTo>
                  <a:pt x="5395" y="1858164"/>
                </a:lnTo>
                <a:lnTo>
                  <a:pt x="2698" y="1852287"/>
                </a:lnTo>
                <a:lnTo>
                  <a:pt x="0" y="1837265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595" y="2776091"/>
            <a:ext cx="2733523" cy="1880445"/>
          </a:xfrm>
          <a:prstGeom prst="roundRect">
            <a:avLst>
              <a:gd name="adj" fmla="val 2296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05163" y="2776091"/>
            <a:ext cx="21580" cy="1880445"/>
          </a:xfrm>
          <a:custGeom>
            <a:avLst/>
            <a:gdLst/>
            <a:ahLst/>
            <a:cxnLst/>
            <a:rect l="l" t="t" r="r" b="b"/>
            <a:pathLst>
              <a:path w="21580" h="1880445">
                <a:moveTo>
                  <a:pt x="0" y="43180"/>
                </a:moveTo>
                <a:lnTo>
                  <a:pt x="2698" y="28157"/>
                </a:lnTo>
                <a:lnTo>
                  <a:pt x="5395" y="22280"/>
                </a:lnTo>
                <a:lnTo>
                  <a:pt x="8093" y="18013"/>
                </a:lnTo>
                <a:lnTo>
                  <a:pt x="10790" y="14625"/>
                </a:lnTo>
                <a:lnTo>
                  <a:pt x="13488" y="11829"/>
                </a:lnTo>
                <a:lnTo>
                  <a:pt x="16185" y="9479"/>
                </a:lnTo>
                <a:lnTo>
                  <a:pt x="18883" y="7485"/>
                </a:lnTo>
                <a:lnTo>
                  <a:pt x="21580" y="5791"/>
                </a:lnTo>
                <a:lnTo>
                  <a:pt x="21580" y="1874654"/>
                </a:lnTo>
                <a:lnTo>
                  <a:pt x="18883" y="1872960"/>
                </a:lnTo>
                <a:lnTo>
                  <a:pt x="16185" y="1870966"/>
                </a:lnTo>
                <a:lnTo>
                  <a:pt x="13488" y="1868615"/>
                </a:lnTo>
                <a:lnTo>
                  <a:pt x="10790" y="1865820"/>
                </a:lnTo>
                <a:lnTo>
                  <a:pt x="8093" y="1862432"/>
                </a:lnTo>
                <a:lnTo>
                  <a:pt x="5395" y="1858164"/>
                </a:lnTo>
                <a:lnTo>
                  <a:pt x="2698" y="1852287"/>
                </a:lnTo>
                <a:lnTo>
                  <a:pt x="0" y="1837265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05163" y="2776091"/>
            <a:ext cx="2733523" cy="1880445"/>
          </a:xfrm>
          <a:prstGeom prst="roundRect">
            <a:avLst>
              <a:gd name="adj" fmla="val 2296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28730" y="2776091"/>
            <a:ext cx="21580" cy="1880445"/>
          </a:xfrm>
          <a:custGeom>
            <a:avLst/>
            <a:gdLst/>
            <a:ahLst/>
            <a:cxnLst/>
            <a:rect l="l" t="t" r="r" b="b"/>
            <a:pathLst>
              <a:path w="21580" h="1880445">
                <a:moveTo>
                  <a:pt x="0" y="43180"/>
                </a:moveTo>
                <a:lnTo>
                  <a:pt x="2698" y="28157"/>
                </a:lnTo>
                <a:lnTo>
                  <a:pt x="5395" y="22280"/>
                </a:lnTo>
                <a:lnTo>
                  <a:pt x="8093" y="18013"/>
                </a:lnTo>
                <a:lnTo>
                  <a:pt x="10790" y="14625"/>
                </a:lnTo>
                <a:lnTo>
                  <a:pt x="13488" y="11829"/>
                </a:lnTo>
                <a:lnTo>
                  <a:pt x="16185" y="9479"/>
                </a:lnTo>
                <a:lnTo>
                  <a:pt x="18883" y="7485"/>
                </a:lnTo>
                <a:lnTo>
                  <a:pt x="21580" y="5791"/>
                </a:lnTo>
                <a:lnTo>
                  <a:pt x="21580" y="1874654"/>
                </a:lnTo>
                <a:lnTo>
                  <a:pt x="18883" y="1872960"/>
                </a:lnTo>
                <a:lnTo>
                  <a:pt x="16185" y="1870966"/>
                </a:lnTo>
                <a:lnTo>
                  <a:pt x="13488" y="1868615"/>
                </a:lnTo>
                <a:lnTo>
                  <a:pt x="10790" y="1865820"/>
                </a:lnTo>
                <a:lnTo>
                  <a:pt x="8093" y="1862432"/>
                </a:lnTo>
                <a:lnTo>
                  <a:pt x="5395" y="1858164"/>
                </a:lnTo>
                <a:lnTo>
                  <a:pt x="2698" y="1852287"/>
                </a:lnTo>
                <a:lnTo>
                  <a:pt x="0" y="1837265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28730" y="2776091"/>
            <a:ext cx="2733675" cy="1880445"/>
          </a:xfrm>
          <a:prstGeom prst="roundRect">
            <a:avLst>
              <a:gd name="adj" fmla="val 2296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6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72070" y="200620"/>
            <a:ext cx="898785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7"/>
              </a:lnSpc>
              <a:spcAft>
                <a:spcPts val="170"/>
              </a:spcAft>
              <a:buNone/>
            </a:pPr>
            <a:r>
              <a:rPr lang="en-US" sz="158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Synthetic Identity Fraud — </a:t>
            </a:r>
            <a:r>
              <a:rPr lang="en-US" sz="1580" b="1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Customer Who Was Never Real</a:t>
            </a:r>
            <a:endParaRPr lang="en-US" sz="1580" dirty="0"/>
          </a:p>
        </p:txBody>
      </p:sp>
      <p:sp>
        <p:nvSpPr>
          <p:cNvPr id="17" name="Text 15"/>
          <p:cNvSpPr/>
          <p:nvPr/>
        </p:nvSpPr>
        <p:spPr>
          <a:xfrm>
            <a:off x="372070" y="452884"/>
            <a:ext cx="9239845" cy="135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4"/>
              </a:lnSpc>
              <a:buNone/>
            </a:pPr>
            <a:r>
              <a:rPr lang="en-US" sz="760" kern="0" spc="1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customer-facing staff — the face, the documents, and the voice may all be fabricated by AI</a:t>
            </a:r>
            <a:endParaRPr lang="en-US" sz="760" dirty="0"/>
          </a:p>
        </p:txBody>
      </p:sp>
      <p:sp>
        <p:nvSpPr>
          <p:cNvPr id="18" name="Text 16"/>
          <p:cNvSpPr/>
          <p:nvPr/>
        </p:nvSpPr>
        <p:spPr>
          <a:xfrm>
            <a:off x="372070" y="688330"/>
            <a:ext cx="8399859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60000">
                <a:srgbClr val="E8A02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2070" y="796230"/>
            <a:ext cx="2752576" cy="1899345"/>
          </a:xfrm>
          <a:prstGeom prst="roundRect">
            <a:avLst>
              <a:gd name="adj" fmla="val 2273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41290" y="870496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E8A020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481905" y="89966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4422" y="962183"/>
            <a:ext cx="132588" cy="13258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25996" y="892076"/>
            <a:ext cx="240769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 1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825996" y="1009501"/>
            <a:ext cx="240769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Fake ID Photos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825996" y="1163687"/>
            <a:ext cx="2232592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photorealistic identity document photos — driving licences and passports — with synthetic faces that pass basic visual inspection and some automated verification tools.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3028801" y="2599730"/>
            <a:ext cx="29170" cy="29170"/>
          </a:xfrm>
          <a:prstGeom prst="ellipse">
            <a:avLst/>
          </a:prstGeom>
          <a:solidFill>
            <a:srgbClr val="E8A02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3195638" y="796230"/>
            <a:ext cx="2752576" cy="1899345"/>
          </a:xfrm>
          <a:prstGeom prst="roundRect">
            <a:avLst>
              <a:gd name="adj" fmla="val 2273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764857" y="870496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E8A020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620" dirty="0"/>
          </a:p>
        </p:txBody>
      </p:sp>
      <p:sp>
        <p:nvSpPr>
          <p:cNvPr id="29" name="Text 26"/>
          <p:cNvSpPr/>
          <p:nvPr/>
        </p:nvSpPr>
        <p:spPr>
          <a:xfrm>
            <a:off x="3305473" y="89966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67989" y="962183"/>
            <a:ext cx="132588" cy="13258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3649563" y="892076"/>
            <a:ext cx="240769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 2</a:t>
            </a:r>
            <a:endParaRPr lang="en-US" sz="680" dirty="0"/>
          </a:p>
        </p:txBody>
      </p:sp>
      <p:sp>
        <p:nvSpPr>
          <p:cNvPr id="32" name="Text 28"/>
          <p:cNvSpPr/>
          <p:nvPr/>
        </p:nvSpPr>
        <p:spPr>
          <a:xfrm>
            <a:off x="3649563" y="1009501"/>
            <a:ext cx="240769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Fabricated Supporting Documents</a:t>
            </a:r>
            <a:endParaRPr lang="en-US" sz="820" dirty="0"/>
          </a:p>
        </p:txBody>
      </p:sp>
      <p:sp>
        <p:nvSpPr>
          <p:cNvPr id="33" name="Text 29"/>
          <p:cNvSpPr/>
          <p:nvPr/>
        </p:nvSpPr>
        <p:spPr>
          <a:xfrm>
            <a:off x="3649563" y="1163687"/>
            <a:ext cx="2232592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statements, utility bills, and proof of address generated by AI in seconds — formatted exactly like real documents with correct fonts, logos, and realistic data.</a:t>
            </a:r>
            <a:endParaRPr lang="en-US" sz="680" dirty="0"/>
          </a:p>
        </p:txBody>
      </p:sp>
      <p:sp>
        <p:nvSpPr>
          <p:cNvPr id="34" name="Text 30"/>
          <p:cNvSpPr/>
          <p:nvPr/>
        </p:nvSpPr>
        <p:spPr>
          <a:xfrm>
            <a:off x="5852368" y="2599730"/>
            <a:ext cx="29170" cy="29170"/>
          </a:xfrm>
          <a:prstGeom prst="ellipse">
            <a:avLst/>
          </a:prstGeom>
          <a:solidFill>
            <a:srgbClr val="E8A02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019205" y="796230"/>
            <a:ext cx="2752725" cy="1899345"/>
          </a:xfrm>
          <a:prstGeom prst="roundRect">
            <a:avLst>
              <a:gd name="adj" fmla="val 2273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8588573" y="870496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E8A020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620" dirty="0"/>
          </a:p>
        </p:txBody>
      </p:sp>
      <p:sp>
        <p:nvSpPr>
          <p:cNvPr id="37" name="Text 33"/>
          <p:cNvSpPr/>
          <p:nvPr/>
        </p:nvSpPr>
        <p:spPr>
          <a:xfrm>
            <a:off x="6129040" y="89966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91557" y="962183"/>
            <a:ext cx="132588" cy="1325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473130" y="892076"/>
            <a:ext cx="240786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 3</a:t>
            </a:r>
            <a:endParaRPr lang="en-US" sz="680" dirty="0"/>
          </a:p>
        </p:txBody>
      </p:sp>
      <p:sp>
        <p:nvSpPr>
          <p:cNvPr id="40" name="Text 35"/>
          <p:cNvSpPr/>
          <p:nvPr/>
        </p:nvSpPr>
        <p:spPr>
          <a:xfrm>
            <a:off x="6473130" y="1009501"/>
            <a:ext cx="240786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Cloned Voice for Phone Verification</a:t>
            </a:r>
            <a:endParaRPr lang="en-US" sz="820" dirty="0"/>
          </a:p>
        </p:txBody>
      </p:sp>
      <p:sp>
        <p:nvSpPr>
          <p:cNvPr id="41" name="Text 36"/>
          <p:cNvSpPr/>
          <p:nvPr/>
        </p:nvSpPr>
        <p:spPr>
          <a:xfrm>
            <a:off x="6473130" y="1163687"/>
            <a:ext cx="2232743" cy="525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calls your verification line. The voice matches the account holder's profile because it was cloned from social media audio of the real person whose identity was stolen.</a:t>
            </a:r>
            <a:endParaRPr lang="en-US" sz="680" dirty="0"/>
          </a:p>
        </p:txBody>
      </p:sp>
      <p:sp>
        <p:nvSpPr>
          <p:cNvPr id="42" name="Text 37"/>
          <p:cNvSpPr/>
          <p:nvPr/>
        </p:nvSpPr>
        <p:spPr>
          <a:xfrm>
            <a:off x="8676084" y="2599730"/>
            <a:ext cx="29170" cy="29170"/>
          </a:xfrm>
          <a:prstGeom prst="ellipse">
            <a:avLst/>
          </a:prstGeom>
          <a:solidFill>
            <a:srgbClr val="E8A02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372070" y="2766566"/>
            <a:ext cx="2752576" cy="1899493"/>
          </a:xfrm>
          <a:prstGeom prst="roundRect">
            <a:avLst>
              <a:gd name="adj" fmla="val 2273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2941290" y="2840831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E8A020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620" dirty="0"/>
          </a:p>
        </p:txBody>
      </p:sp>
      <p:sp>
        <p:nvSpPr>
          <p:cNvPr id="45" name="Text 40"/>
          <p:cNvSpPr/>
          <p:nvPr/>
        </p:nvSpPr>
        <p:spPr>
          <a:xfrm>
            <a:off x="481905" y="287000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4422" y="2932518"/>
            <a:ext cx="132588" cy="132588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825996" y="2862411"/>
            <a:ext cx="240769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 4</a:t>
            </a:r>
            <a:endParaRPr lang="en-US" sz="680" dirty="0"/>
          </a:p>
        </p:txBody>
      </p:sp>
      <p:sp>
        <p:nvSpPr>
          <p:cNvPr id="48" name="Text 42"/>
          <p:cNvSpPr/>
          <p:nvPr/>
        </p:nvSpPr>
        <p:spPr>
          <a:xfrm>
            <a:off x="825996" y="2979837"/>
            <a:ext cx="240769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Deepfake Video Identity Checks</a:t>
            </a:r>
            <a:endParaRPr lang="en-US" sz="820" dirty="0"/>
          </a:p>
        </p:txBody>
      </p:sp>
      <p:sp>
        <p:nvSpPr>
          <p:cNvPr id="49" name="Text 43"/>
          <p:cNvSpPr/>
          <p:nvPr/>
        </p:nvSpPr>
        <p:spPr>
          <a:xfrm>
            <a:off x="825996" y="3134023"/>
            <a:ext cx="2232592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video-based identity verification, attackers inject pre-recorded or real-time deepfake video of a synthetic or stolen identity directly into the verification flow.</a:t>
            </a:r>
            <a:endParaRPr lang="en-US" sz="680" dirty="0"/>
          </a:p>
        </p:txBody>
      </p:sp>
      <p:sp>
        <p:nvSpPr>
          <p:cNvPr id="50" name="Text 44"/>
          <p:cNvSpPr/>
          <p:nvPr/>
        </p:nvSpPr>
        <p:spPr>
          <a:xfrm>
            <a:off x="3028801" y="4570214"/>
            <a:ext cx="29170" cy="29170"/>
          </a:xfrm>
          <a:prstGeom prst="ellipse">
            <a:avLst/>
          </a:prstGeom>
          <a:solidFill>
            <a:srgbClr val="E8A02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5"/>
          <p:cNvSpPr/>
          <p:nvPr/>
        </p:nvSpPr>
        <p:spPr>
          <a:xfrm>
            <a:off x="3195638" y="2766566"/>
            <a:ext cx="2752576" cy="1899493"/>
          </a:xfrm>
          <a:prstGeom prst="roundRect">
            <a:avLst>
              <a:gd name="adj" fmla="val 2273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5764857" y="2840831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E8A020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05</a:t>
            </a:r>
            <a:endParaRPr lang="en-US" sz="620" dirty="0"/>
          </a:p>
        </p:txBody>
      </p:sp>
      <p:sp>
        <p:nvSpPr>
          <p:cNvPr id="53" name="Text 47"/>
          <p:cNvSpPr/>
          <p:nvPr/>
        </p:nvSpPr>
        <p:spPr>
          <a:xfrm>
            <a:off x="3305473" y="287000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67989" y="2932518"/>
            <a:ext cx="132588" cy="132588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3649563" y="2862411"/>
            <a:ext cx="240769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 5</a:t>
            </a:r>
            <a:endParaRPr lang="en-US" sz="680" dirty="0"/>
          </a:p>
        </p:txBody>
      </p:sp>
      <p:sp>
        <p:nvSpPr>
          <p:cNvPr id="56" name="Text 49"/>
          <p:cNvSpPr/>
          <p:nvPr/>
        </p:nvSpPr>
        <p:spPr>
          <a:xfrm>
            <a:off x="3649563" y="2979837"/>
            <a:ext cx="2407697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AI-Completed Application Forms</a:t>
            </a:r>
            <a:endParaRPr lang="en-US" sz="820" dirty="0"/>
          </a:p>
        </p:txBody>
      </p:sp>
      <p:sp>
        <p:nvSpPr>
          <p:cNvPr id="57" name="Text 50"/>
          <p:cNvSpPr/>
          <p:nvPr/>
        </p:nvSpPr>
        <p:spPr>
          <a:xfrm>
            <a:off x="3649563" y="3134023"/>
            <a:ext cx="2232592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coherent, internally consistent application data generated by AI — no inconsistencies that manual review would traditionally flag as suspicious.</a:t>
            </a:r>
            <a:endParaRPr lang="en-US" sz="680" dirty="0"/>
          </a:p>
        </p:txBody>
      </p:sp>
      <p:sp>
        <p:nvSpPr>
          <p:cNvPr id="58" name="Text 51"/>
          <p:cNvSpPr/>
          <p:nvPr/>
        </p:nvSpPr>
        <p:spPr>
          <a:xfrm>
            <a:off x="5852368" y="4570214"/>
            <a:ext cx="29170" cy="29170"/>
          </a:xfrm>
          <a:prstGeom prst="ellipse">
            <a:avLst/>
          </a:prstGeom>
          <a:solidFill>
            <a:srgbClr val="E8A02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6019205" y="2766566"/>
            <a:ext cx="2752725" cy="1899493"/>
          </a:xfrm>
          <a:prstGeom prst="roundRect">
            <a:avLst>
              <a:gd name="adj" fmla="val 2273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3"/>
          <p:cNvSpPr/>
          <p:nvPr/>
        </p:nvSpPr>
        <p:spPr>
          <a:xfrm>
            <a:off x="8588573" y="2840831"/>
            <a:ext cx="104611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30" dirty="0">
                <a:solidFill>
                  <a:srgbClr val="E8A020">
                    <a:alpha val="3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06</a:t>
            </a:r>
            <a:endParaRPr lang="en-US" sz="620" dirty="0"/>
          </a:p>
        </p:txBody>
      </p:sp>
      <p:sp>
        <p:nvSpPr>
          <p:cNvPr id="61" name="Text 54"/>
          <p:cNvSpPr/>
          <p:nvPr/>
        </p:nvSpPr>
        <p:spPr>
          <a:xfrm>
            <a:off x="6129040" y="2870002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91557" y="2932518"/>
            <a:ext cx="132588" cy="132588"/>
          </a:xfrm>
          <a:prstGeom prst="rect">
            <a:avLst/>
          </a:prstGeom>
        </p:spPr>
      </p:pic>
      <p:sp>
        <p:nvSpPr>
          <p:cNvPr id="63" name="Text 55"/>
          <p:cNvSpPr/>
          <p:nvPr/>
        </p:nvSpPr>
        <p:spPr>
          <a:xfrm>
            <a:off x="6473130" y="2862411"/>
            <a:ext cx="240786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16"/>
              </a:lnSpc>
              <a:buNone/>
            </a:pPr>
            <a:r>
              <a:rPr lang="en-US" sz="680" b="1" kern="0" spc="4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VECTOR 6</a:t>
            </a:r>
            <a:endParaRPr lang="en-US" sz="680" dirty="0"/>
          </a:p>
        </p:txBody>
      </p:sp>
      <p:sp>
        <p:nvSpPr>
          <p:cNvPr id="64" name="Text 56"/>
          <p:cNvSpPr/>
          <p:nvPr/>
        </p:nvSpPr>
        <p:spPr>
          <a:xfrm>
            <a:off x="6473130" y="2979837"/>
            <a:ext cx="240786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Synthetic Identity Profiles</a:t>
            </a:r>
            <a:endParaRPr lang="en-US" sz="820" dirty="0"/>
          </a:p>
        </p:txBody>
      </p:sp>
      <p:sp>
        <p:nvSpPr>
          <p:cNvPr id="65" name="Text 57"/>
          <p:cNvSpPr/>
          <p:nvPr/>
        </p:nvSpPr>
        <p:spPr>
          <a:xfrm>
            <a:off x="6473130" y="3134023"/>
            <a:ext cx="2232743" cy="394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6"/>
              </a:lnSpc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fabricated identities built over months — credit history, address records, employment data — assembled by AI for high-value account opening fraud.</a:t>
            </a:r>
            <a:endParaRPr lang="en-US" sz="680" dirty="0"/>
          </a:p>
        </p:txBody>
      </p:sp>
      <p:sp>
        <p:nvSpPr>
          <p:cNvPr id="66" name="Text 58"/>
          <p:cNvSpPr/>
          <p:nvPr/>
        </p:nvSpPr>
        <p:spPr>
          <a:xfrm>
            <a:off x="8676084" y="4570214"/>
            <a:ext cx="29170" cy="29170"/>
          </a:xfrm>
          <a:prstGeom prst="ellipse">
            <a:avLst/>
          </a:prstGeom>
          <a:solidFill>
            <a:srgbClr val="E8A020">
              <a:alpha val="1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9"/>
          <p:cNvSpPr/>
          <p:nvPr/>
        </p:nvSpPr>
        <p:spPr>
          <a:xfrm>
            <a:off x="372070" y="4737050"/>
            <a:ext cx="8399859" cy="278309"/>
          </a:xfrm>
          <a:prstGeom prst="rect">
            <a:avLst/>
          </a:prstGeom>
          <a:gradFill rotWithShape="1">
            <a:gsLst>
              <a:gs pos="0">
                <a:srgbClr val="E8A020">
                  <a:alpha val="18000"/>
                </a:srgbClr>
              </a:gs>
              <a:gs pos="70000">
                <a:srgbClr val="E8A020">
                  <a:alpha val="8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0"/>
          <p:cNvSpPr/>
          <p:nvPr/>
        </p:nvSpPr>
        <p:spPr>
          <a:xfrm>
            <a:off x="372070" y="4737050"/>
            <a:ext cx="19050" cy="278309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9" name="Image 6" descr="preencoded.png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7198" y="4809911"/>
            <a:ext cx="132588" cy="132588"/>
          </a:xfrm>
          <a:prstGeom prst="rect">
            <a:avLst/>
          </a:prstGeom>
        </p:spPr>
      </p:pic>
      <p:sp>
        <p:nvSpPr>
          <p:cNvPr id="70" name="Text 61"/>
          <p:cNvSpPr/>
          <p:nvPr/>
        </p:nvSpPr>
        <p:spPr>
          <a:xfrm>
            <a:off x="687884" y="4811316"/>
            <a:ext cx="8001372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b="1" kern="0" spc="1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feels inconsistent — even if you cannot explain exactly why — </a:t>
            </a:r>
            <a:r>
              <a:rPr lang="en-US" sz="730" b="1" kern="0" spc="1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to your supervisor and your fraud team.</a:t>
            </a:r>
            <a:r>
              <a:rPr lang="en-US" sz="730" b="1" kern="0" spc="1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instinct is a security control.</a:t>
            </a:r>
            <a:endParaRPr lang="en-US" sz="730" dirty="0"/>
          </a:p>
        </p:txBody>
      </p:sp>
      <p:sp>
        <p:nvSpPr>
          <p:cNvPr id="71" name="Text 62"/>
          <p:cNvSpPr/>
          <p:nvPr/>
        </p:nvSpPr>
        <p:spPr>
          <a:xfrm>
            <a:off x="0" y="0"/>
            <a:ext cx="9144000" cy="2158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020"/>
              </a:gs>
              <a:gs pos="7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3"/>
          <p:cNvSpPr/>
          <p:nvPr/>
        </p:nvSpPr>
        <p:spPr>
          <a:xfrm>
            <a:off x="0" y="342900"/>
            <a:ext cx="29170" cy="571500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4"/>
          <p:cNvSpPr/>
          <p:nvPr/>
        </p:nvSpPr>
        <p:spPr>
          <a:xfrm>
            <a:off x="6832997" y="128141"/>
            <a:ext cx="1206698" cy="185812"/>
          </a:xfrm>
          <a:prstGeom prst="roundRect">
            <a:avLst>
              <a:gd name="adj" fmla="val 1572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STAFF</a:t>
            </a:r>
            <a:endParaRPr lang="en-US" sz="560" dirty="0"/>
          </a:p>
        </p:txBody>
      </p:sp>
      <p:sp>
        <p:nvSpPr>
          <p:cNvPr id="74" name="Text 65"/>
          <p:cNvSpPr/>
          <p:nvPr/>
        </p:nvSpPr>
        <p:spPr>
          <a:xfrm>
            <a:off x="8089106" y="159246"/>
            <a:ext cx="75110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DE.CM-3 · PR.AT-1</a:t>
            </a:r>
            <a:endParaRPr lang="en-US" sz="5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82811"/>
          </a:xfrm>
          <a:prstGeom prst="rect">
            <a:avLst/>
          </a:prstGeom>
          <a:solidFill>
            <a:srgbClr val="111F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73286"/>
            <a:ext cx="9144000" cy="9525"/>
          </a:xfrm>
          <a:prstGeom prst="rect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2900" y="86320"/>
            <a:ext cx="228600" cy="228600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906" y="134326"/>
            <a:ext cx="132588" cy="1325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50" y="98673"/>
            <a:ext cx="6082564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06"/>
              </a:lnSpc>
              <a:buNone/>
            </a:pPr>
            <a:r>
              <a:rPr lang="en-US" sz="1460" b="1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Psychology Behind AI Attacks — Why Smart People Fall For It</a:t>
            </a:r>
            <a:endParaRPr lang="en-US" sz="1460" dirty="0"/>
          </a:p>
        </p:txBody>
      </p:sp>
      <p:sp>
        <p:nvSpPr>
          <p:cNvPr id="7" name="Text 4"/>
          <p:cNvSpPr/>
          <p:nvPr/>
        </p:nvSpPr>
        <p:spPr>
          <a:xfrm>
            <a:off x="342900" y="336500"/>
            <a:ext cx="6567428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careful people get deceived helps everyone defend against it</a:t>
            </a:r>
            <a:endParaRPr lang="en-US" sz="790" dirty="0"/>
          </a:p>
        </p:txBody>
      </p:sp>
      <p:sp>
        <p:nvSpPr>
          <p:cNvPr id="8" name="Text 5"/>
          <p:cNvSpPr/>
          <p:nvPr/>
        </p:nvSpPr>
        <p:spPr>
          <a:xfrm>
            <a:off x="0" y="582811"/>
            <a:ext cx="4937671" cy="4272260"/>
          </a:xfrm>
          <a:prstGeom prst="rect">
            <a:avLst/>
          </a:prstGeom>
          <a:solidFill>
            <a:srgbClr val="111F2E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4928146" y="582811"/>
            <a:ext cx="9525" cy="4272260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342900" y="710952"/>
            <a:ext cx="482308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SIX PSYCHOLOGICAL LEVERS AI ATTACKERS USE</a:t>
            </a:r>
            <a:endParaRPr lang="en-US" sz="730" dirty="0"/>
          </a:p>
        </p:txBody>
      </p:sp>
      <p:sp>
        <p:nvSpPr>
          <p:cNvPr id="11" name="Text 8"/>
          <p:cNvSpPr/>
          <p:nvPr/>
        </p:nvSpPr>
        <p:spPr>
          <a:xfrm>
            <a:off x="342900" y="936278"/>
            <a:ext cx="342900" cy="21580"/>
          </a:xfrm>
          <a:prstGeom prst="roundRect">
            <a:avLst>
              <a:gd name="adj" fmla="val 64736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2900" y="1028849"/>
            <a:ext cx="4384625" cy="481757"/>
          </a:xfrm>
          <a:prstGeom prst="roundRect">
            <a:avLst>
              <a:gd name="adj" fmla="val 8963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42900" y="1028849"/>
            <a:ext cx="19050" cy="481757"/>
          </a:xfrm>
          <a:custGeom>
            <a:avLst/>
            <a:gdLst/>
            <a:ahLst/>
            <a:cxnLst/>
            <a:rect l="l" t="t" r="r" b="b"/>
            <a:pathLst>
              <a:path w="19050" h="481757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74385"/>
                </a:lnTo>
                <a:lnTo>
                  <a:pt x="16669" y="472660"/>
                </a:lnTo>
                <a:lnTo>
                  <a:pt x="14288" y="470666"/>
                </a:lnTo>
                <a:lnTo>
                  <a:pt x="11906" y="468350"/>
                </a:lnTo>
                <a:lnTo>
                  <a:pt x="9525" y="465629"/>
                </a:lnTo>
                <a:lnTo>
                  <a:pt x="7144" y="462365"/>
                </a:lnTo>
                <a:lnTo>
                  <a:pt x="4763" y="458290"/>
                </a:lnTo>
                <a:lnTo>
                  <a:pt x="2381" y="452718"/>
                </a:lnTo>
                <a:lnTo>
                  <a:pt x="0" y="438577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32941" y="1093589"/>
            <a:ext cx="200620" cy="20062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6883" y="1127531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04552" y="1085999"/>
            <a:ext cx="434718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790" dirty="0"/>
          </a:p>
        </p:txBody>
      </p:sp>
      <p:sp>
        <p:nvSpPr>
          <p:cNvPr id="17" name="Text 13"/>
          <p:cNvSpPr/>
          <p:nvPr/>
        </p:nvSpPr>
        <p:spPr>
          <a:xfrm>
            <a:off x="704552" y="1213842"/>
            <a:ext cx="403102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CEO's voice carries automatic compliance pressure. AI weaponises that authority — without the real CEO's knowledge.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342900" y="1539776"/>
            <a:ext cx="4384625" cy="481757"/>
          </a:xfrm>
          <a:prstGeom prst="roundRect">
            <a:avLst>
              <a:gd name="adj" fmla="val 8963"/>
            </a:avLst>
          </a:prstGeom>
          <a:solidFill>
            <a:srgbClr val="FFFFFF">
              <a:alpha val="1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342900" y="1539776"/>
            <a:ext cx="19050" cy="481757"/>
          </a:xfrm>
          <a:custGeom>
            <a:avLst/>
            <a:gdLst/>
            <a:ahLst/>
            <a:cxnLst/>
            <a:rect l="l" t="t" r="r" b="b"/>
            <a:pathLst>
              <a:path w="19050" h="481757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74385"/>
                </a:lnTo>
                <a:lnTo>
                  <a:pt x="16669" y="472660"/>
                </a:lnTo>
                <a:lnTo>
                  <a:pt x="14288" y="470666"/>
                </a:lnTo>
                <a:lnTo>
                  <a:pt x="11906" y="468350"/>
                </a:lnTo>
                <a:lnTo>
                  <a:pt x="9525" y="465629"/>
                </a:lnTo>
                <a:lnTo>
                  <a:pt x="7144" y="462365"/>
                </a:lnTo>
                <a:lnTo>
                  <a:pt x="4763" y="458290"/>
                </a:lnTo>
                <a:lnTo>
                  <a:pt x="2381" y="452718"/>
                </a:lnTo>
                <a:lnTo>
                  <a:pt x="0" y="438577"/>
                </a:lnTo>
                <a:close/>
              </a:path>
            </a:pathLst>
          </a:custGeom>
          <a:solidFill>
            <a:srgbClr val="E8A020">
              <a:alpha val="4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32941" y="1604516"/>
            <a:ext cx="200620" cy="20062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883" y="1638458"/>
            <a:ext cx="132588" cy="1325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04552" y="1596926"/>
            <a:ext cx="434718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790" dirty="0"/>
          </a:p>
        </p:txBody>
      </p:sp>
      <p:sp>
        <p:nvSpPr>
          <p:cNvPr id="23" name="Text 18"/>
          <p:cNvSpPr/>
          <p:nvPr/>
        </p:nvSpPr>
        <p:spPr>
          <a:xfrm>
            <a:off x="704552" y="1724769"/>
            <a:ext cx="403102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must be done in the next 30 minutes." Time pressure shuts down critical thinking. It is always manufactured.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342900" y="2050703"/>
            <a:ext cx="4384625" cy="481757"/>
          </a:xfrm>
          <a:prstGeom prst="roundRect">
            <a:avLst>
              <a:gd name="adj" fmla="val 8963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342900" y="2050703"/>
            <a:ext cx="19050" cy="481757"/>
          </a:xfrm>
          <a:custGeom>
            <a:avLst/>
            <a:gdLst/>
            <a:ahLst/>
            <a:cxnLst/>
            <a:rect l="l" t="t" r="r" b="b"/>
            <a:pathLst>
              <a:path w="19050" h="481757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74385"/>
                </a:lnTo>
                <a:lnTo>
                  <a:pt x="16669" y="472660"/>
                </a:lnTo>
                <a:lnTo>
                  <a:pt x="14288" y="470666"/>
                </a:lnTo>
                <a:lnTo>
                  <a:pt x="11906" y="468350"/>
                </a:lnTo>
                <a:lnTo>
                  <a:pt x="9525" y="465629"/>
                </a:lnTo>
                <a:lnTo>
                  <a:pt x="7144" y="462365"/>
                </a:lnTo>
                <a:lnTo>
                  <a:pt x="4763" y="458290"/>
                </a:lnTo>
                <a:lnTo>
                  <a:pt x="2381" y="452718"/>
                </a:lnTo>
                <a:lnTo>
                  <a:pt x="0" y="438577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432941" y="2115443"/>
            <a:ext cx="200620" cy="20062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6883" y="2149385"/>
            <a:ext cx="132588" cy="1325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04552" y="2107853"/>
            <a:ext cx="434718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Familiarity</a:t>
            </a:r>
            <a:endParaRPr lang="en-US" sz="790" dirty="0"/>
          </a:p>
        </p:txBody>
      </p:sp>
      <p:sp>
        <p:nvSpPr>
          <p:cNvPr id="29" name="Text 23"/>
          <p:cNvSpPr/>
          <p:nvPr/>
        </p:nvSpPr>
        <p:spPr>
          <a:xfrm>
            <a:off x="704552" y="2235696"/>
            <a:ext cx="403102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known voice or face triggers trust neurologically — before rational analysis can happen. AI exploits this reflex.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342900" y="2561630"/>
            <a:ext cx="4384625" cy="481757"/>
          </a:xfrm>
          <a:prstGeom prst="roundRect">
            <a:avLst>
              <a:gd name="adj" fmla="val 8963"/>
            </a:avLst>
          </a:prstGeom>
          <a:solidFill>
            <a:srgbClr val="FFFFFF">
              <a:alpha val="1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342900" y="2561630"/>
            <a:ext cx="19050" cy="481757"/>
          </a:xfrm>
          <a:custGeom>
            <a:avLst/>
            <a:gdLst/>
            <a:ahLst/>
            <a:cxnLst/>
            <a:rect l="l" t="t" r="r" b="b"/>
            <a:pathLst>
              <a:path w="19050" h="481757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74385"/>
                </a:lnTo>
                <a:lnTo>
                  <a:pt x="16669" y="472660"/>
                </a:lnTo>
                <a:lnTo>
                  <a:pt x="14288" y="470666"/>
                </a:lnTo>
                <a:lnTo>
                  <a:pt x="11906" y="468350"/>
                </a:lnTo>
                <a:lnTo>
                  <a:pt x="9525" y="465629"/>
                </a:lnTo>
                <a:lnTo>
                  <a:pt x="7144" y="462365"/>
                </a:lnTo>
                <a:lnTo>
                  <a:pt x="4763" y="458290"/>
                </a:lnTo>
                <a:lnTo>
                  <a:pt x="2381" y="452718"/>
                </a:lnTo>
                <a:lnTo>
                  <a:pt x="0" y="438577"/>
                </a:lnTo>
                <a:close/>
              </a:path>
            </a:pathLst>
          </a:custGeom>
          <a:solidFill>
            <a:srgbClr val="E8A020">
              <a:alpha val="4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32941" y="2626370"/>
            <a:ext cx="200620" cy="20062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6883" y="2660312"/>
            <a:ext cx="132588" cy="13258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04552" y="2618780"/>
            <a:ext cx="434718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790" dirty="0"/>
          </a:p>
        </p:txBody>
      </p:sp>
      <p:sp>
        <p:nvSpPr>
          <p:cNvPr id="35" name="Text 28"/>
          <p:cNvSpPr/>
          <p:nvPr/>
        </p:nvSpPr>
        <p:spPr>
          <a:xfrm>
            <a:off x="704552" y="2746623"/>
            <a:ext cx="403102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discuss this with anyone." Isolation prevents the verification step that would expose the fraud instantly.</a:t>
            </a:r>
            <a:endParaRPr lang="en-US" sz="700" dirty="0"/>
          </a:p>
        </p:txBody>
      </p:sp>
      <p:sp>
        <p:nvSpPr>
          <p:cNvPr id="36" name="Text 29"/>
          <p:cNvSpPr/>
          <p:nvPr/>
        </p:nvSpPr>
        <p:spPr>
          <a:xfrm>
            <a:off x="342900" y="3072557"/>
            <a:ext cx="4384625" cy="481757"/>
          </a:xfrm>
          <a:prstGeom prst="roundRect">
            <a:avLst>
              <a:gd name="adj" fmla="val 8963"/>
            </a:avLst>
          </a:prstGeom>
          <a:solidFill>
            <a:srgbClr val="FFFFFF">
              <a:alpha val="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342900" y="3072557"/>
            <a:ext cx="19050" cy="481757"/>
          </a:xfrm>
          <a:custGeom>
            <a:avLst/>
            <a:gdLst/>
            <a:ahLst/>
            <a:cxnLst/>
            <a:rect l="l" t="t" r="r" b="b"/>
            <a:pathLst>
              <a:path w="19050" h="481757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474385"/>
                </a:lnTo>
                <a:lnTo>
                  <a:pt x="16669" y="472660"/>
                </a:lnTo>
                <a:lnTo>
                  <a:pt x="14288" y="470666"/>
                </a:lnTo>
                <a:lnTo>
                  <a:pt x="11906" y="468350"/>
                </a:lnTo>
                <a:lnTo>
                  <a:pt x="9525" y="465629"/>
                </a:lnTo>
                <a:lnTo>
                  <a:pt x="7144" y="462365"/>
                </a:lnTo>
                <a:lnTo>
                  <a:pt x="4763" y="458290"/>
                </a:lnTo>
                <a:lnTo>
                  <a:pt x="2381" y="452718"/>
                </a:lnTo>
                <a:lnTo>
                  <a:pt x="0" y="438577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432941" y="3137297"/>
            <a:ext cx="200620" cy="20062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6883" y="3171239"/>
            <a:ext cx="132588" cy="132588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04552" y="3129707"/>
            <a:ext cx="434718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790" dirty="0"/>
          </a:p>
        </p:txBody>
      </p:sp>
      <p:sp>
        <p:nvSpPr>
          <p:cNvPr id="41" name="Text 33"/>
          <p:cNvSpPr/>
          <p:nvPr/>
        </p:nvSpPr>
        <p:spPr>
          <a:xfrm>
            <a:off x="704552" y="3257550"/>
            <a:ext cx="4031022" cy="251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role in this is critical. Don't question the process." Fear of consequences overrides normal caution and judgement.</a:t>
            </a:r>
            <a:endParaRPr lang="en-US" sz="700" dirty="0"/>
          </a:p>
        </p:txBody>
      </p:sp>
      <p:sp>
        <p:nvSpPr>
          <p:cNvPr id="42" name="Text 34"/>
          <p:cNvSpPr/>
          <p:nvPr/>
        </p:nvSpPr>
        <p:spPr>
          <a:xfrm>
            <a:off x="342900" y="3583484"/>
            <a:ext cx="4384625" cy="361950"/>
          </a:xfrm>
          <a:prstGeom prst="roundRect">
            <a:avLst>
              <a:gd name="adj" fmla="val 11930"/>
            </a:avLst>
          </a:prstGeom>
          <a:solidFill>
            <a:srgbClr val="FFFFFF">
              <a:alpha val="1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342900" y="3583484"/>
            <a:ext cx="19050" cy="361950"/>
          </a:xfrm>
          <a:custGeom>
            <a:avLst/>
            <a:gdLst/>
            <a:ahLst/>
            <a:cxnLst/>
            <a:rect l="l" t="t" r="r" b="b"/>
            <a:pathLst>
              <a:path w="19050" h="361950">
                <a:moveTo>
                  <a:pt x="0" y="43180"/>
                </a:moveTo>
                <a:lnTo>
                  <a:pt x="2381" y="29039"/>
                </a:lnTo>
                <a:lnTo>
                  <a:pt x="4763" y="23467"/>
                </a:lnTo>
                <a:lnTo>
                  <a:pt x="7144" y="19391"/>
                </a:lnTo>
                <a:lnTo>
                  <a:pt x="9525" y="16127"/>
                </a:lnTo>
                <a:lnTo>
                  <a:pt x="11906" y="13406"/>
                </a:lnTo>
                <a:lnTo>
                  <a:pt x="14288" y="11090"/>
                </a:lnTo>
                <a:lnTo>
                  <a:pt x="16669" y="9097"/>
                </a:lnTo>
                <a:lnTo>
                  <a:pt x="19050" y="7371"/>
                </a:lnTo>
                <a:lnTo>
                  <a:pt x="19050" y="354579"/>
                </a:lnTo>
                <a:lnTo>
                  <a:pt x="16669" y="352853"/>
                </a:lnTo>
                <a:lnTo>
                  <a:pt x="14288" y="350860"/>
                </a:lnTo>
                <a:lnTo>
                  <a:pt x="11906" y="348544"/>
                </a:lnTo>
                <a:lnTo>
                  <a:pt x="9525" y="345823"/>
                </a:lnTo>
                <a:lnTo>
                  <a:pt x="7144" y="342559"/>
                </a:lnTo>
                <a:lnTo>
                  <a:pt x="4763" y="338483"/>
                </a:lnTo>
                <a:lnTo>
                  <a:pt x="2381" y="332911"/>
                </a:lnTo>
                <a:lnTo>
                  <a:pt x="0" y="318770"/>
                </a:lnTo>
                <a:close/>
              </a:path>
            </a:pathLst>
          </a:custGeom>
          <a:solidFill>
            <a:srgbClr val="E8A020">
              <a:alpha val="4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432941" y="3648224"/>
            <a:ext cx="200620" cy="20062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6883" y="3682166"/>
            <a:ext cx="132588" cy="132588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04552" y="3640634"/>
            <a:ext cx="4347180" cy="120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8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Reciprocity</a:t>
            </a:r>
            <a:endParaRPr lang="en-US" sz="790" dirty="0"/>
          </a:p>
        </p:txBody>
      </p:sp>
      <p:sp>
        <p:nvSpPr>
          <p:cNvPr id="47" name="Text 38"/>
          <p:cNvSpPr/>
          <p:nvPr/>
        </p:nvSpPr>
        <p:spPr>
          <a:xfrm>
            <a:off x="704552" y="3768477"/>
            <a:ext cx="4347180" cy="1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rapport and goodwill before the request — making refusal feel disloyal, ungrateful, or rude.</a:t>
            </a:r>
            <a:endParaRPr lang="en-US" sz="700" dirty="0"/>
          </a:p>
        </p:txBody>
      </p:sp>
      <p:sp>
        <p:nvSpPr>
          <p:cNvPr id="48" name="Text 39"/>
          <p:cNvSpPr/>
          <p:nvPr/>
        </p:nvSpPr>
        <p:spPr>
          <a:xfrm>
            <a:off x="4937671" y="582811"/>
            <a:ext cx="4206180" cy="4272260"/>
          </a:xfrm>
          <a:prstGeom prst="rect">
            <a:avLst/>
          </a:prstGeom>
          <a:solidFill>
            <a:srgbClr val="0D1B2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5138291" y="710952"/>
            <a:ext cx="40597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COUNTER-PSYCHOLOGY TOOLKIT</a:t>
            </a:r>
            <a:endParaRPr lang="en-US" sz="730" dirty="0"/>
          </a:p>
        </p:txBody>
      </p:sp>
      <p:sp>
        <p:nvSpPr>
          <p:cNvPr id="50" name="Text 41"/>
          <p:cNvSpPr/>
          <p:nvPr/>
        </p:nvSpPr>
        <p:spPr>
          <a:xfrm>
            <a:off x="5138291" y="936278"/>
            <a:ext cx="342900" cy="21580"/>
          </a:xfrm>
          <a:prstGeom prst="roundRect">
            <a:avLst>
              <a:gd name="adj" fmla="val 64736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2"/>
          <p:cNvSpPr/>
          <p:nvPr/>
        </p:nvSpPr>
        <p:spPr>
          <a:xfrm>
            <a:off x="5138291" y="1028849"/>
            <a:ext cx="3690640" cy="525948"/>
          </a:xfrm>
          <a:prstGeom prst="roundRect">
            <a:avLst>
              <a:gd name="adj" fmla="val 10866"/>
            </a:avLst>
          </a:prstGeom>
          <a:gradFill rotWithShape="1">
            <a:gsLst>
              <a:gs pos="0">
                <a:srgbClr val="E8A020">
                  <a:alpha val="20000"/>
                </a:srgbClr>
              </a:gs>
              <a:gs pos="100000">
                <a:srgbClr val="E8A020">
                  <a:alpha val="8000"/>
                </a:srgbClr>
              </a:gs>
            </a:gsLst>
            <a:lin ang="2700000" scaled="1"/>
          </a:gradFill>
          <a:ln w="9525">
            <a:solidFill>
              <a:srgbClr val="E8A020"/>
            </a:solidFill>
          </a:ln>
        </p:spPr>
        <p:txBody>
          <a:bodyPr wrap="square" lIns="114300" tIns="71120" rIns="114300" bIns="71120" rtlCol="0" anchor="t"/>
          <a:lstStyle/>
          <a:p>
            <a:pPr marL="0" indent="0" algn="ctr">
              <a:buNone/>
            </a:pPr>
            <a:r>
              <a:rPr lang="en-US" sz="730" kern="0" spc="30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If you feel </a:t>
            </a:r>
            <a:r>
              <a:rPr lang="en-US" sz="730" b="1" kern="0" spc="3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</a:t>
            </a:r>
            <a:r>
              <a:rPr lang="en-US" sz="730" kern="0" spc="30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of the following at once —</a:t>
            </a:r>
            <a:endParaRPr lang="en-US" sz="730" dirty="0"/>
          </a:p>
          <a:p>
            <a:pPr marL="0" indent="0" algn="ctr">
              <a:buNone/>
            </a:pPr>
            <a:r>
              <a:rPr lang="en-US" sz="1240" b="1" kern="0" spc="6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STOP.</a:t>
            </a:r>
            <a:r>
              <a:rPr lang="en-US" sz="96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Do not act. Verify first.</a:t>
            </a:r>
            <a:endParaRPr lang="en-US" sz="730" dirty="0"/>
          </a:p>
        </p:txBody>
      </p:sp>
      <p:sp>
        <p:nvSpPr>
          <p:cNvPr id="52" name="Text 43"/>
          <p:cNvSpPr/>
          <p:nvPr/>
        </p:nvSpPr>
        <p:spPr>
          <a:xfrm>
            <a:off x="5138291" y="1639788"/>
            <a:ext cx="3690640" cy="353913"/>
          </a:xfrm>
          <a:prstGeom prst="roundRect">
            <a:avLst>
              <a:gd name="adj" fmla="val 13995"/>
            </a:avLst>
          </a:prstGeom>
          <a:solidFill>
            <a:srgbClr val="1A2E42"/>
          </a:solidFill>
          <a:ln w="9525">
            <a:solidFill>
              <a:srgbClr val="E8A020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5234136" y="1727895"/>
            <a:ext cx="185291" cy="185291"/>
          </a:xfrm>
          <a:prstGeom prst="roundRect">
            <a:avLst>
              <a:gd name="adj" fmla="val 19191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60488" y="1754246"/>
            <a:ext cx="132588" cy="13258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5505748" y="1720304"/>
            <a:ext cx="2596783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Someone in </a:t>
            </a: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asking me to act </a:t>
            </a: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</a:t>
            </a:r>
            <a:endParaRPr lang="en-US" sz="790" dirty="0"/>
          </a:p>
        </p:txBody>
      </p:sp>
      <p:sp>
        <p:nvSpPr>
          <p:cNvPr id="56" name="Text 46"/>
          <p:cNvSpPr/>
          <p:nvPr/>
        </p:nvSpPr>
        <p:spPr>
          <a:xfrm>
            <a:off x="5138291" y="2050852"/>
            <a:ext cx="3690640" cy="353913"/>
          </a:xfrm>
          <a:prstGeom prst="roundRect">
            <a:avLst>
              <a:gd name="adj" fmla="val 13995"/>
            </a:avLst>
          </a:prstGeom>
          <a:solidFill>
            <a:srgbClr val="1A2E42"/>
          </a:solidFill>
          <a:ln w="9525">
            <a:solidFill>
              <a:srgbClr val="E8A020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47"/>
          <p:cNvSpPr/>
          <p:nvPr/>
        </p:nvSpPr>
        <p:spPr>
          <a:xfrm>
            <a:off x="5234136" y="2138958"/>
            <a:ext cx="185291" cy="185291"/>
          </a:xfrm>
          <a:prstGeom prst="roundRect">
            <a:avLst>
              <a:gd name="adj" fmla="val 19191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60488" y="2165309"/>
            <a:ext cx="132588" cy="132588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5505748" y="2131368"/>
            <a:ext cx="3286988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request involves </a:t>
            </a: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money, data, access,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account changes</a:t>
            </a:r>
            <a:endParaRPr lang="en-US" sz="790" dirty="0"/>
          </a:p>
        </p:txBody>
      </p:sp>
      <p:sp>
        <p:nvSpPr>
          <p:cNvPr id="60" name="Text 49"/>
          <p:cNvSpPr/>
          <p:nvPr/>
        </p:nvSpPr>
        <p:spPr>
          <a:xfrm>
            <a:off x="5138291" y="2461915"/>
            <a:ext cx="3690640" cy="353913"/>
          </a:xfrm>
          <a:prstGeom prst="roundRect">
            <a:avLst>
              <a:gd name="adj" fmla="val 13995"/>
            </a:avLst>
          </a:prstGeom>
          <a:solidFill>
            <a:srgbClr val="1A2E42"/>
          </a:solidFill>
          <a:ln w="9525">
            <a:solidFill>
              <a:srgbClr val="E8A020">
                <a:alpha val="1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0"/>
          <p:cNvSpPr/>
          <p:nvPr/>
        </p:nvSpPr>
        <p:spPr>
          <a:xfrm>
            <a:off x="5234136" y="2550021"/>
            <a:ext cx="185291" cy="185291"/>
          </a:xfrm>
          <a:prstGeom prst="roundRect">
            <a:avLst>
              <a:gd name="adj" fmla="val 19191"/>
            </a:avLst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60488" y="2576373"/>
            <a:ext cx="132588" cy="132588"/>
          </a:xfrm>
          <a:prstGeom prst="rect">
            <a:avLst/>
          </a:prstGeom>
        </p:spPr>
      </p:pic>
      <p:sp>
        <p:nvSpPr>
          <p:cNvPr id="63" name="Text 51"/>
          <p:cNvSpPr/>
          <p:nvPr/>
        </p:nvSpPr>
        <p:spPr>
          <a:xfrm>
            <a:off x="5505748" y="2542431"/>
            <a:ext cx="2909143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r>
              <a:rPr lang="en-US" sz="79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have been told to </a:t>
            </a:r>
            <a:r>
              <a:rPr lang="en-US" sz="79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or skip the normal process</a:t>
            </a:r>
            <a:endParaRPr lang="en-US" sz="790" dirty="0"/>
          </a:p>
        </p:txBody>
      </p:sp>
      <p:sp>
        <p:nvSpPr>
          <p:cNvPr id="64" name="Text 52"/>
          <p:cNvSpPr/>
          <p:nvPr/>
        </p:nvSpPr>
        <p:spPr>
          <a:xfrm>
            <a:off x="5138291" y="2902148"/>
            <a:ext cx="3690640" cy="676635"/>
          </a:xfrm>
          <a:prstGeom prst="rect">
            <a:avLst/>
          </a:prstGeom>
          <a:gradFill rotWithShape="1">
            <a:gsLst>
              <a:gs pos="0">
                <a:srgbClr val="1A2E42"/>
              </a:gs>
              <a:gs pos="100000">
                <a:srgbClr val="142236"/>
              </a:gs>
            </a:gsLst>
            <a:lin ang="2700000" scaled="1"/>
          </a:gradFill>
          <a:ln/>
        </p:spPr>
        <p:txBody>
          <a:bodyPr wrap="square" lIns="100330" tIns="71120" rIns="100330" bIns="7112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combination is the </a:t>
            </a: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signature of social engineering</a:t>
            </a:r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regardless of whether it arrives by phone, video, email, or in person.</a:t>
            </a:r>
            <a:br/>
            <a:r>
              <a:rPr lang="en-US" sz="7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script is always the same. </a:t>
            </a:r>
            <a:r>
              <a:rPr lang="en-US" sz="7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 recognise it.</a:t>
            </a:r>
            <a:endParaRPr lang="en-US" sz="700" dirty="0"/>
          </a:p>
        </p:txBody>
      </p:sp>
      <p:sp>
        <p:nvSpPr>
          <p:cNvPr id="65" name="Text 53"/>
          <p:cNvSpPr/>
          <p:nvPr/>
        </p:nvSpPr>
        <p:spPr>
          <a:xfrm>
            <a:off x="5138291" y="2902148"/>
            <a:ext cx="28575" cy="656927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4"/>
          <p:cNvSpPr/>
          <p:nvPr/>
        </p:nvSpPr>
        <p:spPr>
          <a:xfrm>
            <a:off x="5138291" y="3689747"/>
            <a:ext cx="338882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E8A020">
                  <a:alpha val="15000"/>
                </a:srgbClr>
              </a:gs>
              <a:gs pos="100000">
                <a:srgbClr val="E8A02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5"/>
          <p:cNvSpPr/>
          <p:nvPr/>
        </p:nvSpPr>
        <p:spPr>
          <a:xfrm>
            <a:off x="5520333" y="3689747"/>
            <a:ext cx="338882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56"/>
          <p:cNvSpPr/>
          <p:nvPr/>
        </p:nvSpPr>
        <p:spPr>
          <a:xfrm>
            <a:off x="5916364" y="3645396"/>
            <a:ext cx="2347942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20" dirty="0">
                <a:solidFill>
                  <a:srgbClr val="94AFC8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present simultaneously = high-confidence attack</a:t>
            </a:r>
            <a:endParaRPr lang="en-US" sz="620" dirty="0"/>
          </a:p>
        </p:txBody>
      </p:sp>
      <p:sp>
        <p:nvSpPr>
          <p:cNvPr id="69" name="Text 57"/>
          <p:cNvSpPr/>
          <p:nvPr/>
        </p:nvSpPr>
        <p:spPr>
          <a:xfrm>
            <a:off x="8108007" y="3689747"/>
            <a:ext cx="338882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E8A020">
                  <a:alpha val="15000"/>
                </a:srgbClr>
              </a:gs>
              <a:gs pos="100000">
                <a:srgbClr val="E8A02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58"/>
          <p:cNvSpPr/>
          <p:nvPr/>
        </p:nvSpPr>
        <p:spPr>
          <a:xfrm>
            <a:off x="8490049" y="3689747"/>
            <a:ext cx="338882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59"/>
          <p:cNvSpPr/>
          <p:nvPr/>
        </p:nvSpPr>
        <p:spPr>
          <a:xfrm>
            <a:off x="0" y="4928890"/>
            <a:ext cx="9144000" cy="214610"/>
          </a:xfrm>
          <a:prstGeom prst="rect">
            <a:avLst/>
          </a:prstGeom>
          <a:solidFill>
            <a:srgbClr val="07121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0"/>
          <p:cNvSpPr/>
          <p:nvPr/>
        </p:nvSpPr>
        <p:spPr>
          <a:xfrm>
            <a:off x="0" y="4928890"/>
            <a:ext cx="9144000" cy="9525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1"/>
          <p:cNvSpPr/>
          <p:nvPr/>
        </p:nvSpPr>
        <p:spPr>
          <a:xfrm>
            <a:off x="342900" y="4981873"/>
            <a:ext cx="390467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94AFC8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  |  NIST CSF 2.0  |  Controls: PR.AT-1 · DE.AE-1  |  Human Risk Framework</a:t>
            </a:r>
            <a:endParaRPr lang="en-US" sz="620" dirty="0"/>
          </a:p>
        </p:txBody>
      </p:sp>
      <p:sp>
        <p:nvSpPr>
          <p:cNvPr id="74" name="Text 62"/>
          <p:cNvSpPr/>
          <p:nvPr/>
        </p:nvSpPr>
        <p:spPr>
          <a:xfrm>
            <a:off x="6668839" y="4981873"/>
            <a:ext cx="234548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0" dirty="0">
                <a:solidFill>
                  <a:srgbClr val="E8A020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SERIES · SESSION 5 OF 12 · MAY 2026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714750" cy="2715220"/>
          </a:xfrm>
          <a:prstGeom prst="rect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60000">
                <a:srgbClr val="E8A02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0670" y="271760"/>
            <a:ext cx="3148816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11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PROTOCOL · SECURITY AWARENESS 2026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00050" y="432941"/>
            <a:ext cx="892797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0"/>
              </a:lnSpc>
              <a:spcAft>
                <a:spcPts val="280"/>
              </a:spcAft>
              <a:buNone/>
            </a:pPr>
            <a:r>
              <a:rPr lang="en-US" sz="180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Verification Protocol — Your </a:t>
            </a:r>
            <a:r>
              <a:rPr lang="en-US" sz="1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Five-Step Defence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0050" y="731193"/>
            <a:ext cx="9178290" cy="140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6"/>
              </a:lnSpc>
              <a:buNone/>
            </a:pPr>
            <a:r>
              <a:rPr lang="en-US" sz="79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 that stops voice cloning, deepfake video, and AI phishing — every time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400050" y="957560"/>
            <a:ext cx="8343900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40000">
                <a:srgbClr val="E8A020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1057870"/>
            <a:ext cx="1382316" cy="2703016"/>
          </a:xfrm>
          <a:prstGeom prst="roundRect">
            <a:avLst>
              <a:gd name="adj" fmla="val 4134"/>
            </a:avLst>
          </a:prstGeom>
          <a:gradFill rotWithShape="1">
            <a:gsLst>
              <a:gs pos="0">
                <a:srgbClr val="E8A020">
                  <a:alpha val="6000"/>
                </a:srgbClr>
              </a:gs>
              <a:gs pos="55000">
                <a:srgbClr val="1A2E42"/>
              </a:gs>
            </a:gsLst>
            <a:lin ang="4200000" scaled="1"/>
          </a:gradFill>
          <a:ln w="9525">
            <a:solidFill>
              <a:srgbClr val="E8A020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3875" y="1210866"/>
            <a:ext cx="299591" cy="329550"/>
          </a:xfrm>
          <a:prstGeom prst="ellipse">
            <a:avLst/>
          </a:prstGeom>
          <a:solidFill>
            <a:srgbClr val="E8A020"/>
          </a:solidFill>
          <a:ln/>
          <a:effectLst>
            <a:outerShdw blurRad="114300" dist="50800" dir="16200000" algn="bl" rotWithShape="0">
              <a:srgbClr val="E8A02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1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875" y="1581448"/>
            <a:ext cx="150465" cy="15046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23875" y="1789063"/>
            <a:ext cx="12481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523875" y="1971229"/>
            <a:ext cx="1157359" cy="173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you feel urgency about money, data, or access — stop.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act. The urgency </a:t>
            </a:r>
            <a:r>
              <a:rPr lang="en-US" sz="70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attack. A real executive will wait 60 seconds for you to verify. A fraudster cannot afford for you to verify.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is not insubordination — it is your most important security skill.</a:t>
            </a:r>
            <a:endParaRPr lang="en-US" sz="7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95112" y="2450390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40446" y="1057870"/>
            <a:ext cx="1382316" cy="2703016"/>
          </a:xfrm>
          <a:prstGeom prst="roundRect">
            <a:avLst>
              <a:gd name="adj" fmla="val 4134"/>
            </a:avLst>
          </a:prstGeom>
          <a:solidFill>
            <a:srgbClr val="1A2E42"/>
          </a:solidFill>
          <a:ln w="9525">
            <a:solidFill>
              <a:srgbClr val="2A4560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2264271" y="1210866"/>
            <a:ext cx="299591" cy="329550"/>
          </a:xfrm>
          <a:prstGeom prst="ellipse">
            <a:avLst/>
          </a:prstGeom>
          <a:solidFill>
            <a:srgbClr val="1F3650"/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1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64271" y="1581448"/>
            <a:ext cx="150465" cy="15046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64271" y="1789063"/>
            <a:ext cx="12481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730" dirty="0"/>
          </a:p>
        </p:txBody>
      </p:sp>
      <p:sp>
        <p:nvSpPr>
          <p:cNvPr id="20" name="Text 15"/>
          <p:cNvSpPr/>
          <p:nvPr/>
        </p:nvSpPr>
        <p:spPr>
          <a:xfrm>
            <a:off x="2264271" y="1971229"/>
            <a:ext cx="1157359" cy="173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down the phone. Close the email. End the video call if needed.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Create distance between yourself and the pressure source. You cannot think clearly while pressure is being applied.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restores your judgment.</a:t>
            </a:r>
            <a:endParaRPr lang="en-US" sz="70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35508" y="2450390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880842" y="1057870"/>
            <a:ext cx="1382316" cy="2703016"/>
          </a:xfrm>
          <a:prstGeom prst="roundRect">
            <a:avLst>
              <a:gd name="adj" fmla="val 4134"/>
            </a:avLst>
          </a:prstGeom>
          <a:solidFill>
            <a:srgbClr val="1A2E42"/>
          </a:solidFill>
          <a:ln w="9525">
            <a:solidFill>
              <a:srgbClr val="2A4560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004667" y="1210866"/>
            <a:ext cx="299591" cy="329550"/>
          </a:xfrm>
          <a:prstGeom prst="ellipse">
            <a:avLst/>
          </a:prstGeom>
          <a:solidFill>
            <a:srgbClr val="1F3650"/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1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04667" y="1581448"/>
            <a:ext cx="150465" cy="15046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004667" y="1789063"/>
            <a:ext cx="12481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730" dirty="0"/>
          </a:p>
        </p:txBody>
      </p:sp>
      <p:sp>
        <p:nvSpPr>
          <p:cNvPr id="26" name="Text 19"/>
          <p:cNvSpPr/>
          <p:nvPr/>
        </p:nvSpPr>
        <p:spPr>
          <a:xfrm>
            <a:off x="4004667" y="1971229"/>
            <a:ext cx="1157359" cy="173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back using their known, registered contact number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a number provided during the call or in the message. If an email, call the sender directly. If a phone call,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up and dial from your verified directory.</a:t>
            </a:r>
            <a:endParaRPr lang="en-US" sz="7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75904" y="2450390"/>
            <a:ext cx="132588" cy="132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621238" y="1057870"/>
            <a:ext cx="1382316" cy="2703016"/>
          </a:xfrm>
          <a:prstGeom prst="roundRect">
            <a:avLst>
              <a:gd name="adj" fmla="val 4134"/>
            </a:avLst>
          </a:prstGeom>
          <a:solidFill>
            <a:srgbClr val="1A2E42"/>
          </a:solidFill>
          <a:ln w="9525">
            <a:solidFill>
              <a:srgbClr val="2A4560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5745063" y="1210866"/>
            <a:ext cx="299591" cy="329550"/>
          </a:xfrm>
          <a:prstGeom prst="ellipse">
            <a:avLst/>
          </a:prstGeom>
          <a:solidFill>
            <a:srgbClr val="1F3650"/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1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745063" y="1581448"/>
            <a:ext cx="150465" cy="15046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45063" y="1789063"/>
            <a:ext cx="12481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730" dirty="0"/>
          </a:p>
        </p:txBody>
      </p:sp>
      <p:sp>
        <p:nvSpPr>
          <p:cNvPr id="32" name="Text 23"/>
          <p:cNvSpPr/>
          <p:nvPr/>
        </p:nvSpPr>
        <p:spPr>
          <a:xfrm>
            <a:off x="5745063" y="1971229"/>
            <a:ext cx="1157359" cy="173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verification question only the real person would know.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Reference a shared experience, a private detail, or your pre-arranged code word.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legitimate executive is always happy to be verified.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a fraudster will resist.</a:t>
            </a:r>
            <a:endParaRPr lang="en-US" sz="7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16300" y="2450390"/>
            <a:ext cx="132588" cy="13258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7361634" y="1057870"/>
            <a:ext cx="1382316" cy="2703016"/>
          </a:xfrm>
          <a:prstGeom prst="roundRect">
            <a:avLst>
              <a:gd name="adj" fmla="val 4134"/>
            </a:avLst>
          </a:prstGeom>
          <a:solidFill>
            <a:srgbClr val="1A2E42"/>
          </a:solidFill>
          <a:ln w="9525">
            <a:solidFill>
              <a:srgbClr val="2A4560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5"/>
          <p:cNvSpPr/>
          <p:nvPr/>
        </p:nvSpPr>
        <p:spPr>
          <a:xfrm>
            <a:off x="7485459" y="1210866"/>
            <a:ext cx="299591" cy="329550"/>
          </a:xfrm>
          <a:prstGeom prst="ellipse">
            <a:avLst/>
          </a:prstGeom>
          <a:solidFill>
            <a:srgbClr val="1F3650"/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1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1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85459" y="1581448"/>
            <a:ext cx="150465" cy="150465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485459" y="1789063"/>
            <a:ext cx="124813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02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730" dirty="0"/>
          </a:p>
        </p:txBody>
      </p:sp>
      <p:sp>
        <p:nvSpPr>
          <p:cNvPr id="38" name="Text 27"/>
          <p:cNvSpPr/>
          <p:nvPr/>
        </p:nvSpPr>
        <p:spPr>
          <a:xfrm>
            <a:off x="7485459" y="1971229"/>
            <a:ext cx="1157359" cy="173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 — whether real or fraud.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Phishing Report button or the Security Hotline. If it was real, no harm done. If it was fraud,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report may save every colleague who receives the same attack next.</a:t>
            </a:r>
            <a:endParaRPr lang="en-US" sz="700" dirty="0"/>
          </a:p>
        </p:txBody>
      </p:sp>
      <p:sp>
        <p:nvSpPr>
          <p:cNvPr id="39" name="Text 28"/>
          <p:cNvSpPr/>
          <p:nvPr/>
        </p:nvSpPr>
        <p:spPr>
          <a:xfrm>
            <a:off x="0" y="4771430"/>
            <a:ext cx="9144000" cy="37207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C8860E"/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29"/>
          <p:cNvSpPr/>
          <p:nvPr/>
        </p:nvSpPr>
        <p:spPr>
          <a:xfrm>
            <a:off x="580281" y="4877395"/>
            <a:ext cx="797436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</a:t>
            </a:r>
            <a:endParaRPr lang="en-US" sz="840" dirty="0"/>
          </a:p>
        </p:txBody>
      </p:sp>
      <p:sp>
        <p:nvSpPr>
          <p:cNvPr id="41" name="Text 30"/>
          <p:cNvSpPr/>
          <p:nvPr/>
        </p:nvSpPr>
        <p:spPr>
          <a:xfrm>
            <a:off x="1305223" y="4877395"/>
            <a:ext cx="101075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</a:t>
            </a:r>
            <a:endParaRPr lang="en-US" sz="840" dirty="0"/>
          </a:p>
        </p:txBody>
      </p:sp>
      <p:sp>
        <p:nvSpPr>
          <p:cNvPr id="42" name="Text 31"/>
          <p:cNvSpPr/>
          <p:nvPr/>
        </p:nvSpPr>
        <p:spPr>
          <a:xfrm>
            <a:off x="2224088" y="4877395"/>
            <a:ext cx="79252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840" dirty="0"/>
          </a:p>
        </p:txBody>
      </p:sp>
      <p:sp>
        <p:nvSpPr>
          <p:cNvPr id="43" name="Text 32"/>
          <p:cNvSpPr/>
          <p:nvPr/>
        </p:nvSpPr>
        <p:spPr>
          <a:xfrm>
            <a:off x="2944564" y="4877395"/>
            <a:ext cx="94363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840" dirty="0"/>
          </a:p>
        </p:txBody>
      </p:sp>
      <p:sp>
        <p:nvSpPr>
          <p:cNvPr id="44" name="Text 33"/>
          <p:cNvSpPr/>
          <p:nvPr/>
        </p:nvSpPr>
        <p:spPr>
          <a:xfrm>
            <a:off x="3802410" y="4877395"/>
            <a:ext cx="85096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40" dirty="0"/>
          </a:p>
        </p:txBody>
      </p:sp>
      <p:sp>
        <p:nvSpPr>
          <p:cNvPr id="45" name="Text 34"/>
          <p:cNvSpPr/>
          <p:nvPr/>
        </p:nvSpPr>
        <p:spPr>
          <a:xfrm>
            <a:off x="4747468" y="4890790"/>
            <a:ext cx="4197876" cy="1332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i="1" dirty="0">
                <a:solidFill>
                  <a:srgbClr val="0D1B2A">
                    <a:alpha val="65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sequence is your shield — use it every time, no matter who appears to be asking</a:t>
            </a:r>
            <a:endParaRPr lang="en-US" sz="700" dirty="0"/>
          </a:p>
        </p:txBody>
      </p:sp>
      <p:sp>
        <p:nvSpPr>
          <p:cNvPr id="46" name="Text 35"/>
          <p:cNvSpPr/>
          <p:nvPr/>
        </p:nvSpPr>
        <p:spPr>
          <a:xfrm>
            <a:off x="400050" y="323850"/>
            <a:ext cx="143470" cy="13841"/>
          </a:xfrm>
          <a:prstGeom prst="roundRect">
            <a:avLst>
              <a:gd name="adj" fmla="val 100932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070" y="157460"/>
            <a:ext cx="8987850" cy="236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9"/>
              </a:lnSpc>
              <a:spcAft>
                <a:spcPts val="170"/>
              </a:spcAft>
              <a:buNone/>
            </a:pPr>
            <a:r>
              <a:rPr lang="en-US" sz="169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Role-Based Guidance — </a:t>
            </a:r>
            <a:r>
              <a:rPr lang="en-US" sz="1690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You Should Do</a:t>
            </a:r>
            <a:endParaRPr lang="en-US" sz="1690" dirty="0"/>
          </a:p>
        </p:txBody>
      </p:sp>
      <p:sp>
        <p:nvSpPr>
          <p:cNvPr id="3" name="Text 1"/>
          <p:cNvSpPr/>
          <p:nvPr/>
        </p:nvSpPr>
        <p:spPr>
          <a:xfrm>
            <a:off x="372070" y="415082"/>
            <a:ext cx="923984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attacks are tailored to your role. Your defences should be too.</a:t>
            </a:r>
            <a:endParaRPr lang="en-US" sz="840" dirty="0"/>
          </a:p>
        </p:txBody>
      </p:sp>
      <p:sp>
        <p:nvSpPr>
          <p:cNvPr id="4" name="Text 2"/>
          <p:cNvSpPr/>
          <p:nvPr/>
        </p:nvSpPr>
        <p:spPr>
          <a:xfrm>
            <a:off x="372070" y="632222"/>
            <a:ext cx="372070" cy="21580"/>
          </a:xfrm>
          <a:prstGeom prst="roundRect">
            <a:avLst>
              <a:gd name="adj" fmla="val 64736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754112"/>
            <a:ext cx="2024658" cy="2661196"/>
          </a:xfrm>
          <a:prstGeom prst="roundRect">
            <a:avLst>
              <a:gd name="adj" fmla="val 3513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595" y="1299270"/>
            <a:ext cx="200560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5895" y="90323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402" y="979744"/>
            <a:ext cx="132588" cy="1325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0375" y="863947"/>
            <a:ext cx="922184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spcAft>
                <a:spcPts val="60"/>
              </a:spcAft>
              <a:buNone/>
            </a:pPr>
            <a:r>
              <a:rPr lang="en-US" sz="56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#1</a:t>
            </a:r>
            <a:endParaRPr lang="en-US" sz="560" dirty="0"/>
          </a:p>
        </p:txBody>
      </p:sp>
      <p:sp>
        <p:nvSpPr>
          <p:cNvPr id="10" name="Text 7"/>
          <p:cNvSpPr/>
          <p:nvPr/>
        </p:nvSpPr>
        <p:spPr>
          <a:xfrm>
            <a:off x="860375" y="978247"/>
            <a:ext cx="855116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Executives &amp;</a:t>
            </a:r>
            <a:br/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Senior Managers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481905" y="1379786"/>
            <a:ext cx="1804988" cy="599682"/>
          </a:xfrm>
          <a:prstGeom prst="rect">
            <a:avLst/>
          </a:prstGeom>
          <a:solidFill>
            <a:srgbClr val="E8A020">
              <a:alpha val="8000"/>
            </a:srgbClr>
          </a:solidFill>
          <a:ln/>
        </p:spPr>
        <p:txBody>
          <a:bodyPr wrap="square" lIns="71120" tIns="49530" rIns="71120" bIns="4953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r>
              <a:rPr lang="en-US" sz="68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face are public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will be weaponised without your knowledge. You are the number one impersonation target.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481905" y="1379786"/>
            <a:ext cx="19050" cy="582216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81905" y="2019151"/>
            <a:ext cx="1985486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spcAft>
                <a:spcPts val="170"/>
              </a:spcAft>
              <a:buNone/>
            </a:pPr>
            <a:r>
              <a:rPr lang="en-US" sz="53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ACTIONS</a:t>
            </a:r>
            <a:endParaRPr lang="en-US" sz="530" dirty="0"/>
          </a:p>
        </p:txBody>
      </p:sp>
      <p:sp>
        <p:nvSpPr>
          <p:cNvPr id="14" name="Text 11"/>
          <p:cNvSpPr/>
          <p:nvPr/>
        </p:nvSpPr>
        <p:spPr>
          <a:xfrm>
            <a:off x="481905" y="2184648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15" name="Text 12"/>
          <p:cNvSpPr/>
          <p:nvPr/>
        </p:nvSpPr>
        <p:spPr>
          <a:xfrm>
            <a:off x="659457" y="2177058"/>
            <a:ext cx="165998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 personal verification code word with your EA and direct team this week.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481905" y="2577257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17" name="Text 14"/>
          <p:cNvSpPr/>
          <p:nvPr/>
        </p:nvSpPr>
        <p:spPr>
          <a:xfrm>
            <a:off x="659457" y="2569666"/>
            <a:ext cx="165998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 brief video message confirming you will never request urgent financial actions through unofficial channels.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481905" y="2969865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19" name="Text 16"/>
          <p:cNvSpPr/>
          <p:nvPr/>
        </p:nvSpPr>
        <p:spPr>
          <a:xfrm>
            <a:off x="659457" y="2962275"/>
            <a:ext cx="165998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any unexpected contact demanding urgency or secrecy as a red flag — regardless of how it arrives.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2497038" y="754112"/>
            <a:ext cx="2024807" cy="2661196"/>
          </a:xfrm>
          <a:prstGeom prst="roundRect">
            <a:avLst>
              <a:gd name="adj" fmla="val 3512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2506563" y="1299270"/>
            <a:ext cx="2005757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2620863" y="90323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7370" y="979744"/>
            <a:ext cx="132588" cy="13258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985343" y="863947"/>
            <a:ext cx="1194926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spcAft>
                <a:spcPts val="60"/>
              </a:spcAft>
              <a:buNone/>
            </a:pPr>
            <a:r>
              <a:rPr lang="en-US" sz="56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MONEY TARGET</a:t>
            </a:r>
            <a:endParaRPr lang="en-US" sz="560" dirty="0"/>
          </a:p>
        </p:txBody>
      </p:sp>
      <p:sp>
        <p:nvSpPr>
          <p:cNvPr id="25" name="Text 21"/>
          <p:cNvSpPr/>
          <p:nvPr/>
        </p:nvSpPr>
        <p:spPr>
          <a:xfrm>
            <a:off x="2985343" y="978247"/>
            <a:ext cx="1108022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Finance &amp;</a:t>
            </a:r>
            <a:br/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Operations Staff</a:t>
            </a:r>
            <a:endParaRPr lang="en-US" sz="820" dirty="0"/>
          </a:p>
        </p:txBody>
      </p:sp>
      <p:sp>
        <p:nvSpPr>
          <p:cNvPr id="26" name="Text 22"/>
          <p:cNvSpPr/>
          <p:nvPr/>
        </p:nvSpPr>
        <p:spPr>
          <a:xfrm>
            <a:off x="2606873" y="1379786"/>
            <a:ext cx="1805136" cy="475208"/>
          </a:xfrm>
          <a:prstGeom prst="rect">
            <a:avLst/>
          </a:prstGeom>
          <a:solidFill>
            <a:srgbClr val="E8A020">
              <a:alpha val="8000"/>
            </a:srgbClr>
          </a:solidFill>
          <a:ln/>
        </p:spPr>
        <p:txBody>
          <a:bodyPr wrap="none" lIns="71120" tIns="49530" rIns="71120" bIns="4953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</a:t>
            </a:r>
            <a:r>
              <a:rPr lang="en-US" sz="68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money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that makes you invaluable to fraudsters. Primary target of voice clone and deepfake attacks.</a:t>
            </a:r>
            <a:endParaRPr lang="en-US" sz="680" dirty="0"/>
          </a:p>
        </p:txBody>
      </p:sp>
      <p:sp>
        <p:nvSpPr>
          <p:cNvPr id="27" name="Text 23"/>
          <p:cNvSpPr/>
          <p:nvPr/>
        </p:nvSpPr>
        <p:spPr>
          <a:xfrm>
            <a:off x="2606873" y="1379786"/>
            <a:ext cx="19050" cy="461367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2606873" y="1898303"/>
            <a:ext cx="198565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spcAft>
                <a:spcPts val="170"/>
              </a:spcAft>
              <a:buNone/>
            </a:pPr>
            <a:r>
              <a:rPr lang="en-US" sz="53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ACTIONS</a:t>
            </a:r>
            <a:endParaRPr lang="en-US" sz="530" dirty="0"/>
          </a:p>
        </p:txBody>
      </p:sp>
      <p:sp>
        <p:nvSpPr>
          <p:cNvPr id="29" name="Text 25"/>
          <p:cNvSpPr/>
          <p:nvPr/>
        </p:nvSpPr>
        <p:spPr>
          <a:xfrm>
            <a:off x="2606873" y="2063800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30" name="Text 26"/>
          <p:cNvSpPr/>
          <p:nvPr/>
        </p:nvSpPr>
        <p:spPr>
          <a:xfrm>
            <a:off x="2784425" y="2056209"/>
            <a:ext cx="166013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dual authorisation for all wire transfers above your threshold — no exceptions, even for executives.</a:t>
            </a:r>
            <a:endParaRPr lang="en-US" sz="680" dirty="0"/>
          </a:p>
        </p:txBody>
      </p:sp>
      <p:sp>
        <p:nvSpPr>
          <p:cNvPr id="31" name="Text 27"/>
          <p:cNvSpPr/>
          <p:nvPr/>
        </p:nvSpPr>
        <p:spPr>
          <a:xfrm>
            <a:off x="2606873" y="2456408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32" name="Text 28"/>
          <p:cNvSpPr/>
          <p:nvPr/>
        </p:nvSpPr>
        <p:spPr>
          <a:xfrm>
            <a:off x="2784425" y="2448818"/>
            <a:ext cx="166013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back on registered numbers before processing any unexpected payment instruction.</a:t>
            </a:r>
            <a:endParaRPr lang="en-US" sz="680" dirty="0"/>
          </a:p>
        </p:txBody>
      </p:sp>
      <p:sp>
        <p:nvSpPr>
          <p:cNvPr id="33" name="Text 29"/>
          <p:cNvSpPr/>
          <p:nvPr/>
        </p:nvSpPr>
        <p:spPr>
          <a:xfrm>
            <a:off x="2606873" y="2849017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34" name="Text 30"/>
          <p:cNvSpPr/>
          <p:nvPr/>
        </p:nvSpPr>
        <p:spPr>
          <a:xfrm>
            <a:off x="2784425" y="2841427"/>
            <a:ext cx="166013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any call that pressures you to bypass normal approval processes — immediately.</a:t>
            </a:r>
            <a:endParaRPr lang="en-US" sz="680" dirty="0"/>
          </a:p>
        </p:txBody>
      </p:sp>
      <p:sp>
        <p:nvSpPr>
          <p:cNvPr id="35" name="Text 31"/>
          <p:cNvSpPr/>
          <p:nvPr/>
        </p:nvSpPr>
        <p:spPr>
          <a:xfrm>
            <a:off x="4622155" y="754112"/>
            <a:ext cx="2024658" cy="2661196"/>
          </a:xfrm>
          <a:prstGeom prst="roundRect">
            <a:avLst>
              <a:gd name="adj" fmla="val 3513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4631680" y="1299270"/>
            <a:ext cx="2005608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4745980" y="90323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487" y="979744"/>
            <a:ext cx="132588" cy="132588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5110460" y="863947"/>
            <a:ext cx="108393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spcAft>
                <a:spcPts val="60"/>
              </a:spcAft>
              <a:buNone/>
            </a:pPr>
            <a:r>
              <a:rPr lang="en-US" sz="56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FRAUD BARRIER</a:t>
            </a:r>
            <a:endParaRPr lang="en-US" sz="560" dirty="0"/>
          </a:p>
        </p:txBody>
      </p:sp>
      <p:sp>
        <p:nvSpPr>
          <p:cNvPr id="40" name="Text 35"/>
          <p:cNvSpPr/>
          <p:nvPr/>
        </p:nvSpPr>
        <p:spPr>
          <a:xfrm>
            <a:off x="5110460" y="978247"/>
            <a:ext cx="1005099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Customer-Facing</a:t>
            </a:r>
            <a:br/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</a:t>
            </a:r>
            <a:endParaRPr lang="en-US" sz="820" dirty="0"/>
          </a:p>
        </p:txBody>
      </p:sp>
      <p:sp>
        <p:nvSpPr>
          <p:cNvPr id="41" name="Text 36"/>
          <p:cNvSpPr/>
          <p:nvPr/>
        </p:nvSpPr>
        <p:spPr>
          <a:xfrm>
            <a:off x="4731990" y="1379786"/>
            <a:ext cx="1804988" cy="599682"/>
          </a:xfrm>
          <a:prstGeom prst="rect">
            <a:avLst/>
          </a:prstGeom>
          <a:solidFill>
            <a:srgbClr val="E8A020">
              <a:alpha val="8000"/>
            </a:srgbClr>
          </a:solidFill>
          <a:ln/>
        </p:spPr>
        <p:txBody>
          <a:bodyPr wrap="square" lIns="71120" tIns="49530" rIns="71120" bIns="4953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interact with </a:t>
            </a:r>
            <a:r>
              <a:rPr lang="en-US" sz="68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identities that may be fabricated by AI.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verification procedures are the institution's first fraud barrier.</a:t>
            </a:r>
            <a:endParaRPr lang="en-US" sz="680" dirty="0"/>
          </a:p>
        </p:txBody>
      </p:sp>
      <p:sp>
        <p:nvSpPr>
          <p:cNvPr id="42" name="Text 37"/>
          <p:cNvSpPr/>
          <p:nvPr/>
        </p:nvSpPr>
        <p:spPr>
          <a:xfrm>
            <a:off x="4731990" y="1379786"/>
            <a:ext cx="19050" cy="582216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4731990" y="2019151"/>
            <a:ext cx="1985486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spcAft>
                <a:spcPts val="170"/>
              </a:spcAft>
              <a:buNone/>
            </a:pPr>
            <a:r>
              <a:rPr lang="en-US" sz="53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ACTIONS</a:t>
            </a:r>
            <a:endParaRPr lang="en-US" sz="530" dirty="0"/>
          </a:p>
        </p:txBody>
      </p:sp>
      <p:sp>
        <p:nvSpPr>
          <p:cNvPr id="44" name="Text 39"/>
          <p:cNvSpPr/>
          <p:nvPr/>
        </p:nvSpPr>
        <p:spPr>
          <a:xfrm>
            <a:off x="4731990" y="2184648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45" name="Text 40"/>
          <p:cNvSpPr/>
          <p:nvPr/>
        </p:nvSpPr>
        <p:spPr>
          <a:xfrm>
            <a:off x="4909542" y="2177058"/>
            <a:ext cx="165998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your instincts and escalate any interaction that feels inconsistent — even if you cannot explain exactly why.</a:t>
            </a:r>
            <a:endParaRPr lang="en-US" sz="680" dirty="0"/>
          </a:p>
        </p:txBody>
      </p:sp>
      <p:sp>
        <p:nvSpPr>
          <p:cNvPr id="46" name="Text 41"/>
          <p:cNvSpPr/>
          <p:nvPr/>
        </p:nvSpPr>
        <p:spPr>
          <a:xfrm>
            <a:off x="4731990" y="2577257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47" name="Text 42"/>
          <p:cNvSpPr/>
          <p:nvPr/>
        </p:nvSpPr>
        <p:spPr>
          <a:xfrm>
            <a:off x="4909542" y="2569666"/>
            <a:ext cx="165998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enhanced verification for high-value or unusual transactions — no urgency exceptions.</a:t>
            </a:r>
            <a:endParaRPr lang="en-US" sz="680" dirty="0"/>
          </a:p>
        </p:txBody>
      </p:sp>
      <p:sp>
        <p:nvSpPr>
          <p:cNvPr id="48" name="Text 43"/>
          <p:cNvSpPr/>
          <p:nvPr/>
        </p:nvSpPr>
        <p:spPr>
          <a:xfrm>
            <a:off x="4731990" y="2969865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49" name="Text 44"/>
          <p:cNvSpPr/>
          <p:nvPr/>
        </p:nvSpPr>
        <p:spPr>
          <a:xfrm>
            <a:off x="4909542" y="2962275"/>
            <a:ext cx="1659984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and report suspicious identity verification attempts to your fraud team every time.</a:t>
            </a:r>
            <a:endParaRPr lang="en-US" sz="680" dirty="0"/>
          </a:p>
        </p:txBody>
      </p:sp>
      <p:sp>
        <p:nvSpPr>
          <p:cNvPr id="50" name="Text 45"/>
          <p:cNvSpPr/>
          <p:nvPr/>
        </p:nvSpPr>
        <p:spPr>
          <a:xfrm>
            <a:off x="6747123" y="754112"/>
            <a:ext cx="2024807" cy="2661196"/>
          </a:xfrm>
          <a:prstGeom prst="roundRect">
            <a:avLst>
              <a:gd name="adj" fmla="val 3512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6"/>
          <p:cNvSpPr/>
          <p:nvPr/>
        </p:nvSpPr>
        <p:spPr>
          <a:xfrm>
            <a:off x="6756648" y="1299270"/>
            <a:ext cx="2005757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7"/>
          <p:cNvSpPr/>
          <p:nvPr/>
        </p:nvSpPr>
        <p:spPr>
          <a:xfrm>
            <a:off x="6870948" y="903238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7455" y="979744"/>
            <a:ext cx="132588" cy="132588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235428" y="863947"/>
            <a:ext cx="86112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spcAft>
                <a:spcPts val="60"/>
              </a:spcAft>
              <a:buNone/>
            </a:pPr>
            <a:r>
              <a:rPr lang="en-US" sz="56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TARGET</a:t>
            </a:r>
            <a:endParaRPr lang="en-US" sz="560" dirty="0"/>
          </a:p>
        </p:txBody>
      </p:sp>
      <p:sp>
        <p:nvSpPr>
          <p:cNvPr id="55" name="Text 49"/>
          <p:cNvSpPr/>
          <p:nvPr/>
        </p:nvSpPr>
        <p:spPr>
          <a:xfrm>
            <a:off x="7235428" y="978247"/>
            <a:ext cx="798493" cy="262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Other</a:t>
            </a:r>
            <a:br/>
            <a:r>
              <a:rPr lang="en-US" sz="8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Staff</a:t>
            </a:r>
            <a:endParaRPr lang="en-US" sz="820" dirty="0"/>
          </a:p>
        </p:txBody>
      </p:sp>
      <p:sp>
        <p:nvSpPr>
          <p:cNvPr id="56" name="Text 50"/>
          <p:cNvSpPr/>
          <p:nvPr/>
        </p:nvSpPr>
        <p:spPr>
          <a:xfrm>
            <a:off x="6856958" y="1379786"/>
            <a:ext cx="1805136" cy="475208"/>
          </a:xfrm>
          <a:prstGeom prst="rect">
            <a:avLst/>
          </a:prstGeom>
          <a:solidFill>
            <a:srgbClr val="E8A020">
              <a:alpha val="8000"/>
            </a:srgbClr>
          </a:solidFill>
          <a:ln/>
        </p:spPr>
        <p:txBody>
          <a:bodyPr wrap="none" lIns="71120" tIns="49530" rIns="71120" bIns="49530" rtlCol="0" anchor="t"/>
          <a:lstStyle/>
          <a:p>
            <a:pPr marL="0" indent="0" algn="l">
              <a:buNone/>
            </a:pP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</a:t>
            </a:r>
            <a:r>
              <a:rPr lang="en-US" sz="680" b="1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and workstation</a:t>
            </a:r>
            <a:r>
              <a:rPr lang="en-US" sz="68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are a doorway attackers want to open. Every account has value to a fraudster.</a:t>
            </a:r>
            <a:endParaRPr lang="en-US" sz="680" dirty="0"/>
          </a:p>
        </p:txBody>
      </p:sp>
      <p:sp>
        <p:nvSpPr>
          <p:cNvPr id="57" name="Text 51"/>
          <p:cNvSpPr/>
          <p:nvPr/>
        </p:nvSpPr>
        <p:spPr>
          <a:xfrm>
            <a:off x="6856958" y="1379786"/>
            <a:ext cx="19050" cy="461367"/>
          </a:xfrm>
          <a:prstGeom prst="rect">
            <a:avLst/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6856958" y="1898303"/>
            <a:ext cx="1985650" cy="1009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95"/>
              </a:lnSpc>
              <a:spcAft>
                <a:spcPts val="170"/>
              </a:spcAft>
              <a:buNone/>
            </a:pPr>
            <a:r>
              <a:rPr lang="en-US" sz="530" b="1" kern="0" spc="7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THREE ACTIONS</a:t>
            </a:r>
            <a:endParaRPr lang="en-US" sz="530" dirty="0"/>
          </a:p>
        </p:txBody>
      </p:sp>
      <p:sp>
        <p:nvSpPr>
          <p:cNvPr id="59" name="Text 53"/>
          <p:cNvSpPr/>
          <p:nvPr/>
        </p:nvSpPr>
        <p:spPr>
          <a:xfrm>
            <a:off x="6856958" y="2063800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60" dirty="0"/>
          </a:p>
        </p:txBody>
      </p:sp>
      <p:sp>
        <p:nvSpPr>
          <p:cNvPr id="60" name="Text 54"/>
          <p:cNvSpPr/>
          <p:nvPr/>
        </p:nvSpPr>
        <p:spPr>
          <a:xfrm>
            <a:off x="7034510" y="2056209"/>
            <a:ext cx="166013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clicking any link or attachment in any unexpected email — even from known senders.</a:t>
            </a:r>
            <a:endParaRPr lang="en-US" sz="680" dirty="0"/>
          </a:p>
        </p:txBody>
      </p:sp>
      <p:sp>
        <p:nvSpPr>
          <p:cNvPr id="61" name="Text 55"/>
          <p:cNvSpPr/>
          <p:nvPr/>
        </p:nvSpPr>
        <p:spPr>
          <a:xfrm>
            <a:off x="6856958" y="2456408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" dirty="0"/>
          </a:p>
        </p:txBody>
      </p:sp>
      <p:sp>
        <p:nvSpPr>
          <p:cNvPr id="62" name="Text 56"/>
          <p:cNvSpPr/>
          <p:nvPr/>
        </p:nvSpPr>
        <p:spPr>
          <a:xfrm>
            <a:off x="7034510" y="2448818"/>
            <a:ext cx="1660136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Phishing Report button on every suspicious email — every single time, no exceptions.</a:t>
            </a:r>
            <a:endParaRPr lang="en-US" sz="680" dirty="0"/>
          </a:p>
        </p:txBody>
      </p:sp>
      <p:sp>
        <p:nvSpPr>
          <p:cNvPr id="63" name="Text 57"/>
          <p:cNvSpPr/>
          <p:nvPr/>
        </p:nvSpPr>
        <p:spPr>
          <a:xfrm>
            <a:off x="6856958" y="2849017"/>
            <a:ext cx="128141" cy="140955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56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" dirty="0"/>
          </a:p>
        </p:txBody>
      </p:sp>
      <p:sp>
        <p:nvSpPr>
          <p:cNvPr id="64" name="Text 58"/>
          <p:cNvSpPr/>
          <p:nvPr/>
        </p:nvSpPr>
        <p:spPr>
          <a:xfrm>
            <a:off x="7034510" y="2841427"/>
            <a:ext cx="166013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938"/>
              </a:lnSpc>
              <a:buNone/>
            </a:pPr>
            <a:r>
              <a:rPr lang="en-US" sz="68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enter credentials on any page you reached by clicking a link in an email.</a:t>
            </a:r>
            <a:endParaRPr lang="en-US" sz="680" dirty="0"/>
          </a:p>
        </p:txBody>
      </p:sp>
      <p:sp>
        <p:nvSpPr>
          <p:cNvPr id="65" name="Text 59"/>
          <p:cNvSpPr/>
          <p:nvPr/>
        </p:nvSpPr>
        <p:spPr>
          <a:xfrm>
            <a:off x="372070" y="3486299"/>
            <a:ext cx="8399859" cy="253305"/>
          </a:xfrm>
          <a:prstGeom prst="roundRect">
            <a:avLst>
              <a:gd name="adj" fmla="val 17047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780" y="3546658"/>
            <a:ext cx="132588" cy="132588"/>
          </a:xfrm>
          <a:prstGeom prst="rect">
            <a:avLst/>
          </a:prstGeom>
        </p:spPr>
      </p:pic>
      <p:sp>
        <p:nvSpPr>
          <p:cNvPr id="67" name="Text 60"/>
          <p:cNvSpPr/>
          <p:nvPr/>
        </p:nvSpPr>
        <p:spPr>
          <a:xfrm>
            <a:off x="672257" y="3543449"/>
            <a:ext cx="493719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is a target. Every employee is a security control. Know your threats — own your actions.</a:t>
            </a:r>
            <a:endParaRPr lang="en-US" sz="730" dirty="0"/>
          </a:p>
        </p:txBody>
      </p:sp>
      <p:pic>
        <p:nvPicPr>
          <p:cNvPr id="6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26481" y="3546583"/>
            <a:ext cx="132588" cy="132588"/>
          </a:xfrm>
          <a:prstGeom prst="rect">
            <a:avLst/>
          </a:prstGeom>
        </p:spPr>
      </p:pic>
      <p:sp>
        <p:nvSpPr>
          <p:cNvPr id="69" name="Text 61"/>
          <p:cNvSpPr/>
          <p:nvPr/>
        </p:nvSpPr>
        <p:spPr>
          <a:xfrm>
            <a:off x="6019056" y="3548211"/>
            <a:ext cx="288720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Risk Framework | CRI Profile v2.2 | NIST CSF 2.0 PR.AT-1</a:t>
            </a:r>
            <a:endParaRPr lang="en-US" sz="680" dirty="0"/>
          </a:p>
        </p:txBody>
      </p:sp>
      <p:sp>
        <p:nvSpPr>
          <p:cNvPr id="70" name="Text 62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40000">
                <a:srgbClr val="C47A10"/>
              </a:gs>
              <a:gs pos="100000">
                <a:srgbClr val="1A2E42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3"/>
          <p:cNvSpPr/>
          <p:nvPr/>
        </p:nvSpPr>
        <p:spPr>
          <a:xfrm>
            <a:off x="381595" y="763637"/>
            <a:ext cx="2005603" cy="21580"/>
          </a:xfrm>
          <a:custGeom>
            <a:avLst/>
            <a:gdLst/>
            <a:ahLst/>
            <a:cxnLst/>
            <a:rect l="l" t="t" r="r" b="b"/>
            <a:pathLst>
              <a:path w="2005603" h="21580">
                <a:moveTo>
                  <a:pt x="71120" y="0"/>
                </a:moveTo>
                <a:lnTo>
                  <a:pt x="1934483" y="0"/>
                </a:lnTo>
                <a:lnTo>
                  <a:pt x="1953884" y="2698"/>
                </a:lnTo>
                <a:lnTo>
                  <a:pt x="1961654" y="5395"/>
                </a:lnTo>
                <a:lnTo>
                  <a:pt x="1967431" y="8093"/>
                </a:lnTo>
                <a:lnTo>
                  <a:pt x="1972144" y="10790"/>
                </a:lnTo>
                <a:lnTo>
                  <a:pt x="1976155" y="13488"/>
                </a:lnTo>
                <a:lnTo>
                  <a:pt x="1979652" y="16185"/>
                </a:lnTo>
                <a:lnTo>
                  <a:pt x="1982746" y="18883"/>
                </a:lnTo>
                <a:lnTo>
                  <a:pt x="1985511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4"/>
          <p:cNvSpPr/>
          <p:nvPr/>
        </p:nvSpPr>
        <p:spPr>
          <a:xfrm>
            <a:off x="2506563" y="763637"/>
            <a:ext cx="2005755" cy="21580"/>
          </a:xfrm>
          <a:custGeom>
            <a:avLst/>
            <a:gdLst/>
            <a:ahLst/>
            <a:cxnLst/>
            <a:rect l="l" t="t" r="r" b="b"/>
            <a:pathLst>
              <a:path w="2005755" h="21580">
                <a:moveTo>
                  <a:pt x="71120" y="0"/>
                </a:moveTo>
                <a:lnTo>
                  <a:pt x="1934635" y="0"/>
                </a:lnTo>
                <a:lnTo>
                  <a:pt x="1954037" y="2698"/>
                </a:lnTo>
                <a:lnTo>
                  <a:pt x="1961807" y="5395"/>
                </a:lnTo>
                <a:lnTo>
                  <a:pt x="1967584" y="8093"/>
                </a:lnTo>
                <a:lnTo>
                  <a:pt x="1972296" y="10790"/>
                </a:lnTo>
                <a:lnTo>
                  <a:pt x="1976307" y="13488"/>
                </a:lnTo>
                <a:lnTo>
                  <a:pt x="1979804" y="16185"/>
                </a:lnTo>
                <a:lnTo>
                  <a:pt x="1982898" y="18883"/>
                </a:lnTo>
                <a:lnTo>
                  <a:pt x="1985663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65"/>
          <p:cNvSpPr/>
          <p:nvPr/>
        </p:nvSpPr>
        <p:spPr>
          <a:xfrm>
            <a:off x="4631680" y="763637"/>
            <a:ext cx="2005603" cy="21580"/>
          </a:xfrm>
          <a:custGeom>
            <a:avLst/>
            <a:gdLst/>
            <a:ahLst/>
            <a:cxnLst/>
            <a:rect l="l" t="t" r="r" b="b"/>
            <a:pathLst>
              <a:path w="2005603" h="21580">
                <a:moveTo>
                  <a:pt x="71120" y="0"/>
                </a:moveTo>
                <a:lnTo>
                  <a:pt x="1934483" y="0"/>
                </a:lnTo>
                <a:lnTo>
                  <a:pt x="1953884" y="2698"/>
                </a:lnTo>
                <a:lnTo>
                  <a:pt x="1961654" y="5395"/>
                </a:lnTo>
                <a:lnTo>
                  <a:pt x="1967431" y="8093"/>
                </a:lnTo>
                <a:lnTo>
                  <a:pt x="1972144" y="10790"/>
                </a:lnTo>
                <a:lnTo>
                  <a:pt x="1976155" y="13488"/>
                </a:lnTo>
                <a:lnTo>
                  <a:pt x="1979652" y="16185"/>
                </a:lnTo>
                <a:lnTo>
                  <a:pt x="1982746" y="18883"/>
                </a:lnTo>
                <a:lnTo>
                  <a:pt x="1985511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66"/>
          <p:cNvSpPr/>
          <p:nvPr/>
        </p:nvSpPr>
        <p:spPr>
          <a:xfrm>
            <a:off x="6756648" y="763637"/>
            <a:ext cx="2005755" cy="21580"/>
          </a:xfrm>
          <a:custGeom>
            <a:avLst/>
            <a:gdLst/>
            <a:ahLst/>
            <a:cxnLst/>
            <a:rect l="l" t="t" r="r" b="b"/>
            <a:pathLst>
              <a:path w="2005755" h="21580">
                <a:moveTo>
                  <a:pt x="71120" y="0"/>
                </a:moveTo>
                <a:lnTo>
                  <a:pt x="1934635" y="0"/>
                </a:lnTo>
                <a:lnTo>
                  <a:pt x="1954037" y="2698"/>
                </a:lnTo>
                <a:lnTo>
                  <a:pt x="1961807" y="5395"/>
                </a:lnTo>
                <a:lnTo>
                  <a:pt x="1967584" y="8093"/>
                </a:lnTo>
                <a:lnTo>
                  <a:pt x="1972296" y="10790"/>
                </a:lnTo>
                <a:lnTo>
                  <a:pt x="1976307" y="13488"/>
                </a:lnTo>
                <a:lnTo>
                  <a:pt x="1979804" y="16185"/>
                </a:lnTo>
                <a:lnTo>
                  <a:pt x="1982898" y="18883"/>
                </a:lnTo>
                <a:lnTo>
                  <a:pt x="1985663" y="21580"/>
                </a:lnTo>
                <a:lnTo>
                  <a:pt x="20092" y="21580"/>
                </a:lnTo>
                <a:lnTo>
                  <a:pt x="22857" y="18883"/>
                </a:lnTo>
                <a:lnTo>
                  <a:pt x="25951" y="16185"/>
                </a:lnTo>
                <a:lnTo>
                  <a:pt x="29448" y="13488"/>
                </a:lnTo>
                <a:lnTo>
                  <a:pt x="33459" y="10790"/>
                </a:lnTo>
                <a:lnTo>
                  <a:pt x="38172" y="8093"/>
                </a:lnTo>
                <a:lnTo>
                  <a:pt x="43949" y="5395"/>
                </a:lnTo>
                <a:lnTo>
                  <a:pt x="51719" y="2698"/>
                </a:lnTo>
                <a:close/>
              </a:path>
            </a:pathLst>
          </a:custGeom>
          <a:solidFill>
            <a:srgbClr val="E8A020">
              <a:alpha val="8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869454"/>
            <a:ext cx="8343900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60000">
                <a:srgbClr val="E8A02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3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3429000" cy="2143716"/>
          </a:xfrm>
          <a:prstGeom prst="rect">
            <a:avLst/>
          </a:prstGeom>
          <a:gradFill rotWithShape="1">
            <a:gsLst>
              <a:gs pos="0">
                <a:srgbClr val="E8A020">
                  <a:alpha val="8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00000" t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00050" y="200620"/>
            <a:ext cx="727448" cy="149870"/>
          </a:xfrm>
          <a:prstGeom prst="roundRect">
            <a:avLst>
              <a:gd name="adj" fmla="val 95757"/>
            </a:avLst>
          </a:prstGeom>
          <a:solidFill>
            <a:srgbClr val="E8A020"/>
          </a:solidFill>
          <a:ln/>
        </p:spPr>
        <p:txBody>
          <a:bodyPr wrap="none" lIns="71120" tIns="21590" rIns="71120" bIns="21590" rtlCol="0" anchor="t"/>
          <a:lstStyle/>
          <a:p>
            <a:pPr marL="0" indent="0" algn="l">
              <a:buNone/>
            </a:pPr>
            <a:r>
              <a:rPr lang="en-US" sz="560" b="1" kern="0" spc="67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STEP</a:t>
            </a:r>
            <a:endParaRPr lang="en-US" sz="560" dirty="0"/>
          </a:p>
        </p:txBody>
      </p:sp>
      <p:sp>
        <p:nvSpPr>
          <p:cNvPr id="7" name="Text 5"/>
          <p:cNvSpPr/>
          <p:nvPr/>
        </p:nvSpPr>
        <p:spPr>
          <a:xfrm>
            <a:off x="1184225" y="216545"/>
            <a:ext cx="263083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Technology Required  ·  Zero Cost  ·  Proven in the Field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400050" y="379661"/>
            <a:ext cx="8927973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spcAft>
                <a:spcPts val="170"/>
              </a:spcAft>
              <a:buNone/>
            </a:pPr>
            <a:r>
              <a:rPr lang="en-US" sz="1690" kern="0" spc="-17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Establish Your </a:t>
            </a:r>
            <a:r>
              <a:rPr lang="en-US" sz="1690" b="1" kern="0" spc="-17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Word Programme</a:t>
            </a:r>
            <a:r>
              <a:rPr lang="en-US" sz="1690" kern="0" spc="-17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Today</a:t>
            </a:r>
            <a:endParaRPr lang="en-US" sz="1690" dirty="0"/>
          </a:p>
        </p:txBody>
      </p:sp>
      <p:sp>
        <p:nvSpPr>
          <p:cNvPr id="9" name="Text 7"/>
          <p:cNvSpPr/>
          <p:nvPr/>
        </p:nvSpPr>
        <p:spPr>
          <a:xfrm>
            <a:off x="400050" y="647998"/>
            <a:ext cx="9178290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kern="0" spc="8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and most effective deepfake defence — requires zero technology and zero cost</a:t>
            </a:r>
            <a:endParaRPr lang="en-US" sz="790" dirty="0"/>
          </a:p>
        </p:txBody>
      </p:sp>
      <p:sp>
        <p:nvSpPr>
          <p:cNvPr id="10" name="Text 8"/>
          <p:cNvSpPr/>
          <p:nvPr/>
        </p:nvSpPr>
        <p:spPr>
          <a:xfrm>
            <a:off x="4567238" y="977354"/>
            <a:ext cx="9525" cy="3723084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2358" y="986879"/>
            <a:ext cx="2968243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30" b="1" kern="0" spc="73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AND HOW FERRARI PROVED IT WORKS</a:t>
            </a:r>
            <a:endParaRPr lang="en-US" sz="73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1335" y="980489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287911" y="1042988"/>
            <a:ext cx="1078706" cy="7590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00050" y="1230511"/>
            <a:ext cx="3966567" cy="833914"/>
          </a:xfrm>
          <a:prstGeom prst="roundRect">
            <a:avLst>
              <a:gd name="adj" fmla="val 6853"/>
            </a:avLst>
          </a:prstGeom>
          <a:solidFill>
            <a:srgbClr val="122233"/>
          </a:solidFill>
          <a:ln w="9525">
            <a:solidFill>
              <a:srgbClr val="94AFC8">
                <a:alpha val="10000"/>
              </a:srgbClr>
            </a:solidFill>
          </a:ln>
        </p:spPr>
        <p:txBody>
          <a:bodyPr wrap="square" lIns="114300" tIns="86360" rIns="114300" bIns="86360" rtlCol="0" anchor="t"/>
          <a:lstStyle/>
          <a:p>
            <a:pPr marL="0" indent="0" algn="l">
              <a:buNone/>
            </a:pP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 word programme is a </a:t>
            </a: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pre-arranged personal verification system</a:t>
            </a:r>
            <a:r>
              <a:rPr lang="en-US" sz="76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you and your key colleagues and direct leadership. Before any deepfake attack can happen, you privately agree on a word, phrase, or personal question that </a:t>
            </a: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real person would know.</a:t>
            </a:r>
            <a:endParaRPr lang="en-US" sz="760" dirty="0"/>
          </a:p>
        </p:txBody>
      </p:sp>
      <p:sp>
        <p:nvSpPr>
          <p:cNvPr id="15" name="Text 12"/>
          <p:cNvSpPr/>
          <p:nvPr/>
        </p:nvSpPr>
        <p:spPr>
          <a:xfrm>
            <a:off x="400050" y="2111127"/>
            <a:ext cx="3966567" cy="952351"/>
          </a:xfrm>
          <a:prstGeom prst="roundRect">
            <a:avLst>
              <a:gd name="adj" fmla="val 600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00050" y="2111127"/>
            <a:ext cx="19050" cy="952351"/>
          </a:xfrm>
          <a:custGeom>
            <a:avLst/>
            <a:gdLst/>
            <a:ahLst/>
            <a:cxnLst/>
            <a:rect l="l" t="t" r="r" b="b"/>
            <a:pathLst>
              <a:path w="19050" h="952351">
                <a:moveTo>
                  <a:pt x="0" y="57150"/>
                </a:moveTo>
                <a:lnTo>
                  <a:pt x="2381" y="40825"/>
                </a:lnTo>
                <a:lnTo>
                  <a:pt x="4763" y="34310"/>
                </a:lnTo>
                <a:lnTo>
                  <a:pt x="7144" y="29482"/>
                </a:lnTo>
                <a:lnTo>
                  <a:pt x="9525" y="25559"/>
                </a:lnTo>
                <a:lnTo>
                  <a:pt x="11906" y="22234"/>
                </a:lnTo>
                <a:lnTo>
                  <a:pt x="14288" y="19349"/>
                </a:lnTo>
                <a:lnTo>
                  <a:pt x="16669" y="16809"/>
                </a:lnTo>
                <a:lnTo>
                  <a:pt x="19050" y="14553"/>
                </a:lnTo>
                <a:lnTo>
                  <a:pt x="19050" y="937798"/>
                </a:lnTo>
                <a:lnTo>
                  <a:pt x="16669" y="935542"/>
                </a:lnTo>
                <a:lnTo>
                  <a:pt x="14288" y="933002"/>
                </a:lnTo>
                <a:lnTo>
                  <a:pt x="11906" y="930117"/>
                </a:lnTo>
                <a:lnTo>
                  <a:pt x="9525" y="926792"/>
                </a:lnTo>
                <a:lnTo>
                  <a:pt x="7144" y="922869"/>
                </a:lnTo>
                <a:lnTo>
                  <a:pt x="4763" y="918041"/>
                </a:lnTo>
                <a:lnTo>
                  <a:pt x="2381" y="911526"/>
                </a:lnTo>
                <a:lnTo>
                  <a:pt x="0" y="895201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533400" y="2237929"/>
            <a:ext cx="57150" cy="57150"/>
          </a:xfrm>
          <a:prstGeom prst="ellipse">
            <a:avLst/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33400" y="2363093"/>
            <a:ext cx="3783580" cy="628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Ferrari executives received a highly convincing </a:t>
            </a:r>
            <a:r>
              <a:rPr lang="en-US" sz="76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clone of their CEO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making an urgent financial request — the accent was replicated with notable accuracy. The receiving executive was suspicious of the urgency. He asked one </a:t>
            </a:r>
            <a:r>
              <a:rPr lang="en-US" sz="7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personal question</a:t>
            </a:r>
            <a:r>
              <a:rPr lang="en-US" sz="76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attacker could not answer. The call ended. The fraud collapsed.</a:t>
            </a:r>
            <a:endParaRPr lang="en-US" sz="760" dirty="0"/>
          </a:p>
        </p:txBody>
      </p:sp>
      <p:sp>
        <p:nvSpPr>
          <p:cNvPr id="19" name="Text 16"/>
          <p:cNvSpPr/>
          <p:nvPr/>
        </p:nvSpPr>
        <p:spPr>
          <a:xfrm>
            <a:off x="400050" y="3134469"/>
            <a:ext cx="3966567" cy="634008"/>
          </a:xfrm>
          <a:prstGeom prst="roundRect">
            <a:avLst>
              <a:gd name="adj" fmla="val 9014"/>
            </a:avLst>
          </a:prstGeom>
          <a:gradFill rotWithShape="1">
            <a:gsLst>
              <a:gs pos="0">
                <a:srgbClr val="E8A020">
                  <a:alpha val="18000"/>
                </a:srgbClr>
              </a:gs>
              <a:gs pos="100000">
                <a:srgbClr val="E8A020">
                  <a:alpha val="6000"/>
                </a:srgbClr>
              </a:gs>
            </a:gsLst>
            <a:lin ang="2700000" scaled="1"/>
          </a:gradFill>
          <a:ln w="9525">
            <a:solidFill>
              <a:srgbClr val="E8A020">
                <a:alpha val="3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23875" y="3308598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£0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956072" y="3294013"/>
            <a:ext cx="7590" cy="314920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1077962" y="3230314"/>
            <a:ext cx="3228127" cy="4644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9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loss. Not from technology. Not from AI detection tools.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one personal question that the AI could not answer. The same principle can protect your team today.</a:t>
            </a:r>
            <a:endParaRPr lang="en-US" sz="730" dirty="0"/>
          </a:p>
        </p:txBody>
      </p:sp>
      <p:sp>
        <p:nvSpPr>
          <p:cNvPr id="23" name="Text 20"/>
          <p:cNvSpPr/>
          <p:nvPr/>
        </p:nvSpPr>
        <p:spPr>
          <a:xfrm>
            <a:off x="4909691" y="986879"/>
            <a:ext cx="2089279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30" b="1" kern="0" spc="73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SET YOURS UP THIS WEEK</a:t>
            </a:r>
            <a:endParaRPr lang="en-US" sz="73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8668" y="980489"/>
            <a:ext cx="132588" cy="132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866186" y="1042988"/>
            <a:ext cx="1877764" cy="7590"/>
          </a:xfrm>
          <a:prstGeom prst="rect">
            <a:avLst/>
          </a:prstGeom>
          <a:solidFill>
            <a:srgbClr val="E8A02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4777383" y="1230511"/>
            <a:ext cx="3966567" cy="934492"/>
          </a:xfrm>
          <a:prstGeom prst="roundRect">
            <a:avLst>
              <a:gd name="adj" fmla="val 6116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4901208" y="1332607"/>
            <a:ext cx="314920" cy="314920"/>
          </a:xfrm>
          <a:prstGeom prst="roundRect">
            <a:avLst>
              <a:gd name="adj" fmla="val 18147"/>
            </a:avLst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2374" y="1377041"/>
            <a:ext cx="132588" cy="132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921002" y="1498997"/>
            <a:ext cx="302702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b="1" kern="0" spc="36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450" dirty="0"/>
          </a:p>
        </p:txBody>
      </p:sp>
      <p:sp>
        <p:nvSpPr>
          <p:cNvPr id="30" name="Text 25"/>
          <p:cNvSpPr/>
          <p:nvPr/>
        </p:nvSpPr>
        <p:spPr>
          <a:xfrm>
            <a:off x="5316438" y="1332607"/>
            <a:ext cx="363405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16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Select Your Private Phrase</a:t>
            </a:r>
            <a:endParaRPr lang="en-US" sz="790" dirty="0"/>
          </a:p>
        </p:txBody>
      </p:sp>
      <p:sp>
        <p:nvSpPr>
          <p:cNvPr id="31" name="Text 26"/>
          <p:cNvSpPr/>
          <p:nvPr/>
        </p:nvSpPr>
        <p:spPr>
          <a:xfrm>
            <a:off x="5316438" y="1512243"/>
            <a:ext cx="3369760" cy="578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meaningful phrase or personal question with each direct report and your manager. It must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 guessable from public sources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your birthday, not your pet's name from LinkedIn, not anything a stranger with internet access could find.</a:t>
            </a:r>
            <a:endParaRPr lang="en-US" sz="700" dirty="0"/>
          </a:p>
        </p:txBody>
      </p:sp>
      <p:sp>
        <p:nvSpPr>
          <p:cNvPr id="32" name="Text 27"/>
          <p:cNvSpPr/>
          <p:nvPr/>
        </p:nvSpPr>
        <p:spPr>
          <a:xfrm>
            <a:off x="4777383" y="2235994"/>
            <a:ext cx="3966567" cy="796826"/>
          </a:xfrm>
          <a:prstGeom prst="roundRect">
            <a:avLst>
              <a:gd name="adj" fmla="val 7172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4901208" y="2338090"/>
            <a:ext cx="314920" cy="314920"/>
          </a:xfrm>
          <a:prstGeom prst="roundRect">
            <a:avLst>
              <a:gd name="adj" fmla="val 18147"/>
            </a:avLst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92374" y="2382524"/>
            <a:ext cx="132588" cy="13258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4906119" y="2504480"/>
            <a:ext cx="33560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b="1" kern="0" spc="36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</a:t>
            </a:r>
            <a:endParaRPr lang="en-US" sz="450" dirty="0"/>
          </a:p>
        </p:txBody>
      </p:sp>
      <p:sp>
        <p:nvSpPr>
          <p:cNvPr id="36" name="Text 30"/>
          <p:cNvSpPr/>
          <p:nvPr/>
        </p:nvSpPr>
        <p:spPr>
          <a:xfrm>
            <a:off x="5316438" y="2338090"/>
            <a:ext cx="363405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16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— Never Write It Down Digitally</a:t>
            </a:r>
            <a:endParaRPr lang="en-US" sz="790" dirty="0"/>
          </a:p>
        </p:txBody>
      </p:sp>
      <p:sp>
        <p:nvSpPr>
          <p:cNvPr id="37" name="Text 31"/>
          <p:cNvSpPr/>
          <p:nvPr/>
        </p:nvSpPr>
        <p:spPr>
          <a:xfrm>
            <a:off x="5316438" y="2517725"/>
            <a:ext cx="3369760" cy="43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record the code word in email, chat, or any digital system.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it in person or by a trusted phone call to a known number.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only works if the attacker does not have it — secrecy is the entire mechanism.</a:t>
            </a:r>
            <a:endParaRPr lang="en-US" sz="700" dirty="0"/>
          </a:p>
        </p:txBody>
      </p:sp>
      <p:sp>
        <p:nvSpPr>
          <p:cNvPr id="38" name="Text 32"/>
          <p:cNvSpPr/>
          <p:nvPr/>
        </p:nvSpPr>
        <p:spPr>
          <a:xfrm>
            <a:off x="4777383" y="3103811"/>
            <a:ext cx="3966567" cy="796826"/>
          </a:xfrm>
          <a:prstGeom prst="roundRect">
            <a:avLst>
              <a:gd name="adj" fmla="val 7172"/>
            </a:avLst>
          </a:prstGeom>
          <a:solidFill>
            <a:srgbClr val="1A2E42"/>
          </a:solidFill>
          <a:ln w="9525">
            <a:solidFill>
              <a:srgbClr val="94AFC8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901208" y="3205907"/>
            <a:ext cx="314920" cy="314920"/>
          </a:xfrm>
          <a:prstGeom prst="roundRect">
            <a:avLst>
              <a:gd name="adj" fmla="val 18147"/>
            </a:avLst>
          </a:prstGeom>
          <a:solidFill>
            <a:srgbClr val="E8A02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92374" y="3250341"/>
            <a:ext cx="132588" cy="132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4952851" y="3372296"/>
            <a:ext cx="232797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5"/>
              </a:lnSpc>
              <a:buNone/>
            </a:pPr>
            <a:r>
              <a:rPr lang="en-US" sz="450" b="1" kern="0" spc="36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450" dirty="0"/>
          </a:p>
        </p:txBody>
      </p:sp>
      <p:sp>
        <p:nvSpPr>
          <p:cNvPr id="42" name="Text 35"/>
          <p:cNvSpPr/>
          <p:nvPr/>
        </p:nvSpPr>
        <p:spPr>
          <a:xfrm>
            <a:off x="5316438" y="3205907"/>
            <a:ext cx="3634055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kern="0" spc="16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— Ask It Every Time</a:t>
            </a:r>
            <a:endParaRPr lang="en-US" sz="790" dirty="0"/>
          </a:p>
        </p:txBody>
      </p:sp>
      <p:sp>
        <p:nvSpPr>
          <p:cNvPr id="43" name="Text 36"/>
          <p:cNvSpPr/>
          <p:nvPr/>
        </p:nvSpPr>
        <p:spPr>
          <a:xfrm>
            <a:off x="5316438" y="3385542"/>
            <a:ext cx="3369760" cy="433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085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unexpected request for financial action, data access, or process bypass — </a:t>
            </a:r>
            <a:r>
              <a:rPr lang="en-US" sz="7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code word before proceeding.</a:t>
            </a: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explain what you are doing. Do not apologise. Just ask. A real person will always answer.</a:t>
            </a:r>
            <a:endParaRPr lang="en-US" sz="700" dirty="0"/>
          </a:p>
        </p:txBody>
      </p:sp>
      <p:sp>
        <p:nvSpPr>
          <p:cNvPr id="44" name="Text 37"/>
          <p:cNvSpPr/>
          <p:nvPr/>
        </p:nvSpPr>
        <p:spPr>
          <a:xfrm>
            <a:off x="400050" y="4771430"/>
            <a:ext cx="8343900" cy="271760"/>
          </a:xfrm>
          <a:prstGeom prst="roundRect">
            <a:avLst>
              <a:gd name="adj" fmla="val 15889"/>
            </a:avLst>
          </a:prstGeom>
          <a:gradFill rotWithShape="1">
            <a:gsLst>
              <a:gs pos="0">
                <a:srgbClr val="E8A020"/>
              </a:gs>
              <a:gs pos="100000">
                <a:srgbClr val="C8860E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9007" y="4840941"/>
            <a:ext cx="132588" cy="132588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79413" y="4842421"/>
            <a:ext cx="8209121" cy="1297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2"/>
              </a:lnSpc>
              <a:buNone/>
            </a:pPr>
            <a:r>
              <a:rPr lang="en-US" sz="73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costs nothing. Requires no technology. Needs no approval process. And it has already stopped a real attack at a real company.  Set yours up with your team this week.</a:t>
            </a:r>
            <a:endParaRPr lang="en-US" sz="7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85000" t="50000" r="15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E64B4">
                  <a:alpha val="6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15000" t="50000" r="85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71690" y="1308348"/>
            <a:ext cx="200620" cy="220682"/>
          </a:xfrm>
          <a:prstGeom prst="ellipse">
            <a:avLst/>
          </a:prstGeom>
          <a:solidFill>
            <a:srgbClr val="1A2E42"/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20" dirty="0"/>
          </a:p>
        </p:txBody>
      </p:sp>
      <p:sp>
        <p:nvSpPr>
          <p:cNvPr id="5" name="Text 3"/>
          <p:cNvSpPr/>
          <p:nvPr/>
        </p:nvSpPr>
        <p:spPr>
          <a:xfrm>
            <a:off x="4471690" y="2632025"/>
            <a:ext cx="200620" cy="220682"/>
          </a:xfrm>
          <a:prstGeom prst="ellipse">
            <a:avLst/>
          </a:prstGeom>
          <a:solidFill>
            <a:srgbClr val="1A2E42"/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4471690" y="3955852"/>
            <a:ext cx="200620" cy="220682"/>
          </a:xfrm>
          <a:prstGeom prst="ellipse">
            <a:avLst/>
          </a:prstGeom>
          <a:solidFill>
            <a:srgbClr val="1A2E42"/>
          </a:solidFill>
          <a:ln w="9525">
            <a:solidFill>
              <a:srgbClr val="E8A020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00050" y="157460"/>
            <a:ext cx="717913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17"/>
              </a:lnSpc>
              <a:spcAft>
                <a:spcPts val="230"/>
              </a:spcAft>
              <a:buNone/>
            </a:pPr>
            <a:r>
              <a:rPr lang="en-US" sz="1580" kern="0" spc="-2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Happens When You Report — </a:t>
            </a:r>
            <a:r>
              <a:rPr lang="en-US" sz="1580" b="1" kern="0" spc="-20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Your Impact</a:t>
            </a:r>
            <a:endParaRPr lang="en-US" sz="1580" dirty="0"/>
          </a:p>
        </p:txBody>
      </p:sp>
      <p:sp>
        <p:nvSpPr>
          <p:cNvPr id="8" name="Text 6"/>
          <p:cNvSpPr/>
          <p:nvPr/>
        </p:nvSpPr>
        <p:spPr>
          <a:xfrm>
            <a:off x="400050" y="417314"/>
            <a:ext cx="738041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i="1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report you make protects the entire institution — here is exactly how</a:t>
            </a:r>
            <a:endParaRPr lang="en-US" sz="790" dirty="0"/>
          </a:p>
        </p:txBody>
      </p:sp>
      <p:sp>
        <p:nvSpPr>
          <p:cNvPr id="9" name="Text 7"/>
          <p:cNvSpPr/>
          <p:nvPr/>
        </p:nvSpPr>
        <p:spPr>
          <a:xfrm>
            <a:off x="7109520" y="171301"/>
            <a:ext cx="1667119" cy="234851"/>
          </a:xfrm>
          <a:prstGeom prst="roundRect">
            <a:avLst>
              <a:gd name="adj" fmla="val 18386"/>
            </a:avLst>
          </a:prstGeom>
          <a:solidFill>
            <a:srgbClr val="E8A020">
              <a:alpha val="12000"/>
            </a:srgbClr>
          </a:solidFill>
          <a:ln w="9525">
            <a:solidFill>
              <a:srgbClr val="E8A020">
                <a:alpha val="40000"/>
              </a:srgbClr>
            </a:solidFill>
          </a:ln>
        </p:spPr>
        <p:txBody>
          <a:bodyPr wrap="none" lIns="218668" tIns="43180" rIns="100330" bIns="43180" rtlCol="0" anchor="ctr"/>
          <a:lstStyle/>
          <a:p>
            <a:pPr marL="0" indent="0" algn="l">
              <a:buNone/>
            </a:pPr>
            <a:r>
              <a:rPr lang="en-US" sz="680" b="1" kern="0" spc="3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 PROTECT. REPEAT.</a:t>
            </a:r>
            <a:endParaRPr lang="en-US" sz="68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90640" y="222358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2479" y="938808"/>
            <a:ext cx="3785741" cy="699939"/>
          </a:xfrm>
          <a:prstGeom prst="roundRect">
            <a:avLst>
              <a:gd name="adj" fmla="val 1016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42479" y="938808"/>
            <a:ext cx="19050" cy="699939"/>
          </a:xfrm>
          <a:custGeom>
            <a:avLst/>
            <a:gdLst/>
            <a:ahLst/>
            <a:cxnLst/>
            <a:rect l="l" t="t" r="r" b="b"/>
            <a:pathLst>
              <a:path w="19050" h="699939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677262"/>
                </a:lnTo>
                <a:lnTo>
                  <a:pt x="16669" y="674569"/>
                </a:lnTo>
                <a:lnTo>
                  <a:pt x="14288" y="671575"/>
                </a:lnTo>
                <a:lnTo>
                  <a:pt x="11906" y="668211"/>
                </a:lnTo>
                <a:lnTo>
                  <a:pt x="9525" y="664373"/>
                </a:lnTo>
                <a:lnTo>
                  <a:pt x="7144" y="659885"/>
                </a:lnTo>
                <a:lnTo>
                  <a:pt x="4763" y="654406"/>
                </a:lnTo>
                <a:lnTo>
                  <a:pt x="2381" y="647068"/>
                </a:lnTo>
                <a:lnTo>
                  <a:pt x="0" y="628819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318695" y="1281782"/>
            <a:ext cx="86320" cy="13841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1839" y="101932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355" y="1081841"/>
            <a:ext cx="132588" cy="1325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98339" y="1019324"/>
            <a:ext cx="354205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560" dirty="0"/>
          </a:p>
        </p:txBody>
      </p:sp>
      <p:sp>
        <p:nvSpPr>
          <p:cNvPr id="17" name="Text 13"/>
          <p:cNvSpPr/>
          <p:nvPr/>
        </p:nvSpPr>
        <p:spPr>
          <a:xfrm>
            <a:off x="998339" y="1139875"/>
            <a:ext cx="354205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spcAft>
                <a:spcPts val="17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Report</a:t>
            </a:r>
            <a:endParaRPr lang="en-US" sz="840" dirty="0"/>
          </a:p>
        </p:txBody>
      </p:sp>
      <p:sp>
        <p:nvSpPr>
          <p:cNvPr id="18" name="Text 14"/>
          <p:cNvSpPr/>
          <p:nvPr/>
        </p:nvSpPr>
        <p:spPr>
          <a:xfrm>
            <a:off x="998339" y="1289447"/>
            <a:ext cx="3284446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click the Phishing Report button on a suspicious email or call the Security Hotline. It takes 30 seconds. It feels like a small action. </a:t>
            </a: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not.</a:t>
            </a:r>
            <a:endParaRPr lang="en-US" sz="730" dirty="0"/>
          </a:p>
        </p:txBody>
      </p:sp>
      <p:sp>
        <p:nvSpPr>
          <p:cNvPr id="19" name="Text 15"/>
          <p:cNvSpPr/>
          <p:nvPr/>
        </p:nvSpPr>
        <p:spPr>
          <a:xfrm>
            <a:off x="4565005" y="638770"/>
            <a:ext cx="13841" cy="3986659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8000">
                <a:srgbClr val="E8A020">
                  <a:alpha val="40000"/>
                </a:srgbClr>
              </a:gs>
              <a:gs pos="88000">
                <a:srgbClr val="E8A020">
                  <a:alpha val="40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815780" y="938808"/>
            <a:ext cx="3785741" cy="699939"/>
          </a:xfrm>
          <a:prstGeom prst="roundRect">
            <a:avLst>
              <a:gd name="adj" fmla="val 10161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8582471" y="938808"/>
            <a:ext cx="19050" cy="699939"/>
          </a:xfrm>
          <a:custGeom>
            <a:avLst/>
            <a:gdLst/>
            <a:ahLst/>
            <a:cxnLst/>
            <a:rect l="l" t="t" r="r" b="b"/>
            <a:pathLst>
              <a:path w="19050" h="699939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628819"/>
                </a:lnTo>
                <a:lnTo>
                  <a:pt x="16669" y="647068"/>
                </a:lnTo>
                <a:lnTo>
                  <a:pt x="14288" y="654406"/>
                </a:lnTo>
                <a:lnTo>
                  <a:pt x="11906" y="659885"/>
                </a:lnTo>
                <a:lnTo>
                  <a:pt x="9525" y="664373"/>
                </a:lnTo>
                <a:lnTo>
                  <a:pt x="7144" y="668211"/>
                </a:lnTo>
                <a:lnTo>
                  <a:pt x="4763" y="671575"/>
                </a:lnTo>
                <a:lnTo>
                  <a:pt x="2381" y="674569"/>
                </a:lnTo>
                <a:lnTo>
                  <a:pt x="0" y="677262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4738985" y="1281782"/>
            <a:ext cx="86320" cy="13841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9"/>
          <p:cNvSpPr/>
          <p:nvPr/>
        </p:nvSpPr>
        <p:spPr>
          <a:xfrm>
            <a:off x="4925616" y="1019324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8132" y="1081841"/>
            <a:ext cx="132588" cy="1325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62116" y="1019324"/>
            <a:ext cx="354205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560" dirty="0"/>
          </a:p>
        </p:txBody>
      </p:sp>
      <p:sp>
        <p:nvSpPr>
          <p:cNvPr id="26" name="Text 21"/>
          <p:cNvSpPr/>
          <p:nvPr/>
        </p:nvSpPr>
        <p:spPr>
          <a:xfrm>
            <a:off x="5262116" y="1139875"/>
            <a:ext cx="354205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spcAft>
                <a:spcPts val="17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Team Investigates</a:t>
            </a:r>
            <a:endParaRPr lang="en-US" sz="840" dirty="0"/>
          </a:p>
        </p:txBody>
      </p:sp>
      <p:sp>
        <p:nvSpPr>
          <p:cNvPr id="27" name="Text 22"/>
          <p:cNvSpPr/>
          <p:nvPr/>
        </p:nvSpPr>
        <p:spPr>
          <a:xfrm>
            <a:off x="5262116" y="1289447"/>
            <a:ext cx="3284446" cy="282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Security Team analyses the report within one hour — identifying patterns, technical indicators, and whether other staff have received the same attack.</a:t>
            </a:r>
            <a:endParaRPr lang="en-US" sz="730" dirty="0"/>
          </a:p>
        </p:txBody>
      </p:sp>
      <p:sp>
        <p:nvSpPr>
          <p:cNvPr id="28" name="Text 23"/>
          <p:cNvSpPr/>
          <p:nvPr/>
        </p:nvSpPr>
        <p:spPr>
          <a:xfrm>
            <a:off x="542479" y="2214860"/>
            <a:ext cx="3785741" cy="834330"/>
          </a:xfrm>
          <a:prstGeom prst="roundRect">
            <a:avLst>
              <a:gd name="adj" fmla="val 8524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542479" y="2214860"/>
            <a:ext cx="19050" cy="834330"/>
          </a:xfrm>
          <a:custGeom>
            <a:avLst/>
            <a:gdLst/>
            <a:ahLst/>
            <a:cxnLst/>
            <a:rect l="l" t="t" r="r" b="b"/>
            <a:pathLst>
              <a:path w="19050" h="834330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811654"/>
                </a:lnTo>
                <a:lnTo>
                  <a:pt x="16669" y="808961"/>
                </a:lnTo>
                <a:lnTo>
                  <a:pt x="14288" y="805967"/>
                </a:lnTo>
                <a:lnTo>
                  <a:pt x="11906" y="802603"/>
                </a:lnTo>
                <a:lnTo>
                  <a:pt x="9525" y="798765"/>
                </a:lnTo>
                <a:lnTo>
                  <a:pt x="7144" y="794276"/>
                </a:lnTo>
                <a:lnTo>
                  <a:pt x="4763" y="788798"/>
                </a:lnTo>
                <a:lnTo>
                  <a:pt x="2381" y="781460"/>
                </a:lnTo>
                <a:lnTo>
                  <a:pt x="0" y="763210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4318695" y="2625105"/>
            <a:ext cx="86320" cy="13841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661839" y="229537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4355" y="2357893"/>
            <a:ext cx="132588" cy="13258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98339" y="2295376"/>
            <a:ext cx="354205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560" dirty="0"/>
          </a:p>
        </p:txBody>
      </p:sp>
      <p:sp>
        <p:nvSpPr>
          <p:cNvPr id="34" name="Text 28"/>
          <p:cNvSpPr/>
          <p:nvPr/>
        </p:nvSpPr>
        <p:spPr>
          <a:xfrm>
            <a:off x="998339" y="2415927"/>
            <a:ext cx="354205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spcAft>
                <a:spcPts val="17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 Warning Issued</a:t>
            </a:r>
            <a:endParaRPr lang="en-US" sz="840" dirty="0"/>
          </a:p>
        </p:txBody>
      </p:sp>
      <p:sp>
        <p:nvSpPr>
          <p:cNvPr id="35" name="Text 29"/>
          <p:cNvSpPr/>
          <p:nvPr/>
        </p:nvSpPr>
        <p:spPr>
          <a:xfrm>
            <a:off x="998339" y="2565499"/>
            <a:ext cx="3284446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confirmed as an active attack, a real-time alert is sent to all staff. Your single report becomes a warning that </a:t>
            </a: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every colleague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who might receive the same message next.</a:t>
            </a:r>
            <a:endParaRPr lang="en-US" sz="730" dirty="0"/>
          </a:p>
        </p:txBody>
      </p:sp>
      <p:sp>
        <p:nvSpPr>
          <p:cNvPr id="36" name="Text 30"/>
          <p:cNvSpPr/>
          <p:nvPr/>
        </p:nvSpPr>
        <p:spPr>
          <a:xfrm>
            <a:off x="4815780" y="2214860"/>
            <a:ext cx="3785741" cy="834330"/>
          </a:xfrm>
          <a:prstGeom prst="roundRect">
            <a:avLst>
              <a:gd name="adj" fmla="val 8524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1"/>
          <p:cNvSpPr/>
          <p:nvPr/>
        </p:nvSpPr>
        <p:spPr>
          <a:xfrm>
            <a:off x="8582471" y="2214860"/>
            <a:ext cx="19050" cy="834330"/>
          </a:xfrm>
          <a:custGeom>
            <a:avLst/>
            <a:gdLst/>
            <a:ahLst/>
            <a:cxnLst/>
            <a:rect l="l" t="t" r="r" b="b"/>
            <a:pathLst>
              <a:path w="19050" h="834330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763210"/>
                </a:lnTo>
                <a:lnTo>
                  <a:pt x="16669" y="781460"/>
                </a:lnTo>
                <a:lnTo>
                  <a:pt x="14288" y="788798"/>
                </a:lnTo>
                <a:lnTo>
                  <a:pt x="11906" y="794276"/>
                </a:lnTo>
                <a:lnTo>
                  <a:pt x="9525" y="798765"/>
                </a:lnTo>
                <a:lnTo>
                  <a:pt x="7144" y="802603"/>
                </a:lnTo>
                <a:lnTo>
                  <a:pt x="4763" y="805967"/>
                </a:lnTo>
                <a:lnTo>
                  <a:pt x="2381" y="808961"/>
                </a:lnTo>
                <a:lnTo>
                  <a:pt x="0" y="811654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2"/>
          <p:cNvSpPr/>
          <p:nvPr/>
        </p:nvSpPr>
        <p:spPr>
          <a:xfrm>
            <a:off x="4738985" y="2625105"/>
            <a:ext cx="86320" cy="13841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925616" y="2295376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88132" y="2357893"/>
            <a:ext cx="132588" cy="13258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5262116" y="2295376"/>
            <a:ext cx="354205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560" dirty="0"/>
          </a:p>
        </p:txBody>
      </p:sp>
      <p:sp>
        <p:nvSpPr>
          <p:cNvPr id="42" name="Text 35"/>
          <p:cNvSpPr/>
          <p:nvPr/>
        </p:nvSpPr>
        <p:spPr>
          <a:xfrm>
            <a:off x="5262116" y="2415927"/>
            <a:ext cx="354205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spcAft>
                <a:spcPts val="17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Defences Activated</a:t>
            </a:r>
            <a:endParaRPr lang="en-US" sz="840" dirty="0"/>
          </a:p>
        </p:txBody>
      </p:sp>
      <p:sp>
        <p:nvSpPr>
          <p:cNvPr id="43" name="Text 36"/>
          <p:cNvSpPr/>
          <p:nvPr/>
        </p:nvSpPr>
        <p:spPr>
          <a:xfrm>
            <a:off x="5262116" y="2565499"/>
            <a:ext cx="3284446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controls are updated, the malicious sender is blocked, and law enforcement and regulators are notified where applicable. The attack chain is </a:t>
            </a: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disrupted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730" dirty="0"/>
          </a:p>
        </p:txBody>
      </p:sp>
      <p:sp>
        <p:nvSpPr>
          <p:cNvPr id="44" name="Text 37"/>
          <p:cNvSpPr/>
          <p:nvPr/>
        </p:nvSpPr>
        <p:spPr>
          <a:xfrm>
            <a:off x="542479" y="3558183"/>
            <a:ext cx="3785741" cy="834330"/>
          </a:xfrm>
          <a:prstGeom prst="roundRect">
            <a:avLst>
              <a:gd name="adj" fmla="val 8524"/>
            </a:avLst>
          </a:prstGeom>
          <a:solidFill>
            <a:srgbClr val="1A2E42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38"/>
          <p:cNvSpPr/>
          <p:nvPr/>
        </p:nvSpPr>
        <p:spPr>
          <a:xfrm>
            <a:off x="542479" y="3558183"/>
            <a:ext cx="19050" cy="834330"/>
          </a:xfrm>
          <a:custGeom>
            <a:avLst/>
            <a:gdLst/>
            <a:ahLst/>
            <a:cxnLst/>
            <a:rect l="l" t="t" r="r" b="b"/>
            <a:pathLst>
              <a:path w="19050" h="834330">
                <a:moveTo>
                  <a:pt x="0" y="71120"/>
                </a:moveTo>
                <a:lnTo>
                  <a:pt x="2381" y="52871"/>
                </a:lnTo>
                <a:lnTo>
                  <a:pt x="4763" y="45532"/>
                </a:lnTo>
                <a:lnTo>
                  <a:pt x="7144" y="40054"/>
                </a:lnTo>
                <a:lnTo>
                  <a:pt x="9525" y="35566"/>
                </a:lnTo>
                <a:lnTo>
                  <a:pt x="11906" y="31727"/>
                </a:lnTo>
                <a:lnTo>
                  <a:pt x="14288" y="28363"/>
                </a:lnTo>
                <a:lnTo>
                  <a:pt x="16669" y="25369"/>
                </a:lnTo>
                <a:lnTo>
                  <a:pt x="19050" y="22677"/>
                </a:lnTo>
                <a:lnTo>
                  <a:pt x="19050" y="811654"/>
                </a:lnTo>
                <a:lnTo>
                  <a:pt x="16669" y="808961"/>
                </a:lnTo>
                <a:lnTo>
                  <a:pt x="14288" y="805967"/>
                </a:lnTo>
                <a:lnTo>
                  <a:pt x="11906" y="802603"/>
                </a:lnTo>
                <a:lnTo>
                  <a:pt x="9525" y="798765"/>
                </a:lnTo>
                <a:lnTo>
                  <a:pt x="7144" y="794276"/>
                </a:lnTo>
                <a:lnTo>
                  <a:pt x="4763" y="788798"/>
                </a:lnTo>
                <a:lnTo>
                  <a:pt x="2381" y="781460"/>
                </a:lnTo>
                <a:lnTo>
                  <a:pt x="0" y="763210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39"/>
          <p:cNvSpPr/>
          <p:nvPr/>
        </p:nvSpPr>
        <p:spPr>
          <a:xfrm>
            <a:off x="4318695" y="3968428"/>
            <a:ext cx="86320" cy="13841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661839" y="3638699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4355" y="3701216"/>
            <a:ext cx="132588" cy="132588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998339" y="3638699"/>
            <a:ext cx="3542050" cy="1067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56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560" dirty="0"/>
          </a:p>
        </p:txBody>
      </p:sp>
      <p:sp>
        <p:nvSpPr>
          <p:cNvPr id="50" name="Text 42"/>
          <p:cNvSpPr/>
          <p:nvPr/>
        </p:nvSpPr>
        <p:spPr>
          <a:xfrm>
            <a:off x="998339" y="3759250"/>
            <a:ext cx="3542050" cy="127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8"/>
              </a:lnSpc>
              <a:spcAft>
                <a:spcPts val="170"/>
              </a:spcAft>
              <a:buNone/>
            </a:pPr>
            <a:r>
              <a:rPr lang="en-US" sz="84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Programme Updated</a:t>
            </a:r>
            <a:endParaRPr lang="en-US" sz="840" dirty="0"/>
          </a:p>
        </p:txBody>
      </p:sp>
      <p:sp>
        <p:nvSpPr>
          <p:cNvPr id="51" name="Text 43"/>
          <p:cNvSpPr/>
          <p:nvPr/>
        </p:nvSpPr>
        <p:spPr>
          <a:xfrm>
            <a:off x="998339" y="3908822"/>
            <a:ext cx="3284446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report feeds real intelligence into the security awareness programme. The next simulation tests the exact same tactic. </a:t>
            </a: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institution gets smarter</a:t>
            </a:r>
            <a:r>
              <a:rPr lang="en-US" sz="73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your experience.</a:t>
            </a:r>
            <a:endParaRPr lang="en-US" sz="730" dirty="0"/>
          </a:p>
        </p:txBody>
      </p:sp>
      <p:sp>
        <p:nvSpPr>
          <p:cNvPr id="52" name="Text 44"/>
          <p:cNvSpPr/>
          <p:nvPr/>
        </p:nvSpPr>
        <p:spPr>
          <a:xfrm>
            <a:off x="4815780" y="3547914"/>
            <a:ext cx="3785741" cy="854720"/>
          </a:xfrm>
          <a:prstGeom prst="roundRect">
            <a:avLst>
              <a:gd name="adj" fmla="val 8321"/>
            </a:avLst>
          </a:prstGeom>
          <a:gradFill rotWithShape="1">
            <a:gsLst>
              <a:gs pos="0">
                <a:srgbClr val="E8A020">
                  <a:alpha val="18000"/>
                </a:srgbClr>
              </a:gs>
              <a:gs pos="100000">
                <a:srgbClr val="E8A020">
                  <a:alpha val="6000"/>
                </a:srgbClr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5"/>
          <p:cNvSpPr/>
          <p:nvPr/>
        </p:nvSpPr>
        <p:spPr>
          <a:xfrm>
            <a:off x="8582471" y="3547914"/>
            <a:ext cx="19050" cy="854720"/>
          </a:xfrm>
          <a:custGeom>
            <a:avLst/>
            <a:gdLst/>
            <a:ahLst/>
            <a:cxnLst/>
            <a:rect l="l" t="t" r="r" b="b"/>
            <a:pathLst>
              <a:path w="19050" h="854720">
                <a:moveTo>
                  <a:pt x="0" y="22677"/>
                </a:moveTo>
                <a:lnTo>
                  <a:pt x="2381" y="25369"/>
                </a:lnTo>
                <a:lnTo>
                  <a:pt x="4763" y="28363"/>
                </a:lnTo>
                <a:lnTo>
                  <a:pt x="7144" y="31727"/>
                </a:lnTo>
                <a:lnTo>
                  <a:pt x="9525" y="35566"/>
                </a:lnTo>
                <a:lnTo>
                  <a:pt x="11906" y="40054"/>
                </a:lnTo>
                <a:lnTo>
                  <a:pt x="14288" y="45532"/>
                </a:lnTo>
                <a:lnTo>
                  <a:pt x="16669" y="52871"/>
                </a:lnTo>
                <a:lnTo>
                  <a:pt x="19050" y="71120"/>
                </a:lnTo>
                <a:lnTo>
                  <a:pt x="19050" y="783600"/>
                </a:lnTo>
                <a:lnTo>
                  <a:pt x="16669" y="801849"/>
                </a:lnTo>
                <a:lnTo>
                  <a:pt x="14288" y="809188"/>
                </a:lnTo>
                <a:lnTo>
                  <a:pt x="11906" y="814666"/>
                </a:lnTo>
                <a:lnTo>
                  <a:pt x="9525" y="819154"/>
                </a:lnTo>
                <a:lnTo>
                  <a:pt x="7144" y="822993"/>
                </a:lnTo>
                <a:lnTo>
                  <a:pt x="4763" y="826356"/>
                </a:lnTo>
                <a:lnTo>
                  <a:pt x="2381" y="829350"/>
                </a:lnTo>
                <a:lnTo>
                  <a:pt x="0" y="832043"/>
                </a:lnTo>
                <a:close/>
              </a:path>
            </a:pathLst>
          </a:custGeom>
          <a:solidFill>
            <a:srgbClr val="E8A020">
              <a:alpha val="3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6"/>
          <p:cNvSpPr/>
          <p:nvPr/>
        </p:nvSpPr>
        <p:spPr>
          <a:xfrm>
            <a:off x="4738985" y="3968279"/>
            <a:ext cx="86320" cy="13841"/>
          </a:xfrm>
          <a:prstGeom prst="rect">
            <a:avLst/>
          </a:prstGeom>
          <a:solidFill>
            <a:srgbClr val="E8A020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47"/>
          <p:cNvSpPr/>
          <p:nvPr/>
        </p:nvSpPr>
        <p:spPr>
          <a:xfrm>
            <a:off x="4925616" y="3628430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E8A02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88132" y="3690946"/>
            <a:ext cx="132588" cy="132588"/>
          </a:xfrm>
          <a:prstGeom prst="rect">
            <a:avLst/>
          </a:prstGeom>
        </p:spPr>
      </p:pic>
      <p:sp>
        <p:nvSpPr>
          <p:cNvPr id="57" name="Text 48"/>
          <p:cNvSpPr/>
          <p:nvPr/>
        </p:nvSpPr>
        <p:spPr>
          <a:xfrm>
            <a:off x="5262116" y="3628430"/>
            <a:ext cx="354205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THE OUTCOME</a:t>
            </a:r>
            <a:endParaRPr lang="en-US" sz="620" dirty="0"/>
          </a:p>
        </p:txBody>
      </p:sp>
      <p:sp>
        <p:nvSpPr>
          <p:cNvPr id="58" name="Text 49"/>
          <p:cNvSpPr/>
          <p:nvPr/>
        </p:nvSpPr>
        <p:spPr>
          <a:xfrm>
            <a:off x="5262116" y="3760291"/>
            <a:ext cx="3542050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170"/>
              </a:spcAft>
              <a:buNone/>
            </a:pPr>
            <a:r>
              <a:rPr lang="en-US" sz="90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You Made a Difference</a:t>
            </a:r>
            <a:endParaRPr lang="en-US" sz="900" dirty="0"/>
          </a:p>
        </p:txBody>
      </p:sp>
      <p:sp>
        <p:nvSpPr>
          <p:cNvPr id="59" name="Text 50"/>
          <p:cNvSpPr/>
          <p:nvPr/>
        </p:nvSpPr>
        <p:spPr>
          <a:xfrm>
            <a:off x="5262116" y="3918942"/>
            <a:ext cx="3284446" cy="423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8"/>
              </a:lnSpc>
              <a:buNone/>
            </a:pPr>
            <a:r>
              <a:rPr lang="en-US" sz="730" dirty="0">
                <a:solidFill>
                  <a:srgbClr val="F0F4F8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report. One person who paused instead of acting. One question that stopped a wire transfer. </a:t>
            </a:r>
            <a:r>
              <a:rPr lang="en-US" sz="730" b="1" dirty="0">
                <a:solidFill>
                  <a:srgbClr val="E8A020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powerful security control in this institution is you.</a:t>
            </a:r>
            <a:endParaRPr lang="en-US" sz="730" dirty="0"/>
          </a:p>
        </p:txBody>
      </p:sp>
      <p:sp>
        <p:nvSpPr>
          <p:cNvPr id="60" name="Text 51"/>
          <p:cNvSpPr/>
          <p:nvPr/>
        </p:nvSpPr>
        <p:spPr>
          <a:xfrm>
            <a:off x="0" y="4865489"/>
            <a:ext cx="9144000" cy="278011"/>
          </a:xfrm>
          <a:prstGeom prst="rect">
            <a:avLst/>
          </a:prstGeom>
          <a:gradFill rotWithShape="1">
            <a:gsLst>
              <a:gs pos="0">
                <a:srgbClr val="E8A020">
                  <a:alpha val="18000"/>
                </a:srgbClr>
              </a:gs>
              <a:gs pos="60000">
                <a:srgbClr val="E8A020">
                  <a:alpha val="6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2"/>
          <p:cNvSpPr/>
          <p:nvPr/>
        </p:nvSpPr>
        <p:spPr>
          <a:xfrm>
            <a:off x="0" y="4865489"/>
            <a:ext cx="9144000" cy="9525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6619" y="4942963"/>
            <a:ext cx="132588" cy="132588"/>
          </a:xfrm>
          <a:prstGeom prst="rect">
            <a:avLst/>
          </a:prstGeom>
        </p:spPr>
      </p:pic>
      <p:sp>
        <p:nvSpPr>
          <p:cNvPr id="63" name="Text 53"/>
          <p:cNvSpPr/>
          <p:nvPr/>
        </p:nvSpPr>
        <p:spPr>
          <a:xfrm>
            <a:off x="556766" y="4939754"/>
            <a:ext cx="689026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every suspicion.</a:t>
            </a:r>
            <a:r>
              <a:rPr lang="en-US" sz="73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will never be criticised for reporting something that turns out to be legitimate. You may prevent the next significant incident.</a:t>
            </a:r>
            <a:endParaRPr lang="en-US" sz="7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90000" t="80000" r="1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4000"/>
                </a:srgbClr>
              </a:gs>
              <a:gs pos="50000">
                <a:srgbClr val="000000">
                  <a:alpha val="0"/>
                </a:srgbClr>
              </a:gs>
            </a:gsLst>
            <a:path path="circle">
              <a:fillToRect l="10000" t="20000" r="9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35421" cy="514350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100000">
                <a:srgbClr val="E8A020">
                  <a:alpha val="2000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72070" y="171450"/>
            <a:ext cx="923984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230"/>
              </a:spcAft>
              <a:buNone/>
            </a:pPr>
            <a:r>
              <a:rPr lang="en-US" sz="620" b="1" kern="0" spc="14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2026 AI AWARENESS PLEDGE</a:t>
            </a:r>
            <a:endParaRPr lang="en-US" sz="620" dirty="0"/>
          </a:p>
        </p:txBody>
      </p:sp>
      <p:sp>
        <p:nvSpPr>
          <p:cNvPr id="6" name="Text 4"/>
          <p:cNvSpPr/>
          <p:nvPr/>
        </p:nvSpPr>
        <p:spPr>
          <a:xfrm>
            <a:off x="372070" y="318641"/>
            <a:ext cx="8987850" cy="246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43"/>
              </a:lnSpc>
              <a:spcAft>
                <a:spcPts val="170"/>
              </a:spcAft>
              <a:buNone/>
            </a:pPr>
            <a:r>
              <a:rPr lang="en-US" sz="169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Five Commitments That </a:t>
            </a:r>
            <a:r>
              <a:rPr lang="en-US" sz="169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Make You the Defence</a:t>
            </a:r>
            <a:endParaRPr lang="en-US" sz="1690" dirty="0"/>
          </a:p>
        </p:txBody>
      </p:sp>
      <p:sp>
        <p:nvSpPr>
          <p:cNvPr id="7" name="Text 5"/>
          <p:cNvSpPr/>
          <p:nvPr/>
        </p:nvSpPr>
        <p:spPr>
          <a:xfrm>
            <a:off x="372070" y="586978"/>
            <a:ext cx="9239845" cy="138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2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five habits make you the most effective security control in the institution.</a:t>
            </a:r>
            <a:endParaRPr lang="en-US" sz="840" dirty="0"/>
          </a:p>
        </p:txBody>
      </p:sp>
      <p:sp>
        <p:nvSpPr>
          <p:cNvPr id="8" name="Text 6"/>
          <p:cNvSpPr/>
          <p:nvPr/>
        </p:nvSpPr>
        <p:spPr>
          <a:xfrm>
            <a:off x="372070" y="812006"/>
            <a:ext cx="8399859" cy="7590"/>
          </a:xfrm>
          <a:prstGeom prst="rect">
            <a:avLst/>
          </a:prstGeom>
          <a:gradFill rotWithShape="1">
            <a:gsLst>
              <a:gs pos="0">
                <a:srgbClr val="E8A020"/>
              </a:gs>
              <a:gs pos="50000">
                <a:srgbClr val="E8A020">
                  <a:alpha val="1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72070" y="890588"/>
            <a:ext cx="1623120" cy="1687116"/>
          </a:xfrm>
          <a:prstGeom prst="roundRect">
            <a:avLst>
              <a:gd name="adj" fmla="val 3521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772096" y="971104"/>
            <a:ext cx="1361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E8A020">
                    <a:alpha val="1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1905" y="1000423"/>
            <a:ext cx="214610" cy="214610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2842" y="1041359"/>
            <a:ext cx="132588" cy="13258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61256" y="1068288"/>
            <a:ext cx="740792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PAUSE</a:t>
            </a:r>
            <a:endParaRPr lang="en-US" sz="620" dirty="0"/>
          </a:p>
        </p:txBody>
      </p:sp>
      <p:sp>
        <p:nvSpPr>
          <p:cNvPr id="14" name="Text 11"/>
          <p:cNvSpPr/>
          <p:nvPr/>
        </p:nvSpPr>
        <p:spPr>
          <a:xfrm>
            <a:off x="481905" y="1272183"/>
            <a:ext cx="1543794" cy="1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Before I Act</a:t>
            </a:r>
            <a:endParaRPr lang="en-US" sz="870" dirty="0"/>
          </a:p>
        </p:txBody>
      </p:sp>
      <p:sp>
        <p:nvSpPr>
          <p:cNvPr id="15" name="Text 12"/>
          <p:cNvSpPr/>
          <p:nvPr/>
        </p:nvSpPr>
        <p:spPr>
          <a:xfrm>
            <a:off x="481905" y="1467296"/>
            <a:ext cx="1431518" cy="8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unexpected request involving money, data, credentials, or access — I will pause. Urgency is a manipulation tactic. One minute of verification is always worth more than the loss it prevents.</a:t>
            </a:r>
            <a:endParaRPr lang="en-US" sz="7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622" y="2350303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66181" y="890588"/>
            <a:ext cx="1623120" cy="1687116"/>
          </a:xfrm>
          <a:prstGeom prst="roundRect">
            <a:avLst>
              <a:gd name="adj" fmla="val 3521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3466207" y="971104"/>
            <a:ext cx="1361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E8A020">
                    <a:alpha val="1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2176016" y="1000423"/>
            <a:ext cx="214610" cy="214610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16953" y="1041359"/>
            <a:ext cx="132588" cy="132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455366" y="1068288"/>
            <a:ext cx="775499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VERIFY</a:t>
            </a:r>
            <a:endParaRPr lang="en-US" sz="620" dirty="0"/>
          </a:p>
        </p:txBody>
      </p:sp>
      <p:sp>
        <p:nvSpPr>
          <p:cNvPr id="22" name="Text 17"/>
          <p:cNvSpPr/>
          <p:nvPr/>
        </p:nvSpPr>
        <p:spPr>
          <a:xfrm>
            <a:off x="2176016" y="1272183"/>
            <a:ext cx="1431518" cy="289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Through a Separate Channel</a:t>
            </a:r>
            <a:endParaRPr lang="en-US" sz="870" dirty="0"/>
          </a:p>
        </p:txBody>
      </p:sp>
      <p:sp>
        <p:nvSpPr>
          <p:cNvPr id="23" name="Text 18"/>
          <p:cNvSpPr/>
          <p:nvPr/>
        </p:nvSpPr>
        <p:spPr>
          <a:xfrm>
            <a:off x="2176016" y="1605260"/>
            <a:ext cx="1431518" cy="699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never call back a number given during a suspicious contact. I will use the registered number in our verified directory and ask my code question when I need to.</a:t>
            </a:r>
            <a:endParaRPr lang="en-US" sz="7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168732" y="2350303"/>
            <a:ext cx="132588" cy="132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760291" y="890588"/>
            <a:ext cx="1623268" cy="1687116"/>
          </a:xfrm>
          <a:prstGeom prst="roundRect">
            <a:avLst>
              <a:gd name="adj" fmla="val 3521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0"/>
          <p:cNvSpPr/>
          <p:nvPr/>
        </p:nvSpPr>
        <p:spPr>
          <a:xfrm>
            <a:off x="5160466" y="971104"/>
            <a:ext cx="1361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E8A020">
                    <a:alpha val="1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3870127" y="1000423"/>
            <a:ext cx="214610" cy="214610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1063" y="1041359"/>
            <a:ext cx="132588" cy="13258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149477" y="1068288"/>
            <a:ext cx="823630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REPORT</a:t>
            </a:r>
            <a:endParaRPr lang="en-US" sz="620" dirty="0"/>
          </a:p>
        </p:txBody>
      </p:sp>
      <p:sp>
        <p:nvSpPr>
          <p:cNvPr id="30" name="Text 23"/>
          <p:cNvSpPr/>
          <p:nvPr/>
        </p:nvSpPr>
        <p:spPr>
          <a:xfrm>
            <a:off x="3870127" y="1272183"/>
            <a:ext cx="1543958" cy="1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Everything Suspicious</a:t>
            </a:r>
            <a:endParaRPr lang="en-US" sz="870" dirty="0"/>
          </a:p>
        </p:txBody>
      </p:sp>
      <p:sp>
        <p:nvSpPr>
          <p:cNvPr id="31" name="Text 24"/>
          <p:cNvSpPr/>
          <p:nvPr/>
        </p:nvSpPr>
        <p:spPr>
          <a:xfrm>
            <a:off x="3870127" y="1467296"/>
            <a:ext cx="1431670" cy="8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use the Phishing Report button on every suspicious email. I will call the Security Hotline for suspicious phone requests. I will never assume it is probably fine and move on.</a:t>
            </a:r>
            <a:endParaRPr lang="en-US" sz="7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2843" y="2350303"/>
            <a:ext cx="132588" cy="132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54551" y="890588"/>
            <a:ext cx="1623120" cy="1687116"/>
          </a:xfrm>
          <a:prstGeom prst="roundRect">
            <a:avLst>
              <a:gd name="adj" fmla="val 3521"/>
            </a:avLst>
          </a:prstGeom>
          <a:solidFill>
            <a:srgbClr val="1A2E42"/>
          </a:solidFill>
          <a:ln w="9525">
            <a:solidFill>
              <a:srgbClr val="FFFFFF">
                <a:alpha val="7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6"/>
          <p:cNvSpPr/>
          <p:nvPr/>
        </p:nvSpPr>
        <p:spPr>
          <a:xfrm>
            <a:off x="6854577" y="971104"/>
            <a:ext cx="1361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E8A020">
                    <a:alpha val="1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27"/>
          <p:cNvSpPr/>
          <p:nvPr/>
        </p:nvSpPr>
        <p:spPr>
          <a:xfrm>
            <a:off x="5564386" y="1000423"/>
            <a:ext cx="214610" cy="214610"/>
          </a:xfrm>
          <a:prstGeom prst="ellipse">
            <a:avLst/>
          </a:prstGeom>
          <a:solidFill>
            <a:srgbClr val="E8A020">
              <a:alpha val="15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05323" y="1041359"/>
            <a:ext cx="132588" cy="13258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843736" y="1068288"/>
            <a:ext cx="737518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TRUST</a:t>
            </a:r>
            <a:endParaRPr lang="en-US" sz="620" dirty="0"/>
          </a:p>
        </p:txBody>
      </p:sp>
      <p:sp>
        <p:nvSpPr>
          <p:cNvPr id="38" name="Text 29"/>
          <p:cNvSpPr/>
          <p:nvPr/>
        </p:nvSpPr>
        <p:spPr>
          <a:xfrm>
            <a:off x="5564386" y="1272183"/>
            <a:ext cx="1543794" cy="1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b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Instincts</a:t>
            </a:r>
            <a:endParaRPr lang="en-US" sz="870" dirty="0"/>
          </a:p>
        </p:txBody>
      </p:sp>
      <p:sp>
        <p:nvSpPr>
          <p:cNvPr id="39" name="Text 30"/>
          <p:cNvSpPr/>
          <p:nvPr/>
        </p:nvSpPr>
        <p:spPr>
          <a:xfrm>
            <a:off x="5564386" y="1467296"/>
            <a:ext cx="1431518" cy="8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feels slightly off — even if I cannot explain why — that feeling is data. I will act on it. I will escalate it. I am allowed to question any request that feels wrong.</a:t>
            </a:r>
            <a:endParaRPr lang="en-US" sz="7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57102" y="2350303"/>
            <a:ext cx="132588" cy="132588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148661" y="890588"/>
            <a:ext cx="1623268" cy="1687116"/>
          </a:xfrm>
          <a:prstGeom prst="roundRect">
            <a:avLst>
              <a:gd name="adj" fmla="val 3521"/>
            </a:avLst>
          </a:prstGeom>
          <a:gradFill rotWithShape="1">
            <a:gsLst>
              <a:gs pos="0">
                <a:srgbClr val="1F3650"/>
              </a:gs>
              <a:gs pos="100000">
                <a:srgbClr val="1A2E42"/>
              </a:gs>
            </a:gsLst>
            <a:lin ang="4200000" scaled="1"/>
          </a:gradFill>
          <a:ln w="9525">
            <a:solidFill>
              <a:srgbClr val="E8A020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2"/>
          <p:cNvSpPr/>
          <p:nvPr/>
        </p:nvSpPr>
        <p:spPr>
          <a:xfrm>
            <a:off x="8548836" y="971104"/>
            <a:ext cx="13615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dirty="0">
                <a:solidFill>
                  <a:srgbClr val="E8A020">
                    <a:alpha val="1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33"/>
          <p:cNvSpPr/>
          <p:nvPr/>
        </p:nvSpPr>
        <p:spPr>
          <a:xfrm>
            <a:off x="7258496" y="1000423"/>
            <a:ext cx="214610" cy="214610"/>
          </a:xfrm>
          <a:prstGeom prst="ellipse">
            <a:avLst/>
          </a:prstGeom>
          <a:solidFill>
            <a:srgbClr val="E8A020">
              <a:alpha val="22000"/>
            </a:srgbClr>
          </a:solidFill>
          <a:ln w="9525">
            <a:solidFill>
              <a:srgbClr val="E8A020"/>
            </a:solidFill>
          </a:ln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99433" y="1041359"/>
            <a:ext cx="132588" cy="132588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7537847" y="1068288"/>
            <a:ext cx="775499" cy="787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20"/>
              </a:lnSpc>
              <a:buNone/>
            </a:pPr>
            <a:r>
              <a:rPr lang="en-US" sz="62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SET UP</a:t>
            </a:r>
            <a:endParaRPr lang="en-US" sz="620" dirty="0"/>
          </a:p>
        </p:txBody>
      </p:sp>
      <p:sp>
        <p:nvSpPr>
          <p:cNvPr id="46" name="Text 35"/>
          <p:cNvSpPr/>
          <p:nvPr/>
        </p:nvSpPr>
        <p:spPr>
          <a:xfrm>
            <a:off x="7258496" y="1272183"/>
            <a:ext cx="1543958" cy="137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88"/>
              </a:lnSpc>
              <a:buNone/>
            </a:pPr>
            <a:r>
              <a:rPr lang="en-US" sz="870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Code Word </a:t>
            </a:r>
            <a:r>
              <a:rPr lang="en-US" sz="870" b="1" dirty="0">
                <a:solidFill>
                  <a:srgbClr val="E8A02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This Week</a:t>
            </a:r>
            <a:endParaRPr lang="en-US" sz="870" dirty="0"/>
          </a:p>
        </p:txBody>
      </p:sp>
      <p:sp>
        <p:nvSpPr>
          <p:cNvPr id="47" name="Text 36"/>
          <p:cNvSpPr/>
          <p:nvPr/>
        </p:nvSpPr>
        <p:spPr>
          <a:xfrm>
            <a:off x="7258496" y="1467296"/>
            <a:ext cx="1431670" cy="8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 I will have a private conversation with my manager and my direct team to establish our personal verification code. It costs nothing and has already stopped real attacks at real organisations.</a:t>
            </a:r>
            <a:endParaRPr lang="en-US" sz="700" dirty="0"/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51213" y="2350303"/>
            <a:ext cx="132588" cy="132588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gradFill rotWithShape="1">
            <a:gsLst>
              <a:gs pos="0">
                <a:srgbClr val="C07A10"/>
              </a:gs>
              <a:gs pos="50000">
                <a:srgbClr val="E8A020"/>
              </a:gs>
              <a:gs pos="100000">
                <a:srgbClr val="C07A10"/>
              </a:gs>
            </a:gsLst>
            <a:lin ang="27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38"/>
          <p:cNvSpPr/>
          <p:nvPr/>
        </p:nvSpPr>
        <p:spPr>
          <a:xfrm>
            <a:off x="740866" y="4902547"/>
            <a:ext cx="262510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Security Awareness Team</a:t>
            </a:r>
            <a:endParaRPr lang="en-US" sz="73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74560" y="4905756"/>
            <a:ext cx="132588" cy="132588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3385096" y="4893320"/>
            <a:ext cx="7590" cy="157460"/>
          </a:xfrm>
          <a:prstGeom prst="rect">
            <a:avLst/>
          </a:prstGeom>
          <a:solidFill>
            <a:srgbClr val="0D1B2A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0"/>
          <p:cNvSpPr/>
          <p:nvPr/>
        </p:nvSpPr>
        <p:spPr>
          <a:xfrm>
            <a:off x="3793331" y="4902547"/>
            <a:ext cx="271088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using the button in your email client</a:t>
            </a:r>
            <a:endParaRPr lang="en-US" sz="73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627025" y="4905756"/>
            <a:ext cx="132588" cy="132588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6515546" y="4893320"/>
            <a:ext cx="7590" cy="157460"/>
          </a:xfrm>
          <a:prstGeom prst="rect">
            <a:avLst/>
          </a:prstGeom>
          <a:solidFill>
            <a:srgbClr val="0D1B2A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42"/>
          <p:cNvSpPr/>
          <p:nvPr/>
        </p:nvSpPr>
        <p:spPr>
          <a:xfrm>
            <a:off x="6923782" y="4902547"/>
            <a:ext cx="178428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Hotline available 24 hours</a:t>
            </a:r>
            <a:endParaRPr lang="en-US" sz="730" dirty="0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>
            <a:alphaModFix amt="85000"/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757476" y="4905756"/>
            <a:ext cx="132588" cy="132588"/>
          </a:xfrm>
          <a:prstGeom prst="rect">
            <a:avLst/>
          </a:prstGeom>
        </p:spPr>
      </p:pic>
      <p:sp>
        <p:nvSpPr>
          <p:cNvPr id="58" name="Text 43"/>
          <p:cNvSpPr/>
          <p:nvPr/>
        </p:nvSpPr>
        <p:spPr>
          <a:xfrm>
            <a:off x="381595" y="900113"/>
            <a:ext cx="1604067" cy="13841"/>
          </a:xfrm>
          <a:custGeom>
            <a:avLst/>
            <a:gdLst/>
            <a:ahLst/>
            <a:cxnLst/>
            <a:rect l="l" t="t" r="r" b="b"/>
            <a:pathLst>
              <a:path w="1604067" h="13841">
                <a:moveTo>
                  <a:pt x="57150" y="0"/>
                </a:moveTo>
                <a:lnTo>
                  <a:pt x="1546917" y="0"/>
                </a:lnTo>
                <a:lnTo>
                  <a:pt x="1560873" y="1730"/>
                </a:lnTo>
                <a:lnTo>
                  <a:pt x="1566501" y="3460"/>
                </a:lnTo>
                <a:lnTo>
                  <a:pt x="1570715" y="5190"/>
                </a:lnTo>
                <a:lnTo>
                  <a:pt x="1574177" y="6920"/>
                </a:lnTo>
                <a:lnTo>
                  <a:pt x="1577148" y="8651"/>
                </a:lnTo>
                <a:lnTo>
                  <a:pt x="1579762" y="10381"/>
                </a:lnTo>
                <a:lnTo>
                  <a:pt x="1582097" y="12111"/>
                </a:lnTo>
                <a:lnTo>
                  <a:pt x="1584206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44"/>
          <p:cNvSpPr/>
          <p:nvPr/>
        </p:nvSpPr>
        <p:spPr>
          <a:xfrm>
            <a:off x="381595" y="2138953"/>
            <a:ext cx="1604067" cy="429220"/>
          </a:xfrm>
          <a:prstGeom prst="roundRect">
            <a:avLst>
              <a:gd name="adj" fmla="val 13315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45"/>
          <p:cNvSpPr/>
          <p:nvPr/>
        </p:nvSpPr>
        <p:spPr>
          <a:xfrm>
            <a:off x="2075706" y="900113"/>
            <a:ext cx="1604067" cy="13841"/>
          </a:xfrm>
          <a:custGeom>
            <a:avLst/>
            <a:gdLst/>
            <a:ahLst/>
            <a:cxnLst/>
            <a:rect l="l" t="t" r="r" b="b"/>
            <a:pathLst>
              <a:path w="1604067" h="13841">
                <a:moveTo>
                  <a:pt x="57150" y="0"/>
                </a:moveTo>
                <a:lnTo>
                  <a:pt x="1546917" y="0"/>
                </a:lnTo>
                <a:lnTo>
                  <a:pt x="1560873" y="1730"/>
                </a:lnTo>
                <a:lnTo>
                  <a:pt x="1566501" y="3460"/>
                </a:lnTo>
                <a:lnTo>
                  <a:pt x="1570715" y="5190"/>
                </a:lnTo>
                <a:lnTo>
                  <a:pt x="1574177" y="6920"/>
                </a:lnTo>
                <a:lnTo>
                  <a:pt x="1577148" y="8651"/>
                </a:lnTo>
                <a:lnTo>
                  <a:pt x="1579762" y="10381"/>
                </a:lnTo>
                <a:lnTo>
                  <a:pt x="1582097" y="12111"/>
                </a:lnTo>
                <a:lnTo>
                  <a:pt x="1584206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46"/>
          <p:cNvSpPr/>
          <p:nvPr/>
        </p:nvSpPr>
        <p:spPr>
          <a:xfrm>
            <a:off x="2075706" y="2138953"/>
            <a:ext cx="1604067" cy="429220"/>
          </a:xfrm>
          <a:prstGeom prst="roundRect">
            <a:avLst>
              <a:gd name="adj" fmla="val 13315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47"/>
          <p:cNvSpPr/>
          <p:nvPr/>
        </p:nvSpPr>
        <p:spPr>
          <a:xfrm>
            <a:off x="3769816" y="900113"/>
            <a:ext cx="1604220" cy="13841"/>
          </a:xfrm>
          <a:custGeom>
            <a:avLst/>
            <a:gdLst/>
            <a:ahLst/>
            <a:cxnLst/>
            <a:rect l="l" t="t" r="r" b="b"/>
            <a:pathLst>
              <a:path w="1604220" h="13841">
                <a:moveTo>
                  <a:pt x="57150" y="0"/>
                </a:moveTo>
                <a:lnTo>
                  <a:pt x="1547070" y="0"/>
                </a:lnTo>
                <a:lnTo>
                  <a:pt x="1561025" y="1730"/>
                </a:lnTo>
                <a:lnTo>
                  <a:pt x="1566654" y="3460"/>
                </a:lnTo>
                <a:lnTo>
                  <a:pt x="1570867" y="5190"/>
                </a:lnTo>
                <a:lnTo>
                  <a:pt x="1574330" y="6920"/>
                </a:lnTo>
                <a:lnTo>
                  <a:pt x="1577301" y="8651"/>
                </a:lnTo>
                <a:lnTo>
                  <a:pt x="1579914" y="10381"/>
                </a:lnTo>
                <a:lnTo>
                  <a:pt x="1582249" y="12111"/>
                </a:lnTo>
                <a:lnTo>
                  <a:pt x="1584358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48"/>
          <p:cNvSpPr/>
          <p:nvPr/>
        </p:nvSpPr>
        <p:spPr>
          <a:xfrm>
            <a:off x="3769816" y="2138953"/>
            <a:ext cx="1604220" cy="429220"/>
          </a:xfrm>
          <a:prstGeom prst="roundRect">
            <a:avLst>
              <a:gd name="adj" fmla="val 13315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49"/>
          <p:cNvSpPr/>
          <p:nvPr/>
        </p:nvSpPr>
        <p:spPr>
          <a:xfrm>
            <a:off x="5464076" y="900113"/>
            <a:ext cx="1604067" cy="13841"/>
          </a:xfrm>
          <a:custGeom>
            <a:avLst/>
            <a:gdLst/>
            <a:ahLst/>
            <a:cxnLst/>
            <a:rect l="l" t="t" r="r" b="b"/>
            <a:pathLst>
              <a:path w="1604067" h="13841">
                <a:moveTo>
                  <a:pt x="57150" y="0"/>
                </a:moveTo>
                <a:lnTo>
                  <a:pt x="1546917" y="0"/>
                </a:lnTo>
                <a:lnTo>
                  <a:pt x="1560873" y="1730"/>
                </a:lnTo>
                <a:lnTo>
                  <a:pt x="1566501" y="3460"/>
                </a:lnTo>
                <a:lnTo>
                  <a:pt x="1570715" y="5190"/>
                </a:lnTo>
                <a:lnTo>
                  <a:pt x="1574177" y="6920"/>
                </a:lnTo>
                <a:lnTo>
                  <a:pt x="1577148" y="8651"/>
                </a:lnTo>
                <a:lnTo>
                  <a:pt x="1579762" y="10381"/>
                </a:lnTo>
                <a:lnTo>
                  <a:pt x="1582097" y="12111"/>
                </a:lnTo>
                <a:lnTo>
                  <a:pt x="1584206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50"/>
          <p:cNvSpPr/>
          <p:nvPr/>
        </p:nvSpPr>
        <p:spPr>
          <a:xfrm>
            <a:off x="5464076" y="2138953"/>
            <a:ext cx="1604067" cy="429220"/>
          </a:xfrm>
          <a:prstGeom prst="roundRect">
            <a:avLst>
              <a:gd name="adj" fmla="val 13315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51"/>
          <p:cNvSpPr/>
          <p:nvPr/>
        </p:nvSpPr>
        <p:spPr>
          <a:xfrm>
            <a:off x="7158186" y="900113"/>
            <a:ext cx="1604220" cy="13841"/>
          </a:xfrm>
          <a:custGeom>
            <a:avLst/>
            <a:gdLst/>
            <a:ahLst/>
            <a:cxnLst/>
            <a:rect l="l" t="t" r="r" b="b"/>
            <a:pathLst>
              <a:path w="1604220" h="13841">
                <a:moveTo>
                  <a:pt x="57150" y="0"/>
                </a:moveTo>
                <a:lnTo>
                  <a:pt x="1547070" y="0"/>
                </a:lnTo>
                <a:lnTo>
                  <a:pt x="1561025" y="1730"/>
                </a:lnTo>
                <a:lnTo>
                  <a:pt x="1566654" y="3460"/>
                </a:lnTo>
                <a:lnTo>
                  <a:pt x="1570867" y="5190"/>
                </a:lnTo>
                <a:lnTo>
                  <a:pt x="1574330" y="6920"/>
                </a:lnTo>
                <a:lnTo>
                  <a:pt x="1577301" y="8651"/>
                </a:lnTo>
                <a:lnTo>
                  <a:pt x="1579914" y="10381"/>
                </a:lnTo>
                <a:lnTo>
                  <a:pt x="1582249" y="12111"/>
                </a:lnTo>
                <a:lnTo>
                  <a:pt x="1584358" y="13841"/>
                </a:lnTo>
                <a:lnTo>
                  <a:pt x="19861" y="13841"/>
                </a:lnTo>
                <a:lnTo>
                  <a:pt x="21971" y="12111"/>
                </a:lnTo>
                <a:lnTo>
                  <a:pt x="24306" y="10381"/>
                </a:lnTo>
                <a:lnTo>
                  <a:pt x="26919" y="8651"/>
                </a:lnTo>
                <a:lnTo>
                  <a:pt x="29890" y="6920"/>
                </a:lnTo>
                <a:lnTo>
                  <a:pt x="33353" y="5190"/>
                </a:lnTo>
                <a:lnTo>
                  <a:pt x="37566" y="3460"/>
                </a:lnTo>
                <a:lnTo>
                  <a:pt x="43194" y="1730"/>
                </a:lnTo>
                <a:close/>
              </a:path>
            </a:pathLst>
          </a:custGeom>
          <a:solidFill>
            <a:srgbClr val="E8A02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52"/>
          <p:cNvSpPr/>
          <p:nvPr/>
        </p:nvSpPr>
        <p:spPr>
          <a:xfrm>
            <a:off x="7158186" y="2138953"/>
            <a:ext cx="1604220" cy="429220"/>
          </a:xfrm>
          <a:prstGeom prst="roundRect">
            <a:avLst>
              <a:gd name="adj" fmla="val 13315"/>
            </a:avLst>
          </a:prstGeom>
          <a:gradFill rotWithShape="1">
            <a:gsLst>
              <a:gs pos="0">
                <a:srgbClr val="E8A020">
                  <a:alpha val="4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54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8A020">
                  <a:alpha val="7000"/>
                </a:srgbClr>
              </a:gs>
              <a:gs pos="70000">
                <a:srgbClr val="000000">
                  <a:alpha val="0"/>
                </a:srgbClr>
              </a:gs>
            </a:gsLst>
            <a:path path="circle">
              <a:fillToRect l="50000" t="58000" r="50000" b="42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D1B2A"/>
              </a:gs>
              <a:gs pos="100000">
                <a:srgbClr val="000000">
                  <a:alpha val="0"/>
                </a:srgbClr>
              </a:gs>
            </a:gsLst>
            <a:path path="circle">
              <a:fillToRect l="50000" r="50000" b="10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0" y="0"/>
            <a:ext cx="9144000" cy="2917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30000">
                <a:srgbClr val="E8A020"/>
              </a:gs>
              <a:gs pos="70000">
                <a:srgbClr val="E8A020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88336" y="143470"/>
            <a:ext cx="2155019" cy="207913"/>
          </a:xfrm>
          <a:prstGeom prst="roundRect">
            <a:avLst>
              <a:gd name="adj" fmla="val 6719"/>
            </a:avLst>
          </a:prstGeom>
          <a:solidFill>
            <a:srgbClr val="E8A020">
              <a:alpha val="7000"/>
            </a:srgbClr>
          </a:solidFill>
          <a:ln w="9525">
            <a:solidFill>
              <a:srgbClr val="E8A020">
                <a:alpha val="35000"/>
              </a:srgbClr>
            </a:solidFill>
          </a:ln>
        </p:spPr>
        <p:txBody>
          <a:bodyPr wrap="none" lIns="86360" tIns="35560" rIns="86360" bIns="35560" rtlCol="0" anchor="t"/>
          <a:lstStyle/>
          <a:p>
            <a:pPr marL="0" indent="0" algn="l">
              <a:buNone/>
            </a:pPr>
            <a:r>
              <a:rPr lang="en-US" sz="620" b="1" kern="0" spc="74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SERIES  ·  SESSION 5 OF 12</a:t>
            </a:r>
            <a:endParaRPr lang="en-US" sz="620" dirty="0"/>
          </a:p>
        </p:txBody>
      </p:sp>
      <p:sp>
        <p:nvSpPr>
          <p:cNvPr id="8" name="Text 6"/>
          <p:cNvSpPr/>
          <p:nvPr/>
        </p:nvSpPr>
        <p:spPr>
          <a:xfrm>
            <a:off x="0" y="4828580"/>
            <a:ext cx="9144000" cy="314920"/>
          </a:xfrm>
          <a:prstGeom prst="rect">
            <a:avLst/>
          </a:prstGeom>
          <a:solidFill>
            <a:srgbClr val="0A1420">
              <a:alpha val="9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0" y="4828580"/>
            <a:ext cx="9144000" cy="9525"/>
          </a:xfrm>
          <a:prstGeom prst="rect">
            <a:avLst/>
          </a:prstGeom>
          <a:solidFill>
            <a:srgbClr val="E8A02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900" y="4926062"/>
            <a:ext cx="306335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kern="0" spc="27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 — </a:t>
            </a:r>
            <a:r>
              <a:rPr lang="en-US" sz="680" b="1" kern="0" spc="27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— Mobile and Remote Work Security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5798939" y="4931718"/>
            <a:ext cx="3302377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kern="0" spc="37" dirty="0">
                <a:solidFill>
                  <a:srgbClr val="94AFC8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 Profile v2.2  |  NIST CSF 2.0 PROTECT.AT-1  |  Human Risk Framework</a:t>
            </a:r>
            <a:endParaRPr lang="en-US" sz="620" dirty="0"/>
          </a:p>
        </p:txBody>
      </p:sp>
      <p:sp>
        <p:nvSpPr>
          <p:cNvPr id="12" name="Text 10"/>
          <p:cNvSpPr/>
          <p:nvPr/>
        </p:nvSpPr>
        <p:spPr>
          <a:xfrm>
            <a:off x="1657055" y="1335137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429121" y="1335137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201051" y="1335137"/>
            <a:ext cx="285750" cy="13841"/>
          </a:xfrm>
          <a:custGeom>
            <a:avLst/>
            <a:gdLst/>
            <a:ahLst/>
            <a:cxnLst/>
            <a:rect l="l" t="t" r="r" b="b"/>
            <a:pathLst>
              <a:path w="285750" h="13841">
                <a:moveTo>
                  <a:pt x="0" y="0"/>
                </a:moveTo>
                <a:lnTo>
                  <a:pt x="285750" y="0"/>
                </a:lnTo>
                <a:lnTo>
                  <a:pt x="285750" y="-117957600"/>
                </a:lnTo>
                <a:lnTo>
                  <a:pt x="285750" y="0"/>
                </a:lnTo>
                <a:lnTo>
                  <a:pt x="285482" y="2596"/>
                </a:lnTo>
                <a:lnTo>
                  <a:pt x="284687" y="5217"/>
                </a:lnTo>
                <a:lnTo>
                  <a:pt x="283396" y="7632"/>
                </a:lnTo>
                <a:lnTo>
                  <a:pt x="281658" y="9749"/>
                </a:lnTo>
                <a:lnTo>
                  <a:pt x="279541" y="11487"/>
                </a:lnTo>
                <a:lnTo>
                  <a:pt x="277126" y="12778"/>
                </a:lnTo>
                <a:lnTo>
                  <a:pt x="274505" y="13573"/>
                </a:lnTo>
                <a:lnTo>
                  <a:pt x="271780" y="13841"/>
                </a:lnTo>
                <a:lnTo>
                  <a:pt x="13970" y="13841"/>
                </a:lnTo>
                <a:lnTo>
                  <a:pt x="0" y="0"/>
                </a:lnTo>
                <a:lnTo>
                  <a:pt x="268" y="2596"/>
                </a:lnTo>
                <a:lnTo>
                  <a:pt x="1063" y="5217"/>
                </a:lnTo>
                <a:lnTo>
                  <a:pt x="2354" y="7632"/>
                </a:lnTo>
                <a:lnTo>
                  <a:pt x="4092" y="9749"/>
                </a:lnTo>
                <a:lnTo>
                  <a:pt x="6209" y="11487"/>
                </a:lnTo>
                <a:lnTo>
                  <a:pt x="8624" y="12778"/>
                </a:lnTo>
                <a:lnTo>
                  <a:pt x="11245" y="13573"/>
                </a:lnTo>
                <a:lnTo>
                  <a:pt x="13970" y="13841"/>
                </a:lnTo>
                <a:close/>
              </a:path>
            </a:pathLst>
          </a:cu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25552" y="200620"/>
            <a:ext cx="296202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16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MAY 2026 SECURITY AWARENESS WEBINAR</a:t>
            </a:r>
            <a:endParaRPr lang="en-US" sz="730" dirty="0"/>
          </a:p>
        </p:txBody>
      </p:sp>
      <p:sp>
        <p:nvSpPr>
          <p:cNvPr id="16" name="Text 14"/>
          <p:cNvSpPr/>
          <p:nvPr/>
        </p:nvSpPr>
        <p:spPr>
          <a:xfrm>
            <a:off x="4343400" y="439936"/>
            <a:ext cx="457200" cy="21580"/>
          </a:xfrm>
          <a:prstGeom prst="roundRect">
            <a:avLst>
              <a:gd name="adj" fmla="val 64736"/>
            </a:avLst>
          </a:prstGeom>
          <a:solidFill>
            <a:srgbClr val="E8A02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4904" y="575816"/>
            <a:ext cx="8394192" cy="636642"/>
          </a:xfrm>
          <a:prstGeom prst="rect">
            <a:avLst/>
          </a:prstGeom>
          <a:noFill/>
          <a:ln/>
        </p:spPr>
        <p:txBody>
          <a:bodyPr wrap="square" lIns="285750" tIns="0" rIns="285750" bIns="0" rtlCol="0" anchor="t"/>
          <a:lstStyle/>
          <a:p>
            <a:pPr marL="0" indent="0" algn="ctr">
              <a:lnSpc>
                <a:spcPts val="2387"/>
              </a:lnSpc>
              <a:buNone/>
            </a:pPr>
            <a:r>
              <a:rPr lang="en-US" sz="1910" kern="0" spc="-19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the age of AI, your </a:t>
            </a:r>
            <a:r>
              <a:rPr lang="en-US" sz="1910" b="1" kern="0" spc="-19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</a:t>
            </a:r>
            <a:r>
              <a:rPr lang="en-US" sz="1910" kern="0" spc="-19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is the most powerful security control we have.</a:t>
            </a:r>
            <a:endParaRPr lang="en-US" sz="1910" dirty="0"/>
          </a:p>
        </p:txBody>
      </p:sp>
      <p:sp>
        <p:nvSpPr>
          <p:cNvPr id="18" name="Text 16"/>
          <p:cNvSpPr/>
          <p:nvPr/>
        </p:nvSpPr>
        <p:spPr>
          <a:xfrm>
            <a:off x="457200" y="1325612"/>
            <a:ext cx="2685604" cy="1243905"/>
          </a:xfrm>
          <a:prstGeom prst="roundRect">
            <a:avLst>
              <a:gd name="adj" fmla="val 2348"/>
            </a:avLst>
          </a:prstGeom>
          <a:solidFill>
            <a:srgbClr val="1A2E42">
              <a:alpha val="55000"/>
            </a:srgbClr>
          </a:solidFill>
          <a:ln w="9525">
            <a:solidFill>
              <a:srgbClr val="E8A02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34842" y="1463278"/>
            <a:ext cx="1319183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40" b="1" kern="0" spc="223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</a:t>
            </a:r>
            <a:endParaRPr lang="en-US" sz="124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509" y="1515079"/>
            <a:ext cx="132588" cy="13258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70349" y="1770459"/>
            <a:ext cx="2259157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2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AI voice cloning, deepfake video, and AI phishing look and sound like. The old red flags are gone. The new ones are here — and you now know them.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229124" y="1325612"/>
            <a:ext cx="2685752" cy="1243905"/>
          </a:xfrm>
          <a:prstGeom prst="roundRect">
            <a:avLst>
              <a:gd name="adj" fmla="val 2348"/>
            </a:avLst>
          </a:prstGeom>
          <a:solidFill>
            <a:srgbClr val="1A2E42">
              <a:alpha val="55000"/>
            </a:srgbClr>
          </a:solidFill>
          <a:ln w="9525">
            <a:solidFill>
              <a:srgbClr val="E8A02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260346" y="1463278"/>
            <a:ext cx="812170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40" b="1" kern="0" spc="223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4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00968" y="1515079"/>
            <a:ext cx="132588" cy="132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442421" y="1770459"/>
            <a:ext cx="2259157" cy="694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2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callback. One question. One code word. Verification is not bureaucracy — it is the difference between a stopped fraud and a reported loss.</a:t>
            </a:r>
            <a:endParaRPr lang="en-US" sz="840" dirty="0"/>
          </a:p>
        </p:txBody>
      </p:sp>
      <p:sp>
        <p:nvSpPr>
          <p:cNvPr id="26" name="Text 22"/>
          <p:cNvSpPr/>
          <p:nvPr/>
        </p:nvSpPr>
        <p:spPr>
          <a:xfrm>
            <a:off x="6001196" y="1325612"/>
            <a:ext cx="2685604" cy="1243905"/>
          </a:xfrm>
          <a:prstGeom prst="roundRect">
            <a:avLst>
              <a:gd name="adj" fmla="val 2348"/>
            </a:avLst>
          </a:prstGeom>
          <a:solidFill>
            <a:srgbClr val="1A2E42">
              <a:alpha val="55000"/>
            </a:srgbClr>
          </a:solidFill>
          <a:ln w="9525">
            <a:solidFill>
              <a:srgbClr val="E8A02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6984296" y="1463278"/>
            <a:ext cx="908268" cy="2361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860"/>
              </a:lnSpc>
              <a:buNone/>
            </a:pPr>
            <a:r>
              <a:rPr lang="en-US" sz="1240" b="1" kern="0" spc="223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4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285" y="1515079"/>
            <a:ext cx="132588" cy="13258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214345" y="1770459"/>
            <a:ext cx="2259157" cy="520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2"/>
              </a:lnSpc>
              <a:buNone/>
            </a:pPr>
            <a:r>
              <a:rPr lang="en-US" sz="840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suspicious email, call, or request reported is a colleague protected. Your report is a security alert for the entire institution.</a:t>
            </a:r>
            <a:endParaRPr lang="en-US" sz="840" dirty="0"/>
          </a:p>
        </p:txBody>
      </p:sp>
      <p:sp>
        <p:nvSpPr>
          <p:cNvPr id="30" name="Text 25"/>
          <p:cNvSpPr/>
          <p:nvPr/>
        </p:nvSpPr>
        <p:spPr>
          <a:xfrm>
            <a:off x="1438448" y="2697659"/>
            <a:ext cx="6267105" cy="35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49"/>
              </a:lnSpc>
              <a:buNone/>
            </a:pPr>
            <a:r>
              <a:rPr lang="en-US" sz="870" i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Security awareness is not about making you suspicious of everything. It is about giving you the confidence to </a:t>
            </a:r>
            <a:r>
              <a:rPr lang="en-US" sz="870" b="1" i="1" dirty="0">
                <a:solidFill>
                  <a:srgbClr val="F0F4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pause, ask one question, and trust your instincts</a:t>
            </a:r>
            <a:r>
              <a:rPr lang="en-US" sz="870" i="1" dirty="0">
                <a:solidFill>
                  <a:srgbClr val="94AFC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— before the fraudster has a chance to win.</a:t>
            </a:r>
            <a:endParaRPr lang="en-US" sz="870" dirty="0"/>
          </a:p>
        </p:txBody>
      </p:sp>
      <p:sp>
        <p:nvSpPr>
          <p:cNvPr id="31" name="Text 26"/>
          <p:cNvSpPr/>
          <p:nvPr/>
        </p:nvSpPr>
        <p:spPr>
          <a:xfrm>
            <a:off x="1111597" y="3155454"/>
            <a:ext cx="6920805" cy="300038"/>
          </a:xfrm>
          <a:prstGeom prst="roundRect">
            <a:avLst>
              <a:gd name="adj" fmla="val 7196"/>
            </a:avLst>
          </a:prstGeom>
          <a:solidFill>
            <a:srgbClr val="E8A020">
              <a:alpha val="8000"/>
            </a:srgbClr>
          </a:solidFill>
          <a:ln w="9525">
            <a:solidFill>
              <a:srgbClr val="E8A020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1458813" y="3235970"/>
            <a:ext cx="147961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Hotline — 24 Hours</a:t>
            </a:r>
            <a:endParaRPr lang="en-US" sz="730" dirty="0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5409" y="3239104"/>
            <a:ext cx="132588" cy="13258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975372" y="3248323"/>
            <a:ext cx="7590" cy="114300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29"/>
          <p:cNvSpPr/>
          <p:nvPr/>
        </p:nvSpPr>
        <p:spPr>
          <a:xfrm>
            <a:off x="3291483" y="3235970"/>
            <a:ext cx="203476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29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Phishing — Email Client Button</a:t>
            </a:r>
            <a:endParaRPr lang="en-US" sz="73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8078" y="3239104"/>
            <a:ext cx="132588" cy="132588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312718" y="3248323"/>
            <a:ext cx="7590" cy="114300"/>
          </a:xfrm>
          <a:prstGeom prst="rect">
            <a:avLst/>
          </a:prstGeom>
          <a:solidFill>
            <a:srgbClr val="E8A020">
              <a:alpha val="3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1"/>
          <p:cNvSpPr/>
          <p:nvPr/>
        </p:nvSpPr>
        <p:spPr>
          <a:xfrm>
            <a:off x="5628829" y="3235970"/>
            <a:ext cx="241277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kern="0" spc="15" dirty="0">
                <a:solidFill>
                  <a:srgbClr val="94A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Contact your Security Awareness Team</a:t>
            </a:r>
            <a:endParaRPr lang="en-US" sz="730" dirty="0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65424" y="3239104"/>
            <a:ext cx="132588" cy="1325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5907</Words>
  <Application>Microsoft Office PowerPoint</Application>
  <PresentationFormat>On-screen Show (16:9)</PresentationFormat>
  <Paragraphs>599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Aaron Simmons</cp:lastModifiedBy>
  <cp:revision>2</cp:revision>
  <dcterms:created xsi:type="dcterms:W3CDTF">2026-05-15T17:41:08Z</dcterms:created>
  <dcterms:modified xsi:type="dcterms:W3CDTF">2026-05-15T17:48:22Z</dcterms:modified>
</cp:coreProperties>
</file>