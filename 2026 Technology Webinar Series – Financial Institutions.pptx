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0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73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Relationship Id="rId14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Relationship Id="rId9" Type="http://schemas.openxmlformats.org/officeDocument/2006/relationships/image" Target="../media/image5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svg"/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12" Type="http://schemas.openxmlformats.org/officeDocument/2006/relationships/image" Target="../media/image7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Relationship Id="rId9" Type="http://schemas.openxmlformats.org/officeDocument/2006/relationships/image" Target="../media/image8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13" Type="http://schemas.openxmlformats.org/officeDocument/2006/relationships/image" Target="../media/image100.svg"/><Relationship Id="rId3" Type="http://schemas.openxmlformats.org/officeDocument/2006/relationships/image" Target="../media/image90.svg"/><Relationship Id="rId7" Type="http://schemas.openxmlformats.org/officeDocument/2006/relationships/image" Target="../media/image94.svg"/><Relationship Id="rId12" Type="http://schemas.openxmlformats.org/officeDocument/2006/relationships/image" Target="../media/image99.svg"/><Relationship Id="rId17" Type="http://schemas.openxmlformats.org/officeDocument/2006/relationships/image" Target="../media/image104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8.svg"/><Relationship Id="rId5" Type="http://schemas.openxmlformats.org/officeDocument/2006/relationships/image" Target="../media/image92.svg"/><Relationship Id="rId15" Type="http://schemas.openxmlformats.org/officeDocument/2006/relationships/image" Target="../media/image102.svg"/><Relationship Id="rId10" Type="http://schemas.openxmlformats.org/officeDocument/2006/relationships/image" Target="../media/image97.svg"/><Relationship Id="rId4" Type="http://schemas.openxmlformats.org/officeDocument/2006/relationships/image" Target="../media/image91.svg"/><Relationship Id="rId9" Type="http://schemas.openxmlformats.org/officeDocument/2006/relationships/image" Target="../media/image96.svg"/><Relationship Id="rId14" Type="http://schemas.openxmlformats.org/officeDocument/2006/relationships/image" Target="../media/image10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svg"/><Relationship Id="rId7" Type="http://schemas.openxmlformats.org/officeDocument/2006/relationships/image" Target="../media/image10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svg"/><Relationship Id="rId5" Type="http://schemas.openxmlformats.org/officeDocument/2006/relationships/image" Target="../media/image107.svg"/><Relationship Id="rId4" Type="http://schemas.openxmlformats.org/officeDocument/2006/relationships/image" Target="../media/image106.svg"/><Relationship Id="rId9" Type="http://schemas.openxmlformats.org/officeDocument/2006/relationships/image" Target="../media/image1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13" Type="http://schemas.openxmlformats.org/officeDocument/2006/relationships/image" Target="../media/image122.svg"/><Relationship Id="rId3" Type="http://schemas.openxmlformats.org/officeDocument/2006/relationships/image" Target="../media/image112.svg"/><Relationship Id="rId7" Type="http://schemas.openxmlformats.org/officeDocument/2006/relationships/image" Target="../media/image116.svg"/><Relationship Id="rId12" Type="http://schemas.openxmlformats.org/officeDocument/2006/relationships/image" Target="../media/image121.svg"/><Relationship Id="rId17" Type="http://schemas.openxmlformats.org/officeDocument/2006/relationships/image" Target="../media/image126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svg"/><Relationship Id="rId11" Type="http://schemas.openxmlformats.org/officeDocument/2006/relationships/image" Target="../media/image120.svg"/><Relationship Id="rId5" Type="http://schemas.openxmlformats.org/officeDocument/2006/relationships/image" Target="../media/image114.svg"/><Relationship Id="rId15" Type="http://schemas.openxmlformats.org/officeDocument/2006/relationships/image" Target="../media/image124.svg"/><Relationship Id="rId10" Type="http://schemas.openxmlformats.org/officeDocument/2006/relationships/image" Target="../media/image119.svg"/><Relationship Id="rId4" Type="http://schemas.openxmlformats.org/officeDocument/2006/relationships/image" Target="../media/image113.svg"/><Relationship Id="rId9" Type="http://schemas.openxmlformats.org/officeDocument/2006/relationships/image" Target="../media/image118.svg"/><Relationship Id="rId14" Type="http://schemas.openxmlformats.org/officeDocument/2006/relationships/image" Target="../media/image12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svg"/><Relationship Id="rId3" Type="http://schemas.openxmlformats.org/officeDocument/2006/relationships/image" Target="../media/image127.png"/><Relationship Id="rId7" Type="http://schemas.openxmlformats.org/officeDocument/2006/relationships/image" Target="../media/image1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svg"/><Relationship Id="rId11" Type="http://schemas.openxmlformats.org/officeDocument/2006/relationships/image" Target="../media/image135.svg"/><Relationship Id="rId5" Type="http://schemas.openxmlformats.org/officeDocument/2006/relationships/image" Target="../media/image129.svg"/><Relationship Id="rId10" Type="http://schemas.openxmlformats.org/officeDocument/2006/relationships/image" Target="../media/image134.svg"/><Relationship Id="rId4" Type="http://schemas.openxmlformats.org/officeDocument/2006/relationships/image" Target="../media/image128.png"/><Relationship Id="rId9" Type="http://schemas.openxmlformats.org/officeDocument/2006/relationships/image" Target="../media/image1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13" Type="http://schemas.openxmlformats.org/officeDocument/2006/relationships/image" Target="../media/image146.svg"/><Relationship Id="rId3" Type="http://schemas.openxmlformats.org/officeDocument/2006/relationships/image" Target="../media/image136.svg"/><Relationship Id="rId7" Type="http://schemas.openxmlformats.org/officeDocument/2006/relationships/image" Target="../media/image140.svg"/><Relationship Id="rId12" Type="http://schemas.openxmlformats.org/officeDocument/2006/relationships/image" Target="../media/image14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svg"/><Relationship Id="rId11" Type="http://schemas.openxmlformats.org/officeDocument/2006/relationships/image" Target="../media/image144.svg"/><Relationship Id="rId5" Type="http://schemas.openxmlformats.org/officeDocument/2006/relationships/image" Target="../media/image138.svg"/><Relationship Id="rId10" Type="http://schemas.openxmlformats.org/officeDocument/2006/relationships/image" Target="../media/image143.svg"/><Relationship Id="rId4" Type="http://schemas.openxmlformats.org/officeDocument/2006/relationships/image" Target="../media/image137.svg"/><Relationship Id="rId9" Type="http://schemas.openxmlformats.org/officeDocument/2006/relationships/image" Target="../media/image142.svg"/><Relationship Id="rId14" Type="http://schemas.openxmlformats.org/officeDocument/2006/relationships/image" Target="../media/image14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svg"/><Relationship Id="rId5" Type="http://schemas.openxmlformats.org/officeDocument/2006/relationships/image" Target="../media/image150.svg"/><Relationship Id="rId4" Type="http://schemas.openxmlformats.org/officeDocument/2006/relationships/image" Target="../media/image14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svg"/><Relationship Id="rId13" Type="http://schemas.openxmlformats.org/officeDocument/2006/relationships/image" Target="../media/image162.svg"/><Relationship Id="rId18" Type="http://schemas.openxmlformats.org/officeDocument/2006/relationships/image" Target="../media/image167.svg"/><Relationship Id="rId3" Type="http://schemas.openxmlformats.org/officeDocument/2006/relationships/image" Target="../media/image152.svg"/><Relationship Id="rId7" Type="http://schemas.openxmlformats.org/officeDocument/2006/relationships/image" Target="../media/image156.svg"/><Relationship Id="rId12" Type="http://schemas.openxmlformats.org/officeDocument/2006/relationships/image" Target="../media/image161.svg"/><Relationship Id="rId17" Type="http://schemas.openxmlformats.org/officeDocument/2006/relationships/image" Target="../media/image166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6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svg"/><Relationship Id="rId11" Type="http://schemas.openxmlformats.org/officeDocument/2006/relationships/image" Target="../media/image160.svg"/><Relationship Id="rId5" Type="http://schemas.openxmlformats.org/officeDocument/2006/relationships/image" Target="../media/image154.svg"/><Relationship Id="rId15" Type="http://schemas.openxmlformats.org/officeDocument/2006/relationships/image" Target="../media/image164.svg"/><Relationship Id="rId10" Type="http://schemas.openxmlformats.org/officeDocument/2006/relationships/image" Target="../media/image159.svg"/><Relationship Id="rId4" Type="http://schemas.openxmlformats.org/officeDocument/2006/relationships/image" Target="../media/image153.svg"/><Relationship Id="rId9" Type="http://schemas.openxmlformats.org/officeDocument/2006/relationships/image" Target="../media/image158.svg"/><Relationship Id="rId14" Type="http://schemas.openxmlformats.org/officeDocument/2006/relationships/image" Target="../media/image16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svg"/><Relationship Id="rId7" Type="http://schemas.openxmlformats.org/officeDocument/2006/relationships/image" Target="../media/image17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svg"/><Relationship Id="rId5" Type="http://schemas.openxmlformats.org/officeDocument/2006/relationships/image" Target="../media/image170.svg"/><Relationship Id="rId4" Type="http://schemas.openxmlformats.org/officeDocument/2006/relationships/image" Target="../media/image16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svg"/><Relationship Id="rId5" Type="http://schemas.openxmlformats.org/officeDocument/2006/relationships/image" Target="../media/image175.svg"/><Relationship Id="rId4" Type="http://schemas.openxmlformats.org/officeDocument/2006/relationships/image" Target="../media/image17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9396" y="2100263"/>
            <a:ext cx="187976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kern="0" spc="-230" dirty="0">
                <a:solidFill>
                  <a:srgbClr val="00C8FF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6750" dirty="0"/>
          </a:p>
        </p:txBody>
      </p:sp>
      <p:sp>
        <p:nvSpPr>
          <p:cNvPr id="4" name="Text 1"/>
          <p:cNvSpPr/>
          <p:nvPr/>
        </p:nvSpPr>
        <p:spPr>
          <a:xfrm>
            <a:off x="121890" y="12650"/>
            <a:ext cx="101157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endParaRPr lang="en-US" sz="62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367"/>
            <a:ext cx="98664" cy="132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2120" y="0"/>
            <a:ext cx="7590" cy="143470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572220" y="12650"/>
            <a:ext cx="7586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62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6406" y="5367"/>
            <a:ext cx="132588" cy="132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62510" y="0"/>
            <a:ext cx="7590" cy="143470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792611" y="12650"/>
            <a:ext cx="7586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62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6797" y="5367"/>
            <a:ext cx="132588" cy="132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82901" y="0"/>
            <a:ext cx="7590" cy="143470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013002" y="12650"/>
            <a:ext cx="13908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SECTOR FOCUS</a:t>
            </a:r>
            <a:endParaRPr lang="en-US" sz="62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7187" y="5367"/>
            <a:ext cx="132588" cy="132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78066" y="0"/>
            <a:ext cx="7590" cy="143470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808166" y="12650"/>
            <a:ext cx="14540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12-MONTH PROGRAM · 2026</a:t>
            </a:r>
            <a:endParaRPr lang="en-US" sz="62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2352" y="5367"/>
            <a:ext cx="132588" cy="132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0" y="142875"/>
            <a:ext cx="4000500" cy="4857750"/>
          </a:xfrm>
          <a:prstGeom prst="ellipse">
            <a:avLst/>
          </a:prstGeom>
          <a:gradFill rotWithShape="1">
            <a:gsLst>
              <a:gs pos="0">
                <a:srgbClr val="00C8FF">
                  <a:alpha val="13000"/>
                </a:srgbClr>
              </a:gs>
              <a:gs pos="45000">
                <a:srgbClr val="00C8FF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6143030" y="2142530"/>
            <a:ext cx="3000970" cy="3000970"/>
          </a:xfrm>
          <a:prstGeom prst="ellipse">
            <a:avLst/>
          </a:prstGeom>
          <a:gradFill rotWithShape="1">
            <a:gsLst>
              <a:gs pos="0">
                <a:srgbClr val="0064C8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0" y="0"/>
            <a:ext cx="328549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C8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/>
              </a:gs>
              <a:gs pos="70000">
                <a:srgbClr val="00C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>
                  <a:alpha val="40000"/>
                </a:srgbClr>
              </a:gs>
              <a:gs pos="70000">
                <a:srgbClr val="00C8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C8FF"/>
              </a:gs>
              <a:gs pos="75000">
                <a:srgbClr val="00C8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blurRad="128270" dist="50800" dir="16200000" algn="bl" rotWithShape="0">
              <a:srgbClr val="00C8FF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685800" y="1713161"/>
            <a:ext cx="79400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2480" dirty="0"/>
          </a:p>
        </p:txBody>
      </p:sp>
      <p:sp>
        <p:nvSpPr>
          <p:cNvPr id="25" name="Text 17"/>
          <p:cNvSpPr/>
          <p:nvPr/>
        </p:nvSpPr>
        <p:spPr>
          <a:xfrm>
            <a:off x="1512987" y="1741736"/>
            <a:ext cx="13841" cy="257770"/>
          </a:xfrm>
          <a:prstGeom prst="roundRect">
            <a:avLst>
              <a:gd name="adj" fmla="val 55054"/>
            </a:avLst>
          </a:prstGeom>
          <a:solidFill>
            <a:srgbClr val="00C8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1597819" y="1760488"/>
            <a:ext cx="983998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endParaRPr lang="en-US" sz="620" dirty="0"/>
          </a:p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WEBINAR SERIES</a:t>
            </a:r>
            <a:endParaRPr lang="en-US" sz="620" dirty="0"/>
          </a:p>
        </p:txBody>
      </p:sp>
      <p:sp>
        <p:nvSpPr>
          <p:cNvPr id="27" name="Text 19"/>
          <p:cNvSpPr/>
          <p:nvPr/>
        </p:nvSpPr>
        <p:spPr>
          <a:xfrm>
            <a:off x="685800" y="2185541"/>
            <a:ext cx="821931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Technology</a:t>
            </a:r>
            <a:br/>
            <a:r>
              <a:rPr lang="en-US" sz="1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Webinar Series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85800" y="2642741"/>
            <a:ext cx="886396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85800" y="2852738"/>
            <a:ext cx="661868" cy="219373"/>
          </a:xfrm>
          <a:prstGeom prst="roundRect">
            <a:avLst>
              <a:gd name="adj" fmla="val 13315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219362" tIns="35560" rIns="100330" bIns="35560" rtlCol="0" anchor="ctr"/>
          <a:lstStyle/>
          <a:p>
            <a:pPr marL="0" indent="0" algn="l">
              <a:buNone/>
            </a:pPr>
            <a:r>
              <a:rPr lang="en-US" sz="680" kern="0" spc="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68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3" y="2896055"/>
            <a:ext cx="132588" cy="132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26518" y="2852738"/>
            <a:ext cx="535263" cy="219373"/>
          </a:xfrm>
          <a:prstGeom prst="roundRect">
            <a:avLst>
              <a:gd name="adj" fmla="val 13315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219362" tIns="35560" rIns="100330" bIns="35560" rtlCol="0" anchor="ctr"/>
          <a:lstStyle/>
          <a:p>
            <a:pPr marL="0" indent="0" algn="l">
              <a:buNone/>
            </a:pPr>
            <a:r>
              <a:rPr lang="en-US" sz="680" kern="0" spc="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endParaRPr lang="en-US" sz="68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4810" y="2896055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043113" y="2852738"/>
            <a:ext cx="914927" cy="219373"/>
          </a:xfrm>
          <a:prstGeom prst="roundRect">
            <a:avLst>
              <a:gd name="adj" fmla="val 13315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219362" tIns="35560" rIns="100330" bIns="35560" rtlCol="0" anchor="ctr"/>
          <a:lstStyle/>
          <a:p>
            <a:pPr marL="0" indent="0" algn="l">
              <a:buNone/>
            </a:pPr>
            <a:r>
              <a:rPr lang="en-US" sz="680" kern="0" spc="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DEVSECOPS</a:t>
            </a:r>
            <a:endParaRPr lang="en-US" sz="68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21405" y="2896055"/>
            <a:ext cx="132588" cy="1325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031927" y="2852738"/>
            <a:ext cx="978229" cy="219373"/>
          </a:xfrm>
          <a:prstGeom prst="roundRect">
            <a:avLst>
              <a:gd name="adj" fmla="val 13315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219362" tIns="35560" rIns="100330" bIns="35560" rtlCol="0" anchor="ctr"/>
          <a:lstStyle/>
          <a:p>
            <a:pPr marL="0" indent="0" algn="l">
              <a:buNone/>
            </a:pPr>
            <a:r>
              <a:rPr lang="en-US" sz="680" kern="0" spc="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TRUST</a:t>
            </a:r>
            <a:endParaRPr lang="en-US" sz="68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0219" y="2896055"/>
            <a:ext cx="132588" cy="1325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082802" y="2852738"/>
            <a:ext cx="1484498" cy="219373"/>
          </a:xfrm>
          <a:prstGeom prst="roundRect">
            <a:avLst>
              <a:gd name="adj" fmla="val 13315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219362" tIns="35560" rIns="100330" bIns="35560" rtlCol="0" anchor="ctr"/>
          <a:lstStyle/>
          <a:p>
            <a:pPr marL="0" indent="0" algn="l">
              <a:buNone/>
            </a:pPr>
            <a:r>
              <a:rPr lang="en-US" sz="680" kern="0" spc="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 · THREAT INTEL</a:t>
            </a:r>
            <a:endParaRPr lang="en-US" sz="68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61094" y="2896055"/>
            <a:ext cx="132588" cy="13258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85800" y="3072110"/>
            <a:ext cx="228600" cy="228600"/>
          </a:xfrm>
          <a:prstGeom prst="ellipse">
            <a:avLst/>
          </a:prstGeom>
          <a:solidFill>
            <a:srgbClr val="00C8FF">
              <a:alpha val="10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3732" y="3120042"/>
            <a:ext cx="132588" cy="13258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85800" y="3310235"/>
            <a:ext cx="471258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IT, Security, Engineering &amp; Risk Teams across Financial Institutions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330845"/>
            <a:ext cx="29170" cy="314920"/>
          </a:xfrm>
          <a:prstGeom prst="roundRect">
            <a:avLst>
              <a:gd name="adj" fmla="val 47892"/>
            </a:avLst>
          </a:prstGeom>
          <a:solidFill>
            <a:srgbClr val="00C8FF"/>
          </a:solidFill>
          <a:ln/>
          <a:effectLst>
            <a:outerShdw blurRad="71120" dist="50800" dir="16200000" algn="bl" rotWithShape="0">
              <a:srgbClr val="00C8FF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257770"/>
            <a:ext cx="6100240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1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Technology Track: </a:t>
            </a:r>
            <a:r>
              <a:rPr lang="en-US" sz="1910" b="1" kern="0" spc="1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Agenda</a:t>
            </a:r>
            <a:endParaRPr lang="en-US" sz="1910" dirty="0"/>
          </a:p>
        </p:txBody>
      </p:sp>
      <p:sp>
        <p:nvSpPr>
          <p:cNvPr id="6" name="Text 4"/>
          <p:cNvSpPr/>
          <p:nvPr/>
        </p:nvSpPr>
        <p:spPr>
          <a:xfrm>
            <a:off x="558701" y="579834"/>
            <a:ext cx="62712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practitioner-focused track for technical and security professionals across financial institutions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29220" y="819150"/>
            <a:ext cx="8285559" cy="7590"/>
          </a:xfrm>
          <a:prstGeom prst="rect">
            <a:avLst/>
          </a:prstGeom>
          <a:gradFill rotWithShape="1">
            <a:gsLst>
              <a:gs pos="0">
                <a:srgbClr val="00C8FF"/>
              </a:gs>
              <a:gs pos="50000">
                <a:srgbClr val="00C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20" y="94104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11822" y="1036886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582216" y="107870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722" y="1155213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2216" y="1450777"/>
            <a:ext cx="26278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12-Month Technical Webinar Calendar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582216" y="1627287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sessions Jan–Dec 2026 covering IAM, DevSecOps, Zero Trust, Cloud, AI/ML Security &amp; more.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82216" y="2203103"/>
            <a:ext cx="787107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– DEC 2026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3224510" y="94104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07112" y="1036886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3377505" y="107870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012" y="1155213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77505" y="1450777"/>
            <a:ext cx="26278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CTI-Driven Threat Intelligence Integration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3377505" y="1627287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FS-ISAC CTI mapped to each session — attack actors, TTPs &amp; financial-sector threat context.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3377505" y="2203103"/>
            <a:ext cx="1065973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ALIGNED</a:t>
            </a:r>
            <a:endParaRPr lang="en-US" sz="560" dirty="0"/>
          </a:p>
        </p:txBody>
      </p:sp>
      <p:sp>
        <p:nvSpPr>
          <p:cNvPr id="22" name="Text 18"/>
          <p:cNvSpPr/>
          <p:nvPr/>
        </p:nvSpPr>
        <p:spPr>
          <a:xfrm>
            <a:off x="6019800" y="94104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8502402" y="1036886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6172795" y="107870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9302" y="1155213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72795" y="1450777"/>
            <a:ext cx="26278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Hands-On Technical Guidance &amp; Tooling</a:t>
            </a:r>
            <a:endParaRPr lang="en-US" sz="840" dirty="0"/>
          </a:p>
        </p:txBody>
      </p:sp>
      <p:sp>
        <p:nvSpPr>
          <p:cNvPr id="27" name="Text 22"/>
          <p:cNvSpPr/>
          <p:nvPr/>
        </p:nvSpPr>
        <p:spPr>
          <a:xfrm>
            <a:off x="6172795" y="1627287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implementation walkthroughs — Defender, CyberArk, Purview, SIEM/SOAR, Snyk &amp; more.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6172795" y="2203103"/>
            <a:ext cx="973068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PRACTITIONER-READY</a:t>
            </a:r>
            <a:endParaRPr lang="en-US" sz="560" dirty="0"/>
          </a:p>
        </p:txBody>
      </p:sp>
      <p:sp>
        <p:nvSpPr>
          <p:cNvPr id="29" name="Text 24"/>
          <p:cNvSpPr/>
          <p:nvPr/>
        </p:nvSpPr>
        <p:spPr>
          <a:xfrm>
            <a:off x="429220" y="258068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911822" y="2676525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20" dirty="0"/>
          </a:p>
        </p:txBody>
      </p:sp>
      <p:sp>
        <p:nvSpPr>
          <p:cNvPr id="31" name="Text 26"/>
          <p:cNvSpPr/>
          <p:nvPr/>
        </p:nvSpPr>
        <p:spPr>
          <a:xfrm>
            <a:off x="582216" y="271834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722" y="2794852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2216" y="3090416"/>
            <a:ext cx="2436769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 Profile v2.2 + NIST CSF 2.0 + MITRE ATT&amp;CK Mapping</a:t>
            </a:r>
            <a:endParaRPr lang="en-US" sz="840" dirty="0"/>
          </a:p>
        </p:txBody>
      </p:sp>
      <p:sp>
        <p:nvSpPr>
          <p:cNvPr id="34" name="Text 28"/>
          <p:cNvSpPr/>
          <p:nvPr/>
        </p:nvSpPr>
        <p:spPr>
          <a:xfrm>
            <a:off x="582216" y="3400276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session cross-walked to CRI diagnostics, NIST CSF functions &amp; ATT&amp;CK tactic coverage gaps.</a:t>
            </a:r>
            <a:endParaRPr lang="en-US" sz="650" dirty="0"/>
          </a:p>
        </p:txBody>
      </p:sp>
      <p:sp>
        <p:nvSpPr>
          <p:cNvPr id="35" name="Text 29"/>
          <p:cNvSpPr/>
          <p:nvPr/>
        </p:nvSpPr>
        <p:spPr>
          <a:xfrm>
            <a:off x="582216" y="3842742"/>
            <a:ext cx="880012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MAPPED</a:t>
            </a:r>
            <a:endParaRPr lang="en-US" sz="560" dirty="0"/>
          </a:p>
        </p:txBody>
      </p:sp>
      <p:sp>
        <p:nvSpPr>
          <p:cNvPr id="36" name="Text 30"/>
          <p:cNvSpPr/>
          <p:nvPr/>
        </p:nvSpPr>
        <p:spPr>
          <a:xfrm>
            <a:off x="3224510" y="258068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5707112" y="2676525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3377505" y="271834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4012" y="2794852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377505" y="3090416"/>
            <a:ext cx="26278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Role-Based Technical Deep Dives</a:t>
            </a:r>
            <a:endParaRPr lang="en-US" sz="840" dirty="0"/>
          </a:p>
        </p:txBody>
      </p:sp>
      <p:sp>
        <p:nvSpPr>
          <p:cNvPr id="41" name="Text 34"/>
          <p:cNvSpPr/>
          <p:nvPr/>
        </p:nvSpPr>
        <p:spPr>
          <a:xfrm>
            <a:off x="3377505" y="3266926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streams for SOC Analysts, Security Architects, Cloud Engineers, DevSecOps &amp; Risk Officers.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3377505" y="3842742"/>
            <a:ext cx="1391442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· SECURITY · ENGINEERING</a:t>
            </a:r>
            <a:endParaRPr lang="en-US" sz="560" dirty="0"/>
          </a:p>
        </p:txBody>
      </p:sp>
      <p:sp>
        <p:nvSpPr>
          <p:cNvPr id="43" name="Text 36"/>
          <p:cNvSpPr/>
          <p:nvPr/>
        </p:nvSpPr>
        <p:spPr>
          <a:xfrm>
            <a:off x="6019800" y="2580680"/>
            <a:ext cx="2694980" cy="1539329"/>
          </a:xfrm>
          <a:prstGeom prst="roundRect">
            <a:avLst>
              <a:gd name="adj" fmla="val 4620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8502402" y="2676525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620" dirty="0"/>
          </a:p>
        </p:txBody>
      </p:sp>
      <p:sp>
        <p:nvSpPr>
          <p:cNvPr id="45" name="Text 38"/>
          <p:cNvSpPr/>
          <p:nvPr/>
        </p:nvSpPr>
        <p:spPr>
          <a:xfrm>
            <a:off x="6172795" y="271834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9302" y="2794852"/>
            <a:ext cx="132588" cy="1325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172795" y="3090416"/>
            <a:ext cx="26278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Maturity KPIs &amp; Metrics</a:t>
            </a:r>
            <a:endParaRPr lang="en-US" sz="840" dirty="0"/>
          </a:p>
        </p:txBody>
      </p:sp>
      <p:sp>
        <p:nvSpPr>
          <p:cNvPr id="48" name="Text 40"/>
          <p:cNvSpPr/>
          <p:nvPr/>
        </p:nvSpPr>
        <p:spPr>
          <a:xfrm>
            <a:off x="6172795" y="3266926"/>
            <a:ext cx="2436769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MTTD, MTTR, patch compliance, MFA coverage &amp; CRI maturity scores — tracked quarterly to the board.</a:t>
            </a:r>
            <a:endParaRPr lang="en-US" sz="650" dirty="0"/>
          </a:p>
        </p:txBody>
      </p:sp>
      <p:sp>
        <p:nvSpPr>
          <p:cNvPr id="49" name="Text 41"/>
          <p:cNvSpPr/>
          <p:nvPr/>
        </p:nvSpPr>
        <p:spPr>
          <a:xfrm>
            <a:off x="6172795" y="3842742"/>
            <a:ext cx="1112577" cy="153442"/>
          </a:xfrm>
          <a:prstGeom prst="roundRect">
            <a:avLst>
              <a:gd name="adj" fmla="val 1903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GV.RM-4 REPORTING</a:t>
            </a:r>
            <a:endParaRPr lang="en-US" sz="560" dirty="0"/>
          </a:p>
        </p:txBody>
      </p:sp>
      <p:sp>
        <p:nvSpPr>
          <p:cNvPr id="50" name="Text 42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B1120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29220" y="5001667"/>
            <a:ext cx="35421" cy="35421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636091" y="4963269"/>
            <a:ext cx="411192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18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r>
              <a:rPr lang="en-US" sz="590" kern="0" spc="18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NIST CSF 2.0  |  MITRE ATT&amp;CK  |  Zero Trust  |  DevSecOps</a:t>
            </a:r>
            <a:endParaRPr lang="en-US" sz="590" dirty="0"/>
          </a:p>
        </p:txBody>
      </p:sp>
      <p:sp>
        <p:nvSpPr>
          <p:cNvPr id="54" name="Text 46"/>
          <p:cNvSpPr/>
          <p:nvPr/>
        </p:nvSpPr>
        <p:spPr>
          <a:xfrm>
            <a:off x="7257455" y="4965948"/>
            <a:ext cx="16030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SECURITY TRACK · 2026</a:t>
            </a:r>
            <a:endParaRPr lang="en-US" sz="560" dirty="0"/>
          </a:p>
        </p:txBody>
      </p:sp>
      <p:sp>
        <p:nvSpPr>
          <p:cNvPr id="55" name="Text 47"/>
          <p:cNvSpPr/>
          <p:nvPr/>
        </p:nvSpPr>
        <p:spPr>
          <a:xfrm>
            <a:off x="438745" y="95056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3234035" y="95056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6029325" y="95056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38745" y="259020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3234035" y="259020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6029325" y="2590205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71120" y="0"/>
                </a:moveTo>
                <a:lnTo>
                  <a:pt x="2604814" y="0"/>
                </a:lnTo>
                <a:lnTo>
                  <a:pt x="2620406" y="1730"/>
                </a:lnTo>
                <a:lnTo>
                  <a:pt x="2626728" y="3460"/>
                </a:lnTo>
                <a:lnTo>
                  <a:pt x="2631485" y="5190"/>
                </a:lnTo>
                <a:lnTo>
                  <a:pt x="2635416" y="6920"/>
                </a:lnTo>
                <a:lnTo>
                  <a:pt x="2638809" y="8651"/>
                </a:lnTo>
                <a:lnTo>
                  <a:pt x="2641812" y="10381"/>
                </a:lnTo>
                <a:lnTo>
                  <a:pt x="2644513" y="12111"/>
                </a:lnTo>
                <a:lnTo>
                  <a:pt x="264697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42875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C8FF"/>
              </a:gs>
              <a:gs pos="60000">
                <a:srgbClr val="00C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892820"/>
            <a:ext cx="1970780" cy="13841"/>
          </a:xfrm>
          <a:custGeom>
            <a:avLst/>
            <a:gdLst/>
            <a:ahLst/>
            <a:cxnLst/>
            <a:rect l="l" t="t" r="r" b="b"/>
            <a:pathLst>
              <a:path w="1970780" h="13841">
                <a:moveTo>
                  <a:pt x="86360" y="0"/>
                </a:moveTo>
                <a:lnTo>
                  <a:pt x="1884420" y="0"/>
                </a:lnTo>
                <a:lnTo>
                  <a:pt x="1901619" y="1730"/>
                </a:lnTo>
                <a:lnTo>
                  <a:pt x="1908620" y="3460"/>
                </a:lnTo>
                <a:lnTo>
                  <a:pt x="1913908" y="5190"/>
                </a:lnTo>
                <a:lnTo>
                  <a:pt x="1918293" y="6920"/>
                </a:lnTo>
                <a:lnTo>
                  <a:pt x="1922093" y="8651"/>
                </a:lnTo>
                <a:lnTo>
                  <a:pt x="1925471" y="10381"/>
                </a:lnTo>
                <a:lnTo>
                  <a:pt x="1928523" y="12111"/>
                </a:lnTo>
                <a:lnTo>
                  <a:pt x="19313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892820"/>
            <a:ext cx="857250" cy="857250"/>
          </a:xfrm>
          <a:prstGeom prst="rect">
            <a:avLst/>
          </a:prstGeom>
          <a:gradFill rotWithShape="1">
            <a:gsLst>
              <a:gs pos="0">
                <a:srgbClr val="00C8FF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7548" y="892820"/>
            <a:ext cx="1970780" cy="13841"/>
          </a:xfrm>
          <a:custGeom>
            <a:avLst/>
            <a:gdLst/>
            <a:ahLst/>
            <a:cxnLst/>
            <a:rect l="l" t="t" r="r" b="b"/>
            <a:pathLst>
              <a:path w="1970780" h="13841">
                <a:moveTo>
                  <a:pt x="86360" y="0"/>
                </a:moveTo>
                <a:lnTo>
                  <a:pt x="1884420" y="0"/>
                </a:lnTo>
                <a:lnTo>
                  <a:pt x="1901619" y="1730"/>
                </a:lnTo>
                <a:lnTo>
                  <a:pt x="1908620" y="3460"/>
                </a:lnTo>
                <a:lnTo>
                  <a:pt x="1913908" y="5190"/>
                </a:lnTo>
                <a:lnTo>
                  <a:pt x="1918293" y="6920"/>
                </a:lnTo>
                <a:lnTo>
                  <a:pt x="1922093" y="8651"/>
                </a:lnTo>
                <a:lnTo>
                  <a:pt x="1925471" y="10381"/>
                </a:lnTo>
                <a:lnTo>
                  <a:pt x="1928523" y="12111"/>
                </a:lnTo>
                <a:lnTo>
                  <a:pt x="19313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27548" y="892820"/>
            <a:ext cx="857250" cy="857250"/>
          </a:xfrm>
          <a:prstGeom prst="rect">
            <a:avLst/>
          </a:prstGeom>
          <a:gradFill rotWithShape="1">
            <a:gsLst>
              <a:gs pos="0">
                <a:srgbClr val="00C8FF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5521" y="892820"/>
            <a:ext cx="1970780" cy="13841"/>
          </a:xfrm>
          <a:custGeom>
            <a:avLst/>
            <a:gdLst/>
            <a:ahLst/>
            <a:cxnLst/>
            <a:rect l="l" t="t" r="r" b="b"/>
            <a:pathLst>
              <a:path w="1970780" h="13841">
                <a:moveTo>
                  <a:pt x="86360" y="0"/>
                </a:moveTo>
                <a:lnTo>
                  <a:pt x="1884420" y="0"/>
                </a:lnTo>
                <a:lnTo>
                  <a:pt x="1901619" y="1730"/>
                </a:lnTo>
                <a:lnTo>
                  <a:pt x="1908620" y="3460"/>
                </a:lnTo>
                <a:lnTo>
                  <a:pt x="1913908" y="5190"/>
                </a:lnTo>
                <a:lnTo>
                  <a:pt x="1918293" y="6920"/>
                </a:lnTo>
                <a:lnTo>
                  <a:pt x="1922093" y="8651"/>
                </a:lnTo>
                <a:lnTo>
                  <a:pt x="1925471" y="10381"/>
                </a:lnTo>
                <a:lnTo>
                  <a:pt x="1928523" y="12111"/>
                </a:lnTo>
                <a:lnTo>
                  <a:pt x="19313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5521" y="892820"/>
            <a:ext cx="857250" cy="857250"/>
          </a:xfrm>
          <a:prstGeom prst="rect">
            <a:avLst/>
          </a:prstGeom>
          <a:gradFill rotWithShape="1">
            <a:gsLst>
              <a:gs pos="0">
                <a:srgbClr val="00C8FF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63494" y="892820"/>
            <a:ext cx="1970932" cy="13841"/>
          </a:xfrm>
          <a:custGeom>
            <a:avLst/>
            <a:gdLst/>
            <a:ahLst/>
            <a:cxnLst/>
            <a:rect l="l" t="t" r="r" b="b"/>
            <a:pathLst>
              <a:path w="1970932" h="13841">
                <a:moveTo>
                  <a:pt x="86360" y="0"/>
                </a:moveTo>
                <a:lnTo>
                  <a:pt x="1884572" y="0"/>
                </a:lnTo>
                <a:lnTo>
                  <a:pt x="1901772" y="1730"/>
                </a:lnTo>
                <a:lnTo>
                  <a:pt x="1908773" y="3460"/>
                </a:lnTo>
                <a:lnTo>
                  <a:pt x="1914060" y="5190"/>
                </a:lnTo>
                <a:lnTo>
                  <a:pt x="1918446" y="6920"/>
                </a:lnTo>
                <a:lnTo>
                  <a:pt x="1922246" y="8651"/>
                </a:lnTo>
                <a:lnTo>
                  <a:pt x="1925623" y="10381"/>
                </a:lnTo>
                <a:lnTo>
                  <a:pt x="1928675" y="12111"/>
                </a:lnTo>
                <a:lnTo>
                  <a:pt x="193146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63494" y="892820"/>
            <a:ext cx="857250" cy="857250"/>
          </a:xfrm>
          <a:prstGeom prst="rect">
            <a:avLst/>
          </a:prstGeom>
          <a:gradFill rotWithShape="1">
            <a:gsLst>
              <a:gs pos="0">
                <a:srgbClr val="00C8FF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0360" y="267295"/>
            <a:ext cx="317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kern="0" spc="11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INTELLIGENCE BRIEF</a:t>
            </a:r>
            <a:endParaRPr lang="en-US" sz="620" dirty="0"/>
          </a:p>
          <a:p>
            <a:pPr marL="0" indent="0" algn="l">
              <a:buNone/>
            </a:pPr>
            <a:r>
              <a:rPr lang="en-US" sz="620" kern="0" spc="11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20" dirty="0"/>
          </a:p>
          <a:p>
            <a:pPr marL="0" indent="0" algn="l">
              <a:buNone/>
            </a:pPr>
            <a:r>
              <a:rPr lang="en-US" sz="620" kern="0" spc="11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FINANCIAL SECTOR · 2026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400050" y="295126"/>
            <a:ext cx="43160" cy="43160"/>
          </a:xfrm>
          <a:prstGeom prst="ellipse">
            <a:avLst/>
          </a:prstGeom>
          <a:solidFill>
            <a:srgbClr val="00C8FF">
              <a:alpha val="90000"/>
            </a:srgbClr>
          </a:solidFill>
          <a:ln/>
          <a:effectLst>
            <a:outerShdw blurRad="43180" dist="50800" dir="16200000" algn="bl" rotWithShape="0">
              <a:srgbClr val="00C8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94607" y="295126"/>
            <a:ext cx="43160" cy="43160"/>
          </a:xfrm>
          <a:prstGeom prst="ellipse">
            <a:avLst/>
          </a:prstGeom>
          <a:solidFill>
            <a:srgbClr val="00C8FF">
              <a:alpha val="36000"/>
            </a:srgbClr>
          </a:solidFill>
          <a:ln/>
          <a:effectLst>
            <a:outerShdw blurRad="43180" dist="50800" dir="16200000" algn="bl" rotWithShape="0">
              <a:srgbClr val="00C8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050" y="43294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1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Threat Reality: </a:t>
            </a:r>
            <a:r>
              <a:rPr lang="en-US" sz="1910" b="1" kern="0" spc="-1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Financial Sector Landscape</a:t>
            </a:r>
            <a:endParaRPr lang="en-US" sz="1910" dirty="0"/>
          </a:p>
        </p:txBody>
      </p:sp>
      <p:sp>
        <p:nvSpPr>
          <p:cNvPr id="18" name="Text 16"/>
          <p:cNvSpPr/>
          <p:nvPr/>
        </p:nvSpPr>
        <p:spPr>
          <a:xfrm>
            <a:off x="400050" y="883295"/>
            <a:ext cx="1989832" cy="3579763"/>
          </a:xfrm>
          <a:prstGeom prst="roundRect">
            <a:avLst>
              <a:gd name="adj" fmla="val 4340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035" y="1078111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7035" y="1407021"/>
            <a:ext cx="1738655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kern="0" spc="-70" dirty="0">
                <a:solidFill>
                  <a:srgbClr val="00C8FF"/>
                </a:solidFill>
                <a:effectLst>
                  <a:glow rad="571500">
                    <a:srgbClr val="00C8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95%</a:t>
            </a:r>
            <a:endParaRPr lang="en-US" sz="3490" dirty="0"/>
          </a:p>
        </p:txBody>
      </p:sp>
      <p:sp>
        <p:nvSpPr>
          <p:cNvPr id="21" name="Text 18"/>
          <p:cNvSpPr/>
          <p:nvPr/>
        </p:nvSpPr>
        <p:spPr>
          <a:xfrm>
            <a:off x="567035" y="1921222"/>
            <a:ext cx="1688979" cy="222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 cyberattacks against financial institutions now leverage some form of </a:t>
            </a:r>
            <a:r>
              <a:rPr lang="en-US" sz="7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AI-assisted tooling</a:t>
            </a: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67035" y="4108847"/>
            <a:ext cx="1688979" cy="187226"/>
          </a:xfrm>
          <a:prstGeom prst="rect">
            <a:avLst/>
          </a:prstGeom>
          <a:noFill/>
          <a:ln/>
        </p:spPr>
        <p:txBody>
          <a:bodyPr wrap="none" lIns="0" tIns="71120" rIns="0" bIns="0" rtlCol="0" anchor="t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Threat Intelligence · 2026</a:t>
            </a:r>
            <a:endParaRPr lang="en-US" sz="560" dirty="0"/>
          </a:p>
        </p:txBody>
      </p:sp>
      <p:sp>
        <p:nvSpPr>
          <p:cNvPr id="23" name="Text 20"/>
          <p:cNvSpPr/>
          <p:nvPr/>
        </p:nvSpPr>
        <p:spPr>
          <a:xfrm>
            <a:off x="567035" y="4108847"/>
            <a:ext cx="1655862" cy="9525"/>
          </a:xfrm>
          <a:prstGeom prst="rect">
            <a:avLst/>
          </a:prstGeom>
          <a:solidFill>
            <a:srgbClr val="00C8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518023" y="883295"/>
            <a:ext cx="1989832" cy="3579763"/>
          </a:xfrm>
          <a:prstGeom prst="roundRect">
            <a:avLst>
              <a:gd name="adj" fmla="val 4340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5008" y="1078111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685008" y="1407021"/>
            <a:ext cx="1738655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kern="0" spc="-70" dirty="0">
                <a:solidFill>
                  <a:srgbClr val="00C8FF"/>
                </a:solidFill>
                <a:effectLst>
                  <a:glow rad="571500">
                    <a:srgbClr val="00C8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68</a:t>
            </a:r>
            <a:r>
              <a:rPr lang="en-US" sz="2030" kern="0" spc="-70" dirty="0">
                <a:solidFill>
                  <a:srgbClr val="00C8FF"/>
                </a:solidFill>
                <a:effectLst>
                  <a:glow rad="571500">
                    <a:srgbClr val="00C8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days</a:t>
            </a:r>
            <a:endParaRPr lang="en-US" sz="3490" dirty="0"/>
          </a:p>
        </p:txBody>
      </p:sp>
      <p:sp>
        <p:nvSpPr>
          <p:cNvPr id="27" name="Text 23"/>
          <p:cNvSpPr/>
          <p:nvPr/>
        </p:nvSpPr>
        <p:spPr>
          <a:xfrm>
            <a:off x="2685008" y="1921222"/>
            <a:ext cx="1688979" cy="211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average </a:t>
            </a:r>
            <a:r>
              <a:rPr lang="en-US" sz="7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dwell time</a:t>
            </a: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 financial sector breach detection — adversaries operate undetected for over two months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2685008" y="4002137"/>
            <a:ext cx="1655862" cy="302754"/>
          </a:xfrm>
          <a:prstGeom prst="rect">
            <a:avLst/>
          </a:prstGeom>
          <a:noFill/>
          <a:ln/>
        </p:spPr>
        <p:txBody>
          <a:bodyPr wrap="none" lIns="0" tIns="71120" rIns="0" bIns="0" rtlCol="0" anchor="t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Cost of a Data Breach Report · 2025</a:t>
            </a:r>
            <a:endParaRPr lang="en-US" sz="560" dirty="0"/>
          </a:p>
        </p:txBody>
      </p:sp>
      <p:sp>
        <p:nvSpPr>
          <p:cNvPr id="29" name="Text 25"/>
          <p:cNvSpPr/>
          <p:nvPr/>
        </p:nvSpPr>
        <p:spPr>
          <a:xfrm>
            <a:off x="2685008" y="4002137"/>
            <a:ext cx="1655862" cy="9525"/>
          </a:xfrm>
          <a:prstGeom prst="rect">
            <a:avLst/>
          </a:prstGeom>
          <a:solidFill>
            <a:srgbClr val="00C8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635996" y="883295"/>
            <a:ext cx="1989832" cy="3579763"/>
          </a:xfrm>
          <a:prstGeom prst="roundRect">
            <a:avLst>
              <a:gd name="adj" fmla="val 4340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981" y="1078111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02981" y="1407021"/>
            <a:ext cx="1738655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kern="0" spc="-70" dirty="0">
                <a:solidFill>
                  <a:srgbClr val="00C8FF"/>
                </a:solidFill>
                <a:effectLst>
                  <a:glow rad="571500">
                    <a:srgbClr val="00C8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3490" dirty="0"/>
          </a:p>
        </p:txBody>
      </p:sp>
      <p:sp>
        <p:nvSpPr>
          <p:cNvPr id="33" name="Text 28"/>
          <p:cNvSpPr/>
          <p:nvPr/>
        </p:nvSpPr>
        <p:spPr>
          <a:xfrm>
            <a:off x="4802981" y="1921222"/>
            <a:ext cx="1688979" cy="222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 financial breaches originate from </a:t>
            </a:r>
            <a:r>
              <a:rPr lang="en-US" sz="7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compromised privileged credentials</a:t>
            </a: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the highest-value target for advanced threat actors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4802981" y="4108847"/>
            <a:ext cx="1688979" cy="187226"/>
          </a:xfrm>
          <a:prstGeom prst="rect">
            <a:avLst/>
          </a:prstGeom>
          <a:noFill/>
          <a:ln/>
        </p:spPr>
        <p:txBody>
          <a:bodyPr wrap="none" lIns="0" tIns="71120" rIns="0" bIns="0" rtlCol="0" anchor="t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Threat Research · 2025–2026</a:t>
            </a:r>
            <a:endParaRPr lang="en-US" sz="560" dirty="0"/>
          </a:p>
        </p:txBody>
      </p:sp>
      <p:sp>
        <p:nvSpPr>
          <p:cNvPr id="35" name="Text 30"/>
          <p:cNvSpPr/>
          <p:nvPr/>
        </p:nvSpPr>
        <p:spPr>
          <a:xfrm>
            <a:off x="4802981" y="4108847"/>
            <a:ext cx="1655862" cy="9525"/>
          </a:xfrm>
          <a:prstGeom prst="rect">
            <a:avLst/>
          </a:prstGeom>
          <a:solidFill>
            <a:srgbClr val="00C8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753969" y="883295"/>
            <a:ext cx="1989981" cy="3579763"/>
          </a:xfrm>
          <a:prstGeom prst="roundRect">
            <a:avLst>
              <a:gd name="adj" fmla="val 4340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0954" y="1078111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20954" y="1407021"/>
            <a:ext cx="1738811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90"/>
              </a:lnSpc>
              <a:buNone/>
            </a:pPr>
            <a:r>
              <a:rPr lang="en-US" sz="3490" kern="0" spc="-70" dirty="0">
                <a:solidFill>
                  <a:srgbClr val="00C8FF"/>
                </a:solidFill>
                <a:effectLst>
                  <a:glow rad="571500">
                    <a:srgbClr val="00C8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$2.9B</a:t>
            </a:r>
            <a:endParaRPr lang="en-US" sz="3490" dirty="0"/>
          </a:p>
        </p:txBody>
      </p:sp>
      <p:sp>
        <p:nvSpPr>
          <p:cNvPr id="39" name="Text 33"/>
          <p:cNvSpPr/>
          <p:nvPr/>
        </p:nvSpPr>
        <p:spPr>
          <a:xfrm>
            <a:off x="6920954" y="1921222"/>
            <a:ext cx="1689131" cy="211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total </a:t>
            </a:r>
            <a:r>
              <a:rPr lang="en-US" sz="7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 losses</a:t>
            </a: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reported to FBI IC3 in 2025 — primarily targeting financial institutions via wire transfer fraud</a:t>
            </a:r>
            <a:br/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6920954" y="4002137"/>
            <a:ext cx="1656011" cy="302754"/>
          </a:xfrm>
          <a:prstGeom prst="rect">
            <a:avLst/>
          </a:prstGeom>
          <a:noFill/>
          <a:ln/>
        </p:spPr>
        <p:txBody>
          <a:bodyPr wrap="none" lIns="0" tIns="71120" rIns="0" bIns="0" rtlCol="0" anchor="t"/>
          <a:lstStyle/>
          <a:p>
            <a:pPr marL="0" indent="0" algn="l">
              <a:buNone/>
            </a:pP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FBI Internet Crime Report (IC3) · 2025</a:t>
            </a:r>
            <a:endParaRPr lang="en-US" sz="560" dirty="0"/>
          </a:p>
        </p:txBody>
      </p:sp>
      <p:sp>
        <p:nvSpPr>
          <p:cNvPr id="41" name="Text 35"/>
          <p:cNvSpPr/>
          <p:nvPr/>
        </p:nvSpPr>
        <p:spPr>
          <a:xfrm>
            <a:off x="6920954" y="4002137"/>
            <a:ext cx="1656011" cy="9525"/>
          </a:xfrm>
          <a:prstGeom prst="rect">
            <a:avLst/>
          </a:prstGeom>
          <a:solidFill>
            <a:srgbClr val="00C8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00050" y="4591199"/>
            <a:ext cx="8343900" cy="351681"/>
          </a:xfrm>
          <a:prstGeom prst="roundRect">
            <a:avLst>
              <a:gd name="adj" fmla="val 16251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3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823" y="4700671"/>
            <a:ext cx="132588" cy="13258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9498" y="4687044"/>
            <a:ext cx="70143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controls matter</a:t>
            </a:r>
            <a:r>
              <a:rPr lang="en-US" sz="840" kern="0" spc="8" dirty="0">
                <a:solidFill>
                  <a:srgbClr val="7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but only when properly implemented and continuously validated against an evolving threat landscape.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43970" cy="38582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559" y="1714500"/>
            <a:ext cx="4287441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1595" y="947886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80C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214985" y="947886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E5A0"/>
              </a:gs>
              <a:gs pos="100000">
                <a:srgbClr val="00B8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48375" y="947886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7B5CFF"/>
              </a:gs>
              <a:gs pos="100000">
                <a:srgbClr val="5A3FD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81595" y="2319933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FF9F00"/>
              </a:gs>
              <a:gs pos="100000">
                <a:srgbClr val="E07A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214985" y="2319933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FF4F6D"/>
              </a:gs>
              <a:gs pos="100000">
                <a:srgbClr val="CC22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48375" y="2319933"/>
            <a:ext cx="2714034" cy="13841"/>
          </a:xfrm>
          <a:custGeom>
            <a:avLst/>
            <a:gdLst/>
            <a:ahLst/>
            <a:cxnLst/>
            <a:rect l="l" t="t" r="r" b="b"/>
            <a:pathLst>
              <a:path w="2714034" h="13841">
                <a:moveTo>
                  <a:pt x="57150" y="0"/>
                </a:moveTo>
                <a:lnTo>
                  <a:pt x="2656884" y="0"/>
                </a:lnTo>
                <a:lnTo>
                  <a:pt x="2670840" y="1730"/>
                </a:lnTo>
                <a:lnTo>
                  <a:pt x="2676468" y="3460"/>
                </a:lnTo>
                <a:lnTo>
                  <a:pt x="2680682" y="5190"/>
                </a:lnTo>
                <a:lnTo>
                  <a:pt x="2684145" y="6920"/>
                </a:lnTo>
                <a:lnTo>
                  <a:pt x="2687116" y="8651"/>
                </a:lnTo>
                <a:lnTo>
                  <a:pt x="2689729" y="10381"/>
                </a:lnTo>
                <a:lnTo>
                  <a:pt x="2692064" y="12111"/>
                </a:lnTo>
                <a:lnTo>
                  <a:pt x="269417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D4D4"/>
              </a:gs>
              <a:gs pos="100000">
                <a:srgbClr val="0099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72070" y="252710"/>
            <a:ext cx="228600" cy="13841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1661" y="200620"/>
            <a:ext cx="311116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ALIGNMENT · TECHNICAL SECURITY TRACK</a:t>
            </a:r>
            <a:endParaRPr lang="en-US" sz="620" dirty="0"/>
          </a:p>
        </p:txBody>
      </p:sp>
      <p:sp>
        <p:nvSpPr>
          <p:cNvPr id="14" name="Text 10"/>
          <p:cNvSpPr/>
          <p:nvPr/>
        </p:nvSpPr>
        <p:spPr>
          <a:xfrm>
            <a:off x="372070" y="361801"/>
            <a:ext cx="898785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-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Framework Alignment: </a:t>
            </a:r>
            <a:r>
              <a:rPr lang="en-US" sz="1580" kern="0" spc="-16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CSF 2.0</a:t>
            </a:r>
            <a:r>
              <a:rPr lang="en-US" sz="1580" kern="0" spc="-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+ CRI Profile v2.2 + MITRE ATT&amp;CK</a:t>
            </a:r>
            <a:endParaRPr lang="en-US" sz="1580" dirty="0"/>
          </a:p>
        </p:txBody>
      </p:sp>
      <p:sp>
        <p:nvSpPr>
          <p:cNvPr id="15" name="Text 11"/>
          <p:cNvSpPr/>
          <p:nvPr/>
        </p:nvSpPr>
        <p:spPr>
          <a:xfrm>
            <a:off x="372070" y="649635"/>
            <a:ext cx="1780214" cy="174427"/>
          </a:xfrm>
          <a:prstGeom prst="roundRect">
            <a:avLst>
              <a:gd name="adj" fmla="val 16746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142101" tIns="21590" rIns="71120" bIns="21590" rtlCol="0" anchor="ctr"/>
          <a:lstStyle/>
          <a:p>
            <a:pPr marL="0" indent="0" algn="l">
              <a:buNone/>
            </a:pPr>
            <a:r>
              <a:rPr lang="en-US" sz="590" kern="0" spc="29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 — 6 Core Functions</a:t>
            </a:r>
            <a:endParaRPr lang="en-US" sz="590" dirty="0"/>
          </a:p>
        </p:txBody>
      </p:sp>
      <p:sp>
        <p:nvSpPr>
          <p:cNvPr id="16" name="Text 12"/>
          <p:cNvSpPr/>
          <p:nvPr/>
        </p:nvSpPr>
        <p:spPr>
          <a:xfrm>
            <a:off x="452586" y="719138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188369" y="649635"/>
            <a:ext cx="1630838" cy="174427"/>
          </a:xfrm>
          <a:prstGeom prst="roundRect">
            <a:avLst>
              <a:gd name="adj" fmla="val 16746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142101" tIns="21590" rIns="71120" bIns="21590" rtlCol="0" anchor="ctr"/>
          <a:lstStyle/>
          <a:p>
            <a:pPr marL="0" indent="0" algn="l">
              <a:buNone/>
            </a:pPr>
            <a:r>
              <a:rPr lang="en-US" sz="590" kern="0" spc="29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 Diagnostics</a:t>
            </a:r>
            <a:endParaRPr lang="en-US" sz="590" dirty="0"/>
          </a:p>
        </p:txBody>
      </p:sp>
      <p:sp>
        <p:nvSpPr>
          <p:cNvPr id="18" name="Text 14"/>
          <p:cNvSpPr/>
          <p:nvPr/>
        </p:nvSpPr>
        <p:spPr>
          <a:xfrm>
            <a:off x="2268885" y="719138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858220" y="649635"/>
            <a:ext cx="1581046" cy="174427"/>
          </a:xfrm>
          <a:prstGeom prst="roundRect">
            <a:avLst>
              <a:gd name="adj" fmla="val 16746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142101" tIns="21590" rIns="71120" bIns="21590" rtlCol="0" anchor="ctr"/>
          <a:lstStyle/>
          <a:p>
            <a:pPr marL="0" indent="0" algn="l">
              <a:buNone/>
            </a:pPr>
            <a:r>
              <a:rPr lang="en-US" sz="590" kern="0" spc="29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Tactic Mapping</a:t>
            </a:r>
            <a:endParaRPr lang="en-US" sz="590" dirty="0"/>
          </a:p>
        </p:txBody>
      </p:sp>
      <p:sp>
        <p:nvSpPr>
          <p:cNvPr id="20" name="Text 16"/>
          <p:cNvSpPr/>
          <p:nvPr/>
        </p:nvSpPr>
        <p:spPr>
          <a:xfrm>
            <a:off x="3938736" y="719138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72070" y="938361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09736" y="1062186"/>
            <a:ext cx="644107" cy="161181"/>
          </a:xfrm>
          <a:prstGeom prst="roundRect">
            <a:avLst>
              <a:gd name="adj" fmla="val 18123"/>
            </a:avLst>
          </a:prstGeom>
          <a:solidFill>
            <a:srgbClr val="00C8FF">
              <a:alpha val="13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</a:t>
            </a:r>
            <a:endParaRPr lang="en-US" sz="62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019" y="1076408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9736" y="1280517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GV.RM-1 · GV.RM-3 · GV.RM-5</a:t>
            </a:r>
            <a:endParaRPr lang="en-US" sz="590" dirty="0"/>
          </a:p>
        </p:txBody>
      </p:sp>
      <p:sp>
        <p:nvSpPr>
          <p:cNvPr id="25" name="Text 20"/>
          <p:cNvSpPr/>
          <p:nvPr/>
        </p:nvSpPr>
        <p:spPr>
          <a:xfrm>
            <a:off x="509736" y="1449884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Risk-informed security architecture decisions — governance structures, policies, and risk tolerance frameworks driving technical control investment.</a:t>
            </a:r>
            <a:endParaRPr lang="en-US" sz="760" dirty="0"/>
          </a:p>
        </p:txBody>
      </p:sp>
      <p:sp>
        <p:nvSpPr>
          <p:cNvPr id="26" name="Text 21"/>
          <p:cNvSpPr/>
          <p:nvPr/>
        </p:nvSpPr>
        <p:spPr>
          <a:xfrm>
            <a:off x="509736" y="1912441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09736" y="1982242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28" name="Text 23"/>
          <p:cNvSpPr/>
          <p:nvPr/>
        </p:nvSpPr>
        <p:spPr>
          <a:xfrm>
            <a:off x="873472" y="1965127"/>
            <a:ext cx="913656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Development</a:t>
            </a:r>
            <a:endParaRPr lang="en-US" sz="530" dirty="0"/>
          </a:p>
        </p:txBody>
      </p:sp>
      <p:sp>
        <p:nvSpPr>
          <p:cNvPr id="29" name="Text 24"/>
          <p:cNvSpPr/>
          <p:nvPr/>
        </p:nvSpPr>
        <p:spPr>
          <a:xfrm>
            <a:off x="1830288" y="1965127"/>
            <a:ext cx="671215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Access</a:t>
            </a:r>
            <a:endParaRPr lang="en-US" sz="530" dirty="0"/>
          </a:p>
        </p:txBody>
      </p:sp>
      <p:sp>
        <p:nvSpPr>
          <p:cNvPr id="30" name="Text 25"/>
          <p:cNvSpPr/>
          <p:nvPr/>
        </p:nvSpPr>
        <p:spPr>
          <a:xfrm>
            <a:off x="3205460" y="938361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343126" y="1062186"/>
            <a:ext cx="677960" cy="161181"/>
          </a:xfrm>
          <a:prstGeom prst="roundRect">
            <a:avLst>
              <a:gd name="adj" fmla="val 18123"/>
            </a:avLst>
          </a:prstGeom>
          <a:solidFill>
            <a:srgbClr val="00E5A0">
              <a:alpha val="13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</a:t>
            </a:r>
            <a:endParaRPr lang="en-US" sz="62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2408" y="1076408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343126" y="1280517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ID.AM-1 · ID.AM-3 · ID.RA-1 · ID.RA-5</a:t>
            </a:r>
            <a:endParaRPr lang="en-US" sz="590" dirty="0"/>
          </a:p>
        </p:txBody>
      </p:sp>
      <p:sp>
        <p:nvSpPr>
          <p:cNvPr id="34" name="Text 28"/>
          <p:cNvSpPr/>
          <p:nvPr/>
        </p:nvSpPr>
        <p:spPr>
          <a:xfrm>
            <a:off x="3343126" y="1449884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 inventory, threat modeling, and vulnerability management — knowing what you have, what threatens it, and where exposure lies.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3343126" y="1912441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3343126" y="1982242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37" name="Text 31"/>
          <p:cNvSpPr/>
          <p:nvPr/>
        </p:nvSpPr>
        <p:spPr>
          <a:xfrm>
            <a:off x="3706862" y="1965127"/>
            <a:ext cx="671215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Reconnaissance</a:t>
            </a:r>
            <a:endParaRPr lang="en-US" sz="530" dirty="0"/>
          </a:p>
        </p:txBody>
      </p:sp>
      <p:sp>
        <p:nvSpPr>
          <p:cNvPr id="38" name="Text 32"/>
          <p:cNvSpPr/>
          <p:nvPr/>
        </p:nvSpPr>
        <p:spPr>
          <a:xfrm>
            <a:off x="4421237" y="1965127"/>
            <a:ext cx="469106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530" dirty="0"/>
          </a:p>
        </p:txBody>
      </p:sp>
      <p:sp>
        <p:nvSpPr>
          <p:cNvPr id="39" name="Text 33"/>
          <p:cNvSpPr/>
          <p:nvPr/>
        </p:nvSpPr>
        <p:spPr>
          <a:xfrm>
            <a:off x="6038850" y="938361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176516" y="1062186"/>
            <a:ext cx="687827" cy="161181"/>
          </a:xfrm>
          <a:prstGeom prst="roundRect">
            <a:avLst>
              <a:gd name="adj" fmla="val 18123"/>
            </a:avLst>
          </a:prstGeom>
          <a:solidFill>
            <a:srgbClr val="7B5CFF">
              <a:alpha val="15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9B8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</a:t>
            </a:r>
            <a:endParaRPr lang="en-US" sz="62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5798" y="1076408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176516" y="1280517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PR.AC-1 · PR.AC-4 · PR.DS-1 · PR.PS-1</a:t>
            </a:r>
            <a:endParaRPr lang="en-US" sz="590" dirty="0"/>
          </a:p>
        </p:txBody>
      </p:sp>
      <p:sp>
        <p:nvSpPr>
          <p:cNvPr id="43" name="Text 36"/>
          <p:cNvSpPr/>
          <p:nvPr/>
        </p:nvSpPr>
        <p:spPr>
          <a:xfrm>
            <a:off x="6176516" y="1449884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IAM, data security, and platform hardening — enforcing least privilege, encrypting sensitive data, and securing the software supply chain.</a:t>
            </a:r>
            <a:endParaRPr lang="en-US" sz="760" dirty="0"/>
          </a:p>
        </p:txBody>
      </p:sp>
      <p:sp>
        <p:nvSpPr>
          <p:cNvPr id="44" name="Text 37"/>
          <p:cNvSpPr/>
          <p:nvPr/>
        </p:nvSpPr>
        <p:spPr>
          <a:xfrm>
            <a:off x="6176516" y="1912441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6176516" y="1982242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46" name="Text 39"/>
          <p:cNvSpPr/>
          <p:nvPr/>
        </p:nvSpPr>
        <p:spPr>
          <a:xfrm>
            <a:off x="6540252" y="1965127"/>
            <a:ext cx="792361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Access</a:t>
            </a:r>
            <a:endParaRPr lang="en-US" sz="530" dirty="0"/>
          </a:p>
        </p:txBody>
      </p:sp>
      <p:sp>
        <p:nvSpPr>
          <p:cNvPr id="47" name="Text 40"/>
          <p:cNvSpPr/>
          <p:nvPr/>
        </p:nvSpPr>
        <p:spPr>
          <a:xfrm>
            <a:off x="7375773" y="1965127"/>
            <a:ext cx="711547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Evasion</a:t>
            </a:r>
            <a:endParaRPr lang="en-US" sz="530" dirty="0"/>
          </a:p>
        </p:txBody>
      </p:sp>
      <p:sp>
        <p:nvSpPr>
          <p:cNvPr id="48" name="Text 41"/>
          <p:cNvSpPr/>
          <p:nvPr/>
        </p:nvSpPr>
        <p:spPr>
          <a:xfrm>
            <a:off x="372070" y="2310408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509736" y="2434233"/>
            <a:ext cx="617390" cy="161181"/>
          </a:xfrm>
          <a:prstGeom prst="roundRect">
            <a:avLst>
              <a:gd name="adj" fmla="val 18123"/>
            </a:avLst>
          </a:prstGeom>
          <a:solidFill>
            <a:srgbClr val="FF9F00">
              <a:alpha val="13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FFB7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</a:t>
            </a:r>
            <a:endParaRPr lang="en-US" sz="62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019" y="2448455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09736" y="2652564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 · DE.CM-3 · DE.AE-1 · DE.AE-2</a:t>
            </a:r>
            <a:endParaRPr lang="en-US" sz="590" dirty="0"/>
          </a:p>
        </p:txBody>
      </p:sp>
      <p:sp>
        <p:nvSpPr>
          <p:cNvPr id="52" name="Text 44"/>
          <p:cNvSpPr/>
          <p:nvPr/>
        </p:nvSpPr>
        <p:spPr>
          <a:xfrm>
            <a:off x="509736" y="2821930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monitoring and anomaly detection — SIEM/SOAR pipelines, behavioral analytics, and continuous visibility across endpoints, identity, and cloud.</a:t>
            </a:r>
            <a:endParaRPr lang="en-US" sz="760" dirty="0"/>
          </a:p>
        </p:txBody>
      </p:sp>
      <p:sp>
        <p:nvSpPr>
          <p:cNvPr id="53" name="Text 45"/>
          <p:cNvSpPr/>
          <p:nvPr/>
        </p:nvSpPr>
        <p:spPr>
          <a:xfrm>
            <a:off x="509736" y="3284488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509736" y="3354288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55" name="Text 47"/>
          <p:cNvSpPr/>
          <p:nvPr/>
        </p:nvSpPr>
        <p:spPr>
          <a:xfrm>
            <a:off x="873472" y="3337173"/>
            <a:ext cx="752029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Movement</a:t>
            </a:r>
            <a:endParaRPr lang="en-US" sz="530" dirty="0"/>
          </a:p>
        </p:txBody>
      </p:sp>
      <p:sp>
        <p:nvSpPr>
          <p:cNvPr id="56" name="Text 48"/>
          <p:cNvSpPr/>
          <p:nvPr/>
        </p:nvSpPr>
        <p:spPr>
          <a:xfrm>
            <a:off x="1668661" y="3337173"/>
            <a:ext cx="590401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Exfiltration</a:t>
            </a:r>
            <a:endParaRPr lang="en-US" sz="530" dirty="0"/>
          </a:p>
        </p:txBody>
      </p:sp>
      <p:sp>
        <p:nvSpPr>
          <p:cNvPr id="57" name="Text 49"/>
          <p:cNvSpPr/>
          <p:nvPr/>
        </p:nvSpPr>
        <p:spPr>
          <a:xfrm>
            <a:off x="3205460" y="2310408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3343126" y="2434233"/>
            <a:ext cx="701186" cy="161181"/>
          </a:xfrm>
          <a:prstGeom prst="roundRect">
            <a:avLst>
              <a:gd name="adj" fmla="val 18123"/>
            </a:avLst>
          </a:prstGeom>
          <a:solidFill>
            <a:srgbClr val="FF4F6D">
              <a:alpha val="13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FF7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RESPOND</a:t>
            </a:r>
            <a:endParaRPr lang="en-US" sz="62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2408" y="2448455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3343126" y="2652564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RS.AN-1 · RS.AN-4 · RS.CO-2 · RS.CO-3</a:t>
            </a:r>
            <a:endParaRPr lang="en-US" sz="590" dirty="0"/>
          </a:p>
        </p:txBody>
      </p:sp>
      <p:sp>
        <p:nvSpPr>
          <p:cNvPr id="61" name="Text 52"/>
          <p:cNvSpPr/>
          <p:nvPr/>
        </p:nvSpPr>
        <p:spPr>
          <a:xfrm>
            <a:off x="3343126" y="2821930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analysis, communication, and forensics — structured triage, chain-of-custody evidence handling, and regulatory notification workflows.</a:t>
            </a:r>
            <a:endParaRPr lang="en-US" sz="760" dirty="0"/>
          </a:p>
        </p:txBody>
      </p:sp>
      <p:sp>
        <p:nvSpPr>
          <p:cNvPr id="62" name="Text 53"/>
          <p:cNvSpPr/>
          <p:nvPr/>
        </p:nvSpPr>
        <p:spPr>
          <a:xfrm>
            <a:off x="3343126" y="3284488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3343126" y="3354288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64" name="Text 55"/>
          <p:cNvSpPr/>
          <p:nvPr/>
        </p:nvSpPr>
        <p:spPr>
          <a:xfrm>
            <a:off x="3706862" y="3337173"/>
            <a:ext cx="792361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&amp; Control</a:t>
            </a:r>
            <a:endParaRPr lang="en-US" sz="530" dirty="0"/>
          </a:p>
        </p:txBody>
      </p:sp>
      <p:sp>
        <p:nvSpPr>
          <p:cNvPr id="65" name="Text 56"/>
          <p:cNvSpPr/>
          <p:nvPr/>
        </p:nvSpPr>
        <p:spPr>
          <a:xfrm>
            <a:off x="4542383" y="3337173"/>
            <a:ext cx="347960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530" dirty="0"/>
          </a:p>
        </p:txBody>
      </p:sp>
      <p:sp>
        <p:nvSpPr>
          <p:cNvPr id="66" name="Text 57"/>
          <p:cNvSpPr/>
          <p:nvPr/>
        </p:nvSpPr>
        <p:spPr>
          <a:xfrm>
            <a:off x="6038850" y="2310408"/>
            <a:ext cx="2733080" cy="1271736"/>
          </a:xfrm>
          <a:prstGeom prst="roundRect">
            <a:avLst>
              <a:gd name="adj" fmla="val 4494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8"/>
          <p:cNvSpPr/>
          <p:nvPr/>
        </p:nvSpPr>
        <p:spPr>
          <a:xfrm>
            <a:off x="6176516" y="2434233"/>
            <a:ext cx="701186" cy="161181"/>
          </a:xfrm>
          <a:prstGeom prst="roundRect">
            <a:avLst>
              <a:gd name="adj" fmla="val 18123"/>
            </a:avLst>
          </a:prstGeom>
          <a:solidFill>
            <a:srgbClr val="00D4D4">
              <a:alpha val="13000"/>
            </a:srgbClr>
          </a:solidFill>
          <a:ln/>
        </p:spPr>
        <p:txBody>
          <a:bodyPr wrap="none" lIns="179050" tIns="21590" rIns="6477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00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RECOVER</a:t>
            </a:r>
            <a:endParaRPr lang="en-US" sz="620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5798" y="2448455"/>
            <a:ext cx="132588" cy="132588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6176516" y="2652564"/>
            <a:ext cx="27035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3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</a:t>
            </a:r>
            <a:r>
              <a:rPr lang="en-US" sz="590" kern="0" spc="3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RC.RP-1 · RC.RP-3 · RC.CO-1</a:t>
            </a:r>
            <a:endParaRPr lang="en-US" sz="590" dirty="0"/>
          </a:p>
        </p:txBody>
      </p:sp>
      <p:sp>
        <p:nvSpPr>
          <p:cNvPr id="70" name="Text 60"/>
          <p:cNvSpPr/>
          <p:nvPr/>
        </p:nvSpPr>
        <p:spPr>
          <a:xfrm>
            <a:off x="6176516" y="2821930"/>
            <a:ext cx="2506903" cy="42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Recovery planning and resilience testing — backup validation, golden image restores, disaster recovery drills, and post-incident lessons learned integration.</a:t>
            </a:r>
            <a:endParaRPr lang="en-US" sz="760" dirty="0"/>
          </a:p>
        </p:txBody>
      </p:sp>
      <p:sp>
        <p:nvSpPr>
          <p:cNvPr id="71" name="Text 61"/>
          <p:cNvSpPr/>
          <p:nvPr/>
        </p:nvSpPr>
        <p:spPr>
          <a:xfrm>
            <a:off x="6176516" y="3284488"/>
            <a:ext cx="245774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2"/>
          <p:cNvSpPr/>
          <p:nvPr/>
        </p:nvSpPr>
        <p:spPr>
          <a:xfrm>
            <a:off x="6176516" y="3354288"/>
            <a:ext cx="3526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ATT&amp;CK:</a:t>
            </a:r>
            <a:endParaRPr lang="en-US" sz="530" dirty="0"/>
          </a:p>
        </p:txBody>
      </p:sp>
      <p:sp>
        <p:nvSpPr>
          <p:cNvPr id="73" name="Text 63"/>
          <p:cNvSpPr/>
          <p:nvPr/>
        </p:nvSpPr>
        <p:spPr>
          <a:xfrm>
            <a:off x="6540252" y="3337173"/>
            <a:ext cx="549920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530" dirty="0"/>
          </a:p>
        </p:txBody>
      </p:sp>
      <p:sp>
        <p:nvSpPr>
          <p:cNvPr id="74" name="Text 64"/>
          <p:cNvSpPr/>
          <p:nvPr/>
        </p:nvSpPr>
        <p:spPr>
          <a:xfrm>
            <a:off x="7133332" y="3337173"/>
            <a:ext cx="347960" cy="148650"/>
          </a:xfrm>
          <a:prstGeom prst="roundRect">
            <a:avLst>
              <a:gd name="adj" fmla="val 145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530" dirty="0"/>
          </a:p>
        </p:txBody>
      </p:sp>
      <p:sp>
        <p:nvSpPr>
          <p:cNvPr id="75" name="Text 65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A1120">
              <a:alpha val="9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6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00C8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7"/>
          <p:cNvSpPr/>
          <p:nvPr/>
        </p:nvSpPr>
        <p:spPr>
          <a:xfrm>
            <a:off x="372070" y="4965948"/>
            <a:ext cx="49128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to NIST CSF 2.0 · CRI Profile v2.2 · MITRE ATT&amp;CK Enterprise · Financial Sector Edition</a:t>
            </a:r>
            <a:endParaRPr lang="en-US" sz="560" dirty="0"/>
          </a:p>
        </p:txBody>
      </p:sp>
      <p:sp>
        <p:nvSpPr>
          <p:cNvPr id="78" name="Text 68"/>
          <p:cNvSpPr/>
          <p:nvPr/>
        </p:nvSpPr>
        <p:spPr>
          <a:xfrm>
            <a:off x="8311455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9"/>
          <p:cNvSpPr/>
          <p:nvPr/>
        </p:nvSpPr>
        <p:spPr>
          <a:xfrm>
            <a:off x="8382298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0"/>
          <p:cNvSpPr/>
          <p:nvPr/>
        </p:nvSpPr>
        <p:spPr>
          <a:xfrm>
            <a:off x="8453140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1"/>
          <p:cNvSpPr/>
          <p:nvPr/>
        </p:nvSpPr>
        <p:spPr>
          <a:xfrm>
            <a:off x="8523982" y="5001667"/>
            <a:ext cx="35421" cy="35421"/>
          </a:xfrm>
          <a:prstGeom prst="ellipse">
            <a:avLst/>
          </a:prstGeom>
          <a:solidFill>
            <a:srgbClr val="00C8FF"/>
          </a:solidFill>
          <a:ln/>
          <a:effectLst>
            <a:outerShdw blurRad="43180" dist="50800" dir="16200000" algn="bl" rotWithShape="0">
              <a:srgbClr val="00C8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8594824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8665666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4"/>
          <p:cNvSpPr/>
          <p:nvPr/>
        </p:nvSpPr>
        <p:spPr>
          <a:xfrm>
            <a:off x="8736509" y="5001667"/>
            <a:ext cx="35421" cy="3542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0" y="3143250"/>
            <a:ext cx="2000250" cy="2000250"/>
          </a:xfrm>
          <a:prstGeom prst="rect">
            <a:avLst/>
          </a:prstGeom>
          <a:gradFill rotWithShape="1">
            <a:gsLst>
              <a:gs pos="0">
                <a:srgbClr val="0064C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8695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3219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67594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82118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96493" y="1153398"/>
            <a:ext cx="7590" cy="57150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1017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5392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39916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4291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68815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83190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97713" y="1153398"/>
            <a:ext cx="7590" cy="5715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1196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048" y="942314"/>
            <a:ext cx="132588" cy="1325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5720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0572" y="942314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50095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947" y="942314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64619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9471" y="942314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78994" y="887462"/>
            <a:ext cx="242441" cy="242441"/>
          </a:xfrm>
          <a:prstGeom prst="ellipse">
            <a:avLst/>
          </a:prstGeom>
          <a:solidFill>
            <a:srgbClr val="00C8FF">
              <a:alpha val="15000"/>
            </a:srgbClr>
          </a:solidFill>
          <a:ln w="9525">
            <a:solidFill>
              <a:srgbClr val="00C8FF"/>
            </a:solidFill>
          </a:ln>
          <a:effectLst>
            <a:outerShdw blurRad="101600" dist="50800" dir="16200000" algn="bl" rotWithShape="0">
              <a:srgbClr val="00C8FF">
                <a:alpha val="12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3846" y="942314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93518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48370" y="942314"/>
            <a:ext cx="132588" cy="132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07893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2745" y="942314"/>
            <a:ext cx="132588" cy="132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522416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269" y="942314"/>
            <a:ext cx="132588" cy="132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36791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91644" y="942314"/>
            <a:ext cx="132588" cy="1325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51315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06167" y="942314"/>
            <a:ext cx="132588" cy="13258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665690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20542" y="942314"/>
            <a:ext cx="132588" cy="1325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380214" y="887462"/>
            <a:ext cx="242441" cy="242441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35066" y="942314"/>
            <a:ext cx="132588" cy="13258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372070" y="248841"/>
            <a:ext cx="29170" cy="2577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8FF"/>
              </a:gs>
              <a:gs pos="100000">
                <a:srgbClr val="0077FF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29"/>
          <p:cNvSpPr/>
          <p:nvPr/>
        </p:nvSpPr>
        <p:spPr>
          <a:xfrm>
            <a:off x="501551" y="200620"/>
            <a:ext cx="5129317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52"/>
              </a:lnSpc>
              <a:buNone/>
            </a:pPr>
            <a:r>
              <a:rPr lang="en-US" sz="1460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Technology Webinar Calendar — </a:t>
            </a:r>
            <a:r>
              <a:rPr lang="en-US" sz="1460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12-Month Plan</a:t>
            </a:r>
            <a:endParaRPr lang="en-US" sz="1460" dirty="0"/>
          </a:p>
        </p:txBody>
      </p:sp>
      <p:sp>
        <p:nvSpPr>
          <p:cNvPr id="44" name="Text 30"/>
          <p:cNvSpPr/>
          <p:nvPr/>
        </p:nvSpPr>
        <p:spPr>
          <a:xfrm>
            <a:off x="501551" y="436959"/>
            <a:ext cx="52731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 · NIST CSF 2.0 · MITRE ATT&amp;CK Aligned | Financial Institutions Technical Track</a:t>
            </a:r>
            <a:endParaRPr lang="en-US" sz="620" dirty="0"/>
          </a:p>
        </p:txBody>
      </p:sp>
      <p:sp>
        <p:nvSpPr>
          <p:cNvPr id="45" name="Text 31"/>
          <p:cNvSpPr/>
          <p:nvPr/>
        </p:nvSpPr>
        <p:spPr>
          <a:xfrm>
            <a:off x="8078093" y="285750"/>
            <a:ext cx="707713" cy="184100"/>
          </a:xfrm>
          <a:prstGeom prst="roundRect">
            <a:avLst>
              <a:gd name="adj" fmla="val 15866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SERIES</a:t>
            </a:r>
            <a:endParaRPr lang="en-US" sz="560" dirty="0"/>
          </a:p>
        </p:txBody>
      </p:sp>
      <p:sp>
        <p:nvSpPr>
          <p:cNvPr id="46" name="Text 32"/>
          <p:cNvSpPr/>
          <p:nvPr/>
        </p:nvSpPr>
        <p:spPr>
          <a:xfrm>
            <a:off x="372070" y="676201"/>
            <a:ext cx="8399859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00C8FF">
                  <a:alpha val="25000"/>
                </a:srgbClr>
              </a:gs>
              <a:gs pos="50000">
                <a:srgbClr val="00C8FF">
                  <a:alpha val="40000"/>
                </a:srgbClr>
              </a:gs>
              <a:gs pos="95000">
                <a:srgbClr val="00C8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3"/>
          <p:cNvSpPr/>
          <p:nvPr/>
        </p:nvSpPr>
        <p:spPr>
          <a:xfrm>
            <a:off x="564356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</a:t>
            </a:r>
            <a:endParaRPr lang="en-US" sz="620" dirty="0"/>
          </a:p>
        </p:txBody>
      </p:sp>
      <p:sp>
        <p:nvSpPr>
          <p:cNvPr id="48" name="Text 34"/>
          <p:cNvSpPr/>
          <p:nvPr/>
        </p:nvSpPr>
        <p:spPr>
          <a:xfrm>
            <a:off x="313581" y="1187053"/>
            <a:ext cx="657820" cy="546030"/>
          </a:xfrm>
          <a:prstGeom prst="roundRect">
            <a:avLst>
              <a:gd name="adj" fmla="val 7908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Identity &amp; Access Management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</a:t>
            </a:r>
            <a:endParaRPr lang="en-US" sz="590" dirty="0"/>
          </a:p>
        </p:txBody>
      </p:sp>
      <p:sp>
        <p:nvSpPr>
          <p:cNvPr id="49" name="Text 35"/>
          <p:cNvSpPr/>
          <p:nvPr/>
        </p:nvSpPr>
        <p:spPr>
          <a:xfrm>
            <a:off x="1278880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</a:t>
            </a:r>
            <a:endParaRPr lang="en-US" sz="620" dirty="0"/>
          </a:p>
        </p:txBody>
      </p:sp>
      <p:sp>
        <p:nvSpPr>
          <p:cNvPr id="50" name="Text 36"/>
          <p:cNvSpPr/>
          <p:nvPr/>
        </p:nvSpPr>
        <p:spPr>
          <a:xfrm>
            <a:off x="1028105" y="1187053"/>
            <a:ext cx="657820" cy="445929"/>
          </a:xfrm>
          <a:prstGeom prst="roundRect">
            <a:avLst>
              <a:gd name="adj" fmla="val 9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Anti-Phishing Tech Stack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 + DE.CM</a:t>
            </a:r>
            <a:endParaRPr lang="en-US" sz="590" dirty="0"/>
          </a:p>
        </p:txBody>
      </p:sp>
      <p:sp>
        <p:nvSpPr>
          <p:cNvPr id="51" name="Text 37"/>
          <p:cNvSpPr/>
          <p:nvPr/>
        </p:nvSpPr>
        <p:spPr>
          <a:xfrm>
            <a:off x="1993255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</a:t>
            </a:r>
            <a:endParaRPr lang="en-US" sz="620" dirty="0"/>
          </a:p>
        </p:txBody>
      </p:sp>
      <p:sp>
        <p:nvSpPr>
          <p:cNvPr id="52" name="Text 38"/>
          <p:cNvSpPr/>
          <p:nvPr/>
        </p:nvSpPr>
        <p:spPr>
          <a:xfrm>
            <a:off x="1742480" y="1187053"/>
            <a:ext cx="657820" cy="546030"/>
          </a:xfrm>
          <a:prstGeom prst="roundRect">
            <a:avLst>
              <a:gd name="adj" fmla="val 7908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Classification &amp; DLP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</a:t>
            </a:r>
            <a:endParaRPr lang="en-US" sz="590" dirty="0"/>
          </a:p>
        </p:txBody>
      </p:sp>
      <p:sp>
        <p:nvSpPr>
          <p:cNvPr id="53" name="Text 39"/>
          <p:cNvSpPr/>
          <p:nvPr/>
        </p:nvSpPr>
        <p:spPr>
          <a:xfrm>
            <a:off x="2707779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</a:t>
            </a:r>
            <a:endParaRPr lang="en-US" sz="620" dirty="0"/>
          </a:p>
        </p:txBody>
      </p:sp>
      <p:sp>
        <p:nvSpPr>
          <p:cNvPr id="54" name="Text 40"/>
          <p:cNvSpPr/>
          <p:nvPr/>
        </p:nvSpPr>
        <p:spPr>
          <a:xfrm>
            <a:off x="2457004" y="1187053"/>
            <a:ext cx="657820" cy="445929"/>
          </a:xfrm>
          <a:prstGeom prst="roundRect">
            <a:avLst>
              <a:gd name="adj" fmla="val 9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Security Architecture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 + ID.AM</a:t>
            </a:r>
            <a:endParaRPr lang="en-US" sz="590" dirty="0"/>
          </a:p>
        </p:txBody>
      </p:sp>
      <p:sp>
        <p:nvSpPr>
          <p:cNvPr id="55" name="Text 41"/>
          <p:cNvSpPr/>
          <p:nvPr/>
        </p:nvSpPr>
        <p:spPr>
          <a:xfrm>
            <a:off x="3422154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</a:t>
            </a:r>
            <a:endParaRPr lang="en-US" sz="620" dirty="0"/>
          </a:p>
        </p:txBody>
      </p:sp>
      <p:sp>
        <p:nvSpPr>
          <p:cNvPr id="56" name="Text 42"/>
          <p:cNvSpPr/>
          <p:nvPr/>
        </p:nvSpPr>
        <p:spPr>
          <a:xfrm>
            <a:off x="3171379" y="1187053"/>
            <a:ext cx="657820" cy="530126"/>
          </a:xfrm>
          <a:prstGeom prst="roundRect">
            <a:avLst>
              <a:gd name="adj" fmla="val 8145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3"/>
          <p:cNvSpPr/>
          <p:nvPr/>
        </p:nvSpPr>
        <p:spPr>
          <a:xfrm>
            <a:off x="3292392" y="1131838"/>
            <a:ext cx="415793" cy="95101"/>
          </a:xfrm>
          <a:prstGeom prst="roundRect">
            <a:avLst>
              <a:gd name="adj" fmla="val 22702"/>
            </a:avLst>
          </a:prstGeom>
          <a:solidFill>
            <a:srgbClr val="00C8FF"/>
          </a:solidFill>
          <a:ln/>
        </p:spPr>
        <p:txBody>
          <a:bodyPr wrap="none" lIns="35560" tIns="7620" rIns="35560" bIns="7620" rtlCol="0" anchor="t"/>
          <a:lstStyle/>
          <a:p>
            <a:pPr marL="0" indent="0" algn="ctr">
              <a:buNone/>
            </a:pPr>
            <a:r>
              <a:rPr lang="en-US" sz="420" b="1" kern="0" spc="42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CURRENT</a:t>
            </a:r>
            <a:endParaRPr lang="en-US" sz="420" dirty="0"/>
          </a:p>
        </p:txBody>
      </p:sp>
      <p:sp>
        <p:nvSpPr>
          <p:cNvPr id="58" name="Text 44"/>
          <p:cNvSpPr/>
          <p:nvPr/>
        </p:nvSpPr>
        <p:spPr>
          <a:xfrm>
            <a:off x="3218539" y="1245989"/>
            <a:ext cx="563499" cy="30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590" b="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AI/ML Security &amp; Prompt Injection</a:t>
            </a:r>
            <a:endParaRPr lang="en-US" sz="590" dirty="0"/>
          </a:p>
        </p:txBody>
      </p:sp>
      <p:sp>
        <p:nvSpPr>
          <p:cNvPr id="59" name="Text 45"/>
          <p:cNvSpPr/>
          <p:nvPr/>
        </p:nvSpPr>
        <p:spPr>
          <a:xfrm>
            <a:off x="3196441" y="1566714"/>
            <a:ext cx="607695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0"/>
              </a:lnSpc>
              <a:buNone/>
            </a:pPr>
            <a:r>
              <a:rPr lang="en-US" sz="480" kern="0" spc="19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 + DE.AE</a:t>
            </a:r>
            <a:endParaRPr lang="en-US" sz="480" dirty="0"/>
          </a:p>
        </p:txBody>
      </p:sp>
      <p:sp>
        <p:nvSpPr>
          <p:cNvPr id="60" name="Text 46"/>
          <p:cNvSpPr/>
          <p:nvPr/>
        </p:nvSpPr>
        <p:spPr>
          <a:xfrm>
            <a:off x="4136678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620" dirty="0"/>
          </a:p>
        </p:txBody>
      </p:sp>
      <p:sp>
        <p:nvSpPr>
          <p:cNvPr id="61" name="Text 47"/>
          <p:cNvSpPr/>
          <p:nvPr/>
        </p:nvSpPr>
        <p:spPr>
          <a:xfrm>
            <a:off x="3885902" y="1187053"/>
            <a:ext cx="657820" cy="445929"/>
          </a:xfrm>
          <a:prstGeom prst="roundRect">
            <a:avLst>
              <a:gd name="adj" fmla="val 9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Trust Architecture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 + PR.PS</a:t>
            </a:r>
            <a:endParaRPr lang="en-US" sz="590" dirty="0"/>
          </a:p>
        </p:txBody>
      </p:sp>
      <p:sp>
        <p:nvSpPr>
          <p:cNvPr id="62" name="Text 48"/>
          <p:cNvSpPr/>
          <p:nvPr/>
        </p:nvSpPr>
        <p:spPr>
          <a:xfrm>
            <a:off x="4851053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</a:t>
            </a:r>
            <a:endParaRPr lang="en-US" sz="620" dirty="0"/>
          </a:p>
        </p:txBody>
      </p:sp>
      <p:sp>
        <p:nvSpPr>
          <p:cNvPr id="63" name="Text 49"/>
          <p:cNvSpPr/>
          <p:nvPr/>
        </p:nvSpPr>
        <p:spPr>
          <a:xfrm>
            <a:off x="4600277" y="1187053"/>
            <a:ext cx="657820" cy="546030"/>
          </a:xfrm>
          <a:prstGeom prst="roundRect">
            <a:avLst>
              <a:gd name="adj" fmla="val 7908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Privileged Access Management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</a:t>
            </a:r>
            <a:endParaRPr lang="en-US" sz="590" dirty="0"/>
          </a:p>
        </p:txBody>
      </p:sp>
      <p:sp>
        <p:nvSpPr>
          <p:cNvPr id="64" name="Text 50"/>
          <p:cNvSpPr/>
          <p:nvPr/>
        </p:nvSpPr>
        <p:spPr>
          <a:xfrm>
            <a:off x="5565577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</a:t>
            </a:r>
            <a:endParaRPr lang="en-US" sz="620" dirty="0"/>
          </a:p>
        </p:txBody>
      </p:sp>
      <p:sp>
        <p:nvSpPr>
          <p:cNvPr id="65" name="Text 51"/>
          <p:cNvSpPr/>
          <p:nvPr/>
        </p:nvSpPr>
        <p:spPr>
          <a:xfrm>
            <a:off x="5314801" y="1187053"/>
            <a:ext cx="657820" cy="445929"/>
          </a:xfrm>
          <a:prstGeom prst="roundRect">
            <a:avLst>
              <a:gd name="adj" fmla="val 9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Secure Coding &amp; DevSecOps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PR.PS-3</a:t>
            </a:r>
            <a:endParaRPr lang="en-US" sz="590" dirty="0"/>
          </a:p>
        </p:txBody>
      </p:sp>
      <p:sp>
        <p:nvSpPr>
          <p:cNvPr id="66" name="Text 52"/>
          <p:cNvSpPr/>
          <p:nvPr/>
        </p:nvSpPr>
        <p:spPr>
          <a:xfrm>
            <a:off x="6279952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endParaRPr lang="en-US" sz="620" dirty="0"/>
          </a:p>
        </p:txBody>
      </p:sp>
      <p:sp>
        <p:nvSpPr>
          <p:cNvPr id="67" name="Text 53"/>
          <p:cNvSpPr/>
          <p:nvPr/>
        </p:nvSpPr>
        <p:spPr>
          <a:xfrm>
            <a:off x="6029176" y="1187053"/>
            <a:ext cx="657820" cy="546030"/>
          </a:xfrm>
          <a:prstGeom prst="roundRect">
            <a:avLst>
              <a:gd name="adj" fmla="val 7908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Third-Party &amp; Supply Chain Risk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</a:t>
            </a:r>
            <a:endParaRPr lang="en-US" sz="590" dirty="0"/>
          </a:p>
        </p:txBody>
      </p:sp>
      <p:sp>
        <p:nvSpPr>
          <p:cNvPr id="68" name="Text 54"/>
          <p:cNvSpPr/>
          <p:nvPr/>
        </p:nvSpPr>
        <p:spPr>
          <a:xfrm>
            <a:off x="6994475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</a:t>
            </a:r>
            <a:endParaRPr lang="en-US" sz="620" dirty="0"/>
          </a:p>
        </p:txBody>
      </p:sp>
      <p:sp>
        <p:nvSpPr>
          <p:cNvPr id="69" name="Text 55"/>
          <p:cNvSpPr/>
          <p:nvPr/>
        </p:nvSpPr>
        <p:spPr>
          <a:xfrm>
            <a:off x="6743700" y="1187053"/>
            <a:ext cx="657820" cy="646130"/>
          </a:xfrm>
          <a:prstGeom prst="roundRect">
            <a:avLst>
              <a:gd name="adj" fmla="val 6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Threat Detection &amp; SOC Operations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 + DE.AE</a:t>
            </a:r>
            <a:endParaRPr lang="en-US" sz="590" dirty="0"/>
          </a:p>
        </p:txBody>
      </p:sp>
      <p:sp>
        <p:nvSpPr>
          <p:cNvPr id="70" name="Text 56"/>
          <p:cNvSpPr/>
          <p:nvPr/>
        </p:nvSpPr>
        <p:spPr>
          <a:xfrm>
            <a:off x="7708850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</a:t>
            </a:r>
            <a:endParaRPr lang="en-US" sz="620" dirty="0"/>
          </a:p>
        </p:txBody>
      </p:sp>
      <p:sp>
        <p:nvSpPr>
          <p:cNvPr id="71" name="Text 57"/>
          <p:cNvSpPr/>
          <p:nvPr/>
        </p:nvSpPr>
        <p:spPr>
          <a:xfrm>
            <a:off x="7458075" y="1187053"/>
            <a:ext cx="657820" cy="646130"/>
          </a:xfrm>
          <a:prstGeom prst="roundRect">
            <a:avLst>
              <a:gd name="adj" fmla="val 6683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&amp; Business Continuity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 + RC</a:t>
            </a:r>
            <a:endParaRPr lang="en-US" sz="590" dirty="0"/>
          </a:p>
        </p:txBody>
      </p:sp>
      <p:sp>
        <p:nvSpPr>
          <p:cNvPr id="72" name="Text 58"/>
          <p:cNvSpPr/>
          <p:nvPr/>
        </p:nvSpPr>
        <p:spPr>
          <a:xfrm>
            <a:off x="8423374" y="726281"/>
            <a:ext cx="171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620" dirty="0"/>
          </a:p>
        </p:txBody>
      </p:sp>
      <p:sp>
        <p:nvSpPr>
          <p:cNvPr id="73" name="Text 59"/>
          <p:cNvSpPr/>
          <p:nvPr/>
        </p:nvSpPr>
        <p:spPr>
          <a:xfrm>
            <a:off x="8172599" y="1187053"/>
            <a:ext cx="657820" cy="546030"/>
          </a:xfrm>
          <a:prstGeom prst="roundRect">
            <a:avLst>
              <a:gd name="adj" fmla="val 7908"/>
            </a:avLst>
          </a:prstGeom>
          <a:solidFill>
            <a:srgbClr val="0F1A2E"/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square" lIns="43180" tIns="49530" rIns="43180" bIns="49530" rtlCol="0" anchor="t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Vulnerability Management &amp; Patching</a:t>
            </a:r>
            <a:endParaRPr lang="en-US" sz="590" dirty="0"/>
          </a:p>
          <a:p>
            <a:pPr marL="0" indent="0" algn="ctr">
              <a:buNone/>
            </a:pPr>
            <a:r>
              <a:rPr lang="en-US" sz="480" kern="0" spc="1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ID.RA + PR.PS</a:t>
            </a:r>
            <a:endParaRPr lang="en-US" sz="590" dirty="0"/>
          </a:p>
        </p:txBody>
      </p:sp>
      <p:sp>
        <p:nvSpPr>
          <p:cNvPr id="74" name="Text 60"/>
          <p:cNvSpPr/>
          <p:nvPr/>
        </p:nvSpPr>
        <p:spPr>
          <a:xfrm>
            <a:off x="299591" y="1928664"/>
            <a:ext cx="854481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1"/>
          <p:cNvSpPr/>
          <p:nvPr/>
        </p:nvSpPr>
        <p:spPr>
          <a:xfrm>
            <a:off x="299591" y="1928664"/>
            <a:ext cx="3246983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C8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2"/>
          <p:cNvSpPr/>
          <p:nvPr/>
        </p:nvSpPr>
        <p:spPr>
          <a:xfrm>
            <a:off x="3511154" y="1928664"/>
            <a:ext cx="35421" cy="21580"/>
          </a:xfrm>
          <a:prstGeom prst="ellipse">
            <a:avLst/>
          </a:prstGeom>
          <a:solidFill>
            <a:srgbClr val="00C8FF"/>
          </a:solidFill>
          <a:ln/>
          <a:effectLst>
            <a:outerShdw blurRad="43180" dist="50800" dir="16200000" algn="bl" rotWithShape="0">
              <a:srgbClr val="00C8FF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3"/>
          <p:cNvSpPr/>
          <p:nvPr/>
        </p:nvSpPr>
        <p:spPr>
          <a:xfrm>
            <a:off x="299591" y="1979414"/>
            <a:ext cx="113173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START — JAN 2026</a:t>
            </a:r>
            <a:endParaRPr lang="en-US" sz="510" dirty="0"/>
          </a:p>
        </p:txBody>
      </p:sp>
      <p:sp>
        <p:nvSpPr>
          <p:cNvPr id="78" name="Text 64"/>
          <p:cNvSpPr/>
          <p:nvPr/>
        </p:nvSpPr>
        <p:spPr>
          <a:xfrm>
            <a:off x="3864769" y="1979414"/>
            <a:ext cx="165037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MAY 2026 — 5/12 SESSIONS COMPLETE</a:t>
            </a:r>
            <a:endParaRPr lang="en-US" sz="510" dirty="0"/>
          </a:p>
        </p:txBody>
      </p:sp>
      <p:sp>
        <p:nvSpPr>
          <p:cNvPr id="79" name="Text 65"/>
          <p:cNvSpPr/>
          <p:nvPr/>
        </p:nvSpPr>
        <p:spPr>
          <a:xfrm>
            <a:off x="7901285" y="1979414"/>
            <a:ext cx="103743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END — DEC 2026</a:t>
            </a:r>
            <a:endParaRPr lang="en-US" sz="510" dirty="0"/>
          </a:p>
        </p:txBody>
      </p:sp>
      <p:sp>
        <p:nvSpPr>
          <p:cNvPr id="80" name="Text 66"/>
          <p:cNvSpPr/>
          <p:nvPr/>
        </p:nvSpPr>
        <p:spPr>
          <a:xfrm>
            <a:off x="372070" y="4888111"/>
            <a:ext cx="29474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TO CRI PROFILE v2.2 | NIST CSF 2.0 | MITRE ATT&amp;CK</a:t>
            </a:r>
            <a:endParaRPr lang="en-US" sz="560" dirty="0"/>
          </a:p>
        </p:txBody>
      </p:sp>
      <p:sp>
        <p:nvSpPr>
          <p:cNvPr id="81" name="Text 67"/>
          <p:cNvSpPr/>
          <p:nvPr/>
        </p:nvSpPr>
        <p:spPr>
          <a:xfrm>
            <a:off x="5983932" y="4867721"/>
            <a:ext cx="380554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</a:t>
            </a:r>
            <a:endParaRPr lang="en-US" sz="530" dirty="0"/>
          </a:p>
        </p:txBody>
      </p:sp>
      <p:sp>
        <p:nvSpPr>
          <p:cNvPr id="82" name="Text 68"/>
          <p:cNvSpPr/>
          <p:nvPr/>
        </p:nvSpPr>
        <p:spPr>
          <a:xfrm>
            <a:off x="6421636" y="4867721"/>
            <a:ext cx="468213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</a:t>
            </a:r>
            <a:endParaRPr lang="en-US" sz="530" dirty="0"/>
          </a:p>
        </p:txBody>
      </p:sp>
      <p:sp>
        <p:nvSpPr>
          <p:cNvPr id="83" name="Text 69"/>
          <p:cNvSpPr/>
          <p:nvPr/>
        </p:nvSpPr>
        <p:spPr>
          <a:xfrm>
            <a:off x="6946999" y="4867721"/>
            <a:ext cx="424309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530" dirty="0"/>
          </a:p>
        </p:txBody>
      </p:sp>
      <p:sp>
        <p:nvSpPr>
          <p:cNvPr id="84" name="Text 70"/>
          <p:cNvSpPr/>
          <p:nvPr/>
        </p:nvSpPr>
        <p:spPr>
          <a:xfrm>
            <a:off x="7428458" y="4867721"/>
            <a:ext cx="380554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530" dirty="0"/>
          </a:p>
        </p:txBody>
      </p:sp>
      <p:sp>
        <p:nvSpPr>
          <p:cNvPr id="85" name="Text 71"/>
          <p:cNvSpPr/>
          <p:nvPr/>
        </p:nvSpPr>
        <p:spPr>
          <a:xfrm>
            <a:off x="7866162" y="4867721"/>
            <a:ext cx="424309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</a:t>
            </a:r>
            <a:endParaRPr lang="en-US" sz="530" dirty="0"/>
          </a:p>
        </p:txBody>
      </p:sp>
      <p:sp>
        <p:nvSpPr>
          <p:cNvPr id="86" name="Text 72"/>
          <p:cNvSpPr/>
          <p:nvPr/>
        </p:nvSpPr>
        <p:spPr>
          <a:xfrm>
            <a:off x="8347621" y="4867721"/>
            <a:ext cx="424309" cy="162401"/>
          </a:xfrm>
          <a:prstGeom prst="roundRect">
            <a:avLst>
              <a:gd name="adj" fmla="val 13294"/>
            </a:avLst>
          </a:prstGeom>
          <a:noFill/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</a:t>
            </a:r>
            <a:endParaRPr lang="en-US" sz="5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785515"/>
            <a:ext cx="3000970" cy="3572470"/>
          </a:xfrm>
          <a:prstGeom prst="rect">
            <a:avLst/>
          </a:prstGeom>
          <a:gradFill rotWithShape="1">
            <a:gsLst>
              <a:gs pos="0">
                <a:srgbClr val="0078C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3030" y="785515"/>
            <a:ext cx="3000970" cy="357247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514350"/>
            <a:ext cx="4576763" cy="4357241"/>
          </a:xfrm>
          <a:prstGeom prst="rect">
            <a:avLst/>
          </a:prstGeom>
          <a:gradFill rotWithShape="1">
            <a:gsLst>
              <a:gs pos="0">
                <a:srgbClr val="132140"/>
              </a:gs>
              <a:gs pos="100000">
                <a:srgbClr val="0E1A2E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67238" y="514350"/>
            <a:ext cx="9525" cy="4357241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0620" y="685949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2030" dirty="0">
                <a:solidFill>
                  <a:srgbClr val="00C8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558254" y="642491"/>
            <a:ext cx="232797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kern="0" spc="23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January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58254" y="857696"/>
            <a:ext cx="232797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&amp; ACCESS MANAGEMENT (IAM)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067026" y="664964"/>
            <a:ext cx="299591" cy="299591"/>
          </a:xfrm>
          <a:prstGeom prst="roundRect">
            <a:avLst>
              <a:gd name="adj" fmla="val 14413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0528" y="748466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0620" y="1087338"/>
            <a:ext cx="4249317" cy="97036"/>
          </a:xfrm>
          <a:prstGeom prst="rect">
            <a:avLst/>
          </a:prstGeom>
          <a:noFill/>
          <a:ln/>
        </p:spPr>
        <p:txBody>
          <a:bodyPr wrap="none" lIns="49530" tIns="0" rIns="0" bIns="0" rtlCol="0" anchor="t"/>
          <a:lstStyle/>
          <a:p>
            <a:pPr marL="0" indent="0" algn="l">
              <a:buNone/>
            </a:pPr>
            <a:r>
              <a:rPr lang="en-US" sz="510" b="1" kern="0" spc="8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TOPICS</a:t>
            </a:r>
            <a:endParaRPr lang="en-US" sz="510" dirty="0"/>
          </a:p>
        </p:txBody>
      </p:sp>
      <p:sp>
        <p:nvSpPr>
          <p:cNvPr id="14" name="Text 11"/>
          <p:cNvSpPr/>
          <p:nvPr/>
        </p:nvSpPr>
        <p:spPr>
          <a:xfrm>
            <a:off x="200620" y="1087338"/>
            <a:ext cx="9525" cy="97036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0620" y="1248966"/>
            <a:ext cx="35421" cy="35421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85452" y="1213545"/>
            <a:ext cx="3354110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 services hardening &amp; privileged OU segmentation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00620" y="1402407"/>
            <a:ext cx="35421" cy="35421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85452" y="1366986"/>
            <a:ext cx="2177192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MFA enforcement across all user tiers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00620" y="1555849"/>
            <a:ext cx="35421" cy="35421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85452" y="1520428"/>
            <a:ext cx="223612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Just-in-Time (JIT) access provisioning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00620" y="1709291"/>
            <a:ext cx="35421" cy="35421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85452" y="1673870"/>
            <a:ext cx="2765569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Federated identity &amp; SSO trust chain validation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200620" y="1862733"/>
            <a:ext cx="35421" cy="35421"/>
          </a:xfrm>
          <a:prstGeom prst="ellipse">
            <a:avLst/>
          </a:prstGeom>
          <a:solidFill>
            <a:srgbClr val="00C8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85452" y="1827312"/>
            <a:ext cx="27067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lifecycle management &amp; deprovisioning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00620" y="2022574"/>
            <a:ext cx="4165997" cy="586346"/>
          </a:xfrm>
          <a:prstGeom prst="roundRect">
            <a:avLst>
              <a:gd name="adj" fmla="val 4982"/>
            </a:avLst>
          </a:prstGeom>
          <a:solidFill>
            <a:srgbClr val="FF5050">
              <a:alpha val="7000"/>
            </a:srgbClr>
          </a:solidFill>
          <a:ln/>
        </p:spPr>
        <p:txBody>
          <a:bodyPr wrap="square" lIns="71120" tIns="49530" rIns="71120" bIns="4953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71" dirty="0">
                <a:solidFill>
                  <a:srgbClr val="FF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CTI THREAT VECTOR</a:t>
            </a:r>
            <a:r>
              <a:rPr lang="en-US" sz="65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Credential theft via </a:t>
            </a:r>
            <a:r>
              <a:rPr lang="en-US" sz="650" b="1" dirty="0">
                <a:solidFill>
                  <a:srgbClr val="FFC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token hijacking</a:t>
            </a:r>
            <a:r>
              <a:rPr lang="en-US" sz="65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targeting financial institution SSO platforms — attackers abuse misconfigured OAuth flows to extract bearer tokens without credential re-entry.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00620" y="2022574"/>
            <a:ext cx="19050" cy="569268"/>
          </a:xfrm>
          <a:custGeom>
            <a:avLst/>
            <a:gdLst/>
            <a:ahLst/>
            <a:cxnLst/>
            <a:rect l="l" t="t" r="r" b="b"/>
            <a:pathLst>
              <a:path w="19050" h="569268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567444"/>
                </a:lnTo>
                <a:lnTo>
                  <a:pt x="16669" y="566438"/>
                </a:lnTo>
                <a:lnTo>
                  <a:pt x="14288" y="565168"/>
                </a:lnTo>
                <a:lnTo>
                  <a:pt x="11906" y="563591"/>
                </a:lnTo>
                <a:lnTo>
                  <a:pt x="9525" y="561638"/>
                </a:lnTo>
                <a:lnTo>
                  <a:pt x="7144" y="559197"/>
                </a:lnTo>
                <a:lnTo>
                  <a:pt x="4763" y="556043"/>
                </a:lnTo>
                <a:lnTo>
                  <a:pt x="2381" y="551609"/>
                </a:lnTo>
                <a:lnTo>
                  <a:pt x="0" y="540058"/>
                </a:lnTo>
                <a:close/>
              </a:path>
            </a:pathLst>
          </a:custGeom>
          <a:solidFill>
            <a:srgbClr val="FF505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00620" y="2662833"/>
            <a:ext cx="4165997" cy="611088"/>
          </a:xfrm>
          <a:prstGeom prst="roundRect">
            <a:avLst>
              <a:gd name="adj" fmla="val 4780"/>
            </a:avLst>
          </a:prstGeom>
          <a:solidFill>
            <a:srgbClr val="00C8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00620" y="2662833"/>
            <a:ext cx="19050" cy="611088"/>
          </a:xfrm>
          <a:custGeom>
            <a:avLst/>
            <a:gdLst/>
            <a:ahLst/>
            <a:cxnLst/>
            <a:rect l="l" t="t" r="r" b="b"/>
            <a:pathLst>
              <a:path w="19050" h="611088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609264"/>
                </a:lnTo>
                <a:lnTo>
                  <a:pt x="16669" y="608259"/>
                </a:lnTo>
                <a:lnTo>
                  <a:pt x="14288" y="606989"/>
                </a:lnTo>
                <a:lnTo>
                  <a:pt x="11906" y="605411"/>
                </a:lnTo>
                <a:lnTo>
                  <a:pt x="9525" y="603459"/>
                </a:lnTo>
                <a:lnTo>
                  <a:pt x="7144" y="601017"/>
                </a:lnTo>
                <a:lnTo>
                  <a:pt x="4763" y="597864"/>
                </a:lnTo>
                <a:lnTo>
                  <a:pt x="2381" y="593430"/>
                </a:lnTo>
                <a:lnTo>
                  <a:pt x="0" y="581878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90661" y="2721769"/>
            <a:ext cx="4394984" cy="937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40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TECHNICAL DEEP DIVE</a:t>
            </a:r>
            <a:endParaRPr lang="en-US" sz="51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626" y="2702356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90661" y="2871788"/>
            <a:ext cx="29170" cy="29170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90661" y="3007519"/>
            <a:ext cx="29170" cy="29170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90661" y="3143250"/>
            <a:ext cx="29170" cy="29170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200620" y="3368278"/>
            <a:ext cx="18810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</a:t>
            </a:r>
            <a:endParaRPr lang="en-US" sz="560" dirty="0"/>
          </a:p>
        </p:txBody>
      </p:sp>
      <p:sp>
        <p:nvSpPr>
          <p:cNvPr id="35" name="Text 31"/>
          <p:cNvSpPr/>
          <p:nvPr/>
        </p:nvSpPr>
        <p:spPr>
          <a:xfrm>
            <a:off x="414784" y="3344912"/>
            <a:ext cx="446931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PR.AC-1</a:t>
            </a:r>
            <a:endParaRPr lang="en-US" sz="560" dirty="0"/>
          </a:p>
        </p:txBody>
      </p:sp>
      <p:sp>
        <p:nvSpPr>
          <p:cNvPr id="36" name="Text 32"/>
          <p:cNvSpPr/>
          <p:nvPr/>
        </p:nvSpPr>
        <p:spPr>
          <a:xfrm>
            <a:off x="904875" y="3344912"/>
            <a:ext cx="446931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60" dirty="0"/>
          </a:p>
        </p:txBody>
      </p:sp>
      <p:sp>
        <p:nvSpPr>
          <p:cNvPr id="37" name="Text 33"/>
          <p:cNvSpPr/>
          <p:nvPr/>
        </p:nvSpPr>
        <p:spPr>
          <a:xfrm>
            <a:off x="1394966" y="3344912"/>
            <a:ext cx="446931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PR.AC-5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1914227" y="3368278"/>
            <a:ext cx="14575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NIST PROTECT → Access Control</a:t>
            </a:r>
            <a:endParaRPr lang="en-US" sz="560" dirty="0"/>
          </a:p>
        </p:txBody>
      </p:sp>
      <p:sp>
        <p:nvSpPr>
          <p:cNvPr id="39" name="Text 35"/>
          <p:cNvSpPr/>
          <p:nvPr/>
        </p:nvSpPr>
        <p:spPr>
          <a:xfrm>
            <a:off x="4576763" y="514350"/>
            <a:ext cx="4567238" cy="4357241"/>
          </a:xfrm>
          <a:prstGeom prst="rect">
            <a:avLst/>
          </a:prstGeom>
          <a:gradFill rotWithShape="1">
            <a:gsLst>
              <a:gs pos="0">
                <a:srgbClr val="0D1B2E"/>
              </a:gs>
              <a:gs pos="100000">
                <a:srgbClr val="0B1628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777383" y="685949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2030" dirty="0">
                <a:solidFill>
                  <a:srgbClr val="00D4B4">
                    <a:alpha val="6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030" dirty="0"/>
          </a:p>
        </p:txBody>
      </p:sp>
      <p:sp>
        <p:nvSpPr>
          <p:cNvPr id="41" name="Text 37"/>
          <p:cNvSpPr/>
          <p:nvPr/>
        </p:nvSpPr>
        <p:spPr>
          <a:xfrm>
            <a:off x="5135017" y="642491"/>
            <a:ext cx="2054081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kern="0" spc="23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February</a:t>
            </a:r>
            <a:endParaRPr lang="en-US" sz="1130" dirty="0"/>
          </a:p>
        </p:txBody>
      </p:sp>
      <p:sp>
        <p:nvSpPr>
          <p:cNvPr id="42" name="Text 38"/>
          <p:cNvSpPr/>
          <p:nvPr/>
        </p:nvSpPr>
        <p:spPr>
          <a:xfrm>
            <a:off x="5135017" y="857696"/>
            <a:ext cx="205408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ANTI-PHISHING TECHNOLOGY STACK</a:t>
            </a:r>
            <a:endParaRPr lang="en-US" sz="680" dirty="0"/>
          </a:p>
        </p:txBody>
      </p:sp>
      <p:sp>
        <p:nvSpPr>
          <p:cNvPr id="43" name="Text 39"/>
          <p:cNvSpPr/>
          <p:nvPr/>
        </p:nvSpPr>
        <p:spPr>
          <a:xfrm>
            <a:off x="8643789" y="664964"/>
            <a:ext cx="299591" cy="299591"/>
          </a:xfrm>
          <a:prstGeom prst="roundRect">
            <a:avLst>
              <a:gd name="adj" fmla="val 14413"/>
            </a:avLst>
          </a:prstGeom>
          <a:solidFill>
            <a:srgbClr val="00D4B4">
              <a:alpha val="8000"/>
            </a:srgbClr>
          </a:solidFill>
          <a:ln w="9525">
            <a:solidFill>
              <a:srgbClr val="00D4B4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7290" y="748466"/>
            <a:ext cx="132588" cy="13258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4777383" y="1087338"/>
            <a:ext cx="4249317" cy="97036"/>
          </a:xfrm>
          <a:prstGeom prst="rect">
            <a:avLst/>
          </a:prstGeom>
          <a:noFill/>
          <a:ln/>
        </p:spPr>
        <p:txBody>
          <a:bodyPr wrap="none" lIns="49530" tIns="0" rIns="0" bIns="0" rtlCol="0" anchor="t"/>
          <a:lstStyle/>
          <a:p>
            <a:pPr marL="0" indent="0" algn="l">
              <a:buNone/>
            </a:pPr>
            <a:r>
              <a:rPr lang="en-US" sz="510" b="1" kern="0" spc="8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TOPICS</a:t>
            </a:r>
            <a:endParaRPr lang="en-US" sz="510" dirty="0"/>
          </a:p>
        </p:txBody>
      </p:sp>
      <p:sp>
        <p:nvSpPr>
          <p:cNvPr id="46" name="Text 41"/>
          <p:cNvSpPr/>
          <p:nvPr/>
        </p:nvSpPr>
        <p:spPr>
          <a:xfrm>
            <a:off x="4777383" y="1087338"/>
            <a:ext cx="9525" cy="97036"/>
          </a:xfrm>
          <a:prstGeom prst="rect">
            <a:avLst/>
          </a:prstGeom>
          <a:solidFill>
            <a:srgbClr val="00D4B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777383" y="1248966"/>
            <a:ext cx="35421" cy="35421"/>
          </a:xfrm>
          <a:prstGeom prst="ellipse">
            <a:avLst/>
          </a:prstGeom>
          <a:solidFill>
            <a:srgbClr val="00D4B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862215" y="1213545"/>
            <a:ext cx="347181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gateway config: DMARC / DKIM / SPF policy enforcement</a:t>
            </a:r>
            <a:endParaRPr lang="en-US" sz="700" dirty="0"/>
          </a:p>
        </p:txBody>
      </p:sp>
      <p:sp>
        <p:nvSpPr>
          <p:cNvPr id="49" name="Text 44"/>
          <p:cNvSpPr/>
          <p:nvPr/>
        </p:nvSpPr>
        <p:spPr>
          <a:xfrm>
            <a:off x="4777383" y="1402407"/>
            <a:ext cx="35421" cy="35421"/>
          </a:xfrm>
          <a:prstGeom prst="ellipse">
            <a:avLst/>
          </a:prstGeom>
          <a:solidFill>
            <a:srgbClr val="00D4B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4862215" y="1366986"/>
            <a:ext cx="24126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rewriting, link detonation sandboxing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4777383" y="1555849"/>
            <a:ext cx="35421" cy="35421"/>
          </a:xfrm>
          <a:prstGeom prst="ellipse">
            <a:avLst/>
          </a:prstGeom>
          <a:solidFill>
            <a:srgbClr val="00D4B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4862215" y="1520428"/>
            <a:ext cx="294221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Anti-phishing AI filters &amp; impersonation detection</a:t>
            </a:r>
            <a:endParaRPr lang="en-US" sz="700" dirty="0"/>
          </a:p>
        </p:txBody>
      </p:sp>
      <p:sp>
        <p:nvSpPr>
          <p:cNvPr id="53" name="Text 48"/>
          <p:cNvSpPr/>
          <p:nvPr/>
        </p:nvSpPr>
        <p:spPr>
          <a:xfrm>
            <a:off x="4777383" y="1709291"/>
            <a:ext cx="35421" cy="35421"/>
          </a:xfrm>
          <a:prstGeom prst="ellipse">
            <a:avLst/>
          </a:prstGeom>
          <a:solidFill>
            <a:srgbClr val="00D4B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4862215" y="1673870"/>
            <a:ext cx="2765569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isolation for high-risk user categories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4777383" y="1862733"/>
            <a:ext cx="35421" cy="35421"/>
          </a:xfrm>
          <a:prstGeom prst="ellipse">
            <a:avLst/>
          </a:prstGeom>
          <a:solidFill>
            <a:srgbClr val="00D4B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4862215" y="1827312"/>
            <a:ext cx="282450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Lookalike domain monitoring &amp; takedown workflows</a:t>
            </a:r>
            <a:endParaRPr lang="en-US" sz="700" dirty="0"/>
          </a:p>
        </p:txBody>
      </p:sp>
      <p:sp>
        <p:nvSpPr>
          <p:cNvPr id="57" name="Text 52"/>
          <p:cNvSpPr/>
          <p:nvPr/>
        </p:nvSpPr>
        <p:spPr>
          <a:xfrm>
            <a:off x="4777383" y="2022574"/>
            <a:ext cx="4165997" cy="586346"/>
          </a:xfrm>
          <a:prstGeom prst="roundRect">
            <a:avLst>
              <a:gd name="adj" fmla="val 4982"/>
            </a:avLst>
          </a:prstGeom>
          <a:solidFill>
            <a:srgbClr val="FF5050">
              <a:alpha val="7000"/>
            </a:srgbClr>
          </a:solidFill>
          <a:ln/>
        </p:spPr>
        <p:txBody>
          <a:bodyPr wrap="square" lIns="71120" tIns="49530" rIns="71120" bIns="4953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71" dirty="0">
                <a:solidFill>
                  <a:srgbClr val="FF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CTI THREAT VECTOR</a:t>
            </a:r>
            <a:r>
              <a:rPr lang="en-US" sz="65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b="1" dirty="0">
                <a:solidFill>
                  <a:srgbClr val="FFC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 via lookalike domain spoofing</a:t>
            </a:r>
            <a:r>
              <a:rPr lang="en-US" sz="65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threat actors register typosquatted domains (e.g., institutionname-secure[.]com) to impersonate executives, bypassing legacy gateway filters targeting financial wire-transfer fraud.</a:t>
            </a:r>
            <a:endParaRPr lang="en-US" sz="650" dirty="0"/>
          </a:p>
        </p:txBody>
      </p:sp>
      <p:sp>
        <p:nvSpPr>
          <p:cNvPr id="58" name="Text 53"/>
          <p:cNvSpPr/>
          <p:nvPr/>
        </p:nvSpPr>
        <p:spPr>
          <a:xfrm>
            <a:off x="4777383" y="2022574"/>
            <a:ext cx="19050" cy="569268"/>
          </a:xfrm>
          <a:custGeom>
            <a:avLst/>
            <a:gdLst/>
            <a:ahLst/>
            <a:cxnLst/>
            <a:rect l="l" t="t" r="r" b="b"/>
            <a:pathLst>
              <a:path w="19050" h="569268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567444"/>
                </a:lnTo>
                <a:lnTo>
                  <a:pt x="16669" y="566438"/>
                </a:lnTo>
                <a:lnTo>
                  <a:pt x="14288" y="565168"/>
                </a:lnTo>
                <a:lnTo>
                  <a:pt x="11906" y="563591"/>
                </a:lnTo>
                <a:lnTo>
                  <a:pt x="9525" y="561638"/>
                </a:lnTo>
                <a:lnTo>
                  <a:pt x="7144" y="559197"/>
                </a:lnTo>
                <a:lnTo>
                  <a:pt x="4763" y="556043"/>
                </a:lnTo>
                <a:lnTo>
                  <a:pt x="2381" y="551609"/>
                </a:lnTo>
                <a:lnTo>
                  <a:pt x="0" y="540058"/>
                </a:lnTo>
                <a:close/>
              </a:path>
            </a:pathLst>
          </a:custGeom>
          <a:solidFill>
            <a:srgbClr val="FF505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4777383" y="2662833"/>
            <a:ext cx="4165997" cy="611088"/>
          </a:xfrm>
          <a:prstGeom prst="roundRect">
            <a:avLst>
              <a:gd name="adj" fmla="val 4780"/>
            </a:avLst>
          </a:prstGeom>
          <a:solidFill>
            <a:srgbClr val="00D4B4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4777383" y="2662833"/>
            <a:ext cx="19050" cy="611088"/>
          </a:xfrm>
          <a:custGeom>
            <a:avLst/>
            <a:gdLst/>
            <a:ahLst/>
            <a:cxnLst/>
            <a:rect l="l" t="t" r="r" b="b"/>
            <a:pathLst>
              <a:path w="19050" h="611088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609264"/>
                </a:lnTo>
                <a:lnTo>
                  <a:pt x="16669" y="608259"/>
                </a:lnTo>
                <a:lnTo>
                  <a:pt x="14288" y="606989"/>
                </a:lnTo>
                <a:lnTo>
                  <a:pt x="11906" y="605411"/>
                </a:lnTo>
                <a:lnTo>
                  <a:pt x="9525" y="603459"/>
                </a:lnTo>
                <a:lnTo>
                  <a:pt x="7144" y="601017"/>
                </a:lnTo>
                <a:lnTo>
                  <a:pt x="4763" y="597864"/>
                </a:lnTo>
                <a:lnTo>
                  <a:pt x="2381" y="593430"/>
                </a:lnTo>
                <a:lnTo>
                  <a:pt x="0" y="581878"/>
                </a:lnTo>
                <a:close/>
              </a:path>
            </a:pathLst>
          </a:custGeom>
          <a:solidFill>
            <a:srgbClr val="00D4B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4867424" y="2721769"/>
            <a:ext cx="4394984" cy="937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40"/>
              </a:lnSpc>
              <a:buNone/>
            </a:pPr>
            <a:r>
              <a:rPr lang="en-US" sz="51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TECHNICAL DEEP DIVE</a:t>
            </a:r>
            <a:endParaRPr lang="en-US" sz="510" dirty="0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5389" y="2702356"/>
            <a:ext cx="132588" cy="132588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4867424" y="2871788"/>
            <a:ext cx="29170" cy="29170"/>
          </a:xfrm>
          <a:prstGeom prst="ellipse">
            <a:avLst/>
          </a:prstGeom>
          <a:solidFill>
            <a:srgbClr val="00D4B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4867424" y="3007519"/>
            <a:ext cx="29170" cy="29170"/>
          </a:xfrm>
          <a:prstGeom prst="ellipse">
            <a:avLst/>
          </a:prstGeom>
          <a:solidFill>
            <a:srgbClr val="00D4B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4867424" y="3143250"/>
            <a:ext cx="29170" cy="29170"/>
          </a:xfrm>
          <a:prstGeom prst="ellipse">
            <a:avLst/>
          </a:prstGeom>
          <a:solidFill>
            <a:srgbClr val="00D4B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>
            <a:off x="4777383" y="3368278"/>
            <a:ext cx="18810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</a:t>
            </a:r>
            <a:endParaRPr lang="en-US" sz="560" dirty="0"/>
          </a:p>
        </p:txBody>
      </p:sp>
      <p:sp>
        <p:nvSpPr>
          <p:cNvPr id="67" name="Text 61"/>
          <p:cNvSpPr/>
          <p:nvPr/>
        </p:nvSpPr>
        <p:spPr>
          <a:xfrm>
            <a:off x="4991546" y="3344912"/>
            <a:ext cx="446931" cy="168786"/>
          </a:xfrm>
          <a:prstGeom prst="roundRect">
            <a:avLst>
              <a:gd name="adj" fmla="val 12791"/>
            </a:avLst>
          </a:prstGeom>
          <a:solidFill>
            <a:srgbClr val="00D4B4">
              <a:alpha val="10000"/>
            </a:srgbClr>
          </a:solidFill>
          <a:ln w="9525">
            <a:solidFill>
              <a:srgbClr val="00D4B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PR.AT-1</a:t>
            </a:r>
            <a:endParaRPr lang="en-US" sz="560" dirty="0"/>
          </a:p>
        </p:txBody>
      </p:sp>
      <p:sp>
        <p:nvSpPr>
          <p:cNvPr id="68" name="Text 62"/>
          <p:cNvSpPr/>
          <p:nvPr/>
        </p:nvSpPr>
        <p:spPr>
          <a:xfrm>
            <a:off x="5481638" y="3344912"/>
            <a:ext cx="446931" cy="168786"/>
          </a:xfrm>
          <a:prstGeom prst="roundRect">
            <a:avLst>
              <a:gd name="adj" fmla="val 12791"/>
            </a:avLst>
          </a:prstGeom>
          <a:solidFill>
            <a:srgbClr val="00D4B4">
              <a:alpha val="10000"/>
            </a:srgbClr>
          </a:solidFill>
          <a:ln w="9525">
            <a:solidFill>
              <a:srgbClr val="00D4B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560" dirty="0"/>
          </a:p>
        </p:txBody>
      </p:sp>
      <p:sp>
        <p:nvSpPr>
          <p:cNvPr id="69" name="Text 63"/>
          <p:cNvSpPr/>
          <p:nvPr/>
        </p:nvSpPr>
        <p:spPr>
          <a:xfrm>
            <a:off x="6000899" y="3368278"/>
            <a:ext cx="22567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NIST PROTECT → Awareness / DETECT → Monitoring</a:t>
            </a:r>
            <a:endParaRPr lang="en-US" sz="560" dirty="0"/>
          </a:p>
        </p:txBody>
      </p:sp>
      <p:sp>
        <p:nvSpPr>
          <p:cNvPr id="70" name="Text 64"/>
          <p:cNvSpPr/>
          <p:nvPr/>
        </p:nvSpPr>
        <p:spPr>
          <a:xfrm>
            <a:off x="4565079" y="0"/>
            <a:ext cx="1384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>
                  <a:alpha val="22000"/>
                </a:srgbClr>
              </a:gs>
              <a:gs pos="70000">
                <a:srgbClr val="00C8FF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gradFill rotWithShape="1">
            <a:gsLst>
              <a:gs pos="0">
                <a:srgbClr val="0E1F38"/>
              </a:gs>
              <a:gs pos="60000">
                <a:srgbClr val="0B1827"/>
              </a:gs>
              <a:gs pos="100000">
                <a:srgbClr val="0B1120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0" y="504825"/>
            <a:ext cx="9144000" cy="9525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342900" y="123527"/>
            <a:ext cx="257770" cy="257770"/>
          </a:xfrm>
          <a:prstGeom prst="roundRect">
            <a:avLst>
              <a:gd name="adj" fmla="val 16751"/>
            </a:avLst>
          </a:prstGeom>
          <a:solidFill>
            <a:srgbClr val="00C8FF">
              <a:alpha val="13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417" y="186044"/>
            <a:ext cx="132588" cy="132588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744141" y="150465"/>
            <a:ext cx="5446853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January &amp; February:</a:t>
            </a:r>
            <a:r>
              <a:rPr lang="en-US" sz="1460" kern="0" spc="15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IAM Foundations + Anti-Phishing Tech</a:t>
            </a:r>
            <a:endParaRPr lang="en-US" sz="1460" dirty="0"/>
          </a:p>
        </p:txBody>
      </p:sp>
      <p:sp>
        <p:nvSpPr>
          <p:cNvPr id="76" name="Text 69"/>
          <p:cNvSpPr/>
          <p:nvPr/>
        </p:nvSpPr>
        <p:spPr>
          <a:xfrm>
            <a:off x="6320433" y="193328"/>
            <a:ext cx="9436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endParaRPr lang="en-US" sz="620" dirty="0"/>
          </a:p>
        </p:txBody>
      </p:sp>
      <p:sp>
        <p:nvSpPr>
          <p:cNvPr id="77" name="Text 70"/>
          <p:cNvSpPr/>
          <p:nvPr/>
        </p:nvSpPr>
        <p:spPr>
          <a:xfrm>
            <a:off x="7235428" y="193328"/>
            <a:ext cx="591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8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620" dirty="0"/>
          </a:p>
        </p:txBody>
      </p:sp>
      <p:sp>
        <p:nvSpPr>
          <p:cNvPr id="78" name="Text 71"/>
          <p:cNvSpPr/>
          <p:nvPr/>
        </p:nvSpPr>
        <p:spPr>
          <a:xfrm>
            <a:off x="7346305" y="193328"/>
            <a:ext cx="7077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620" dirty="0"/>
          </a:p>
        </p:txBody>
      </p:sp>
      <p:sp>
        <p:nvSpPr>
          <p:cNvPr id="79" name="Text 72"/>
          <p:cNvSpPr/>
          <p:nvPr/>
        </p:nvSpPr>
        <p:spPr>
          <a:xfrm>
            <a:off x="8046839" y="193328"/>
            <a:ext cx="591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8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620" dirty="0"/>
          </a:p>
        </p:txBody>
      </p:sp>
      <p:sp>
        <p:nvSpPr>
          <p:cNvPr id="80" name="Text 73"/>
          <p:cNvSpPr/>
          <p:nvPr/>
        </p:nvSpPr>
        <p:spPr>
          <a:xfrm>
            <a:off x="8157716" y="193328"/>
            <a:ext cx="7077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620" dirty="0"/>
          </a:p>
        </p:txBody>
      </p:sp>
      <p:sp>
        <p:nvSpPr>
          <p:cNvPr id="81" name="Text 74"/>
          <p:cNvSpPr/>
          <p:nvPr/>
        </p:nvSpPr>
        <p:spPr>
          <a:xfrm>
            <a:off x="0" y="4871591"/>
            <a:ext cx="9144000" cy="271760"/>
          </a:xfrm>
          <a:prstGeom prst="rect">
            <a:avLst/>
          </a:prstGeom>
          <a:gradFill rotWithShape="1">
            <a:gsLst>
              <a:gs pos="0">
                <a:srgbClr val="091525"/>
              </a:gs>
              <a:gs pos="100000">
                <a:srgbClr val="0B112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5"/>
          <p:cNvSpPr/>
          <p:nvPr/>
        </p:nvSpPr>
        <p:spPr>
          <a:xfrm>
            <a:off x="0" y="4871591"/>
            <a:ext cx="9144000" cy="952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6"/>
          <p:cNvSpPr/>
          <p:nvPr/>
        </p:nvSpPr>
        <p:spPr>
          <a:xfrm>
            <a:off x="431602" y="4905524"/>
            <a:ext cx="2044354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Technology Webinar Series — Technical Security Track</a:t>
            </a:r>
            <a:endParaRPr lang="en-US" sz="560" dirty="0"/>
          </a:p>
        </p:txBody>
      </p:sp>
      <p:pic>
        <p:nvPicPr>
          <p:cNvPr id="8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377" y="4926441"/>
            <a:ext cx="132588" cy="171584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2701677" y="4997648"/>
            <a:ext cx="22622" cy="29170"/>
          </a:xfrm>
          <a:prstGeom prst="ellipse">
            <a:avLst/>
          </a:prstGeom>
          <a:solidFill>
            <a:srgbClr val="7A9BB5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8"/>
          <p:cNvSpPr/>
          <p:nvPr/>
        </p:nvSpPr>
        <p:spPr>
          <a:xfrm>
            <a:off x="2895749" y="4905524"/>
            <a:ext cx="1169503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MODULES: IAM | Anti-Phishing</a:t>
            </a:r>
            <a:endParaRPr lang="en-US" sz="560" dirty="0"/>
          </a:p>
        </p:txBody>
      </p:sp>
      <p:sp>
        <p:nvSpPr>
          <p:cNvPr id="87" name="Text 79"/>
          <p:cNvSpPr/>
          <p:nvPr/>
        </p:nvSpPr>
        <p:spPr>
          <a:xfrm>
            <a:off x="4213771" y="4997648"/>
            <a:ext cx="22622" cy="29170"/>
          </a:xfrm>
          <a:prstGeom prst="ellipse">
            <a:avLst/>
          </a:prstGeom>
          <a:solidFill>
            <a:srgbClr val="7A9BB5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0"/>
          <p:cNvSpPr/>
          <p:nvPr/>
        </p:nvSpPr>
        <p:spPr>
          <a:xfrm>
            <a:off x="4407843" y="4905524"/>
            <a:ext cx="260314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Aligned: CRI Profile v2.2 · NIST CSF 2.0 · MITRE ATT&amp;CK T1528 · T1566</a:t>
            </a:r>
            <a:endParaRPr lang="en-US" sz="560" dirty="0"/>
          </a:p>
        </p:txBody>
      </p:sp>
      <p:sp>
        <p:nvSpPr>
          <p:cNvPr id="89" name="Text 81"/>
          <p:cNvSpPr/>
          <p:nvPr/>
        </p:nvSpPr>
        <p:spPr>
          <a:xfrm>
            <a:off x="7219950" y="4905524"/>
            <a:ext cx="1606245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9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· Security · IAM Engineering · SOC Teams</a:t>
            </a:r>
            <a:endParaRPr lang="en-US" sz="560" dirty="0"/>
          </a:p>
        </p:txBody>
      </p:sp>
      <p:pic>
        <p:nvPicPr>
          <p:cNvPr id="9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87800" y="4926160"/>
            <a:ext cx="132588" cy="172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143250" cy="214372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720" y="3285530"/>
            <a:ext cx="2428280" cy="1857970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5275" y="1027807"/>
            <a:ext cx="1580559" cy="13841"/>
          </a:xfrm>
          <a:custGeom>
            <a:avLst/>
            <a:gdLst/>
            <a:ahLst/>
            <a:cxnLst/>
            <a:rect l="l" t="t" r="r" b="b"/>
            <a:pathLst>
              <a:path w="1580559" h="13841">
                <a:moveTo>
                  <a:pt x="57150" y="0"/>
                </a:moveTo>
                <a:lnTo>
                  <a:pt x="1523409" y="0"/>
                </a:lnTo>
                <a:lnTo>
                  <a:pt x="1537365" y="1730"/>
                </a:lnTo>
                <a:lnTo>
                  <a:pt x="1542993" y="3460"/>
                </a:lnTo>
                <a:lnTo>
                  <a:pt x="1547207" y="5190"/>
                </a:lnTo>
                <a:lnTo>
                  <a:pt x="1550670" y="6920"/>
                </a:lnTo>
                <a:lnTo>
                  <a:pt x="1553641" y="8651"/>
                </a:lnTo>
                <a:lnTo>
                  <a:pt x="1556254" y="10381"/>
                </a:lnTo>
                <a:lnTo>
                  <a:pt x="1558589" y="12111"/>
                </a:lnTo>
                <a:lnTo>
                  <a:pt x="1560698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38350" y="1027807"/>
            <a:ext cx="1580702" cy="13841"/>
          </a:xfrm>
          <a:custGeom>
            <a:avLst/>
            <a:gdLst/>
            <a:ahLst/>
            <a:cxnLst/>
            <a:rect l="l" t="t" r="r" b="b"/>
            <a:pathLst>
              <a:path w="1580702" h="13841">
                <a:moveTo>
                  <a:pt x="57150" y="0"/>
                </a:moveTo>
                <a:lnTo>
                  <a:pt x="1523552" y="0"/>
                </a:lnTo>
                <a:lnTo>
                  <a:pt x="1537508" y="1730"/>
                </a:lnTo>
                <a:lnTo>
                  <a:pt x="1543136" y="3460"/>
                </a:lnTo>
                <a:lnTo>
                  <a:pt x="1547350" y="5190"/>
                </a:lnTo>
                <a:lnTo>
                  <a:pt x="1550813" y="6920"/>
                </a:lnTo>
                <a:lnTo>
                  <a:pt x="1553784" y="8651"/>
                </a:lnTo>
                <a:lnTo>
                  <a:pt x="1556397" y="10381"/>
                </a:lnTo>
                <a:lnTo>
                  <a:pt x="1558732" y="12111"/>
                </a:lnTo>
                <a:lnTo>
                  <a:pt x="156084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574" y="1027807"/>
            <a:ext cx="1580702" cy="13841"/>
          </a:xfrm>
          <a:custGeom>
            <a:avLst/>
            <a:gdLst/>
            <a:ahLst/>
            <a:cxnLst/>
            <a:rect l="l" t="t" r="r" b="b"/>
            <a:pathLst>
              <a:path w="1580702" h="13841">
                <a:moveTo>
                  <a:pt x="57150" y="0"/>
                </a:moveTo>
                <a:lnTo>
                  <a:pt x="1523552" y="0"/>
                </a:lnTo>
                <a:lnTo>
                  <a:pt x="1537508" y="1730"/>
                </a:lnTo>
                <a:lnTo>
                  <a:pt x="1543136" y="3460"/>
                </a:lnTo>
                <a:lnTo>
                  <a:pt x="1547350" y="5190"/>
                </a:lnTo>
                <a:lnTo>
                  <a:pt x="1550813" y="6920"/>
                </a:lnTo>
                <a:lnTo>
                  <a:pt x="1553784" y="8651"/>
                </a:lnTo>
                <a:lnTo>
                  <a:pt x="1556397" y="10381"/>
                </a:lnTo>
                <a:lnTo>
                  <a:pt x="1558732" y="12111"/>
                </a:lnTo>
                <a:lnTo>
                  <a:pt x="156084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798" y="1027807"/>
            <a:ext cx="1580702" cy="13841"/>
          </a:xfrm>
          <a:custGeom>
            <a:avLst/>
            <a:gdLst/>
            <a:ahLst/>
            <a:cxnLst/>
            <a:rect l="l" t="t" r="r" b="b"/>
            <a:pathLst>
              <a:path w="1580702" h="13841">
                <a:moveTo>
                  <a:pt x="57150" y="0"/>
                </a:moveTo>
                <a:lnTo>
                  <a:pt x="1523552" y="0"/>
                </a:lnTo>
                <a:lnTo>
                  <a:pt x="1537508" y="1730"/>
                </a:lnTo>
                <a:lnTo>
                  <a:pt x="1543136" y="3460"/>
                </a:lnTo>
                <a:lnTo>
                  <a:pt x="1547350" y="5190"/>
                </a:lnTo>
                <a:lnTo>
                  <a:pt x="1550813" y="6920"/>
                </a:lnTo>
                <a:lnTo>
                  <a:pt x="1553784" y="8651"/>
                </a:lnTo>
                <a:lnTo>
                  <a:pt x="1556397" y="10381"/>
                </a:lnTo>
                <a:lnTo>
                  <a:pt x="1558732" y="12111"/>
                </a:lnTo>
                <a:lnTo>
                  <a:pt x="156084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8021" y="1027807"/>
            <a:ext cx="1580702" cy="13841"/>
          </a:xfrm>
          <a:custGeom>
            <a:avLst/>
            <a:gdLst/>
            <a:ahLst/>
            <a:cxnLst/>
            <a:rect l="l" t="t" r="r" b="b"/>
            <a:pathLst>
              <a:path w="1580702" h="13841">
                <a:moveTo>
                  <a:pt x="57150" y="0"/>
                </a:moveTo>
                <a:lnTo>
                  <a:pt x="1523552" y="0"/>
                </a:lnTo>
                <a:lnTo>
                  <a:pt x="1537508" y="1730"/>
                </a:lnTo>
                <a:lnTo>
                  <a:pt x="1543136" y="3460"/>
                </a:lnTo>
                <a:lnTo>
                  <a:pt x="1547350" y="5190"/>
                </a:lnTo>
                <a:lnTo>
                  <a:pt x="1550813" y="6920"/>
                </a:lnTo>
                <a:lnTo>
                  <a:pt x="1553784" y="8651"/>
                </a:lnTo>
                <a:lnTo>
                  <a:pt x="1556397" y="10381"/>
                </a:lnTo>
                <a:lnTo>
                  <a:pt x="1558732" y="12111"/>
                </a:lnTo>
                <a:lnTo>
                  <a:pt x="156084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00620"/>
            <a:ext cx="2365876" cy="195411"/>
          </a:xfrm>
          <a:prstGeom prst="roundRect">
            <a:avLst>
              <a:gd name="adj" fmla="val 14948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620" kern="0" spc="87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WEBINAR · DATA PROTECTION TRACK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6631186" y="200620"/>
            <a:ext cx="679478" cy="168920"/>
          </a:xfrm>
          <a:prstGeom prst="roundRect">
            <a:avLst>
              <a:gd name="adj" fmla="val 12781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1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PR.DS-1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7354491" y="200620"/>
            <a:ext cx="679478" cy="168920"/>
          </a:xfrm>
          <a:prstGeom prst="roundRect">
            <a:avLst>
              <a:gd name="adj" fmla="val 12781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1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PR.DS-2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8077795" y="200620"/>
            <a:ext cx="679478" cy="168920"/>
          </a:xfrm>
          <a:prstGeom prst="roundRect">
            <a:avLst>
              <a:gd name="adj" fmla="val 12781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1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PR.DS-5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400050" y="467023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March:</a:t>
            </a:r>
            <a:r>
              <a:rPr lang="en-US" sz="169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Data Classification &amp; DLP Architecture</a:t>
            </a:r>
            <a:endParaRPr lang="en-US" sz="1690" dirty="0"/>
          </a:p>
        </p:txBody>
      </p:sp>
      <p:sp>
        <p:nvSpPr>
          <p:cNvPr id="16" name="Text 14"/>
          <p:cNvSpPr/>
          <p:nvPr/>
        </p:nvSpPr>
        <p:spPr>
          <a:xfrm>
            <a:off x="400050" y="756940"/>
            <a:ext cx="242947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C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770781"/>
            <a:ext cx="10058400" cy="147191"/>
          </a:xfrm>
          <a:prstGeom prst="rect">
            <a:avLst/>
          </a:prstGeom>
          <a:noFill/>
          <a:ln/>
        </p:spPr>
        <p:txBody>
          <a:bodyPr wrap="none" lIns="400050" tIns="29210" rIns="40005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kern="0" spc="37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5-Phase Implementation Framework  ·  Microsoft Purview · Varonis · SIEM Integration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750" y="1018282"/>
            <a:ext cx="1599605" cy="1975396"/>
          </a:xfrm>
          <a:prstGeom prst="roundRect">
            <a:avLst>
              <a:gd name="adj" fmla="val 3573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5275" y="1027807"/>
            <a:ext cx="1580555" cy="1956346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5585" y="1128117"/>
            <a:ext cx="157460" cy="173206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610195" y="1153418"/>
            <a:ext cx="53582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928092" y="1342727"/>
            <a:ext cx="314920" cy="31492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9184" y="1433819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95585" y="2733080"/>
            <a:ext cx="536525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Purview IP</a:t>
            </a:r>
            <a:endParaRPr lang="en-US" sz="530" dirty="0"/>
          </a:p>
        </p:txBody>
      </p:sp>
      <p:sp>
        <p:nvSpPr>
          <p:cNvPr id="25" name="Text 22"/>
          <p:cNvSpPr/>
          <p:nvPr/>
        </p:nvSpPr>
        <p:spPr>
          <a:xfrm>
            <a:off x="953691" y="2733080"/>
            <a:ext cx="407194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Varonis</a:t>
            </a:r>
            <a:endParaRPr lang="en-US" sz="53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0796" y="2075492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028825" y="1018282"/>
            <a:ext cx="1599754" cy="1975396"/>
          </a:xfrm>
          <a:prstGeom prst="roundRect">
            <a:avLst>
              <a:gd name="adj" fmla="val 3572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038350" y="1027807"/>
            <a:ext cx="1580704" cy="1956346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2138660" y="1128117"/>
            <a:ext cx="157460" cy="173206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20" dirty="0"/>
          </a:p>
        </p:txBody>
      </p:sp>
      <p:sp>
        <p:nvSpPr>
          <p:cNvPr id="30" name="Text 26"/>
          <p:cNvSpPr/>
          <p:nvPr/>
        </p:nvSpPr>
        <p:spPr>
          <a:xfrm>
            <a:off x="2353270" y="1153418"/>
            <a:ext cx="47639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</a:t>
            </a:r>
            <a:endParaRPr lang="en-US" sz="560" dirty="0"/>
          </a:p>
        </p:txBody>
      </p:sp>
      <p:sp>
        <p:nvSpPr>
          <p:cNvPr id="31" name="Text 27"/>
          <p:cNvSpPr/>
          <p:nvPr/>
        </p:nvSpPr>
        <p:spPr>
          <a:xfrm>
            <a:off x="2671167" y="1342727"/>
            <a:ext cx="314920" cy="31492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259" y="1433819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138660" y="2611189"/>
            <a:ext cx="536525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Auto-Label</a:t>
            </a:r>
            <a:endParaRPr lang="en-US" sz="530" dirty="0"/>
          </a:p>
        </p:txBody>
      </p:sp>
      <p:sp>
        <p:nvSpPr>
          <p:cNvPr id="34" name="Text 29"/>
          <p:cNvSpPr/>
          <p:nvPr/>
        </p:nvSpPr>
        <p:spPr>
          <a:xfrm>
            <a:off x="2696766" y="2611189"/>
            <a:ext cx="450205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Rules</a:t>
            </a:r>
            <a:endParaRPr lang="en-US" sz="53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4020" y="2075492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772049" y="1018282"/>
            <a:ext cx="1599754" cy="1975396"/>
          </a:xfrm>
          <a:prstGeom prst="roundRect">
            <a:avLst>
              <a:gd name="adj" fmla="val 3572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3781574" y="1027807"/>
            <a:ext cx="1580704" cy="1956346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3881884" y="1128117"/>
            <a:ext cx="157460" cy="173206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620" dirty="0"/>
          </a:p>
        </p:txBody>
      </p:sp>
      <p:sp>
        <p:nvSpPr>
          <p:cNvPr id="39" name="Text 33"/>
          <p:cNvSpPr/>
          <p:nvPr/>
        </p:nvSpPr>
        <p:spPr>
          <a:xfrm>
            <a:off x="4096494" y="1153418"/>
            <a:ext cx="35721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560" dirty="0"/>
          </a:p>
        </p:txBody>
      </p:sp>
      <p:sp>
        <p:nvSpPr>
          <p:cNvPr id="40" name="Text 34"/>
          <p:cNvSpPr/>
          <p:nvPr/>
        </p:nvSpPr>
        <p:spPr>
          <a:xfrm>
            <a:off x="4414391" y="1342727"/>
            <a:ext cx="314920" cy="31492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483" y="1433819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881884" y="2611189"/>
            <a:ext cx="493365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DLP Rules</a:t>
            </a:r>
            <a:endParaRPr lang="en-US" sz="530" dirty="0"/>
          </a:p>
        </p:txBody>
      </p:sp>
      <p:sp>
        <p:nvSpPr>
          <p:cNvPr id="43" name="Text 36"/>
          <p:cNvSpPr/>
          <p:nvPr/>
        </p:nvSpPr>
        <p:spPr>
          <a:xfrm>
            <a:off x="4396829" y="2611189"/>
            <a:ext cx="407194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</a:t>
            </a:r>
            <a:endParaRPr lang="en-US" sz="53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7244" y="2075492"/>
            <a:ext cx="132588" cy="1325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515273" y="1018282"/>
            <a:ext cx="1599754" cy="1975396"/>
          </a:xfrm>
          <a:prstGeom prst="roundRect">
            <a:avLst>
              <a:gd name="adj" fmla="val 3572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5524798" y="1027807"/>
            <a:ext cx="1580704" cy="1956346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5625108" y="1128117"/>
            <a:ext cx="157460" cy="173206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620" dirty="0"/>
          </a:p>
        </p:txBody>
      </p:sp>
      <p:sp>
        <p:nvSpPr>
          <p:cNvPr id="48" name="Text 40"/>
          <p:cNvSpPr/>
          <p:nvPr/>
        </p:nvSpPr>
        <p:spPr>
          <a:xfrm>
            <a:off x="5839718" y="1153418"/>
            <a:ext cx="4168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560" dirty="0"/>
          </a:p>
        </p:txBody>
      </p:sp>
      <p:sp>
        <p:nvSpPr>
          <p:cNvPr id="49" name="Text 41"/>
          <p:cNvSpPr/>
          <p:nvPr/>
        </p:nvSpPr>
        <p:spPr>
          <a:xfrm>
            <a:off x="6157615" y="1342727"/>
            <a:ext cx="314920" cy="31492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707" y="1433819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240214" y="2489299"/>
            <a:ext cx="277862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SIEM</a:t>
            </a:r>
            <a:endParaRPr lang="en-US" sz="530" dirty="0"/>
          </a:p>
        </p:txBody>
      </p:sp>
      <p:sp>
        <p:nvSpPr>
          <p:cNvPr id="52" name="Text 43"/>
          <p:cNvSpPr/>
          <p:nvPr/>
        </p:nvSpPr>
        <p:spPr>
          <a:xfrm>
            <a:off x="6539657" y="2489299"/>
            <a:ext cx="234702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</a:t>
            </a:r>
            <a:endParaRPr lang="en-US" sz="53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0467" y="2075492"/>
            <a:ext cx="132588" cy="132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258496" y="1018282"/>
            <a:ext cx="1599754" cy="1975396"/>
          </a:xfrm>
          <a:prstGeom prst="roundRect">
            <a:avLst>
              <a:gd name="adj" fmla="val 3572"/>
            </a:avLst>
          </a:prstGeom>
          <a:solidFill>
            <a:srgbClr val="162032"/>
          </a:soli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7268021" y="1027807"/>
            <a:ext cx="1580704" cy="1956346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7368332" y="1128117"/>
            <a:ext cx="157460" cy="173206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620" dirty="0"/>
          </a:p>
        </p:txBody>
      </p:sp>
      <p:sp>
        <p:nvSpPr>
          <p:cNvPr id="57" name="Text 47"/>
          <p:cNvSpPr/>
          <p:nvPr/>
        </p:nvSpPr>
        <p:spPr>
          <a:xfrm>
            <a:off x="7582942" y="1153418"/>
            <a:ext cx="4168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</a:t>
            </a:r>
            <a:endParaRPr lang="en-US" sz="560" dirty="0"/>
          </a:p>
        </p:txBody>
      </p:sp>
      <p:sp>
        <p:nvSpPr>
          <p:cNvPr id="58" name="Text 48"/>
          <p:cNvSpPr/>
          <p:nvPr/>
        </p:nvSpPr>
        <p:spPr>
          <a:xfrm>
            <a:off x="7900839" y="1342727"/>
            <a:ext cx="314920" cy="314920"/>
          </a:xfrm>
          <a:prstGeom prst="ellipse">
            <a:avLst/>
          </a:prstGeom>
          <a:solidFill>
            <a:srgbClr val="00C8FF">
              <a:alpha val="18000"/>
            </a:srgbClr>
          </a:solidFill>
          <a:ln w="9525">
            <a:solidFill>
              <a:srgbClr val="00C8FF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1930" y="1433819"/>
            <a:ext cx="132588" cy="13258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368332" y="2611189"/>
            <a:ext cx="665708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Gate</a:t>
            </a:r>
            <a:endParaRPr lang="en-US" sz="530" dirty="0"/>
          </a:p>
        </p:txBody>
      </p:sp>
      <p:sp>
        <p:nvSpPr>
          <p:cNvPr id="61" name="Text 50"/>
          <p:cNvSpPr/>
          <p:nvPr/>
        </p:nvSpPr>
        <p:spPr>
          <a:xfrm>
            <a:off x="8055620" y="2611189"/>
            <a:ext cx="493365" cy="166003"/>
          </a:xfrm>
          <a:prstGeom prst="roundRect">
            <a:avLst>
              <a:gd name="adj" fmla="val 13006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Log</a:t>
            </a:r>
            <a:endParaRPr lang="en-US" sz="530" dirty="0"/>
          </a:p>
        </p:txBody>
      </p:sp>
      <p:sp>
        <p:nvSpPr>
          <p:cNvPr id="62" name="Text 51"/>
          <p:cNvSpPr/>
          <p:nvPr/>
        </p:nvSpPr>
        <p:spPr>
          <a:xfrm>
            <a:off x="285750" y="3050828"/>
            <a:ext cx="8572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C8FF">
                  <a:alpha val="20000"/>
                </a:srgbClr>
              </a:gs>
              <a:gs pos="80000">
                <a:srgbClr val="00C8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2"/>
          <p:cNvSpPr/>
          <p:nvPr/>
        </p:nvSpPr>
        <p:spPr>
          <a:xfrm>
            <a:off x="216091" y="3079998"/>
            <a:ext cx="1532498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dirty="0">
                <a:solidFill>
                  <a:srgbClr val="00C8FF">
                    <a:alpha val="4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 PHASE</a:t>
            </a:r>
            <a:endParaRPr lang="en-US" sz="530" dirty="0"/>
          </a:p>
        </p:txBody>
      </p:sp>
      <p:sp>
        <p:nvSpPr>
          <p:cNvPr id="64" name="Text 53"/>
          <p:cNvSpPr/>
          <p:nvPr/>
        </p:nvSpPr>
        <p:spPr>
          <a:xfrm>
            <a:off x="2010958" y="3079998"/>
            <a:ext cx="1532498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dirty="0">
                <a:solidFill>
                  <a:srgbClr val="00C8FF">
                    <a:alpha val="4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LABELING PHASE</a:t>
            </a:r>
            <a:endParaRPr lang="en-US" sz="530" dirty="0"/>
          </a:p>
        </p:txBody>
      </p:sp>
      <p:sp>
        <p:nvSpPr>
          <p:cNvPr id="65" name="Text 54"/>
          <p:cNvSpPr/>
          <p:nvPr/>
        </p:nvSpPr>
        <p:spPr>
          <a:xfrm>
            <a:off x="3805825" y="3079998"/>
            <a:ext cx="1532498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dirty="0">
                <a:solidFill>
                  <a:srgbClr val="00C8FF">
                    <a:alpha val="4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 PHASE</a:t>
            </a:r>
            <a:endParaRPr lang="en-US" sz="530" dirty="0"/>
          </a:p>
        </p:txBody>
      </p:sp>
      <p:sp>
        <p:nvSpPr>
          <p:cNvPr id="66" name="Text 55"/>
          <p:cNvSpPr/>
          <p:nvPr/>
        </p:nvSpPr>
        <p:spPr>
          <a:xfrm>
            <a:off x="5600544" y="3079998"/>
            <a:ext cx="1532498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dirty="0">
                <a:solidFill>
                  <a:srgbClr val="00C8FF">
                    <a:alpha val="4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 PHASE</a:t>
            </a:r>
            <a:endParaRPr lang="en-US" sz="530" dirty="0"/>
          </a:p>
        </p:txBody>
      </p:sp>
      <p:sp>
        <p:nvSpPr>
          <p:cNvPr id="67" name="Text 56"/>
          <p:cNvSpPr/>
          <p:nvPr/>
        </p:nvSpPr>
        <p:spPr>
          <a:xfrm>
            <a:off x="7395411" y="3079998"/>
            <a:ext cx="1532498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dirty="0">
                <a:solidFill>
                  <a:srgbClr val="00C8FF">
                    <a:alpha val="4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PHASE</a:t>
            </a:r>
            <a:endParaRPr lang="en-US" sz="530" dirty="0"/>
          </a:p>
        </p:txBody>
      </p:sp>
      <p:sp>
        <p:nvSpPr>
          <p:cNvPr id="68" name="Text 57"/>
          <p:cNvSpPr/>
          <p:nvPr/>
        </p:nvSpPr>
        <p:spPr>
          <a:xfrm>
            <a:off x="0" y="4843909"/>
            <a:ext cx="9144000" cy="299591"/>
          </a:xfrm>
          <a:prstGeom prst="rect">
            <a:avLst/>
          </a:prstGeom>
          <a:solidFill>
            <a:srgbClr val="16203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8"/>
          <p:cNvSpPr/>
          <p:nvPr/>
        </p:nvSpPr>
        <p:spPr>
          <a:xfrm>
            <a:off x="0" y="4843909"/>
            <a:ext cx="9144000" cy="9525"/>
          </a:xfrm>
          <a:prstGeom prst="rect">
            <a:avLst/>
          </a:prstGeom>
          <a:solidFill>
            <a:srgbClr val="00C8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9"/>
          <p:cNvSpPr/>
          <p:nvPr/>
        </p:nvSpPr>
        <p:spPr>
          <a:xfrm>
            <a:off x="400050" y="4945112"/>
            <a:ext cx="6581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MAPPING:</a:t>
            </a:r>
            <a:endParaRPr lang="en-US" sz="560" dirty="0"/>
          </a:p>
        </p:txBody>
      </p:sp>
      <p:sp>
        <p:nvSpPr>
          <p:cNvPr id="71" name="Text 60"/>
          <p:cNvSpPr/>
          <p:nvPr/>
        </p:nvSpPr>
        <p:spPr>
          <a:xfrm>
            <a:off x="1069330" y="4921746"/>
            <a:ext cx="432643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PR.DS-1</a:t>
            </a:r>
            <a:endParaRPr lang="en-US" sz="560" dirty="0"/>
          </a:p>
        </p:txBody>
      </p:sp>
      <p:sp>
        <p:nvSpPr>
          <p:cNvPr id="72" name="Text 61"/>
          <p:cNvSpPr/>
          <p:nvPr/>
        </p:nvSpPr>
        <p:spPr>
          <a:xfrm>
            <a:off x="1572964" y="4921746"/>
            <a:ext cx="432643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PR.DS-2</a:t>
            </a:r>
            <a:endParaRPr lang="en-US" sz="560" dirty="0"/>
          </a:p>
        </p:txBody>
      </p:sp>
      <p:sp>
        <p:nvSpPr>
          <p:cNvPr id="73" name="Text 62"/>
          <p:cNvSpPr/>
          <p:nvPr/>
        </p:nvSpPr>
        <p:spPr>
          <a:xfrm>
            <a:off x="2076599" y="4921746"/>
            <a:ext cx="432643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PR.DS-5</a:t>
            </a:r>
            <a:endParaRPr lang="en-US" sz="560" dirty="0"/>
          </a:p>
        </p:txBody>
      </p:sp>
      <p:sp>
        <p:nvSpPr>
          <p:cNvPr id="74" name="Text 63"/>
          <p:cNvSpPr/>
          <p:nvPr/>
        </p:nvSpPr>
        <p:spPr>
          <a:xfrm>
            <a:off x="6854577" y="4945112"/>
            <a:ext cx="6032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REGULATORY:</a:t>
            </a:r>
            <a:endParaRPr lang="en-US" sz="560" dirty="0"/>
          </a:p>
        </p:txBody>
      </p:sp>
      <p:sp>
        <p:nvSpPr>
          <p:cNvPr id="75" name="Text 64"/>
          <p:cNvSpPr/>
          <p:nvPr/>
        </p:nvSpPr>
        <p:spPr>
          <a:xfrm>
            <a:off x="7460159" y="4921746"/>
            <a:ext cx="304354" cy="168786"/>
          </a:xfrm>
          <a:prstGeom prst="roundRect">
            <a:avLst>
              <a:gd name="adj" fmla="val 12791"/>
            </a:avLst>
          </a:prstGeom>
          <a:solidFill>
            <a:srgbClr val="7A9BB5">
              <a:alpha val="7000"/>
            </a:srgbClr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GLBA</a:t>
            </a:r>
            <a:endParaRPr lang="en-US" sz="560" dirty="0"/>
          </a:p>
        </p:txBody>
      </p:sp>
      <p:sp>
        <p:nvSpPr>
          <p:cNvPr id="76" name="Text 65"/>
          <p:cNvSpPr/>
          <p:nvPr/>
        </p:nvSpPr>
        <p:spPr>
          <a:xfrm>
            <a:off x="7821662" y="4921746"/>
            <a:ext cx="603498" cy="168786"/>
          </a:xfrm>
          <a:prstGeom prst="roundRect">
            <a:avLst>
              <a:gd name="adj" fmla="val 12791"/>
            </a:avLst>
          </a:prstGeom>
          <a:solidFill>
            <a:srgbClr val="7A9BB5">
              <a:alpha val="7000"/>
            </a:srgbClr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PCI-DSS 4.0</a:t>
            </a:r>
            <a:endParaRPr lang="en-US" sz="560" dirty="0"/>
          </a:p>
        </p:txBody>
      </p:sp>
      <p:sp>
        <p:nvSpPr>
          <p:cNvPr id="77" name="Text 66"/>
          <p:cNvSpPr/>
          <p:nvPr/>
        </p:nvSpPr>
        <p:spPr>
          <a:xfrm>
            <a:off x="8482310" y="4921746"/>
            <a:ext cx="261640" cy="168786"/>
          </a:xfrm>
          <a:prstGeom prst="roundRect">
            <a:avLst>
              <a:gd name="adj" fmla="val 12791"/>
            </a:avLst>
          </a:prstGeom>
          <a:solidFill>
            <a:srgbClr val="7A9BB5">
              <a:alpha val="7000"/>
            </a:srgbClr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SOX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>
                  <a:alpha val="70000"/>
                </a:srgbClr>
              </a:gs>
              <a:gs pos="70000">
                <a:srgbClr val="00C8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28141"/>
            <a:ext cx="1606701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11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— WEBINAR 4 OF 12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400050" y="351532"/>
            <a:ext cx="5005152" cy="51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7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Security Architecture </a:t>
            </a:r>
            <a:r>
              <a:rPr lang="en-US" sz="1690" b="1" kern="0" spc="-17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Financial Institutions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5307062" y="157311"/>
            <a:ext cx="3436888" cy="324521"/>
          </a:xfrm>
          <a:prstGeom prst="roundRect">
            <a:avLst>
              <a:gd name="adj" fmla="val 13306"/>
            </a:avLst>
          </a:prstGeom>
          <a:solidFill>
            <a:srgbClr val="FF5050">
              <a:alpha val="10000"/>
            </a:srgbClr>
          </a:solidFill>
          <a:ln w="9525">
            <a:solidFill>
              <a:srgbClr val="FF5050">
                <a:alpha val="30000"/>
              </a:srgbClr>
            </a:solidFill>
          </a:ln>
        </p:spPr>
        <p:txBody>
          <a:bodyPr wrap="square" lIns="100330" tIns="43180" rIns="100330" bIns="43180" rtlCol="0" anchor="t"/>
          <a:lstStyle/>
          <a:p>
            <a:pPr marL="0" indent="0" algn="r">
              <a:lnSpc>
                <a:spcPts val="868"/>
              </a:lnSpc>
              <a:buNone/>
            </a:pPr>
            <a:r>
              <a:rPr lang="en-US" sz="620" b="1" kern="0" spc="56" dirty="0">
                <a:solidFill>
                  <a:srgbClr val="FF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CTI INTELLIGENCE</a:t>
            </a:r>
            <a:r>
              <a:rPr lang="en-US" sz="62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Cloud misconfigurations account for </a:t>
            </a:r>
            <a:r>
              <a:rPr lang="en-US" sz="620" b="1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21%</a:t>
            </a:r>
            <a:r>
              <a:rPr lang="en-US" sz="62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of financial sector breaches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7467154" y="515541"/>
            <a:ext cx="1302332" cy="153442"/>
          </a:xfrm>
          <a:prstGeom prst="roundRect">
            <a:avLst>
              <a:gd name="adj" fmla="val 190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marL="0" indent="0" algn="l"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 PR.PS-1  ·  ID.AM-3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400050" y="93136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1041202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8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02" y="1096128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7307" y="1099840"/>
            <a:ext cx="153331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Responsibility Model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523875" y="2406402"/>
            <a:ext cx="839688" cy="151596"/>
          </a:xfrm>
          <a:prstGeom prst="roundRect">
            <a:avLst>
              <a:gd name="adj" fmla="val 14242"/>
            </a:avLst>
          </a:prstGeom>
          <a:solidFill>
            <a:srgbClr val="00C8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 LAYER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3205014" y="93136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328839" y="1041202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765" y="1096128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2271" y="1099840"/>
            <a:ext cx="20020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Security Posture Mgmt (CSPM)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3328839" y="2406402"/>
            <a:ext cx="793403" cy="151596"/>
          </a:xfrm>
          <a:prstGeom prst="roundRect">
            <a:avLst>
              <a:gd name="adj" fmla="val 14242"/>
            </a:avLst>
          </a:prstGeom>
          <a:solidFill>
            <a:srgbClr val="3B82F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 / ID.AM-3</a:t>
            </a:r>
            <a:endParaRPr lang="en-US" sz="560" dirty="0"/>
          </a:p>
        </p:txBody>
      </p:sp>
      <p:sp>
        <p:nvSpPr>
          <p:cNvPr id="19" name="Text 15"/>
          <p:cNvSpPr/>
          <p:nvPr/>
        </p:nvSpPr>
        <p:spPr>
          <a:xfrm>
            <a:off x="6009977" y="93136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33802" y="1041202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8729" y="1096128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7234" y="1099840"/>
            <a:ext cx="20288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Access Security Broker (CASB)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6133802" y="2278410"/>
            <a:ext cx="885974" cy="151596"/>
          </a:xfrm>
          <a:prstGeom prst="roundRect">
            <a:avLst>
              <a:gd name="adj" fmla="val 14242"/>
            </a:avLst>
          </a:prstGeom>
          <a:solidFill>
            <a:srgbClr val="A855F7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PR.PS-1 / DE.CM-1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400050" y="284529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23875" y="295513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802" y="3010058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7307" y="3013770"/>
            <a:ext cx="194259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Secure Access Service Edge (SASE)</a:t>
            </a:r>
            <a:endParaRPr lang="en-US" sz="820" dirty="0"/>
          </a:p>
        </p:txBody>
      </p:sp>
      <p:sp>
        <p:nvSpPr>
          <p:cNvPr id="28" name="Text 22"/>
          <p:cNvSpPr/>
          <p:nvPr/>
        </p:nvSpPr>
        <p:spPr>
          <a:xfrm>
            <a:off x="523875" y="4448324"/>
            <a:ext cx="1024830" cy="151596"/>
          </a:xfrm>
          <a:prstGeom prst="roundRect">
            <a:avLst>
              <a:gd name="adj" fmla="val 14242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 / ZERO TRUST</a:t>
            </a:r>
            <a:endParaRPr lang="en-US" sz="560" dirty="0"/>
          </a:p>
        </p:txBody>
      </p:sp>
      <p:sp>
        <p:nvSpPr>
          <p:cNvPr id="29" name="Text 23"/>
          <p:cNvSpPr/>
          <p:nvPr/>
        </p:nvSpPr>
        <p:spPr>
          <a:xfrm>
            <a:off x="3205014" y="284529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328839" y="295513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3765" y="3010058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42271" y="3013770"/>
            <a:ext cx="16541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Encryption &amp; Key Management</a:t>
            </a:r>
            <a:endParaRPr lang="en-US" sz="820" dirty="0"/>
          </a:p>
        </p:txBody>
      </p:sp>
      <p:sp>
        <p:nvSpPr>
          <p:cNvPr id="33" name="Text 26"/>
          <p:cNvSpPr/>
          <p:nvPr/>
        </p:nvSpPr>
        <p:spPr>
          <a:xfrm>
            <a:off x="3328839" y="4320332"/>
            <a:ext cx="1071116" cy="151596"/>
          </a:xfrm>
          <a:prstGeom prst="roundRect">
            <a:avLst>
              <a:gd name="adj" fmla="val 14242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PR.DS-1 / PCI-DSS 4.0</a:t>
            </a:r>
            <a:endParaRPr lang="en-US" sz="560" dirty="0"/>
          </a:p>
        </p:txBody>
      </p:sp>
      <p:sp>
        <p:nvSpPr>
          <p:cNvPr id="34" name="Text 27"/>
          <p:cNvSpPr/>
          <p:nvPr/>
        </p:nvSpPr>
        <p:spPr>
          <a:xfrm>
            <a:off x="6009977" y="2845296"/>
            <a:ext cx="2733973" cy="1842939"/>
          </a:xfrm>
          <a:prstGeom prst="roundRect">
            <a:avLst>
              <a:gd name="adj" fmla="val 38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133802" y="295513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8729" y="3010058"/>
            <a:ext cx="132588" cy="132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47234" y="3013770"/>
            <a:ext cx="188758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-8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Workload Protection (CWPP)</a:t>
            </a:r>
            <a:endParaRPr lang="en-US" sz="820" dirty="0"/>
          </a:p>
        </p:txBody>
      </p:sp>
      <p:sp>
        <p:nvSpPr>
          <p:cNvPr id="38" name="Text 30"/>
          <p:cNvSpPr/>
          <p:nvPr/>
        </p:nvSpPr>
        <p:spPr>
          <a:xfrm>
            <a:off x="6133802" y="4448324"/>
            <a:ext cx="885974" cy="151596"/>
          </a:xfrm>
          <a:prstGeom prst="roundRect">
            <a:avLst>
              <a:gd name="adj" fmla="val 14242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PR.PS-1 / DE.AE-2</a:t>
            </a:r>
            <a:endParaRPr lang="en-US" sz="560" dirty="0"/>
          </a:p>
        </p:txBody>
      </p:sp>
      <p:sp>
        <p:nvSpPr>
          <p:cNvPr id="39" name="Text 31"/>
          <p:cNvSpPr/>
          <p:nvPr/>
        </p:nvSpPr>
        <p:spPr>
          <a:xfrm>
            <a:off x="0" y="4759226"/>
            <a:ext cx="91440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00050" y="4825901"/>
            <a:ext cx="34387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v2.2: PR.PS-1  |  ID.AM-3  |  PR.DS-1  |  DE.CM-1</a:t>
            </a:r>
            <a:endParaRPr lang="en-US" sz="620" dirty="0"/>
          </a:p>
        </p:txBody>
      </p:sp>
      <p:sp>
        <p:nvSpPr>
          <p:cNvPr id="41" name="Text 33"/>
          <p:cNvSpPr/>
          <p:nvPr/>
        </p:nvSpPr>
        <p:spPr>
          <a:xfrm>
            <a:off x="4627215" y="4828729"/>
            <a:ext cx="452840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18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 PROTECT &amp; IDENTIFY functions  ·  Applies to IaaS / PaaS / SaaS deployments</a:t>
            </a:r>
            <a:endParaRPr lang="en-US" sz="590" dirty="0"/>
          </a:p>
        </p:txBody>
      </p:sp>
      <p:sp>
        <p:nvSpPr>
          <p:cNvPr id="42" name="Text 34"/>
          <p:cNvSpPr/>
          <p:nvPr/>
        </p:nvSpPr>
        <p:spPr>
          <a:xfrm>
            <a:off x="409575" y="94089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214539" y="94089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3B82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019502" y="94089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409575" y="285482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10B981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3214539" y="285482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019502" y="2854821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EF444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143250" cy="3143250"/>
          </a:xfrm>
          <a:prstGeom prst="rect">
            <a:avLst/>
          </a:prstGeom>
          <a:gradFill rotWithShape="1">
            <a:gsLst>
              <a:gs pos="0">
                <a:srgbClr val="00C8FF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720" y="3143250"/>
            <a:ext cx="2428280" cy="2000250"/>
          </a:xfrm>
          <a:prstGeom prst="rect">
            <a:avLst/>
          </a:prstGeom>
          <a:gradFill rotWithShape="1">
            <a:gsLst>
              <a:gs pos="0">
                <a:srgbClr val="00C8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914102"/>
            <a:ext cx="1591866" cy="13841"/>
          </a:xfrm>
          <a:custGeom>
            <a:avLst/>
            <a:gdLst/>
            <a:ahLst/>
            <a:cxnLst/>
            <a:rect l="l" t="t" r="r" b="b"/>
            <a:pathLst>
              <a:path w="1591866" h="13841">
                <a:moveTo>
                  <a:pt x="57150" y="0"/>
                </a:moveTo>
                <a:lnTo>
                  <a:pt x="1534716" y="0"/>
                </a:lnTo>
                <a:lnTo>
                  <a:pt x="1548671" y="1730"/>
                </a:lnTo>
                <a:lnTo>
                  <a:pt x="1554300" y="3460"/>
                </a:lnTo>
                <a:lnTo>
                  <a:pt x="1558513" y="5190"/>
                </a:lnTo>
                <a:lnTo>
                  <a:pt x="1561976" y="6920"/>
                </a:lnTo>
                <a:lnTo>
                  <a:pt x="1564947" y="8651"/>
                </a:lnTo>
                <a:lnTo>
                  <a:pt x="1567560" y="10381"/>
                </a:lnTo>
                <a:lnTo>
                  <a:pt x="1569895" y="12111"/>
                </a:lnTo>
                <a:lnTo>
                  <a:pt x="1572004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595" y="914102"/>
            <a:ext cx="1591866" cy="3714159"/>
          </a:xfrm>
          <a:prstGeom prst="roundRect">
            <a:avLst>
              <a:gd name="adj" fmla="val 3590"/>
            </a:avLst>
          </a:prstGeom>
          <a:gradFill rotWithShape="1">
            <a:gsLst>
              <a:gs pos="0">
                <a:srgbClr val="00C8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78831" y="914102"/>
            <a:ext cx="1591866" cy="13841"/>
          </a:xfrm>
          <a:custGeom>
            <a:avLst/>
            <a:gdLst/>
            <a:ahLst/>
            <a:cxnLst/>
            <a:rect l="l" t="t" r="r" b="b"/>
            <a:pathLst>
              <a:path w="1591866" h="13841">
                <a:moveTo>
                  <a:pt x="57150" y="0"/>
                </a:moveTo>
                <a:lnTo>
                  <a:pt x="1534716" y="0"/>
                </a:lnTo>
                <a:lnTo>
                  <a:pt x="1548671" y="1730"/>
                </a:lnTo>
                <a:lnTo>
                  <a:pt x="1554300" y="3460"/>
                </a:lnTo>
                <a:lnTo>
                  <a:pt x="1558513" y="5190"/>
                </a:lnTo>
                <a:lnTo>
                  <a:pt x="1561976" y="6920"/>
                </a:lnTo>
                <a:lnTo>
                  <a:pt x="1564947" y="8651"/>
                </a:lnTo>
                <a:lnTo>
                  <a:pt x="1567560" y="10381"/>
                </a:lnTo>
                <a:lnTo>
                  <a:pt x="1569895" y="12111"/>
                </a:lnTo>
                <a:lnTo>
                  <a:pt x="1572004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78831" y="914102"/>
            <a:ext cx="1591866" cy="3714159"/>
          </a:xfrm>
          <a:prstGeom prst="roundRect">
            <a:avLst>
              <a:gd name="adj" fmla="val 3590"/>
            </a:avLst>
          </a:prstGeom>
          <a:gradFill rotWithShape="1">
            <a:gsLst>
              <a:gs pos="0">
                <a:srgbClr val="00C8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6067" y="914102"/>
            <a:ext cx="1591866" cy="13841"/>
          </a:xfrm>
          <a:custGeom>
            <a:avLst/>
            <a:gdLst/>
            <a:ahLst/>
            <a:cxnLst/>
            <a:rect l="l" t="t" r="r" b="b"/>
            <a:pathLst>
              <a:path w="1591866" h="13841">
                <a:moveTo>
                  <a:pt x="57150" y="0"/>
                </a:moveTo>
                <a:lnTo>
                  <a:pt x="1534716" y="0"/>
                </a:lnTo>
                <a:lnTo>
                  <a:pt x="1548671" y="1730"/>
                </a:lnTo>
                <a:lnTo>
                  <a:pt x="1554300" y="3460"/>
                </a:lnTo>
                <a:lnTo>
                  <a:pt x="1558513" y="5190"/>
                </a:lnTo>
                <a:lnTo>
                  <a:pt x="1561976" y="6920"/>
                </a:lnTo>
                <a:lnTo>
                  <a:pt x="1564947" y="8651"/>
                </a:lnTo>
                <a:lnTo>
                  <a:pt x="1567560" y="10381"/>
                </a:lnTo>
                <a:lnTo>
                  <a:pt x="1569895" y="12111"/>
                </a:lnTo>
                <a:lnTo>
                  <a:pt x="1572004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6067" y="914102"/>
            <a:ext cx="1591866" cy="3714159"/>
          </a:xfrm>
          <a:prstGeom prst="roundRect">
            <a:avLst>
              <a:gd name="adj" fmla="val 3590"/>
            </a:avLst>
          </a:prstGeom>
          <a:gradFill rotWithShape="1">
            <a:gsLst>
              <a:gs pos="0">
                <a:srgbClr val="00C8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73303" y="914102"/>
            <a:ext cx="1591866" cy="13841"/>
          </a:xfrm>
          <a:custGeom>
            <a:avLst/>
            <a:gdLst/>
            <a:ahLst/>
            <a:cxnLst/>
            <a:rect l="l" t="t" r="r" b="b"/>
            <a:pathLst>
              <a:path w="1591866" h="13841">
                <a:moveTo>
                  <a:pt x="57150" y="0"/>
                </a:moveTo>
                <a:lnTo>
                  <a:pt x="1534716" y="0"/>
                </a:lnTo>
                <a:lnTo>
                  <a:pt x="1548671" y="1730"/>
                </a:lnTo>
                <a:lnTo>
                  <a:pt x="1554300" y="3460"/>
                </a:lnTo>
                <a:lnTo>
                  <a:pt x="1558513" y="5190"/>
                </a:lnTo>
                <a:lnTo>
                  <a:pt x="1561976" y="6920"/>
                </a:lnTo>
                <a:lnTo>
                  <a:pt x="1564947" y="8651"/>
                </a:lnTo>
                <a:lnTo>
                  <a:pt x="1567560" y="10381"/>
                </a:lnTo>
                <a:lnTo>
                  <a:pt x="1569895" y="12111"/>
                </a:lnTo>
                <a:lnTo>
                  <a:pt x="1572004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73303" y="914102"/>
            <a:ext cx="1591866" cy="3714159"/>
          </a:xfrm>
          <a:prstGeom prst="roundRect">
            <a:avLst>
              <a:gd name="adj" fmla="val 3590"/>
            </a:avLst>
          </a:prstGeom>
          <a:gradFill rotWithShape="1">
            <a:gsLst>
              <a:gs pos="0">
                <a:srgbClr val="00C8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70539" y="914102"/>
            <a:ext cx="1591866" cy="13841"/>
          </a:xfrm>
          <a:custGeom>
            <a:avLst/>
            <a:gdLst/>
            <a:ahLst/>
            <a:cxnLst/>
            <a:rect l="l" t="t" r="r" b="b"/>
            <a:pathLst>
              <a:path w="1591866" h="13841">
                <a:moveTo>
                  <a:pt x="57150" y="0"/>
                </a:moveTo>
                <a:lnTo>
                  <a:pt x="1534716" y="0"/>
                </a:lnTo>
                <a:lnTo>
                  <a:pt x="1548671" y="1730"/>
                </a:lnTo>
                <a:lnTo>
                  <a:pt x="1554300" y="3460"/>
                </a:lnTo>
                <a:lnTo>
                  <a:pt x="1558513" y="5190"/>
                </a:lnTo>
                <a:lnTo>
                  <a:pt x="1561976" y="6920"/>
                </a:lnTo>
                <a:lnTo>
                  <a:pt x="1564947" y="8651"/>
                </a:lnTo>
                <a:lnTo>
                  <a:pt x="1567560" y="10381"/>
                </a:lnTo>
                <a:lnTo>
                  <a:pt x="1569895" y="12111"/>
                </a:lnTo>
                <a:lnTo>
                  <a:pt x="1572004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70539" y="914102"/>
            <a:ext cx="1591866" cy="3714159"/>
          </a:xfrm>
          <a:prstGeom prst="roundRect">
            <a:avLst>
              <a:gd name="adj" fmla="val 3590"/>
            </a:avLst>
          </a:prstGeom>
          <a:gradFill rotWithShape="1">
            <a:gsLst>
              <a:gs pos="0">
                <a:srgbClr val="00C8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070" y="228600"/>
            <a:ext cx="1637669" cy="195411"/>
          </a:xfrm>
          <a:prstGeom prst="roundRect">
            <a:avLst>
              <a:gd name="adj" fmla="val 14948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lIns="194826" tIns="29210" rIns="86360" bIns="29210" rtlCol="0" anchor="ctr"/>
          <a:lstStyle/>
          <a:p>
            <a:pPr marL="0" indent="0" algn="l">
              <a:buNone/>
            </a:pPr>
            <a:r>
              <a:rPr lang="en-US" sz="620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 ·  WEBINAR #5</a:t>
            </a:r>
            <a:endParaRPr lang="en-US" sz="62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90" y="259937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72070" y="467171"/>
            <a:ext cx="4702696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7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May: </a:t>
            </a:r>
            <a:r>
              <a:rPr lang="en-US" sz="1690" kern="0" spc="-17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AI/ML Security</a:t>
            </a:r>
            <a:r>
              <a:rPr lang="en-US" sz="1690" kern="0" spc="-17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Prompt Injection Threats</a:t>
            </a:r>
            <a:endParaRPr lang="en-US" sz="1690" dirty="0"/>
          </a:p>
        </p:txBody>
      </p:sp>
      <p:sp>
        <p:nvSpPr>
          <p:cNvPr id="19" name="Text 16"/>
          <p:cNvSpPr/>
          <p:nvPr/>
        </p:nvSpPr>
        <p:spPr>
          <a:xfrm>
            <a:off x="8105775" y="257770"/>
            <a:ext cx="679478" cy="153442"/>
          </a:xfrm>
          <a:prstGeom prst="roundRect">
            <a:avLst>
              <a:gd name="adj" fmla="val 1407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AI RMF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7718375" y="440382"/>
            <a:ext cx="1074625" cy="153442"/>
          </a:xfrm>
          <a:prstGeom prst="roundRect">
            <a:avLst>
              <a:gd name="adj" fmla="val 14070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2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PR.PS · DE.AE-2</a:t>
            </a:r>
            <a:endParaRPr lang="en-US" sz="560" dirty="0"/>
          </a:p>
        </p:txBody>
      </p:sp>
      <p:sp>
        <p:nvSpPr>
          <p:cNvPr id="21" name="Text 18"/>
          <p:cNvSpPr/>
          <p:nvPr/>
        </p:nvSpPr>
        <p:spPr>
          <a:xfrm>
            <a:off x="8105775" y="622995"/>
            <a:ext cx="679478" cy="153442"/>
          </a:xfrm>
          <a:prstGeom prst="roundRect">
            <a:avLst>
              <a:gd name="adj" fmla="val 14070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2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372070" y="904577"/>
            <a:ext cx="1610916" cy="3733205"/>
          </a:xfrm>
          <a:prstGeom prst="roundRect">
            <a:avLst>
              <a:gd name="adj" fmla="val 3548"/>
            </a:avLst>
          </a:prstGeom>
          <a:solidFill>
            <a:srgbClr val="162032"/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33252" y="992832"/>
            <a:ext cx="1692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481905" y="10284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12" y="1104909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1905" y="1385143"/>
            <a:ext cx="15303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VECTOR 01</a:t>
            </a:r>
            <a:endParaRPr lang="en-US" sz="530" dirty="0"/>
          </a:p>
        </p:txBody>
      </p:sp>
      <p:sp>
        <p:nvSpPr>
          <p:cNvPr id="27" name="Text 23"/>
          <p:cNvSpPr/>
          <p:nvPr/>
        </p:nvSpPr>
        <p:spPr>
          <a:xfrm>
            <a:off x="481905" y="1515219"/>
            <a:ext cx="153037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Attacks</a:t>
            </a:r>
            <a:endParaRPr lang="en-US" sz="820" dirty="0"/>
          </a:p>
        </p:txBody>
      </p:sp>
      <p:sp>
        <p:nvSpPr>
          <p:cNvPr id="28" name="Text 24"/>
          <p:cNvSpPr/>
          <p:nvPr/>
        </p:nvSpPr>
        <p:spPr>
          <a:xfrm>
            <a:off x="481905" y="1694855"/>
            <a:ext cx="1419070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Malicious inputs crafted to hijack AI model behavior, override system instructions, or extract sensitive context from LLM sessions.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481905" y="3947220"/>
            <a:ext cx="1391245" cy="580727"/>
          </a:xfrm>
          <a:prstGeom prst="roundRect">
            <a:avLst>
              <a:gd name="adj" fmla="val 6123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0110" y="4006155"/>
            <a:ext cx="51438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51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136" y="3988379"/>
            <a:ext cx="132588" cy="132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6171" y="4132362"/>
            <a:ext cx="1267569" cy="35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validation · Sandboxed AI execution · Output filtering</a:t>
            </a:r>
            <a:endParaRPr lang="en-US" sz="590" dirty="0"/>
          </a:p>
        </p:txBody>
      </p:sp>
      <p:sp>
        <p:nvSpPr>
          <p:cNvPr id="33" name="Text 28"/>
          <p:cNvSpPr/>
          <p:nvPr/>
        </p:nvSpPr>
        <p:spPr>
          <a:xfrm>
            <a:off x="2069306" y="904577"/>
            <a:ext cx="1610916" cy="3733205"/>
          </a:xfrm>
          <a:prstGeom prst="roundRect">
            <a:avLst>
              <a:gd name="adj" fmla="val 3548"/>
            </a:avLst>
          </a:prstGeom>
          <a:solidFill>
            <a:srgbClr val="162032"/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430488" y="992832"/>
            <a:ext cx="1692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#02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2179141" y="10284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5648" y="1104909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179141" y="1385143"/>
            <a:ext cx="15303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VECTOR 02</a:t>
            </a:r>
            <a:endParaRPr lang="en-US" sz="530" dirty="0"/>
          </a:p>
        </p:txBody>
      </p:sp>
      <p:sp>
        <p:nvSpPr>
          <p:cNvPr id="38" name="Text 32"/>
          <p:cNvSpPr/>
          <p:nvPr/>
        </p:nvSpPr>
        <p:spPr>
          <a:xfrm>
            <a:off x="2179141" y="1515219"/>
            <a:ext cx="1419070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Poisoning &amp; Data Exfiltration</a:t>
            </a:r>
            <a:endParaRPr lang="en-US" sz="820" dirty="0"/>
          </a:p>
        </p:txBody>
      </p:sp>
      <p:sp>
        <p:nvSpPr>
          <p:cNvPr id="39" name="Text 33"/>
          <p:cNvSpPr/>
          <p:nvPr/>
        </p:nvSpPr>
        <p:spPr>
          <a:xfrm>
            <a:off x="2179141" y="1825079"/>
            <a:ext cx="1419070" cy="6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data corruption corrupting model outputs, or PII leakage via uncontrolled AI API responses exposing financial customer data.</a:t>
            </a:r>
            <a:endParaRPr lang="en-US" sz="650" dirty="0"/>
          </a:p>
        </p:txBody>
      </p:sp>
      <p:sp>
        <p:nvSpPr>
          <p:cNvPr id="40" name="Text 34"/>
          <p:cNvSpPr/>
          <p:nvPr/>
        </p:nvSpPr>
        <p:spPr>
          <a:xfrm>
            <a:off x="2179141" y="4059436"/>
            <a:ext cx="1391245" cy="468511"/>
          </a:xfrm>
          <a:prstGeom prst="roundRect">
            <a:avLst>
              <a:gd name="adj" fmla="val 7590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2337346" y="4118372"/>
            <a:ext cx="51438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51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1372" y="4100596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253407" y="4244578"/>
            <a:ext cx="1267569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minimization · Access-controlled AI APIs</a:t>
            </a:r>
            <a:endParaRPr lang="en-US" sz="590" dirty="0"/>
          </a:p>
        </p:txBody>
      </p:sp>
      <p:sp>
        <p:nvSpPr>
          <p:cNvPr id="44" name="Text 37"/>
          <p:cNvSpPr/>
          <p:nvPr/>
        </p:nvSpPr>
        <p:spPr>
          <a:xfrm>
            <a:off x="3766542" y="904577"/>
            <a:ext cx="1610916" cy="3733205"/>
          </a:xfrm>
          <a:prstGeom prst="roundRect">
            <a:avLst>
              <a:gd name="adj" fmla="val 3548"/>
            </a:avLst>
          </a:prstGeom>
          <a:solidFill>
            <a:srgbClr val="162032"/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5127724" y="992832"/>
            <a:ext cx="1692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#03</a:t>
            </a:r>
            <a:endParaRPr lang="en-US" sz="620" dirty="0"/>
          </a:p>
        </p:txBody>
      </p:sp>
      <p:sp>
        <p:nvSpPr>
          <p:cNvPr id="46" name="Text 39"/>
          <p:cNvSpPr/>
          <p:nvPr/>
        </p:nvSpPr>
        <p:spPr>
          <a:xfrm>
            <a:off x="3876377" y="10284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2884" y="1104909"/>
            <a:ext cx="132588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876377" y="1385143"/>
            <a:ext cx="15303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VECTOR 03</a:t>
            </a:r>
            <a:endParaRPr lang="en-US" sz="530" dirty="0"/>
          </a:p>
        </p:txBody>
      </p:sp>
      <p:sp>
        <p:nvSpPr>
          <p:cNvPr id="49" name="Text 41"/>
          <p:cNvSpPr/>
          <p:nvPr/>
        </p:nvSpPr>
        <p:spPr>
          <a:xfrm>
            <a:off x="3876377" y="1515219"/>
            <a:ext cx="1419070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Credential Stuffing</a:t>
            </a:r>
            <a:endParaRPr lang="en-US" sz="820" dirty="0"/>
          </a:p>
        </p:txBody>
      </p:sp>
      <p:sp>
        <p:nvSpPr>
          <p:cNvPr id="50" name="Text 42"/>
          <p:cNvSpPr/>
          <p:nvPr/>
        </p:nvSpPr>
        <p:spPr>
          <a:xfrm>
            <a:off x="3876377" y="1825079"/>
            <a:ext cx="1419070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account takeover at scale using breached credential databases, with AI optimizing timing, rotation, and target selection.</a:t>
            </a:r>
            <a:endParaRPr lang="en-US" sz="650" dirty="0"/>
          </a:p>
        </p:txBody>
      </p:sp>
      <p:sp>
        <p:nvSpPr>
          <p:cNvPr id="51" name="Text 43"/>
          <p:cNvSpPr/>
          <p:nvPr/>
        </p:nvSpPr>
        <p:spPr>
          <a:xfrm>
            <a:off x="3876377" y="4059436"/>
            <a:ext cx="1391245" cy="468511"/>
          </a:xfrm>
          <a:prstGeom prst="roundRect">
            <a:avLst>
              <a:gd name="adj" fmla="val 7590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034582" y="4118372"/>
            <a:ext cx="51438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51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8608" y="4100596"/>
            <a:ext cx="132588" cy="132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3950643" y="4244578"/>
            <a:ext cx="1267569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MFA · Bot detection · Rate limiting</a:t>
            </a:r>
            <a:endParaRPr lang="en-US" sz="590" dirty="0"/>
          </a:p>
        </p:txBody>
      </p:sp>
      <p:sp>
        <p:nvSpPr>
          <p:cNvPr id="55" name="Text 46"/>
          <p:cNvSpPr/>
          <p:nvPr/>
        </p:nvSpPr>
        <p:spPr>
          <a:xfrm>
            <a:off x="5463778" y="904577"/>
            <a:ext cx="1610916" cy="3733205"/>
          </a:xfrm>
          <a:prstGeom prst="roundRect">
            <a:avLst>
              <a:gd name="adj" fmla="val 3548"/>
            </a:avLst>
          </a:prstGeom>
          <a:solidFill>
            <a:srgbClr val="162032"/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6824960" y="992832"/>
            <a:ext cx="1692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#04</a:t>
            </a:r>
            <a:endParaRPr lang="en-US" sz="620" dirty="0"/>
          </a:p>
        </p:txBody>
      </p:sp>
      <p:sp>
        <p:nvSpPr>
          <p:cNvPr id="57" name="Text 48"/>
          <p:cNvSpPr/>
          <p:nvPr/>
        </p:nvSpPr>
        <p:spPr>
          <a:xfrm>
            <a:off x="5573613" y="10284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0120" y="1104909"/>
            <a:ext cx="132588" cy="132588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5573613" y="1385143"/>
            <a:ext cx="15303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VECTOR 04</a:t>
            </a:r>
            <a:endParaRPr lang="en-US" sz="530" dirty="0"/>
          </a:p>
        </p:txBody>
      </p:sp>
      <p:sp>
        <p:nvSpPr>
          <p:cNvPr id="60" name="Text 50"/>
          <p:cNvSpPr/>
          <p:nvPr/>
        </p:nvSpPr>
        <p:spPr>
          <a:xfrm>
            <a:off x="5573613" y="1515219"/>
            <a:ext cx="1419070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Deepfake Fraud Enablement</a:t>
            </a:r>
            <a:endParaRPr lang="en-US" sz="820" dirty="0"/>
          </a:p>
        </p:txBody>
      </p:sp>
      <p:sp>
        <p:nvSpPr>
          <p:cNvPr id="61" name="Text 51"/>
          <p:cNvSpPr/>
          <p:nvPr/>
        </p:nvSpPr>
        <p:spPr>
          <a:xfrm>
            <a:off x="5573613" y="1825079"/>
            <a:ext cx="1419070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AI-synthesized voice and video used for social engineering, impersonating executives or customers to authorize fraudulent wire transfers.</a:t>
            </a:r>
            <a:endParaRPr lang="en-US" sz="650" dirty="0"/>
          </a:p>
        </p:txBody>
      </p:sp>
      <p:sp>
        <p:nvSpPr>
          <p:cNvPr id="62" name="Text 52"/>
          <p:cNvSpPr/>
          <p:nvPr/>
        </p:nvSpPr>
        <p:spPr>
          <a:xfrm>
            <a:off x="5573613" y="4059436"/>
            <a:ext cx="1391245" cy="468511"/>
          </a:xfrm>
          <a:prstGeom prst="roundRect">
            <a:avLst>
              <a:gd name="adj" fmla="val 7590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5731818" y="4118372"/>
            <a:ext cx="51438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51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05844" y="4100596"/>
            <a:ext cx="132588" cy="13258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5647879" y="4244578"/>
            <a:ext cx="1267569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Out-of-band verification · Employee training</a:t>
            </a:r>
            <a:endParaRPr lang="en-US" sz="590" dirty="0"/>
          </a:p>
        </p:txBody>
      </p:sp>
      <p:sp>
        <p:nvSpPr>
          <p:cNvPr id="66" name="Text 55"/>
          <p:cNvSpPr/>
          <p:nvPr/>
        </p:nvSpPr>
        <p:spPr>
          <a:xfrm>
            <a:off x="7161014" y="904577"/>
            <a:ext cx="1610916" cy="3733205"/>
          </a:xfrm>
          <a:prstGeom prst="roundRect">
            <a:avLst>
              <a:gd name="adj" fmla="val 3548"/>
            </a:avLst>
          </a:prstGeom>
          <a:solidFill>
            <a:srgbClr val="162032"/>
          </a:solidFill>
          <a:ln w="9525">
            <a:solidFill>
              <a:srgbClr val="7A9BB5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6"/>
          <p:cNvSpPr/>
          <p:nvPr/>
        </p:nvSpPr>
        <p:spPr>
          <a:xfrm>
            <a:off x="8522196" y="992832"/>
            <a:ext cx="1692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00C8FF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</a:t>
            </a:r>
            <a:endParaRPr lang="en-US" sz="620" dirty="0"/>
          </a:p>
        </p:txBody>
      </p:sp>
      <p:sp>
        <p:nvSpPr>
          <p:cNvPr id="68" name="Text 57"/>
          <p:cNvSpPr/>
          <p:nvPr/>
        </p:nvSpPr>
        <p:spPr>
          <a:xfrm>
            <a:off x="7270849" y="10284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7356" y="1104909"/>
            <a:ext cx="132588" cy="132588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7270849" y="1385143"/>
            <a:ext cx="15303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VECTOR 05</a:t>
            </a:r>
            <a:endParaRPr lang="en-US" sz="530" dirty="0"/>
          </a:p>
        </p:txBody>
      </p:sp>
      <p:sp>
        <p:nvSpPr>
          <p:cNvPr id="71" name="Text 59"/>
          <p:cNvSpPr/>
          <p:nvPr/>
        </p:nvSpPr>
        <p:spPr>
          <a:xfrm>
            <a:off x="7270849" y="1515219"/>
            <a:ext cx="153037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 Risk</a:t>
            </a:r>
            <a:endParaRPr lang="en-US" sz="820" dirty="0"/>
          </a:p>
        </p:txBody>
      </p:sp>
      <p:sp>
        <p:nvSpPr>
          <p:cNvPr id="72" name="Text 60"/>
          <p:cNvSpPr/>
          <p:nvPr/>
        </p:nvSpPr>
        <p:spPr>
          <a:xfrm>
            <a:off x="7270849" y="1694855"/>
            <a:ext cx="1419070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 AI tool usage by staff exposing sensitive financial data to external model providers without governance or data handling agreements.</a:t>
            </a:r>
            <a:endParaRPr lang="en-US" sz="650" dirty="0"/>
          </a:p>
        </p:txBody>
      </p:sp>
      <p:sp>
        <p:nvSpPr>
          <p:cNvPr id="73" name="Text 61"/>
          <p:cNvSpPr/>
          <p:nvPr/>
        </p:nvSpPr>
        <p:spPr>
          <a:xfrm>
            <a:off x="7270849" y="4059436"/>
            <a:ext cx="1391245" cy="468511"/>
          </a:xfrm>
          <a:prstGeom prst="roundRect">
            <a:avLst>
              <a:gd name="adj" fmla="val 7590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7429054" y="4118372"/>
            <a:ext cx="51438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MITIGATION</a:t>
            </a:r>
            <a:endParaRPr lang="en-US" sz="51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03079" y="4100596"/>
            <a:ext cx="132588" cy="132588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7345114" y="4244578"/>
            <a:ext cx="1267569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CASB AI app controls · Acceptable use policy</a:t>
            </a:r>
            <a:endParaRPr lang="en-US" sz="590" dirty="0"/>
          </a:p>
        </p:txBody>
      </p:sp>
      <p:sp>
        <p:nvSpPr>
          <p:cNvPr id="77" name="Text 64"/>
          <p:cNvSpPr/>
          <p:nvPr/>
        </p:nvSpPr>
        <p:spPr>
          <a:xfrm>
            <a:off x="372070" y="4738092"/>
            <a:ext cx="8399859" cy="9525"/>
          </a:xfrm>
          <a:prstGeom prst="rect">
            <a:avLst/>
          </a:prstGeom>
          <a:solidFill>
            <a:srgbClr val="7A9BB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5"/>
          <p:cNvSpPr/>
          <p:nvPr/>
        </p:nvSpPr>
        <p:spPr>
          <a:xfrm>
            <a:off x="372070" y="4818608"/>
            <a:ext cx="637276" cy="153442"/>
          </a:xfrm>
          <a:prstGeom prst="roundRect">
            <a:avLst>
              <a:gd name="adj" fmla="val 1407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 PR.PS</a:t>
            </a:r>
            <a:endParaRPr lang="en-US" sz="560" dirty="0"/>
          </a:p>
        </p:txBody>
      </p:sp>
      <p:sp>
        <p:nvSpPr>
          <p:cNvPr id="79" name="Text 66"/>
          <p:cNvSpPr/>
          <p:nvPr/>
        </p:nvSpPr>
        <p:spPr>
          <a:xfrm>
            <a:off x="1054001" y="4818608"/>
            <a:ext cx="486989" cy="153442"/>
          </a:xfrm>
          <a:prstGeom prst="roundRect">
            <a:avLst>
              <a:gd name="adj" fmla="val 1407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DE.AE-2</a:t>
            </a:r>
            <a:endParaRPr lang="en-US" sz="560" dirty="0"/>
          </a:p>
        </p:txBody>
      </p:sp>
      <p:sp>
        <p:nvSpPr>
          <p:cNvPr id="80" name="Text 67"/>
          <p:cNvSpPr/>
          <p:nvPr/>
        </p:nvSpPr>
        <p:spPr>
          <a:xfrm>
            <a:off x="1588591" y="4818608"/>
            <a:ext cx="2341587" cy="153442"/>
          </a:xfrm>
          <a:prstGeom prst="roundRect">
            <a:avLst>
              <a:gd name="adj" fmla="val 14070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1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AI RMF: GOVERN · MAP · MEASURE · MANAGE</a:t>
            </a:r>
            <a:endParaRPr lang="en-US" sz="560" dirty="0"/>
          </a:p>
        </p:txBody>
      </p:sp>
      <p:sp>
        <p:nvSpPr>
          <p:cNvPr id="81" name="Text 68"/>
          <p:cNvSpPr/>
          <p:nvPr/>
        </p:nvSpPr>
        <p:spPr>
          <a:xfrm>
            <a:off x="3941415" y="4818608"/>
            <a:ext cx="1739985" cy="153442"/>
          </a:xfrm>
          <a:prstGeom prst="roundRect">
            <a:avLst>
              <a:gd name="adj" fmla="val 14070"/>
            </a:avLst>
          </a:prstGeom>
          <a:solidFill>
            <a:srgbClr val="7A9BB5">
              <a:alpha val="8000"/>
            </a:srgbClr>
          </a:solidFill>
          <a:ln w="9525">
            <a:solidFill>
              <a:srgbClr val="7A9BB5">
                <a:alpha val="1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ATLAS — AI Threat Modeling</a:t>
            </a:r>
            <a:endParaRPr lang="en-US" sz="560" dirty="0"/>
          </a:p>
        </p:txBody>
      </p:sp>
      <p:sp>
        <p:nvSpPr>
          <p:cNvPr id="82" name="Text 69"/>
          <p:cNvSpPr/>
          <p:nvPr/>
        </p:nvSpPr>
        <p:spPr>
          <a:xfrm>
            <a:off x="6036618" y="4841974"/>
            <a:ext cx="300884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560" kern="0" spc="22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</a:t>
            </a:r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NIST AI RMF aligned  ·  Financial AI use cases prioritized</a:t>
            </a:r>
            <a:br/>
            <a:r>
              <a:rPr lang="en-US" sz="560" kern="0" spc="22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4530" y="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00C8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3714750"/>
            <a:ext cx="2143720" cy="1428750"/>
          </a:xfrm>
          <a:prstGeom prst="ellipse">
            <a:avLst/>
          </a:prstGeom>
          <a:gradFill rotWithShape="1">
            <a:gsLst>
              <a:gs pos="0">
                <a:srgbClr val="00C8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76725" y="895201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0125" y="1717626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76725" y="2540050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0125" y="3362474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76725" y="4184898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7979" y="545604"/>
            <a:ext cx="13841" cy="36576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00C8FF">
                  <a:alpha val="35000"/>
                </a:srgbClr>
              </a:gs>
              <a:gs pos="92000">
                <a:srgbClr val="00C8FF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14540" y="725984"/>
            <a:ext cx="314920" cy="314920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/>
            </a:solidFill>
          </a:ln>
          <a:effectLst>
            <a:outerShdw blurRad="128270" dist="50800" dir="16200000" algn="bl" rotWithShape="0">
              <a:srgbClr val="00C8FF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632" y="817075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25119" y="1062484"/>
            <a:ext cx="10297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510" dirty="0"/>
          </a:p>
        </p:txBody>
      </p:sp>
      <p:sp>
        <p:nvSpPr>
          <p:cNvPr id="15" name="Text 12"/>
          <p:cNvSpPr/>
          <p:nvPr/>
        </p:nvSpPr>
        <p:spPr>
          <a:xfrm>
            <a:off x="4414540" y="1548408"/>
            <a:ext cx="314920" cy="314920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/>
            </a:solidFill>
          </a:ln>
          <a:effectLst>
            <a:outerShdw blurRad="128270" dist="50800" dir="16200000" algn="bl" rotWithShape="0">
              <a:srgbClr val="00C8FF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1639500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5119" y="1884908"/>
            <a:ext cx="10297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510" dirty="0"/>
          </a:p>
        </p:txBody>
      </p:sp>
      <p:sp>
        <p:nvSpPr>
          <p:cNvPr id="18" name="Text 14"/>
          <p:cNvSpPr/>
          <p:nvPr/>
        </p:nvSpPr>
        <p:spPr>
          <a:xfrm>
            <a:off x="4414540" y="2370832"/>
            <a:ext cx="314920" cy="314920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/>
            </a:solidFill>
          </a:ln>
          <a:effectLst>
            <a:outerShdw blurRad="128270" dist="50800" dir="16200000" algn="bl" rotWithShape="0">
              <a:srgbClr val="00C8FF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5632" y="2461924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5119" y="2707332"/>
            <a:ext cx="10297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510" dirty="0"/>
          </a:p>
        </p:txBody>
      </p:sp>
      <p:sp>
        <p:nvSpPr>
          <p:cNvPr id="21" name="Text 16"/>
          <p:cNvSpPr/>
          <p:nvPr/>
        </p:nvSpPr>
        <p:spPr>
          <a:xfrm>
            <a:off x="4414540" y="3193256"/>
            <a:ext cx="314920" cy="314920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/>
            </a:solidFill>
          </a:ln>
          <a:effectLst>
            <a:outerShdw blurRad="128270" dist="50800" dir="16200000" algn="bl" rotWithShape="0">
              <a:srgbClr val="00C8FF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632" y="3284348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25119" y="3529757"/>
            <a:ext cx="10297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510" dirty="0"/>
          </a:p>
        </p:txBody>
      </p:sp>
      <p:sp>
        <p:nvSpPr>
          <p:cNvPr id="24" name="Text 18"/>
          <p:cNvSpPr/>
          <p:nvPr/>
        </p:nvSpPr>
        <p:spPr>
          <a:xfrm>
            <a:off x="4414540" y="4015680"/>
            <a:ext cx="314920" cy="314920"/>
          </a:xfrm>
          <a:prstGeom prst="ellipse">
            <a:avLst/>
          </a:prstGeom>
          <a:solidFill>
            <a:srgbClr val="162032"/>
          </a:solidFill>
          <a:ln w="9525">
            <a:solidFill>
              <a:srgbClr val="00C8FF">
                <a:alpha val="50000"/>
              </a:srgbClr>
            </a:solidFill>
          </a:ln>
          <a:effectLst>
            <a:outerShdw blurRad="171450" dist="50800" dir="16200000" algn="bl" rotWithShape="0">
              <a:srgbClr val="00C8FF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632" y="4106772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5119" y="4352181"/>
            <a:ext cx="10297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510" dirty="0"/>
          </a:p>
        </p:txBody>
      </p:sp>
      <p:sp>
        <p:nvSpPr>
          <p:cNvPr id="27" name="Text 20"/>
          <p:cNvSpPr/>
          <p:nvPr/>
        </p:nvSpPr>
        <p:spPr>
          <a:xfrm>
            <a:off x="400050" y="218182"/>
            <a:ext cx="716670" cy="195411"/>
          </a:xfrm>
          <a:prstGeom prst="roundRect">
            <a:avLst>
              <a:gd name="adj" fmla="val 22097"/>
            </a:avLst>
          </a:prstGeom>
          <a:gradFill rotWithShape="1">
            <a:gsLst>
              <a:gs pos="0">
                <a:srgbClr val="00C8FF">
                  <a:alpha val="18000"/>
                </a:srgbClr>
              </a:gs>
              <a:gs pos="100000">
                <a:srgbClr val="00C8FF">
                  <a:alpha val="6000"/>
                </a:srgbClr>
              </a:gs>
            </a:gsLst>
            <a:lin ang="2700000" scaled="1"/>
          </a:gradFill>
          <a:ln w="9525">
            <a:solidFill>
              <a:srgbClr val="00C8FF">
                <a:alpha val="40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620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JUNE 2026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1216968" y="200620"/>
            <a:ext cx="485652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-16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Trust</a:t>
            </a:r>
            <a:r>
              <a:rPr lang="en-US" sz="1580" kern="0" spc="-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Architecture — Implementation Roadmap</a:t>
            </a:r>
            <a:endParaRPr lang="en-US" sz="1580" dirty="0"/>
          </a:p>
        </p:txBody>
      </p:sp>
      <p:sp>
        <p:nvSpPr>
          <p:cNvPr id="29" name="Text 22"/>
          <p:cNvSpPr/>
          <p:nvPr/>
        </p:nvSpPr>
        <p:spPr>
          <a:xfrm>
            <a:off x="5956399" y="312093"/>
            <a:ext cx="1630114" cy="7590"/>
          </a:xfrm>
          <a:prstGeom prst="rect">
            <a:avLst/>
          </a:prstGeom>
          <a:gradFill rotWithShape="1">
            <a:gsLst>
              <a:gs pos="0">
                <a:srgbClr val="00C8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700814" y="218182"/>
            <a:ext cx="1063999" cy="195411"/>
          </a:xfrm>
          <a:prstGeom prst="roundRect">
            <a:avLst>
              <a:gd name="adj" fmla="val 22097"/>
            </a:avLst>
          </a:prstGeom>
          <a:gradFill rotWithShape="1">
            <a:gsLst>
              <a:gs pos="0">
                <a:srgbClr val="00C8FF">
                  <a:alpha val="18000"/>
                </a:srgbClr>
              </a:gs>
              <a:gs pos="100000">
                <a:srgbClr val="00C8FF">
                  <a:alpha val="6000"/>
                </a:srgbClr>
              </a:gs>
            </a:gsLst>
            <a:lin ang="2700000" scaled="1"/>
          </a:gra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620" kern="0" spc="7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SP 800-207</a:t>
            </a:r>
            <a:endParaRPr lang="en-US" sz="620" dirty="0"/>
          </a:p>
        </p:txBody>
      </p:sp>
      <p:sp>
        <p:nvSpPr>
          <p:cNvPr id="31" name="Text 24"/>
          <p:cNvSpPr/>
          <p:nvPr/>
        </p:nvSpPr>
        <p:spPr>
          <a:xfrm>
            <a:off x="342900" y="531614"/>
            <a:ext cx="3943350" cy="822424"/>
          </a:xfrm>
          <a:prstGeom prst="roundRect">
            <a:avLst>
              <a:gd name="adj" fmla="val 6949"/>
            </a:avLst>
          </a:prstGeom>
          <a:gradFill rotWithShape="1">
            <a:gsLst>
              <a:gs pos="0">
                <a:srgbClr val="162032"/>
              </a:gs>
              <a:gs pos="100000">
                <a:srgbClr val="0F1A2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42900" y="531614"/>
            <a:ext cx="19050" cy="822424"/>
          </a:xfrm>
          <a:custGeom>
            <a:avLst/>
            <a:gdLst/>
            <a:ahLst/>
            <a:cxnLst/>
            <a:rect l="l" t="t" r="r" b="b"/>
            <a:pathLst>
              <a:path w="19050" h="82242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807871"/>
                </a:lnTo>
                <a:lnTo>
                  <a:pt x="16669" y="805615"/>
                </a:lnTo>
                <a:lnTo>
                  <a:pt x="14288" y="803075"/>
                </a:lnTo>
                <a:lnTo>
                  <a:pt x="11906" y="800190"/>
                </a:lnTo>
                <a:lnTo>
                  <a:pt x="9525" y="796865"/>
                </a:lnTo>
                <a:lnTo>
                  <a:pt x="7144" y="792942"/>
                </a:lnTo>
                <a:lnTo>
                  <a:pt x="4763" y="788114"/>
                </a:lnTo>
                <a:lnTo>
                  <a:pt x="2381" y="781599"/>
                </a:lnTo>
                <a:lnTo>
                  <a:pt x="0" y="765274"/>
                </a:lnTo>
                <a:close/>
              </a:path>
            </a:pathLst>
          </a:custGeom>
          <a:solidFill>
            <a:srgbClr val="00C8FF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107633" y="619869"/>
            <a:ext cx="40547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510" dirty="0"/>
          </a:p>
        </p:txBody>
      </p:sp>
      <p:sp>
        <p:nvSpPr>
          <p:cNvPr id="34" name="Text 27"/>
          <p:cNvSpPr/>
          <p:nvPr/>
        </p:nvSpPr>
        <p:spPr>
          <a:xfrm>
            <a:off x="107633" y="730746"/>
            <a:ext cx="405479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Identity Foundation</a:t>
            </a:r>
            <a:endParaRPr lang="en-US" sz="840" dirty="0"/>
          </a:p>
        </p:txBody>
      </p:sp>
      <p:sp>
        <p:nvSpPr>
          <p:cNvPr id="35" name="Text 28"/>
          <p:cNvSpPr/>
          <p:nvPr/>
        </p:nvSpPr>
        <p:spPr>
          <a:xfrm>
            <a:off x="3317081" y="1137791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PR.AC-1</a:t>
            </a:r>
            <a:endParaRPr lang="en-US" sz="510" dirty="0"/>
          </a:p>
        </p:txBody>
      </p:sp>
      <p:sp>
        <p:nvSpPr>
          <p:cNvPr id="36" name="Text 29"/>
          <p:cNvSpPr/>
          <p:nvPr/>
        </p:nvSpPr>
        <p:spPr>
          <a:xfrm>
            <a:off x="3763417" y="1137791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10" dirty="0"/>
          </a:p>
        </p:txBody>
      </p:sp>
      <p:sp>
        <p:nvSpPr>
          <p:cNvPr id="37" name="Text 30"/>
          <p:cNvSpPr/>
          <p:nvPr/>
        </p:nvSpPr>
        <p:spPr>
          <a:xfrm>
            <a:off x="4857750" y="1354038"/>
            <a:ext cx="3943350" cy="822424"/>
          </a:xfrm>
          <a:prstGeom prst="roundRect">
            <a:avLst>
              <a:gd name="adj" fmla="val 6949"/>
            </a:avLst>
          </a:prstGeom>
          <a:gradFill rotWithShape="1">
            <a:gsLst>
              <a:gs pos="0">
                <a:srgbClr val="0F1A2E"/>
              </a:gs>
              <a:gs pos="100000">
                <a:srgbClr val="16203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8782050" y="1354038"/>
            <a:ext cx="19050" cy="822424"/>
          </a:xfrm>
          <a:custGeom>
            <a:avLst/>
            <a:gdLst/>
            <a:ahLst/>
            <a:cxnLst/>
            <a:rect l="l" t="t" r="r" b="b"/>
            <a:pathLst>
              <a:path w="19050" h="822424">
                <a:moveTo>
                  <a:pt x="0" y="14553"/>
                </a:moveTo>
                <a:lnTo>
                  <a:pt x="2381" y="16809"/>
                </a:lnTo>
                <a:lnTo>
                  <a:pt x="4763" y="19349"/>
                </a:lnTo>
                <a:lnTo>
                  <a:pt x="7144" y="22234"/>
                </a:lnTo>
                <a:lnTo>
                  <a:pt x="9525" y="25559"/>
                </a:lnTo>
                <a:lnTo>
                  <a:pt x="11906" y="29482"/>
                </a:lnTo>
                <a:lnTo>
                  <a:pt x="14288" y="34310"/>
                </a:lnTo>
                <a:lnTo>
                  <a:pt x="16669" y="40825"/>
                </a:lnTo>
                <a:lnTo>
                  <a:pt x="19050" y="57150"/>
                </a:lnTo>
                <a:lnTo>
                  <a:pt x="19050" y="765274"/>
                </a:lnTo>
                <a:lnTo>
                  <a:pt x="16669" y="781599"/>
                </a:lnTo>
                <a:lnTo>
                  <a:pt x="14288" y="788114"/>
                </a:lnTo>
                <a:lnTo>
                  <a:pt x="11906" y="792942"/>
                </a:lnTo>
                <a:lnTo>
                  <a:pt x="9525" y="796865"/>
                </a:lnTo>
                <a:lnTo>
                  <a:pt x="7144" y="800190"/>
                </a:lnTo>
                <a:lnTo>
                  <a:pt x="4763" y="803075"/>
                </a:lnTo>
                <a:lnTo>
                  <a:pt x="2381" y="805615"/>
                </a:lnTo>
                <a:lnTo>
                  <a:pt x="0" y="807871"/>
                </a:lnTo>
                <a:close/>
              </a:path>
            </a:pathLst>
          </a:custGeom>
          <a:solidFill>
            <a:srgbClr val="00C8FF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981575" y="1442293"/>
            <a:ext cx="40547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510" dirty="0"/>
          </a:p>
        </p:txBody>
      </p:sp>
      <p:sp>
        <p:nvSpPr>
          <p:cNvPr id="40" name="Text 33"/>
          <p:cNvSpPr/>
          <p:nvPr/>
        </p:nvSpPr>
        <p:spPr>
          <a:xfrm>
            <a:off x="4981575" y="1553170"/>
            <a:ext cx="405479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 Compliance</a:t>
            </a:r>
            <a:endParaRPr lang="en-US" sz="840" dirty="0"/>
          </a:p>
        </p:txBody>
      </p:sp>
      <p:sp>
        <p:nvSpPr>
          <p:cNvPr id="41" name="Text 34"/>
          <p:cNvSpPr/>
          <p:nvPr/>
        </p:nvSpPr>
        <p:spPr>
          <a:xfrm>
            <a:off x="4981575" y="1960215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10" dirty="0"/>
          </a:p>
        </p:txBody>
      </p:sp>
      <p:sp>
        <p:nvSpPr>
          <p:cNvPr id="42" name="Text 35"/>
          <p:cNvSpPr/>
          <p:nvPr/>
        </p:nvSpPr>
        <p:spPr>
          <a:xfrm>
            <a:off x="5427911" y="1960215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PR.PS-1</a:t>
            </a:r>
            <a:endParaRPr lang="en-US" sz="510" dirty="0"/>
          </a:p>
        </p:txBody>
      </p:sp>
      <p:sp>
        <p:nvSpPr>
          <p:cNvPr id="43" name="Text 36"/>
          <p:cNvSpPr/>
          <p:nvPr/>
        </p:nvSpPr>
        <p:spPr>
          <a:xfrm>
            <a:off x="342900" y="2176463"/>
            <a:ext cx="3943350" cy="822424"/>
          </a:xfrm>
          <a:prstGeom prst="roundRect">
            <a:avLst>
              <a:gd name="adj" fmla="val 6949"/>
            </a:avLst>
          </a:prstGeom>
          <a:gradFill rotWithShape="1">
            <a:gsLst>
              <a:gs pos="0">
                <a:srgbClr val="162032"/>
              </a:gs>
              <a:gs pos="100000">
                <a:srgbClr val="0F1A2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342900" y="2176463"/>
            <a:ext cx="19050" cy="822424"/>
          </a:xfrm>
          <a:custGeom>
            <a:avLst/>
            <a:gdLst/>
            <a:ahLst/>
            <a:cxnLst/>
            <a:rect l="l" t="t" r="r" b="b"/>
            <a:pathLst>
              <a:path w="19050" h="82242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807871"/>
                </a:lnTo>
                <a:lnTo>
                  <a:pt x="16669" y="805615"/>
                </a:lnTo>
                <a:lnTo>
                  <a:pt x="14288" y="803075"/>
                </a:lnTo>
                <a:lnTo>
                  <a:pt x="11906" y="800190"/>
                </a:lnTo>
                <a:lnTo>
                  <a:pt x="9525" y="796865"/>
                </a:lnTo>
                <a:lnTo>
                  <a:pt x="7144" y="792942"/>
                </a:lnTo>
                <a:lnTo>
                  <a:pt x="4763" y="788114"/>
                </a:lnTo>
                <a:lnTo>
                  <a:pt x="2381" y="781599"/>
                </a:lnTo>
                <a:lnTo>
                  <a:pt x="0" y="765274"/>
                </a:lnTo>
                <a:close/>
              </a:path>
            </a:pathLst>
          </a:custGeom>
          <a:solidFill>
            <a:srgbClr val="00C8FF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107633" y="2264718"/>
            <a:ext cx="40547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510" dirty="0"/>
          </a:p>
        </p:txBody>
      </p:sp>
      <p:sp>
        <p:nvSpPr>
          <p:cNvPr id="46" name="Text 39"/>
          <p:cNvSpPr/>
          <p:nvPr/>
        </p:nvSpPr>
        <p:spPr>
          <a:xfrm>
            <a:off x="107633" y="2375595"/>
            <a:ext cx="405479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Micro-Segmentation</a:t>
            </a:r>
            <a:endParaRPr lang="en-US" sz="840" dirty="0"/>
          </a:p>
        </p:txBody>
      </p:sp>
      <p:sp>
        <p:nvSpPr>
          <p:cNvPr id="47" name="Text 40"/>
          <p:cNvSpPr/>
          <p:nvPr/>
        </p:nvSpPr>
        <p:spPr>
          <a:xfrm>
            <a:off x="3317081" y="2782639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PR.AC-5</a:t>
            </a:r>
            <a:endParaRPr lang="en-US" sz="510" dirty="0"/>
          </a:p>
        </p:txBody>
      </p:sp>
      <p:sp>
        <p:nvSpPr>
          <p:cNvPr id="48" name="Text 41"/>
          <p:cNvSpPr/>
          <p:nvPr/>
        </p:nvSpPr>
        <p:spPr>
          <a:xfrm>
            <a:off x="3763417" y="2782639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510" dirty="0"/>
          </a:p>
        </p:txBody>
      </p:sp>
      <p:sp>
        <p:nvSpPr>
          <p:cNvPr id="49" name="Text 42"/>
          <p:cNvSpPr/>
          <p:nvPr/>
        </p:nvSpPr>
        <p:spPr>
          <a:xfrm>
            <a:off x="4857750" y="2998887"/>
            <a:ext cx="3943350" cy="822424"/>
          </a:xfrm>
          <a:prstGeom prst="roundRect">
            <a:avLst>
              <a:gd name="adj" fmla="val 6949"/>
            </a:avLst>
          </a:prstGeom>
          <a:gradFill rotWithShape="1">
            <a:gsLst>
              <a:gs pos="0">
                <a:srgbClr val="0F1A2E"/>
              </a:gs>
              <a:gs pos="100000">
                <a:srgbClr val="16203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8782050" y="2998887"/>
            <a:ext cx="19050" cy="822424"/>
          </a:xfrm>
          <a:custGeom>
            <a:avLst/>
            <a:gdLst/>
            <a:ahLst/>
            <a:cxnLst/>
            <a:rect l="l" t="t" r="r" b="b"/>
            <a:pathLst>
              <a:path w="19050" h="822424">
                <a:moveTo>
                  <a:pt x="0" y="14553"/>
                </a:moveTo>
                <a:lnTo>
                  <a:pt x="2381" y="16809"/>
                </a:lnTo>
                <a:lnTo>
                  <a:pt x="4763" y="19349"/>
                </a:lnTo>
                <a:lnTo>
                  <a:pt x="7144" y="22234"/>
                </a:lnTo>
                <a:lnTo>
                  <a:pt x="9525" y="25559"/>
                </a:lnTo>
                <a:lnTo>
                  <a:pt x="11906" y="29482"/>
                </a:lnTo>
                <a:lnTo>
                  <a:pt x="14288" y="34310"/>
                </a:lnTo>
                <a:lnTo>
                  <a:pt x="16669" y="40825"/>
                </a:lnTo>
                <a:lnTo>
                  <a:pt x="19050" y="57150"/>
                </a:lnTo>
                <a:lnTo>
                  <a:pt x="19050" y="765274"/>
                </a:lnTo>
                <a:lnTo>
                  <a:pt x="16669" y="781599"/>
                </a:lnTo>
                <a:lnTo>
                  <a:pt x="14288" y="788114"/>
                </a:lnTo>
                <a:lnTo>
                  <a:pt x="11906" y="792942"/>
                </a:lnTo>
                <a:lnTo>
                  <a:pt x="9525" y="796865"/>
                </a:lnTo>
                <a:lnTo>
                  <a:pt x="7144" y="800190"/>
                </a:lnTo>
                <a:lnTo>
                  <a:pt x="4763" y="803075"/>
                </a:lnTo>
                <a:lnTo>
                  <a:pt x="2381" y="805615"/>
                </a:lnTo>
                <a:lnTo>
                  <a:pt x="0" y="807871"/>
                </a:lnTo>
                <a:close/>
              </a:path>
            </a:pathLst>
          </a:custGeom>
          <a:solidFill>
            <a:srgbClr val="00C8FF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981575" y="3087142"/>
            <a:ext cx="40547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510" dirty="0"/>
          </a:p>
        </p:txBody>
      </p:sp>
      <p:sp>
        <p:nvSpPr>
          <p:cNvPr id="52" name="Text 45"/>
          <p:cNvSpPr/>
          <p:nvPr/>
        </p:nvSpPr>
        <p:spPr>
          <a:xfrm>
            <a:off x="4981575" y="3198019"/>
            <a:ext cx="405479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Access Control</a:t>
            </a:r>
            <a:endParaRPr lang="en-US" sz="840" dirty="0"/>
          </a:p>
        </p:txBody>
      </p:sp>
      <p:sp>
        <p:nvSpPr>
          <p:cNvPr id="53" name="Text 46"/>
          <p:cNvSpPr/>
          <p:nvPr/>
        </p:nvSpPr>
        <p:spPr>
          <a:xfrm>
            <a:off x="4981575" y="3605064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10" dirty="0"/>
          </a:p>
        </p:txBody>
      </p:sp>
      <p:sp>
        <p:nvSpPr>
          <p:cNvPr id="54" name="Text 47"/>
          <p:cNvSpPr/>
          <p:nvPr/>
        </p:nvSpPr>
        <p:spPr>
          <a:xfrm>
            <a:off x="5427911" y="3605064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</a:t>
            </a:r>
            <a:endParaRPr lang="en-US" sz="510" dirty="0"/>
          </a:p>
        </p:txBody>
      </p:sp>
      <p:sp>
        <p:nvSpPr>
          <p:cNvPr id="55" name="Text 48"/>
          <p:cNvSpPr/>
          <p:nvPr/>
        </p:nvSpPr>
        <p:spPr>
          <a:xfrm>
            <a:off x="342900" y="3821311"/>
            <a:ext cx="3943350" cy="822424"/>
          </a:xfrm>
          <a:prstGeom prst="roundRect">
            <a:avLst>
              <a:gd name="adj" fmla="val 6949"/>
            </a:avLst>
          </a:prstGeom>
          <a:gradFill rotWithShape="1">
            <a:gsLst>
              <a:gs pos="0">
                <a:srgbClr val="162032"/>
              </a:gs>
              <a:gs pos="100000">
                <a:srgbClr val="0F1A2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342900" y="3821311"/>
            <a:ext cx="19050" cy="822424"/>
          </a:xfrm>
          <a:custGeom>
            <a:avLst/>
            <a:gdLst/>
            <a:ahLst/>
            <a:cxnLst/>
            <a:rect l="l" t="t" r="r" b="b"/>
            <a:pathLst>
              <a:path w="19050" h="822424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807871"/>
                </a:lnTo>
                <a:lnTo>
                  <a:pt x="16669" y="805615"/>
                </a:lnTo>
                <a:lnTo>
                  <a:pt x="14288" y="803075"/>
                </a:lnTo>
                <a:lnTo>
                  <a:pt x="11906" y="800190"/>
                </a:lnTo>
                <a:lnTo>
                  <a:pt x="9525" y="796865"/>
                </a:lnTo>
                <a:lnTo>
                  <a:pt x="7144" y="792942"/>
                </a:lnTo>
                <a:lnTo>
                  <a:pt x="4763" y="788114"/>
                </a:lnTo>
                <a:lnTo>
                  <a:pt x="2381" y="781599"/>
                </a:lnTo>
                <a:lnTo>
                  <a:pt x="0" y="765274"/>
                </a:lnTo>
                <a:close/>
              </a:path>
            </a:pathLst>
          </a:custGeom>
          <a:solidFill>
            <a:srgbClr val="00C8FF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107633" y="3909566"/>
            <a:ext cx="40547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510" dirty="0"/>
          </a:p>
        </p:txBody>
      </p:sp>
      <p:sp>
        <p:nvSpPr>
          <p:cNvPr id="58" name="Text 51"/>
          <p:cNvSpPr/>
          <p:nvPr/>
        </p:nvSpPr>
        <p:spPr>
          <a:xfrm>
            <a:off x="107633" y="4020443"/>
            <a:ext cx="405479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Protection</a:t>
            </a:r>
            <a:endParaRPr lang="en-US" sz="840" dirty="0"/>
          </a:p>
        </p:txBody>
      </p:sp>
      <p:sp>
        <p:nvSpPr>
          <p:cNvPr id="59" name="Text 52"/>
          <p:cNvSpPr/>
          <p:nvPr/>
        </p:nvSpPr>
        <p:spPr>
          <a:xfrm>
            <a:off x="3317081" y="4427488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PR.DS-1</a:t>
            </a:r>
            <a:endParaRPr lang="en-US" sz="510" dirty="0"/>
          </a:p>
        </p:txBody>
      </p:sp>
      <p:sp>
        <p:nvSpPr>
          <p:cNvPr id="60" name="Text 53"/>
          <p:cNvSpPr/>
          <p:nvPr/>
        </p:nvSpPr>
        <p:spPr>
          <a:xfrm>
            <a:off x="3763417" y="4427488"/>
            <a:ext cx="399008" cy="140791"/>
          </a:xfrm>
          <a:prstGeom prst="roundRect">
            <a:avLst>
              <a:gd name="adj" fmla="val 15335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PR.DS-5</a:t>
            </a:r>
            <a:endParaRPr lang="en-US" sz="510" dirty="0"/>
          </a:p>
        </p:txBody>
      </p:sp>
      <p:sp>
        <p:nvSpPr>
          <p:cNvPr id="61" name="Text 54"/>
          <p:cNvSpPr/>
          <p:nvPr/>
        </p:nvSpPr>
        <p:spPr>
          <a:xfrm>
            <a:off x="0" y="4912965"/>
            <a:ext cx="9144000" cy="230535"/>
          </a:xfrm>
          <a:prstGeom prst="rect">
            <a:avLst/>
          </a:prstGeom>
          <a:gradFill rotWithShape="1">
            <a:gsLst>
              <a:gs pos="0">
                <a:srgbClr val="00C8FF">
                  <a:alpha val="10000"/>
                </a:srgbClr>
              </a:gs>
              <a:gs pos="50000">
                <a:srgbClr val="00C8FF">
                  <a:alpha val="4000"/>
                </a:srgbClr>
              </a:gs>
              <a:gs pos="100000">
                <a:srgbClr val="00C8FF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0" y="4912965"/>
            <a:ext cx="9144000" cy="9525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1256258" y="4979640"/>
            <a:ext cx="118936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Trust Architecture</a:t>
            </a:r>
            <a:endParaRPr lang="en-US" sz="560" dirty="0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126" y="4966701"/>
            <a:ext cx="132588" cy="132588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2480965" y="4979640"/>
            <a:ext cx="517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00C8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560" dirty="0"/>
          </a:p>
        </p:txBody>
      </p:sp>
      <p:sp>
        <p:nvSpPr>
          <p:cNvPr id="66" name="Text 58"/>
          <p:cNvSpPr/>
          <p:nvPr/>
        </p:nvSpPr>
        <p:spPr>
          <a:xfrm>
            <a:off x="2671465" y="4979640"/>
            <a:ext cx="10818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560" kern="0" spc="3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</a:t>
            </a: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PR.AC-3 · PR.AC-5</a:t>
            </a:r>
            <a:br/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560" dirty="0"/>
          </a:p>
        </p:txBody>
      </p:sp>
      <p:sp>
        <p:nvSpPr>
          <p:cNvPr id="67" name="Text 59"/>
          <p:cNvSpPr/>
          <p:nvPr/>
        </p:nvSpPr>
        <p:spPr>
          <a:xfrm>
            <a:off x="3798391" y="4979640"/>
            <a:ext cx="517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00C8FF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560" dirty="0"/>
          </a:p>
        </p:txBody>
      </p:sp>
      <p:sp>
        <p:nvSpPr>
          <p:cNvPr id="68" name="Text 60"/>
          <p:cNvSpPr/>
          <p:nvPr/>
        </p:nvSpPr>
        <p:spPr>
          <a:xfrm>
            <a:off x="3988891" y="4979640"/>
            <a:ext cx="170226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560" kern="0" spc="3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</a:t>
            </a: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Zero Trust Maturity Model v2</a:t>
            </a:r>
            <a:br/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560" dirty="0"/>
          </a:p>
        </p:txBody>
      </p:sp>
      <p:sp>
        <p:nvSpPr>
          <p:cNvPr id="69" name="Text 61"/>
          <p:cNvSpPr/>
          <p:nvPr/>
        </p:nvSpPr>
        <p:spPr>
          <a:xfrm>
            <a:off x="7334845" y="4984403"/>
            <a:ext cx="155001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00C8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SECURITY TRACK · 2026</a:t>
            </a:r>
            <a:endParaRPr lang="en-US" sz="5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0360"/>
            <a:ext cx="4576763" cy="430024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67238" y="500360"/>
            <a:ext cx="9525" cy="4300240"/>
          </a:xfrm>
          <a:prstGeom prst="rect">
            <a:avLst/>
          </a:prstGeom>
          <a:solidFill>
            <a:srgbClr val="00C8FF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057573"/>
            <a:ext cx="4110038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729407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06" y="77741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8191" y="700980"/>
            <a:ext cx="281026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4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PAM CONTROLS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28191" y="868561"/>
            <a:ext cx="28102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architecture for financial institutions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228600" y="1167259"/>
            <a:ext cx="4110038" cy="648295"/>
          </a:xfrm>
          <a:prstGeom prst="roundRect">
            <a:avLst>
              <a:gd name="adj" fmla="val 5485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8600" y="1167259"/>
            <a:ext cx="19050" cy="648295"/>
          </a:xfrm>
          <a:custGeom>
            <a:avLst/>
            <a:gdLst/>
            <a:ahLst/>
            <a:cxnLst/>
            <a:rect l="l" t="t" r="r" b="b"/>
            <a:pathLst>
              <a:path w="19050" h="648295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644230"/>
                </a:lnTo>
                <a:lnTo>
                  <a:pt x="16669" y="642862"/>
                </a:lnTo>
                <a:lnTo>
                  <a:pt x="14288" y="641231"/>
                </a:lnTo>
                <a:lnTo>
                  <a:pt x="11906" y="639287"/>
                </a:lnTo>
                <a:lnTo>
                  <a:pt x="9525" y="636957"/>
                </a:lnTo>
                <a:lnTo>
                  <a:pt x="7144" y="634114"/>
                </a:lnTo>
                <a:lnTo>
                  <a:pt x="4763" y="630513"/>
                </a:lnTo>
                <a:lnTo>
                  <a:pt x="2381" y="625529"/>
                </a:lnTo>
                <a:lnTo>
                  <a:pt x="0" y="612735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3970" y="1249114"/>
            <a:ext cx="185291" cy="185291"/>
          </a:xfrm>
          <a:prstGeom prst="roundRect">
            <a:avLst>
              <a:gd name="adj" fmla="val 15764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22" y="1275466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0252" y="1241524"/>
            <a:ext cx="40177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Privileged Account Discovery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590252" y="1394371"/>
            <a:ext cx="3725591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all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accounts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admin accounts &amp; shared credentials across on-prem and cloud environments. Automate discovery via AD queries &amp; agentless scanning.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28600" y="1886545"/>
            <a:ext cx="4110038" cy="532656"/>
          </a:xfrm>
          <a:prstGeom prst="roundRect">
            <a:avLst>
              <a:gd name="adj" fmla="val 66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8600" y="1886545"/>
            <a:ext cx="19050" cy="532656"/>
          </a:xfrm>
          <a:custGeom>
            <a:avLst/>
            <a:gdLst/>
            <a:ahLst/>
            <a:cxnLst/>
            <a:rect l="l" t="t" r="r" b="b"/>
            <a:pathLst>
              <a:path w="19050" h="532656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528591"/>
                </a:lnTo>
                <a:lnTo>
                  <a:pt x="16669" y="527223"/>
                </a:lnTo>
                <a:lnTo>
                  <a:pt x="14288" y="525591"/>
                </a:lnTo>
                <a:lnTo>
                  <a:pt x="11906" y="523648"/>
                </a:lnTo>
                <a:lnTo>
                  <a:pt x="9525" y="521318"/>
                </a:lnTo>
                <a:lnTo>
                  <a:pt x="7144" y="518474"/>
                </a:lnTo>
                <a:lnTo>
                  <a:pt x="4763" y="514873"/>
                </a:lnTo>
                <a:lnTo>
                  <a:pt x="2381" y="509890"/>
                </a:lnTo>
                <a:lnTo>
                  <a:pt x="0" y="497096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33970" y="1968401"/>
            <a:ext cx="185291" cy="185291"/>
          </a:xfrm>
          <a:prstGeom prst="roundRect">
            <a:avLst>
              <a:gd name="adj" fmla="val 15764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322" y="1994752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0252" y="1960811"/>
            <a:ext cx="40177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Vault &amp; Rotate</a:t>
            </a:r>
            <a:endParaRPr lang="en-US" sz="730" dirty="0"/>
          </a:p>
        </p:txBody>
      </p:sp>
      <p:sp>
        <p:nvSpPr>
          <p:cNvPr id="20" name="Text 15"/>
          <p:cNvSpPr/>
          <p:nvPr/>
        </p:nvSpPr>
        <p:spPr>
          <a:xfrm>
            <a:off x="590252" y="2113657"/>
            <a:ext cx="3725591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vaulting with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rotation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every checkout. Eliminate hardcoded credentials. Platforms: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CyberArk, Delinea, BeyondTrust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228600" y="2490192"/>
            <a:ext cx="4110038" cy="532656"/>
          </a:xfrm>
          <a:prstGeom prst="roundRect">
            <a:avLst>
              <a:gd name="adj" fmla="val 66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228600" y="2490192"/>
            <a:ext cx="19050" cy="532656"/>
          </a:xfrm>
          <a:custGeom>
            <a:avLst/>
            <a:gdLst/>
            <a:ahLst/>
            <a:cxnLst/>
            <a:rect l="l" t="t" r="r" b="b"/>
            <a:pathLst>
              <a:path w="19050" h="532656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528591"/>
                </a:lnTo>
                <a:lnTo>
                  <a:pt x="16669" y="527223"/>
                </a:lnTo>
                <a:lnTo>
                  <a:pt x="14288" y="525591"/>
                </a:lnTo>
                <a:lnTo>
                  <a:pt x="11906" y="523648"/>
                </a:lnTo>
                <a:lnTo>
                  <a:pt x="9525" y="521318"/>
                </a:lnTo>
                <a:lnTo>
                  <a:pt x="7144" y="518474"/>
                </a:lnTo>
                <a:lnTo>
                  <a:pt x="4763" y="514873"/>
                </a:lnTo>
                <a:lnTo>
                  <a:pt x="2381" y="509890"/>
                </a:lnTo>
                <a:lnTo>
                  <a:pt x="0" y="497096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33970" y="2572048"/>
            <a:ext cx="185291" cy="185291"/>
          </a:xfrm>
          <a:prstGeom prst="roundRect">
            <a:avLst>
              <a:gd name="adj" fmla="val 15764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322" y="2598399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0252" y="2564457"/>
            <a:ext cx="40177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Just-in-Time (JIT) Access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590252" y="2717304"/>
            <a:ext cx="3725591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 privilege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grant admin rights only when needed,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time-boxed &amp; auto-revoked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Entra ID PIM for Azure roles.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228600" y="3093839"/>
            <a:ext cx="4110038" cy="532656"/>
          </a:xfrm>
          <a:prstGeom prst="roundRect">
            <a:avLst>
              <a:gd name="adj" fmla="val 66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228600" y="3093839"/>
            <a:ext cx="19050" cy="532656"/>
          </a:xfrm>
          <a:custGeom>
            <a:avLst/>
            <a:gdLst/>
            <a:ahLst/>
            <a:cxnLst/>
            <a:rect l="l" t="t" r="r" b="b"/>
            <a:pathLst>
              <a:path w="19050" h="532656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528591"/>
                </a:lnTo>
                <a:lnTo>
                  <a:pt x="16669" y="527223"/>
                </a:lnTo>
                <a:lnTo>
                  <a:pt x="14288" y="525591"/>
                </a:lnTo>
                <a:lnTo>
                  <a:pt x="11906" y="523648"/>
                </a:lnTo>
                <a:lnTo>
                  <a:pt x="9525" y="521318"/>
                </a:lnTo>
                <a:lnTo>
                  <a:pt x="7144" y="518474"/>
                </a:lnTo>
                <a:lnTo>
                  <a:pt x="4763" y="514873"/>
                </a:lnTo>
                <a:lnTo>
                  <a:pt x="2381" y="509890"/>
                </a:lnTo>
                <a:lnTo>
                  <a:pt x="0" y="497096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33970" y="3175695"/>
            <a:ext cx="185291" cy="185291"/>
          </a:xfrm>
          <a:prstGeom prst="roundRect">
            <a:avLst>
              <a:gd name="adj" fmla="val 15764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322" y="3202046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0252" y="3168104"/>
            <a:ext cx="40177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Recording &amp; Monitoring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590252" y="3320951"/>
            <a:ext cx="3725591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&amp; analyze all privileged sessions for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 readiness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Keystroke logging, screen capture, real-time SIEM integration.</a:t>
            </a:r>
            <a:endParaRPr lang="en-US" sz="650" dirty="0"/>
          </a:p>
        </p:txBody>
      </p:sp>
      <p:sp>
        <p:nvSpPr>
          <p:cNvPr id="33" name="Text 26"/>
          <p:cNvSpPr/>
          <p:nvPr/>
        </p:nvSpPr>
        <p:spPr>
          <a:xfrm>
            <a:off x="228600" y="3697486"/>
            <a:ext cx="4110038" cy="532656"/>
          </a:xfrm>
          <a:prstGeom prst="roundRect">
            <a:avLst>
              <a:gd name="adj" fmla="val 66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228600" y="3697486"/>
            <a:ext cx="19050" cy="532656"/>
          </a:xfrm>
          <a:custGeom>
            <a:avLst/>
            <a:gdLst/>
            <a:ahLst/>
            <a:cxnLst/>
            <a:rect l="l" t="t" r="r" b="b"/>
            <a:pathLst>
              <a:path w="19050" h="532656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528591"/>
                </a:lnTo>
                <a:lnTo>
                  <a:pt x="16669" y="527223"/>
                </a:lnTo>
                <a:lnTo>
                  <a:pt x="14288" y="525591"/>
                </a:lnTo>
                <a:lnTo>
                  <a:pt x="11906" y="523648"/>
                </a:lnTo>
                <a:lnTo>
                  <a:pt x="9525" y="521318"/>
                </a:lnTo>
                <a:lnTo>
                  <a:pt x="7144" y="518474"/>
                </a:lnTo>
                <a:lnTo>
                  <a:pt x="4763" y="514873"/>
                </a:lnTo>
                <a:lnTo>
                  <a:pt x="2381" y="509890"/>
                </a:lnTo>
                <a:lnTo>
                  <a:pt x="0" y="497096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33970" y="3779341"/>
            <a:ext cx="185291" cy="185291"/>
          </a:xfrm>
          <a:prstGeom prst="roundRect">
            <a:avLst>
              <a:gd name="adj" fmla="val 15764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322" y="3805693"/>
            <a:ext cx="132588" cy="132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90252" y="3771751"/>
            <a:ext cx="40177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PEDM — Endpoint Least Privilege</a:t>
            </a:r>
            <a:endParaRPr lang="en-US" sz="730" dirty="0"/>
          </a:p>
        </p:txBody>
      </p:sp>
      <p:sp>
        <p:nvSpPr>
          <p:cNvPr id="38" name="Text 30"/>
          <p:cNvSpPr/>
          <p:nvPr/>
        </p:nvSpPr>
        <p:spPr>
          <a:xfrm>
            <a:off x="590252" y="3924598"/>
            <a:ext cx="3725591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 elevation &amp; delegation management on endpoint.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Run-as-least-privilege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by default; elevate specific tasks only with approval workflow.</a:t>
            </a:r>
            <a:endParaRPr lang="en-US" sz="650" dirty="0"/>
          </a:p>
        </p:txBody>
      </p:sp>
      <p:sp>
        <p:nvSpPr>
          <p:cNvPr id="39" name="Text 31"/>
          <p:cNvSpPr/>
          <p:nvPr/>
        </p:nvSpPr>
        <p:spPr>
          <a:xfrm>
            <a:off x="4576763" y="500360"/>
            <a:ext cx="4567238" cy="4300240"/>
          </a:xfrm>
          <a:prstGeom prst="rect">
            <a:avLst/>
          </a:prstGeom>
          <a:solidFill>
            <a:srgbClr val="0F1A2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805363" y="1057573"/>
            <a:ext cx="4110038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805363" y="729407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FF4D6A">
              <a:alpha val="10000"/>
            </a:srgbClr>
          </a:solidFill>
          <a:ln w="9525">
            <a:solidFill>
              <a:srgbClr val="FF4D6A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3369" y="777413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104954" y="700980"/>
            <a:ext cx="29143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42" dirty="0">
                <a:solidFill>
                  <a:srgbClr val="FF4D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PAM THREAT SCENARIOS + CTI</a:t>
            </a:r>
            <a:endParaRPr lang="en-US" sz="840" dirty="0"/>
          </a:p>
        </p:txBody>
      </p:sp>
      <p:sp>
        <p:nvSpPr>
          <p:cNvPr id="44" name="Text 35"/>
          <p:cNvSpPr/>
          <p:nvPr/>
        </p:nvSpPr>
        <p:spPr>
          <a:xfrm>
            <a:off x="5104954" y="868561"/>
            <a:ext cx="29143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threat intelligence for financial sector PAM risk</a:t>
            </a:r>
            <a:endParaRPr lang="en-US" sz="620" dirty="0"/>
          </a:p>
        </p:txBody>
      </p:sp>
      <p:sp>
        <p:nvSpPr>
          <p:cNvPr id="45" name="Text 36"/>
          <p:cNvSpPr/>
          <p:nvPr/>
        </p:nvSpPr>
        <p:spPr>
          <a:xfrm>
            <a:off x="4805363" y="1167259"/>
            <a:ext cx="4110038" cy="672852"/>
          </a:xfrm>
          <a:prstGeom prst="roundRect">
            <a:avLst>
              <a:gd name="adj" fmla="val 5285"/>
            </a:avLst>
          </a:prstGeom>
          <a:solidFill>
            <a:srgbClr val="FF4D6A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4805363" y="1167259"/>
            <a:ext cx="19050" cy="672852"/>
          </a:xfrm>
          <a:custGeom>
            <a:avLst/>
            <a:gdLst/>
            <a:ahLst/>
            <a:cxnLst/>
            <a:rect l="l" t="t" r="r" b="b"/>
            <a:pathLst>
              <a:path w="19050" h="672852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668787"/>
                </a:lnTo>
                <a:lnTo>
                  <a:pt x="16669" y="667419"/>
                </a:lnTo>
                <a:lnTo>
                  <a:pt x="14288" y="665787"/>
                </a:lnTo>
                <a:lnTo>
                  <a:pt x="11906" y="663844"/>
                </a:lnTo>
                <a:lnTo>
                  <a:pt x="9525" y="661514"/>
                </a:lnTo>
                <a:lnTo>
                  <a:pt x="7144" y="658670"/>
                </a:lnTo>
                <a:lnTo>
                  <a:pt x="4763" y="655069"/>
                </a:lnTo>
                <a:lnTo>
                  <a:pt x="2381" y="650086"/>
                </a:lnTo>
                <a:lnTo>
                  <a:pt x="0" y="637292"/>
                </a:lnTo>
                <a:close/>
              </a:path>
            </a:pathLst>
          </a:custGeom>
          <a:solidFill>
            <a:srgbClr val="FF4D6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4924723" y="1250156"/>
            <a:ext cx="507950" cy="137190"/>
          </a:xfrm>
          <a:prstGeom prst="roundRect">
            <a:avLst>
              <a:gd name="adj" fmla="val 10183"/>
            </a:avLst>
          </a:prstGeom>
          <a:solidFill>
            <a:srgbClr val="FF4D6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 ALERT</a:t>
            </a:r>
            <a:endParaRPr lang="en-US" sz="510" dirty="0"/>
          </a:p>
        </p:txBody>
      </p:sp>
      <p:sp>
        <p:nvSpPr>
          <p:cNvPr id="48" name="Text 39"/>
          <p:cNvSpPr/>
          <p:nvPr/>
        </p:nvSpPr>
        <p:spPr>
          <a:xfrm>
            <a:off x="5489823" y="1247775"/>
            <a:ext cx="17330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4D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ALPHV / BlackCat Ransomware Group</a:t>
            </a:r>
            <a:endParaRPr lang="en-US" sz="680" dirty="0"/>
          </a:p>
        </p:txBody>
      </p:sp>
      <p:sp>
        <p:nvSpPr>
          <p:cNvPr id="49" name="Text 40"/>
          <p:cNvSpPr/>
          <p:nvPr/>
        </p:nvSpPr>
        <p:spPr>
          <a:xfrm>
            <a:off x="4924723" y="1412677"/>
            <a:ext cx="3958459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Operators systematically target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unmanaged service accounts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gain initial footholds and move laterally across financial institution networks — bypassing MFA by exploiting accounts that lack PAM coverage.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50" dirty="0"/>
          </a:p>
        </p:txBody>
      </p:sp>
      <p:sp>
        <p:nvSpPr>
          <p:cNvPr id="50" name="Text 41"/>
          <p:cNvSpPr/>
          <p:nvPr/>
        </p:nvSpPr>
        <p:spPr>
          <a:xfrm>
            <a:off x="4805363" y="1911102"/>
            <a:ext cx="4110038" cy="649337"/>
          </a:xfrm>
          <a:prstGeom prst="roundRect">
            <a:avLst>
              <a:gd name="adj" fmla="val 54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4805363" y="1911102"/>
            <a:ext cx="19050" cy="649337"/>
          </a:xfrm>
          <a:custGeom>
            <a:avLst/>
            <a:gdLst/>
            <a:ahLst/>
            <a:cxnLst/>
            <a:rect l="l" t="t" r="r" b="b"/>
            <a:pathLst>
              <a:path w="19050" h="649337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645272"/>
                </a:lnTo>
                <a:lnTo>
                  <a:pt x="16669" y="643904"/>
                </a:lnTo>
                <a:lnTo>
                  <a:pt x="14288" y="642273"/>
                </a:lnTo>
                <a:lnTo>
                  <a:pt x="11906" y="640329"/>
                </a:lnTo>
                <a:lnTo>
                  <a:pt x="9525" y="637999"/>
                </a:lnTo>
                <a:lnTo>
                  <a:pt x="7144" y="635155"/>
                </a:lnTo>
                <a:lnTo>
                  <a:pt x="4763" y="631554"/>
                </a:lnTo>
                <a:lnTo>
                  <a:pt x="2381" y="626571"/>
                </a:lnTo>
                <a:lnTo>
                  <a:pt x="0" y="613777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4910733" y="1985367"/>
            <a:ext cx="564562" cy="124718"/>
          </a:xfrm>
          <a:prstGeom prst="roundRect">
            <a:avLst>
              <a:gd name="adj" fmla="val 11201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1</a:t>
            </a:r>
            <a:endParaRPr lang="en-US" sz="510" dirty="0"/>
          </a:p>
        </p:txBody>
      </p:sp>
      <p:sp>
        <p:nvSpPr>
          <p:cNvPr id="53" name="Text 44"/>
          <p:cNvSpPr/>
          <p:nvPr/>
        </p:nvSpPr>
        <p:spPr>
          <a:xfrm>
            <a:off x="4910733" y="2139255"/>
            <a:ext cx="3986998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Admin credential reuse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across multiple systems — one compromised workstation yields lateral movement to domain controllers, backup servers, and core banking systems.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50" dirty="0"/>
          </a:p>
        </p:txBody>
      </p:sp>
      <p:sp>
        <p:nvSpPr>
          <p:cNvPr id="54" name="Text 45"/>
          <p:cNvSpPr/>
          <p:nvPr/>
        </p:nvSpPr>
        <p:spPr>
          <a:xfrm>
            <a:off x="4805363" y="2631430"/>
            <a:ext cx="4110038" cy="649337"/>
          </a:xfrm>
          <a:prstGeom prst="roundRect">
            <a:avLst>
              <a:gd name="adj" fmla="val 547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4805363" y="2631430"/>
            <a:ext cx="19050" cy="649337"/>
          </a:xfrm>
          <a:custGeom>
            <a:avLst/>
            <a:gdLst/>
            <a:ahLst/>
            <a:cxnLst/>
            <a:rect l="l" t="t" r="r" b="b"/>
            <a:pathLst>
              <a:path w="19050" h="649337">
                <a:moveTo>
                  <a:pt x="0" y="35560"/>
                </a:moveTo>
                <a:lnTo>
                  <a:pt x="2381" y="22766"/>
                </a:lnTo>
                <a:lnTo>
                  <a:pt x="4763" y="17783"/>
                </a:lnTo>
                <a:lnTo>
                  <a:pt x="7144" y="14182"/>
                </a:lnTo>
                <a:lnTo>
                  <a:pt x="9525" y="11338"/>
                </a:lnTo>
                <a:lnTo>
                  <a:pt x="11906" y="9008"/>
                </a:lnTo>
                <a:lnTo>
                  <a:pt x="14288" y="7064"/>
                </a:lnTo>
                <a:lnTo>
                  <a:pt x="16669" y="5433"/>
                </a:lnTo>
                <a:lnTo>
                  <a:pt x="19050" y="4065"/>
                </a:lnTo>
                <a:lnTo>
                  <a:pt x="19050" y="645272"/>
                </a:lnTo>
                <a:lnTo>
                  <a:pt x="16669" y="643904"/>
                </a:lnTo>
                <a:lnTo>
                  <a:pt x="14288" y="642273"/>
                </a:lnTo>
                <a:lnTo>
                  <a:pt x="11906" y="640329"/>
                </a:lnTo>
                <a:lnTo>
                  <a:pt x="9525" y="637999"/>
                </a:lnTo>
                <a:lnTo>
                  <a:pt x="7144" y="635155"/>
                </a:lnTo>
                <a:lnTo>
                  <a:pt x="4763" y="631554"/>
                </a:lnTo>
                <a:lnTo>
                  <a:pt x="2381" y="626571"/>
                </a:lnTo>
                <a:lnTo>
                  <a:pt x="0" y="613777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4910733" y="2705695"/>
            <a:ext cx="564562" cy="124718"/>
          </a:xfrm>
          <a:prstGeom prst="roundRect">
            <a:avLst>
              <a:gd name="adj" fmla="val 11201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2</a:t>
            </a:r>
            <a:endParaRPr lang="en-US" sz="510" dirty="0"/>
          </a:p>
        </p:txBody>
      </p:sp>
      <p:sp>
        <p:nvSpPr>
          <p:cNvPr id="57" name="Text 48"/>
          <p:cNvSpPr/>
          <p:nvPr/>
        </p:nvSpPr>
        <p:spPr>
          <a:xfrm>
            <a:off x="4910733" y="2859584"/>
            <a:ext cx="3986998" cy="3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Unmonitored service account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with excessive SQL database rights silently exfiltrates customer PII and transaction records over weeks — no session recording, no anomaly alert triggered.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50" dirty="0"/>
          </a:p>
        </p:txBody>
      </p:sp>
      <p:sp>
        <p:nvSpPr>
          <p:cNvPr id="58" name="Text 49"/>
          <p:cNvSpPr/>
          <p:nvPr/>
        </p:nvSpPr>
        <p:spPr>
          <a:xfrm>
            <a:off x="4805363" y="3365599"/>
            <a:ext cx="4110038" cy="7590"/>
          </a:xfrm>
          <a:prstGeom prst="rect">
            <a:avLst/>
          </a:prstGeom>
          <a:solidFill>
            <a:srgbClr val="00C8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4805363" y="3484066"/>
            <a:ext cx="58608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REGULATORY:</a:t>
            </a:r>
            <a:endParaRPr lang="en-US" sz="560" dirty="0"/>
          </a:p>
        </p:txBody>
      </p:sp>
      <p:sp>
        <p:nvSpPr>
          <p:cNvPr id="60" name="Text 51"/>
          <p:cNvSpPr/>
          <p:nvPr/>
        </p:nvSpPr>
        <p:spPr>
          <a:xfrm>
            <a:off x="5395317" y="3458021"/>
            <a:ext cx="358825" cy="174843"/>
          </a:xfrm>
          <a:prstGeom prst="roundRect">
            <a:avLst>
              <a:gd name="adj" fmla="val 1234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FFIEC</a:t>
            </a:r>
            <a:endParaRPr lang="en-US" sz="590" dirty="0"/>
          </a:p>
        </p:txBody>
      </p:sp>
      <p:sp>
        <p:nvSpPr>
          <p:cNvPr id="61" name="Text 52"/>
          <p:cNvSpPr/>
          <p:nvPr/>
        </p:nvSpPr>
        <p:spPr>
          <a:xfrm>
            <a:off x="5811292" y="3458021"/>
            <a:ext cx="1215033" cy="174843"/>
          </a:xfrm>
          <a:prstGeom prst="roundRect">
            <a:avLst>
              <a:gd name="adj" fmla="val 1234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Heightened Standards</a:t>
            </a:r>
            <a:endParaRPr lang="en-US" sz="590" dirty="0"/>
          </a:p>
        </p:txBody>
      </p:sp>
      <p:sp>
        <p:nvSpPr>
          <p:cNvPr id="62" name="Text 53"/>
          <p:cNvSpPr/>
          <p:nvPr/>
        </p:nvSpPr>
        <p:spPr>
          <a:xfrm>
            <a:off x="4805363" y="3721745"/>
            <a:ext cx="42630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TOOLING:</a:t>
            </a:r>
            <a:endParaRPr lang="en-US" sz="560" dirty="0"/>
          </a:p>
        </p:txBody>
      </p:sp>
      <p:sp>
        <p:nvSpPr>
          <p:cNvPr id="63" name="Text 54"/>
          <p:cNvSpPr/>
          <p:nvPr/>
        </p:nvSpPr>
        <p:spPr>
          <a:xfrm>
            <a:off x="5250061" y="3687961"/>
            <a:ext cx="521643" cy="191869"/>
          </a:xfrm>
          <a:prstGeom prst="roundRect">
            <a:avLst>
              <a:gd name="adj" fmla="val 4501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CyberArk</a:t>
            </a:r>
            <a:endParaRPr lang="en-US" sz="590" dirty="0"/>
          </a:p>
        </p:txBody>
      </p:sp>
      <p:sp>
        <p:nvSpPr>
          <p:cNvPr id="64" name="Text 55"/>
          <p:cNvSpPr/>
          <p:nvPr/>
        </p:nvSpPr>
        <p:spPr>
          <a:xfrm>
            <a:off x="5828854" y="3687961"/>
            <a:ext cx="1017389" cy="191869"/>
          </a:xfrm>
          <a:prstGeom prst="roundRect">
            <a:avLst>
              <a:gd name="adj" fmla="val 4501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Entra PIM</a:t>
            </a:r>
            <a:endParaRPr lang="en-US" sz="590" dirty="0"/>
          </a:p>
        </p:txBody>
      </p:sp>
      <p:sp>
        <p:nvSpPr>
          <p:cNvPr id="65" name="Text 56"/>
          <p:cNvSpPr/>
          <p:nvPr/>
        </p:nvSpPr>
        <p:spPr>
          <a:xfrm>
            <a:off x="6903393" y="3687961"/>
            <a:ext cx="476548" cy="191869"/>
          </a:xfrm>
          <a:prstGeom prst="roundRect">
            <a:avLst>
              <a:gd name="adj" fmla="val 4501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Delinea</a:t>
            </a:r>
            <a:endParaRPr lang="en-US" sz="590" dirty="0"/>
          </a:p>
        </p:txBody>
      </p:sp>
      <p:sp>
        <p:nvSpPr>
          <p:cNvPr id="66" name="Text 57"/>
          <p:cNvSpPr/>
          <p:nvPr/>
        </p:nvSpPr>
        <p:spPr>
          <a:xfrm>
            <a:off x="7437090" y="3687961"/>
            <a:ext cx="656927" cy="191869"/>
          </a:xfrm>
          <a:prstGeom prst="roundRect">
            <a:avLst>
              <a:gd name="adj" fmla="val 4501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BeyondTrust</a:t>
            </a:r>
            <a:endParaRPr lang="en-US" sz="590" dirty="0"/>
          </a:p>
        </p:txBody>
      </p:sp>
      <p:sp>
        <p:nvSpPr>
          <p:cNvPr id="67" name="Text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0F1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0" y="4800600"/>
            <a:ext cx="9144000" cy="952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0"/>
          <p:cNvSpPr/>
          <p:nvPr/>
        </p:nvSpPr>
        <p:spPr>
          <a:xfrm>
            <a:off x="342900" y="4923383"/>
            <a:ext cx="20167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</a:t>
            </a: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Privileged Account Management</a:t>
            </a:r>
            <a:endParaRPr lang="en-US" sz="560" dirty="0"/>
          </a:p>
        </p:txBody>
      </p:sp>
      <p:sp>
        <p:nvSpPr>
          <p:cNvPr id="70" name="Text 61"/>
          <p:cNvSpPr/>
          <p:nvPr/>
        </p:nvSpPr>
        <p:spPr>
          <a:xfrm>
            <a:off x="2347764" y="4965948"/>
            <a:ext cx="21580" cy="21580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2"/>
          <p:cNvSpPr/>
          <p:nvPr/>
        </p:nvSpPr>
        <p:spPr>
          <a:xfrm>
            <a:off x="2540794" y="4923383"/>
            <a:ext cx="19132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PR.AC-6</a:t>
            </a: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Least-Privilege Enforcement</a:t>
            </a:r>
            <a:endParaRPr lang="en-US" sz="560" dirty="0"/>
          </a:p>
        </p:txBody>
      </p:sp>
      <p:sp>
        <p:nvSpPr>
          <p:cNvPr id="72" name="Text 63"/>
          <p:cNvSpPr/>
          <p:nvPr/>
        </p:nvSpPr>
        <p:spPr>
          <a:xfrm>
            <a:off x="4451598" y="4965948"/>
            <a:ext cx="21580" cy="21580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4644628" y="4923383"/>
            <a:ext cx="20167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DE.CM-3</a:t>
            </a: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Privileged Session Monitoring</a:t>
            </a:r>
            <a:endParaRPr lang="en-US" sz="560" dirty="0"/>
          </a:p>
        </p:txBody>
      </p:sp>
      <p:sp>
        <p:nvSpPr>
          <p:cNvPr id="74" name="Text 65"/>
          <p:cNvSpPr/>
          <p:nvPr/>
        </p:nvSpPr>
        <p:spPr>
          <a:xfrm>
            <a:off x="6649492" y="4965948"/>
            <a:ext cx="21580" cy="21580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6967686" y="4923383"/>
            <a:ext cx="20167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 · NIST CSF 2.0 · FFIEC</a:t>
            </a:r>
            <a:endParaRPr lang="en-US" sz="560" dirty="0"/>
          </a:p>
        </p:txBody>
      </p:sp>
      <p:sp>
        <p:nvSpPr>
          <p:cNvPr id="76" name="Text 67"/>
          <p:cNvSpPr/>
          <p:nvPr/>
        </p:nvSpPr>
        <p:spPr>
          <a:xfrm>
            <a:off x="0" y="0"/>
            <a:ext cx="9144000" cy="50036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60000">
                <a:srgbClr val="0D1E36"/>
              </a:gs>
              <a:gs pos="100000">
                <a:srgbClr val="091524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0" y="490835"/>
            <a:ext cx="9144000" cy="9525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9"/>
          <p:cNvSpPr/>
          <p:nvPr/>
        </p:nvSpPr>
        <p:spPr>
          <a:xfrm>
            <a:off x="342900" y="151507"/>
            <a:ext cx="426541" cy="206603"/>
          </a:xfrm>
          <a:prstGeom prst="roundRect">
            <a:avLst>
              <a:gd name="adj" fmla="val 10450"/>
            </a:avLst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</a:t>
            </a:r>
            <a:endParaRPr lang="en-US" sz="680" dirty="0"/>
          </a:p>
        </p:txBody>
      </p:sp>
      <p:sp>
        <p:nvSpPr>
          <p:cNvPr id="79" name="Text 70"/>
          <p:cNvSpPr/>
          <p:nvPr/>
        </p:nvSpPr>
        <p:spPr>
          <a:xfrm>
            <a:off x="883741" y="106263"/>
            <a:ext cx="4534533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Privileged Access Management </a:t>
            </a:r>
            <a:r>
              <a:rPr lang="en-US" sz="146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(PAM)</a:t>
            </a:r>
            <a:r>
              <a:rPr lang="en-US" sz="1460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Deep Dive</a:t>
            </a:r>
            <a:endParaRPr lang="en-US" sz="1460" dirty="0"/>
          </a:p>
        </p:txBody>
      </p:sp>
      <p:sp>
        <p:nvSpPr>
          <p:cNvPr id="80" name="Text 71"/>
          <p:cNvSpPr/>
          <p:nvPr/>
        </p:nvSpPr>
        <p:spPr>
          <a:xfrm>
            <a:off x="6227713" y="186333"/>
            <a:ext cx="283072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2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620" kern="0" spc="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 · PR.AC-6 · DE.CM-3</a:t>
            </a:r>
            <a:r>
              <a:rPr lang="en-US" sz="62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CRI PROFILE V2.2</a:t>
            </a:r>
            <a:br/>
            <a:r>
              <a:rPr lang="en-US" sz="620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595" y="1093143"/>
            <a:ext cx="1500340" cy="3212459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01602" y="1093143"/>
            <a:ext cx="1500483" cy="3212459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21757" y="1093143"/>
            <a:ext cx="1500340" cy="3212459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41764" y="1093143"/>
            <a:ext cx="1500483" cy="3212459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61920" y="1093143"/>
            <a:ext cx="1500483" cy="3212459"/>
          </a:xfrm>
          <a:prstGeom prst="roundRect">
            <a:avLst>
              <a:gd name="adj" fmla="val 474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070" y="257770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922" y="312622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502" y="276969"/>
            <a:ext cx="6029694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August: Secure Coding &amp; DevSecOps </a:t>
            </a:r>
            <a:r>
              <a:rPr lang="en-US" sz="1460" b="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Financial Applications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372070" y="529382"/>
            <a:ext cx="75406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Shift-left security integrated at every stage of the software development lifecycle — from threat model to production SIEM.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8130332" y="257770"/>
            <a:ext cx="641598" cy="477967"/>
          </a:xfrm>
          <a:prstGeom prst="roundRect">
            <a:avLst>
              <a:gd name="adj" fmla="val 903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square" lIns="100330" tIns="35560" rIns="100330" bIns="35560" rtlCol="0" anchor="t"/>
          <a:lstStyle/>
          <a:p>
            <a:pPr marL="0" indent="0" algn="ctr">
              <a:buNone/>
            </a:pPr>
            <a:r>
              <a:rPr lang="en-US" sz="620" kern="0" spc="6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WEBINAR</a:t>
            </a:r>
            <a:endParaRPr lang="en-US" sz="62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</a:t>
            </a:r>
            <a:endParaRPr lang="en-US" sz="620" dirty="0"/>
          </a:p>
          <a:p>
            <a:pPr marL="0" indent="0" algn="ctr">
              <a:buNone/>
            </a:pPr>
            <a:endParaRPr lang="en-US" sz="620" dirty="0"/>
          </a:p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372070" y="934492"/>
            <a:ext cx="3163788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C8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79019" y="879277"/>
            <a:ext cx="2184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DEVSECOPS CI/CD SECURITY PIPELINE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5608141" y="934492"/>
            <a:ext cx="3163788" cy="7590"/>
          </a:xfrm>
          <a:prstGeom prst="rect">
            <a:avLst/>
          </a:prstGeom>
          <a:gradFill rotWithShape="1">
            <a:gsLst>
              <a:gs pos="0">
                <a:srgbClr val="00C8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72070" y="1083618"/>
            <a:ext cx="1519386" cy="3231505"/>
          </a:xfrm>
          <a:prstGeom prst="roundRect">
            <a:avLst>
              <a:gd name="adj" fmla="val 4681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905" y="1193453"/>
            <a:ext cx="257770" cy="25777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497" y="1256044"/>
            <a:ext cx="132588" cy="132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96826" y="1222028"/>
            <a:ext cx="200620" cy="220682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481905" y="1508373"/>
            <a:ext cx="392871" cy="164753"/>
          </a:xfrm>
          <a:prstGeom prst="roundRect">
            <a:avLst>
              <a:gd name="adj" fmla="val 1773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481905" y="1716286"/>
            <a:ext cx="1325710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Threat Modeling &amp; Requirements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481905" y="2015430"/>
            <a:ext cx="1325710" cy="991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Threat modeling in design phase using </a:t>
            </a:r>
            <a:r>
              <a:rPr lang="en-US" sz="62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methodology. Security requirements embedded in user stories. </a:t>
            </a:r>
            <a:r>
              <a:rPr lang="en-US" sz="62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ASVS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standards adopted as acceptance criteria baseline.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481905" y="3002756"/>
            <a:ext cx="1325710" cy="31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84"/>
              </a:lnSpc>
              <a:buNone/>
            </a:pPr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STRIDE · OWASP ASVS</a:t>
            </a:r>
            <a:br/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Security user story templates</a:t>
            </a:r>
            <a:endParaRPr lang="en-US" sz="56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5398" y="2633076"/>
            <a:ext cx="132588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092077" y="1083618"/>
            <a:ext cx="1519535" cy="32315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162032"/>
              </a:gs>
              <a:gs pos="100000">
                <a:srgbClr val="0F1E30"/>
              </a:gs>
            </a:gsLst>
            <a:lin ang="2700000" scaled="1"/>
          </a:gra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201912" y="1193453"/>
            <a:ext cx="257770" cy="25777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4503" y="1256044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6832" y="1222028"/>
            <a:ext cx="200620" cy="220682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30" dirty="0"/>
          </a:p>
        </p:txBody>
      </p:sp>
      <p:sp>
        <p:nvSpPr>
          <p:cNvPr id="31" name="Text 25"/>
          <p:cNvSpPr/>
          <p:nvPr/>
        </p:nvSpPr>
        <p:spPr>
          <a:xfrm>
            <a:off x="2201912" y="1508373"/>
            <a:ext cx="406229" cy="164753"/>
          </a:xfrm>
          <a:prstGeom prst="roundRect">
            <a:avLst>
              <a:gd name="adj" fmla="val 1773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2201912" y="1716286"/>
            <a:ext cx="1325862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 Security &amp; Secrets Detection</a:t>
            </a:r>
            <a:endParaRPr lang="en-US" sz="840" dirty="0"/>
          </a:p>
        </p:txBody>
      </p:sp>
      <p:sp>
        <p:nvSpPr>
          <p:cNvPr id="33" name="Text 27"/>
          <p:cNvSpPr/>
          <p:nvPr/>
        </p:nvSpPr>
        <p:spPr>
          <a:xfrm>
            <a:off x="2201912" y="2015430"/>
            <a:ext cx="1325862" cy="74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security plugins for real-time feedback. Secrets detection pre-commit. Secure coding training for developers targeting OWASP Top 10 patterns.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2201912" y="2766715"/>
            <a:ext cx="1325862" cy="31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84"/>
              </a:lnSpc>
              <a:buNone/>
            </a:pPr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SonarQube · Semgrep</a:t>
            </a:r>
            <a:br/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GitGuardian · Pre-commit hooks</a:t>
            </a:r>
            <a:endParaRPr lang="en-US" sz="56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5554" y="2633076"/>
            <a:ext cx="132588" cy="132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12232" y="1083618"/>
            <a:ext cx="1519386" cy="3231505"/>
          </a:xfrm>
          <a:prstGeom prst="roundRect">
            <a:avLst>
              <a:gd name="adj" fmla="val 4681"/>
            </a:avLst>
          </a:prstGeom>
          <a:gradFill rotWithShape="1">
            <a:gsLst>
              <a:gs pos="0">
                <a:srgbClr val="162032"/>
              </a:gs>
              <a:gs pos="100000">
                <a:srgbClr val="112038"/>
              </a:gs>
            </a:gsLst>
            <a:lin ang="2700000" scaled="1"/>
          </a:gradFill>
          <a:ln w="9525">
            <a:solidFill>
              <a:srgbClr val="00C8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3922068" y="1193453"/>
            <a:ext cx="257770" cy="257770"/>
          </a:xfrm>
          <a:prstGeom prst="ellipse">
            <a:avLst/>
          </a:prstGeom>
          <a:solidFill>
            <a:srgbClr val="00C8FF">
              <a:alpha val="18000"/>
            </a:srgbClr>
          </a:solidFill>
          <a:ln w="9525">
            <a:solidFill>
              <a:srgbClr val="00C8FF">
                <a:alpha val="4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84659" y="1256044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236988" y="1222028"/>
            <a:ext cx="200620" cy="220682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30" dirty="0"/>
          </a:p>
        </p:txBody>
      </p:sp>
      <p:sp>
        <p:nvSpPr>
          <p:cNvPr id="40" name="Text 32"/>
          <p:cNvSpPr/>
          <p:nvPr/>
        </p:nvSpPr>
        <p:spPr>
          <a:xfrm>
            <a:off x="3922068" y="1508373"/>
            <a:ext cx="429152" cy="164753"/>
          </a:xfrm>
          <a:prstGeom prst="roundRect">
            <a:avLst>
              <a:gd name="adj" fmla="val 17730"/>
            </a:avLst>
          </a:prstGeom>
          <a:solidFill>
            <a:srgbClr val="00C8FF">
              <a:alpha val="18000"/>
            </a:srgbClr>
          </a:solidFill>
          <a:ln w="9525">
            <a:solidFill>
              <a:srgbClr val="00C8FF">
                <a:alpha val="4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endParaRPr lang="en-US" sz="620" dirty="0"/>
          </a:p>
        </p:txBody>
      </p:sp>
      <p:sp>
        <p:nvSpPr>
          <p:cNvPr id="41" name="Text 33"/>
          <p:cNvSpPr/>
          <p:nvPr/>
        </p:nvSpPr>
        <p:spPr>
          <a:xfrm>
            <a:off x="3922068" y="1716286"/>
            <a:ext cx="1325710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SAST &amp; Supply Chain Scanning</a:t>
            </a:r>
            <a:endParaRPr lang="en-US" sz="840" dirty="0"/>
          </a:p>
        </p:txBody>
      </p:sp>
      <p:sp>
        <p:nvSpPr>
          <p:cNvPr id="42" name="Text 34"/>
          <p:cNvSpPr/>
          <p:nvPr/>
        </p:nvSpPr>
        <p:spPr>
          <a:xfrm>
            <a:off x="3922068" y="2015430"/>
            <a:ext cx="1325710" cy="743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SAST in CI/CD pipeline gate. Dependency vulnerability scanning with </a:t>
            </a:r>
            <a:r>
              <a:rPr lang="en-US" sz="62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 generation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Container image scanning before registry push.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20" dirty="0"/>
          </a:p>
        </p:txBody>
      </p:sp>
      <p:sp>
        <p:nvSpPr>
          <p:cNvPr id="43" name="Text 35"/>
          <p:cNvSpPr/>
          <p:nvPr/>
        </p:nvSpPr>
        <p:spPr>
          <a:xfrm>
            <a:off x="3922068" y="2766715"/>
            <a:ext cx="1191819" cy="20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84"/>
              </a:lnSpc>
              <a:buNone/>
            </a:pPr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Checkmarx · Snyk Code</a:t>
            </a:r>
            <a:br/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SBOM · Container scanning</a:t>
            </a:r>
            <a:endParaRPr lang="en-US" sz="56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5560" y="2633076"/>
            <a:ext cx="132588" cy="1325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532239" y="1083618"/>
            <a:ext cx="1519535" cy="3231505"/>
          </a:xfrm>
          <a:prstGeom prst="roundRect">
            <a:avLst>
              <a:gd name="adj" fmla="val 4680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5642074" y="1193453"/>
            <a:ext cx="257770" cy="25777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4665" y="1256044"/>
            <a:ext cx="132588" cy="132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956995" y="1222028"/>
            <a:ext cx="200620" cy="220682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30" dirty="0"/>
          </a:p>
        </p:txBody>
      </p:sp>
      <p:sp>
        <p:nvSpPr>
          <p:cNvPr id="49" name="Text 39"/>
          <p:cNvSpPr/>
          <p:nvPr/>
        </p:nvSpPr>
        <p:spPr>
          <a:xfrm>
            <a:off x="5642074" y="1508373"/>
            <a:ext cx="379512" cy="164753"/>
          </a:xfrm>
          <a:prstGeom prst="roundRect">
            <a:avLst>
              <a:gd name="adj" fmla="val 1773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</a:t>
            </a:r>
            <a:endParaRPr lang="en-US" sz="620" dirty="0"/>
          </a:p>
        </p:txBody>
      </p:sp>
      <p:sp>
        <p:nvSpPr>
          <p:cNvPr id="50" name="Text 40"/>
          <p:cNvSpPr/>
          <p:nvPr/>
        </p:nvSpPr>
        <p:spPr>
          <a:xfrm>
            <a:off x="5642074" y="1716286"/>
            <a:ext cx="1325862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DAST, API &amp; Pen Test Gates</a:t>
            </a:r>
            <a:endParaRPr lang="en-US" sz="840" dirty="0"/>
          </a:p>
        </p:txBody>
      </p:sp>
      <p:sp>
        <p:nvSpPr>
          <p:cNvPr id="51" name="Text 41"/>
          <p:cNvSpPr/>
          <p:nvPr/>
        </p:nvSpPr>
        <p:spPr>
          <a:xfrm>
            <a:off x="5642074" y="2015430"/>
            <a:ext cx="1325862" cy="8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testing against staging environments. API security testing for all endpoints. Penetration testing gates required before production promotion.</a:t>
            </a:r>
            <a:endParaRPr lang="en-US" sz="620" dirty="0"/>
          </a:p>
        </p:txBody>
      </p:sp>
      <p:sp>
        <p:nvSpPr>
          <p:cNvPr id="52" name="Text 42"/>
          <p:cNvSpPr/>
          <p:nvPr/>
        </p:nvSpPr>
        <p:spPr>
          <a:xfrm>
            <a:off x="5642074" y="2884736"/>
            <a:ext cx="1322674" cy="20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84"/>
              </a:lnSpc>
              <a:buNone/>
            </a:pPr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OWASP ZAP · Burp Suite</a:t>
            </a:r>
            <a:br/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API security · Pen test gate</a:t>
            </a:r>
            <a:endParaRPr lang="en-US" sz="56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5716" y="2633076"/>
            <a:ext cx="132588" cy="13258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252395" y="1083618"/>
            <a:ext cx="1519535" cy="3231505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162032"/>
              </a:gs>
              <a:gs pos="100000">
                <a:srgbClr val="0E1F30"/>
              </a:gs>
            </a:gsLst>
            <a:lin ang="2700000" scaled="1"/>
          </a:gradFill>
          <a:ln w="9525">
            <a:solidFill>
              <a:srgbClr val="00C8FF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7362230" y="1193453"/>
            <a:ext cx="257770" cy="257770"/>
          </a:xfrm>
          <a:prstGeom prst="ellipse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4821" y="1256044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677150" y="1222028"/>
            <a:ext cx="200620" cy="220682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730" dirty="0"/>
          </a:p>
        </p:txBody>
      </p:sp>
      <p:sp>
        <p:nvSpPr>
          <p:cNvPr id="58" name="Text 46"/>
          <p:cNvSpPr/>
          <p:nvPr/>
        </p:nvSpPr>
        <p:spPr>
          <a:xfrm>
            <a:off x="7362230" y="1508373"/>
            <a:ext cx="1062177" cy="164753"/>
          </a:xfrm>
          <a:prstGeom prst="roundRect">
            <a:avLst>
              <a:gd name="adj" fmla="val 1773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/ MONITOR</a:t>
            </a:r>
            <a:endParaRPr lang="en-US" sz="620" dirty="0"/>
          </a:p>
        </p:txBody>
      </p:sp>
      <p:sp>
        <p:nvSpPr>
          <p:cNvPr id="59" name="Text 47"/>
          <p:cNvSpPr/>
          <p:nvPr/>
        </p:nvSpPr>
        <p:spPr>
          <a:xfrm>
            <a:off x="7362230" y="1716286"/>
            <a:ext cx="1325862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RASP, WAF &amp; SIEM Logging</a:t>
            </a:r>
            <a:endParaRPr lang="en-US" sz="840" dirty="0"/>
          </a:p>
        </p:txBody>
      </p:sp>
      <p:sp>
        <p:nvSpPr>
          <p:cNvPr id="60" name="Text 48"/>
          <p:cNvSpPr/>
          <p:nvPr/>
        </p:nvSpPr>
        <p:spPr>
          <a:xfrm>
            <a:off x="7362230" y="2015430"/>
            <a:ext cx="1325862" cy="743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Runtime application self-protection enabled. WAF enforcement with </a:t>
            </a:r>
            <a:r>
              <a:rPr lang="en-US" sz="62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Top 10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coverage validation. All security events shipped to SIEM.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20" dirty="0"/>
          </a:p>
        </p:txBody>
      </p:sp>
      <p:sp>
        <p:nvSpPr>
          <p:cNvPr id="61" name="Text 49"/>
          <p:cNvSpPr/>
          <p:nvPr/>
        </p:nvSpPr>
        <p:spPr>
          <a:xfrm>
            <a:off x="7362230" y="2766715"/>
            <a:ext cx="1191819" cy="20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84"/>
              </a:lnSpc>
              <a:buNone/>
            </a:pPr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RASP · WAF · OWASP Top 10</a:t>
            </a:r>
            <a:br/>
            <a:r>
              <a:rPr lang="en-US" sz="560" dirty="0">
                <a:solidFill>
                  <a:srgbClr val="00C8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Security logging → SIEM</a:t>
            </a:r>
            <a:endParaRPr lang="en-US" sz="560" dirty="0"/>
          </a:p>
        </p:txBody>
      </p:sp>
      <p:sp>
        <p:nvSpPr>
          <p:cNvPr id="62" name="Text 50"/>
          <p:cNvSpPr/>
          <p:nvPr/>
        </p:nvSpPr>
        <p:spPr>
          <a:xfrm>
            <a:off x="372070" y="4429423"/>
            <a:ext cx="8399859" cy="9525"/>
          </a:xfrm>
          <a:prstGeom prst="rect">
            <a:avLst/>
          </a:prstGeom>
          <a:solidFill>
            <a:srgbClr val="00C8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1"/>
          <p:cNvSpPr/>
          <p:nvPr/>
        </p:nvSpPr>
        <p:spPr>
          <a:xfrm>
            <a:off x="372070" y="4525268"/>
            <a:ext cx="1284536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2"/>
          <p:cNvSpPr/>
          <p:nvPr/>
        </p:nvSpPr>
        <p:spPr>
          <a:xfrm>
            <a:off x="546943" y="4565898"/>
            <a:ext cx="20824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</a:t>
            </a:r>
            <a:endParaRPr lang="en-US" sz="62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5760" y="4549015"/>
            <a:ext cx="132588" cy="13258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771674" y="4556373"/>
            <a:ext cx="8848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PR.PS-3 · ID.RA-1</a:t>
            </a:r>
            <a:endParaRPr lang="en-US" sz="620" dirty="0"/>
          </a:p>
        </p:txBody>
      </p:sp>
      <p:sp>
        <p:nvSpPr>
          <p:cNvPr id="67" name="Text 54"/>
          <p:cNvSpPr/>
          <p:nvPr/>
        </p:nvSpPr>
        <p:spPr>
          <a:xfrm>
            <a:off x="1713756" y="4525268"/>
            <a:ext cx="1081001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165616" tIns="21590" rIns="7112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PCI-DSS 4.0 Req 6</a:t>
            </a:r>
            <a:endParaRPr lang="en-US" sz="620" dirty="0"/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7446" y="4549015"/>
            <a:ext cx="132588" cy="132588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2830711" y="4525268"/>
            <a:ext cx="1515163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165616" tIns="21590" rIns="7112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FFIEC Application Security</a:t>
            </a:r>
            <a:endParaRPr lang="en-US" sz="620" dirty="0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74401" y="4549015"/>
            <a:ext cx="132588" cy="132588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372070" y="4762649"/>
            <a:ext cx="1756532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165616" tIns="21590" rIns="7112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ASVS · SBOM · SAST · DAST</a:t>
            </a:r>
            <a:endParaRPr lang="en-US" sz="620" dirty="0"/>
          </a:p>
        </p:txBody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5760" y="4786396"/>
            <a:ext cx="132588" cy="132588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5276552" y="4563368"/>
            <a:ext cx="3495377" cy="341412"/>
          </a:xfrm>
          <a:prstGeom prst="roundRect">
            <a:avLst>
              <a:gd name="adj" fmla="val 12647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52240" y="4656503"/>
            <a:ext cx="132588" cy="154993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5507831" y="4616053"/>
            <a:ext cx="3217349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Shift-Left Security: Find and fix vulnerabilities before they reach production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00C8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357860"/>
            <a:ext cx="1785640" cy="1785640"/>
          </a:xfrm>
          <a:prstGeom prst="ellipse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1739075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0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620" kern="0" spc="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SEPTEMBER · WEBINAR 9 OF 12</a:t>
            </a:r>
            <a:endParaRPr lang="en-US" sz="62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12" y="224367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0050" y="410021"/>
            <a:ext cx="4055202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2"/>
              </a:lnSpc>
              <a:buNone/>
            </a:pPr>
            <a:r>
              <a:rPr lang="en-US" sz="146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Third-Party &amp; Supply Chain </a:t>
            </a:r>
            <a:r>
              <a:rPr lang="en-US" sz="1460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Management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4296370" y="229791"/>
            <a:ext cx="4447580" cy="207913"/>
          </a:xfrm>
          <a:prstGeom prst="roundRect">
            <a:avLst>
              <a:gd name="adj" fmla="val 14049"/>
            </a:avLst>
          </a:prstGeom>
          <a:solidFill>
            <a:srgbClr val="FF4E6A">
              <a:alpha val="12000"/>
            </a:srgbClr>
          </a:solidFill>
          <a:ln w="9525">
            <a:solidFill>
              <a:srgbClr val="FF4E6A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392216" y="315962"/>
            <a:ext cx="35421" cy="35421"/>
          </a:xfrm>
          <a:prstGeom prst="ellipse">
            <a:avLst/>
          </a:prstGeom>
          <a:solidFill>
            <a:srgbClr val="FF4E6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84787" y="274737"/>
            <a:ext cx="45796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FF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 ALERT: MOVEit-style supply chain exploits targeting financial sector — active threat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5635079" y="496044"/>
            <a:ext cx="3171048" cy="207913"/>
          </a:xfrm>
          <a:prstGeom prst="roundRect">
            <a:avLst>
              <a:gd name="adj" fmla="val 14049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86360" tIns="35560" rIns="86360" bIns="3556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Profile: ID.SC-1 · ID.SC-2 · ID.SC-3 · ID.SC-4 · ID.SC-5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400050" y="804267"/>
            <a:ext cx="2723704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875" y="91410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727" y="968954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7307" y="975122"/>
            <a:ext cx="140611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Inventory &amp; Tiering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523875" y="1199704"/>
            <a:ext cx="252557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Risk-tier all vendors: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/ High / Medium / Low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based on data access scope and operational dependency. Maintain living inventory — auto-alert on new onboarding.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523875" y="1752005"/>
            <a:ext cx="1357461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= crown jewel access</a:t>
            </a:r>
            <a:endParaRPr lang="en-US" sz="560" dirty="0"/>
          </a:p>
        </p:txBody>
      </p:sp>
      <p:sp>
        <p:nvSpPr>
          <p:cNvPr id="19" name="Text 15"/>
          <p:cNvSpPr/>
          <p:nvPr/>
        </p:nvSpPr>
        <p:spPr>
          <a:xfrm>
            <a:off x="1916757" y="1752005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ID.SC-1</a:t>
            </a:r>
            <a:endParaRPr lang="en-US" sz="560" dirty="0"/>
          </a:p>
        </p:txBody>
      </p:sp>
      <p:sp>
        <p:nvSpPr>
          <p:cNvPr id="20" name="Text 16"/>
          <p:cNvSpPr/>
          <p:nvPr/>
        </p:nvSpPr>
        <p:spPr>
          <a:xfrm>
            <a:off x="3210074" y="804267"/>
            <a:ext cx="2723704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33899" y="91410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8751" y="968954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47331" y="975122"/>
            <a:ext cx="151432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Pre-Onboarding Assessment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3333899" y="1199704"/>
            <a:ext cx="252557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Standardized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 Lite / CRI Third-Party Profile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questionnaire prior to contract. Require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2 Type II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Critical/High vendors. Gate onboarding on findings resolution.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3333899" y="1752005"/>
            <a:ext cx="1143744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 Lite · SOC 2 Type II</a:t>
            </a:r>
            <a:endParaRPr lang="en-US" sz="560" dirty="0"/>
          </a:p>
        </p:txBody>
      </p:sp>
      <p:sp>
        <p:nvSpPr>
          <p:cNvPr id="26" name="Text 21"/>
          <p:cNvSpPr/>
          <p:nvPr/>
        </p:nvSpPr>
        <p:spPr>
          <a:xfrm>
            <a:off x="4513064" y="1752005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ID.SC-2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6020098" y="804267"/>
            <a:ext cx="2723852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143923" y="91410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8775" y="968954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57355" y="975122"/>
            <a:ext cx="121178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Monitoring</a:t>
            </a:r>
            <a:endParaRPr lang="en-US" sz="790" dirty="0"/>
          </a:p>
        </p:txBody>
      </p:sp>
      <p:sp>
        <p:nvSpPr>
          <p:cNvPr id="31" name="Text 25"/>
          <p:cNvSpPr/>
          <p:nvPr/>
        </p:nvSpPr>
        <p:spPr>
          <a:xfrm>
            <a:off x="6143923" y="1199704"/>
            <a:ext cx="252572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Attack surface monitoring of vendor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footprint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via external scanning. Subscribe to breach notification feeds (FS-ISAC, HaveIBeenPwned API, BitSight, SecurityScorecard).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6143923" y="1752005"/>
            <a:ext cx="1314748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BitSight · SecurityScorecard</a:t>
            </a:r>
            <a:endParaRPr lang="en-US" sz="560" dirty="0"/>
          </a:p>
        </p:txBody>
      </p:sp>
      <p:sp>
        <p:nvSpPr>
          <p:cNvPr id="33" name="Text 27"/>
          <p:cNvSpPr/>
          <p:nvPr/>
        </p:nvSpPr>
        <p:spPr>
          <a:xfrm>
            <a:off x="7494091" y="1752005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ID.SC-3</a:t>
            </a:r>
            <a:endParaRPr lang="en-US" sz="560" dirty="0"/>
          </a:p>
        </p:txBody>
      </p:sp>
      <p:sp>
        <p:nvSpPr>
          <p:cNvPr id="34" name="Text 28"/>
          <p:cNvSpPr/>
          <p:nvPr/>
        </p:nvSpPr>
        <p:spPr>
          <a:xfrm>
            <a:off x="400050" y="2225427"/>
            <a:ext cx="2723704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523875" y="233526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727" y="2390114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37307" y="2396282"/>
            <a:ext cx="1683767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Contract Security Requirements</a:t>
            </a:r>
            <a:endParaRPr lang="en-US" sz="790" dirty="0"/>
          </a:p>
        </p:txBody>
      </p:sp>
      <p:sp>
        <p:nvSpPr>
          <p:cNvPr id="38" name="Text 31"/>
          <p:cNvSpPr/>
          <p:nvPr/>
        </p:nvSpPr>
        <p:spPr>
          <a:xfrm>
            <a:off x="523875" y="2620863"/>
            <a:ext cx="252557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Embed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right-to-audit clauses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all Critical/High vendor contracts. Mandate incident notification SLAs: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72-hour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reporting for financial regulators (OCC/FDIC/NYDFS).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39" name="Text 32"/>
          <p:cNvSpPr/>
          <p:nvPr/>
        </p:nvSpPr>
        <p:spPr>
          <a:xfrm>
            <a:off x="523875" y="3173164"/>
            <a:ext cx="1229171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72-hr SLA · Right-to-Audit</a:t>
            </a:r>
            <a:endParaRPr lang="en-US" sz="560" dirty="0"/>
          </a:p>
        </p:txBody>
      </p:sp>
      <p:sp>
        <p:nvSpPr>
          <p:cNvPr id="40" name="Text 33"/>
          <p:cNvSpPr/>
          <p:nvPr/>
        </p:nvSpPr>
        <p:spPr>
          <a:xfrm>
            <a:off x="1788468" y="3173164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ID.SC-4</a:t>
            </a:r>
            <a:endParaRPr lang="en-US" sz="560" dirty="0"/>
          </a:p>
        </p:txBody>
      </p:sp>
      <p:sp>
        <p:nvSpPr>
          <p:cNvPr id="41" name="Text 34"/>
          <p:cNvSpPr/>
          <p:nvPr/>
        </p:nvSpPr>
        <p:spPr>
          <a:xfrm>
            <a:off x="3210074" y="2225427"/>
            <a:ext cx="2723704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333899" y="233526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8751" y="2390114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47331" y="2396282"/>
            <a:ext cx="166526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Supply Chain Security</a:t>
            </a:r>
            <a:endParaRPr lang="en-US" sz="790" dirty="0"/>
          </a:p>
        </p:txBody>
      </p:sp>
      <p:sp>
        <p:nvSpPr>
          <p:cNvPr id="45" name="Text 37"/>
          <p:cNvSpPr/>
          <p:nvPr/>
        </p:nvSpPr>
        <p:spPr>
          <a:xfrm>
            <a:off x="3333899" y="2620863"/>
            <a:ext cx="252557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(Software Bill of Materials) from all software vendors. Mandate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SLSA framework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adoption and CISA Secure by Design principles. Map components to KEV catalog.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46" name="Text 38"/>
          <p:cNvSpPr/>
          <p:nvPr/>
        </p:nvSpPr>
        <p:spPr>
          <a:xfrm>
            <a:off x="3333899" y="3173164"/>
            <a:ext cx="1528316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 · SLSA · CISA SecureByDesign</a:t>
            </a:r>
            <a:endParaRPr lang="en-US" sz="560" dirty="0"/>
          </a:p>
        </p:txBody>
      </p:sp>
      <p:sp>
        <p:nvSpPr>
          <p:cNvPr id="47" name="Text 39"/>
          <p:cNvSpPr/>
          <p:nvPr/>
        </p:nvSpPr>
        <p:spPr>
          <a:xfrm>
            <a:off x="4897636" y="3173164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ID.SC-5</a:t>
            </a:r>
            <a:endParaRPr lang="en-US" sz="560" dirty="0"/>
          </a:p>
        </p:txBody>
      </p:sp>
      <p:sp>
        <p:nvSpPr>
          <p:cNvPr id="48" name="Text 40"/>
          <p:cNvSpPr/>
          <p:nvPr/>
        </p:nvSpPr>
        <p:spPr>
          <a:xfrm>
            <a:off x="6020098" y="2225427"/>
            <a:ext cx="2723852" cy="1334839"/>
          </a:xfrm>
          <a:prstGeom prst="roundRect">
            <a:avLst>
              <a:gd name="adj" fmla="val 4281"/>
            </a:avLst>
          </a:prstGeom>
          <a:solidFill>
            <a:srgbClr val="162032"/>
          </a:solidFill>
          <a:ln w="9525">
            <a:solidFill>
              <a:srgbClr val="00C8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6143923" y="2335262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8775" y="2390114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7355" y="2396282"/>
            <a:ext cx="92447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Fourth-Party Risk</a:t>
            </a:r>
            <a:endParaRPr lang="en-US" sz="790" dirty="0"/>
          </a:p>
        </p:txBody>
      </p:sp>
      <p:sp>
        <p:nvSpPr>
          <p:cNvPr id="52" name="Text 43"/>
          <p:cNvSpPr/>
          <p:nvPr/>
        </p:nvSpPr>
        <p:spPr>
          <a:xfrm>
            <a:off x="6143923" y="2620863"/>
            <a:ext cx="25257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 </a:t>
            </a: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vendor sub-dependencies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identify concentration risk (e.g., single cloud provider across multiple Critical vendors). Assess cascading failure scenarios for operational resilience.</a:t>
            </a:r>
            <a:br/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650" dirty="0"/>
          </a:p>
        </p:txBody>
      </p:sp>
      <p:sp>
        <p:nvSpPr>
          <p:cNvPr id="53" name="Text 44"/>
          <p:cNvSpPr/>
          <p:nvPr/>
        </p:nvSpPr>
        <p:spPr>
          <a:xfrm>
            <a:off x="6143923" y="3296989"/>
            <a:ext cx="1699320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 Risk · Cloud Dependency</a:t>
            </a:r>
            <a:endParaRPr lang="en-US" sz="560" dirty="0"/>
          </a:p>
        </p:txBody>
      </p:sp>
      <p:sp>
        <p:nvSpPr>
          <p:cNvPr id="54" name="Text 45"/>
          <p:cNvSpPr/>
          <p:nvPr/>
        </p:nvSpPr>
        <p:spPr>
          <a:xfrm>
            <a:off x="7878663" y="3296989"/>
            <a:ext cx="417165" cy="168786"/>
          </a:xfrm>
          <a:prstGeom prst="roundRect">
            <a:avLst>
              <a:gd name="adj" fmla="val 12791"/>
            </a:avLst>
          </a:prstGeom>
          <a:solidFill>
            <a:srgbClr val="00C8FF">
              <a:alpha val="7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ID.SC-3</a:t>
            </a:r>
            <a:endParaRPr lang="en-US" sz="560" dirty="0"/>
          </a:p>
        </p:txBody>
      </p:sp>
      <p:sp>
        <p:nvSpPr>
          <p:cNvPr id="55" name="Text 46"/>
          <p:cNvSpPr/>
          <p:nvPr/>
        </p:nvSpPr>
        <p:spPr>
          <a:xfrm>
            <a:off x="400050" y="3660577"/>
            <a:ext cx="1267867" cy="185812"/>
          </a:xfrm>
          <a:prstGeom prst="roundRect">
            <a:avLst>
              <a:gd name="adj" fmla="val 11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 · IDENTIFY</a:t>
            </a:r>
            <a:endParaRPr lang="en-US" sz="560" dirty="0"/>
          </a:p>
        </p:txBody>
      </p:sp>
      <p:sp>
        <p:nvSpPr>
          <p:cNvPr id="56" name="Text 47"/>
          <p:cNvSpPr/>
          <p:nvPr/>
        </p:nvSpPr>
        <p:spPr>
          <a:xfrm>
            <a:off x="474315" y="3727252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1725067" y="3660577"/>
            <a:ext cx="1404640" cy="185812"/>
          </a:xfrm>
          <a:prstGeom prst="roundRect">
            <a:avLst>
              <a:gd name="adj" fmla="val 11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FFIEC Third-Party Guidance</a:t>
            </a:r>
            <a:endParaRPr lang="en-US" sz="560" dirty="0"/>
          </a:p>
        </p:txBody>
      </p:sp>
      <p:sp>
        <p:nvSpPr>
          <p:cNvPr id="58" name="Text 49"/>
          <p:cNvSpPr/>
          <p:nvPr/>
        </p:nvSpPr>
        <p:spPr>
          <a:xfrm>
            <a:off x="1799332" y="3727252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3186857" y="3660577"/>
            <a:ext cx="1176784" cy="185812"/>
          </a:xfrm>
          <a:prstGeom prst="roundRect">
            <a:avLst>
              <a:gd name="adj" fmla="val 11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2013-29 · SR 11-7</a:t>
            </a:r>
            <a:endParaRPr lang="en-US" sz="560" dirty="0"/>
          </a:p>
        </p:txBody>
      </p:sp>
      <p:sp>
        <p:nvSpPr>
          <p:cNvPr id="60" name="Text 51"/>
          <p:cNvSpPr/>
          <p:nvPr/>
        </p:nvSpPr>
        <p:spPr>
          <a:xfrm>
            <a:off x="3261122" y="3727252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4420791" y="3660577"/>
            <a:ext cx="994321" cy="185812"/>
          </a:xfrm>
          <a:prstGeom prst="roundRect">
            <a:avLst>
              <a:gd name="adj" fmla="val 11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DORA Art. 28 (EU)</a:t>
            </a:r>
            <a:endParaRPr lang="en-US" sz="560" dirty="0"/>
          </a:p>
        </p:txBody>
      </p:sp>
      <p:sp>
        <p:nvSpPr>
          <p:cNvPr id="62" name="Text 53"/>
          <p:cNvSpPr/>
          <p:nvPr/>
        </p:nvSpPr>
        <p:spPr>
          <a:xfrm>
            <a:off x="4495056" y="3727252"/>
            <a:ext cx="35421" cy="3542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6863507" y="3691682"/>
            <a:ext cx="20684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00" kern="0" spc="34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FS-ISAC · 2026 TECHNOLOGY WEBINAR SERIES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</p:txBody>
      </p:sp>
      <p:sp>
        <p:nvSpPr>
          <p:cNvPr id="64" name="Text 55"/>
          <p:cNvSpPr/>
          <p:nvPr/>
        </p:nvSpPr>
        <p:spPr>
          <a:xfrm>
            <a:off x="409575" y="81379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57150" y="0"/>
                </a:moveTo>
                <a:lnTo>
                  <a:pt x="2647502" y="0"/>
                </a:lnTo>
                <a:lnTo>
                  <a:pt x="2661458" y="1730"/>
                </a:lnTo>
                <a:lnTo>
                  <a:pt x="2667086" y="3460"/>
                </a:lnTo>
                <a:lnTo>
                  <a:pt x="2671300" y="5190"/>
                </a:lnTo>
                <a:lnTo>
                  <a:pt x="2674763" y="6920"/>
                </a:lnTo>
                <a:lnTo>
                  <a:pt x="2677734" y="8651"/>
                </a:lnTo>
                <a:lnTo>
                  <a:pt x="2680347" y="10381"/>
                </a:lnTo>
                <a:lnTo>
                  <a:pt x="2682682" y="12111"/>
                </a:lnTo>
                <a:lnTo>
                  <a:pt x="268479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6"/>
          <p:cNvSpPr/>
          <p:nvPr/>
        </p:nvSpPr>
        <p:spPr>
          <a:xfrm>
            <a:off x="3219599" y="81379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57150" y="0"/>
                </a:moveTo>
                <a:lnTo>
                  <a:pt x="2647502" y="0"/>
                </a:lnTo>
                <a:lnTo>
                  <a:pt x="2661458" y="1730"/>
                </a:lnTo>
                <a:lnTo>
                  <a:pt x="2667086" y="3460"/>
                </a:lnTo>
                <a:lnTo>
                  <a:pt x="2671300" y="5190"/>
                </a:lnTo>
                <a:lnTo>
                  <a:pt x="2674763" y="6920"/>
                </a:lnTo>
                <a:lnTo>
                  <a:pt x="2677734" y="8651"/>
                </a:lnTo>
                <a:lnTo>
                  <a:pt x="2680347" y="10381"/>
                </a:lnTo>
                <a:lnTo>
                  <a:pt x="2682682" y="12111"/>
                </a:lnTo>
                <a:lnTo>
                  <a:pt x="268479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6029623" y="813792"/>
            <a:ext cx="2704805" cy="13841"/>
          </a:xfrm>
          <a:custGeom>
            <a:avLst/>
            <a:gdLst/>
            <a:ahLst/>
            <a:cxnLst/>
            <a:rect l="l" t="t" r="r" b="b"/>
            <a:pathLst>
              <a:path w="2704805" h="13841">
                <a:moveTo>
                  <a:pt x="57150" y="0"/>
                </a:moveTo>
                <a:lnTo>
                  <a:pt x="2647655" y="0"/>
                </a:lnTo>
                <a:lnTo>
                  <a:pt x="2661610" y="1730"/>
                </a:lnTo>
                <a:lnTo>
                  <a:pt x="2667239" y="3460"/>
                </a:lnTo>
                <a:lnTo>
                  <a:pt x="2671452" y="5190"/>
                </a:lnTo>
                <a:lnTo>
                  <a:pt x="2674915" y="6920"/>
                </a:lnTo>
                <a:lnTo>
                  <a:pt x="2677886" y="8651"/>
                </a:lnTo>
                <a:lnTo>
                  <a:pt x="2680499" y="10381"/>
                </a:lnTo>
                <a:lnTo>
                  <a:pt x="2682834" y="12111"/>
                </a:lnTo>
                <a:lnTo>
                  <a:pt x="268494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8"/>
          <p:cNvSpPr/>
          <p:nvPr/>
        </p:nvSpPr>
        <p:spPr>
          <a:xfrm>
            <a:off x="409575" y="223495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57150" y="0"/>
                </a:moveTo>
                <a:lnTo>
                  <a:pt x="2647502" y="0"/>
                </a:lnTo>
                <a:lnTo>
                  <a:pt x="2661458" y="1730"/>
                </a:lnTo>
                <a:lnTo>
                  <a:pt x="2667086" y="3460"/>
                </a:lnTo>
                <a:lnTo>
                  <a:pt x="2671300" y="5190"/>
                </a:lnTo>
                <a:lnTo>
                  <a:pt x="2674763" y="6920"/>
                </a:lnTo>
                <a:lnTo>
                  <a:pt x="2677734" y="8651"/>
                </a:lnTo>
                <a:lnTo>
                  <a:pt x="2680347" y="10381"/>
                </a:lnTo>
                <a:lnTo>
                  <a:pt x="2682682" y="12111"/>
                </a:lnTo>
                <a:lnTo>
                  <a:pt x="268479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3219599" y="223495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57150" y="0"/>
                </a:moveTo>
                <a:lnTo>
                  <a:pt x="2647502" y="0"/>
                </a:lnTo>
                <a:lnTo>
                  <a:pt x="2661458" y="1730"/>
                </a:lnTo>
                <a:lnTo>
                  <a:pt x="2667086" y="3460"/>
                </a:lnTo>
                <a:lnTo>
                  <a:pt x="2671300" y="5190"/>
                </a:lnTo>
                <a:lnTo>
                  <a:pt x="2674763" y="6920"/>
                </a:lnTo>
                <a:lnTo>
                  <a:pt x="2677734" y="8651"/>
                </a:lnTo>
                <a:lnTo>
                  <a:pt x="2680347" y="10381"/>
                </a:lnTo>
                <a:lnTo>
                  <a:pt x="2682682" y="12111"/>
                </a:lnTo>
                <a:lnTo>
                  <a:pt x="2684791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0"/>
          <p:cNvSpPr/>
          <p:nvPr/>
        </p:nvSpPr>
        <p:spPr>
          <a:xfrm>
            <a:off x="6029623" y="2234952"/>
            <a:ext cx="2704805" cy="13841"/>
          </a:xfrm>
          <a:custGeom>
            <a:avLst/>
            <a:gdLst/>
            <a:ahLst/>
            <a:cxnLst/>
            <a:rect l="l" t="t" r="r" b="b"/>
            <a:pathLst>
              <a:path w="2704805" h="13841">
                <a:moveTo>
                  <a:pt x="57150" y="0"/>
                </a:moveTo>
                <a:lnTo>
                  <a:pt x="2647655" y="0"/>
                </a:lnTo>
                <a:lnTo>
                  <a:pt x="2661610" y="1730"/>
                </a:lnTo>
                <a:lnTo>
                  <a:pt x="2667239" y="3460"/>
                </a:lnTo>
                <a:lnTo>
                  <a:pt x="2671452" y="5190"/>
                </a:lnTo>
                <a:lnTo>
                  <a:pt x="2674915" y="6920"/>
                </a:lnTo>
                <a:lnTo>
                  <a:pt x="2677886" y="8651"/>
                </a:lnTo>
                <a:lnTo>
                  <a:pt x="2680499" y="10381"/>
                </a:lnTo>
                <a:lnTo>
                  <a:pt x="2682834" y="12111"/>
                </a:lnTo>
                <a:lnTo>
                  <a:pt x="268494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0" y="3143250"/>
            <a:ext cx="2000250" cy="2000250"/>
          </a:xfrm>
          <a:prstGeom prst="rect">
            <a:avLst/>
          </a:prstGeom>
          <a:gradFill rotWithShape="1">
            <a:gsLst>
              <a:gs pos="0">
                <a:srgbClr val="22D3A5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73881"/>
          </a:xfrm>
          <a:prstGeom prst="rect">
            <a:avLst/>
          </a:prstGeom>
          <a:gradFill rotWithShape="1">
            <a:gsLst>
              <a:gs pos="0">
                <a:srgbClr val="0D1E36"/>
              </a:gs>
              <a:gs pos="100000">
                <a:srgbClr val="0B1120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564356"/>
            <a:ext cx="9144000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201513"/>
            <a:ext cx="611621" cy="161181"/>
          </a:xfrm>
          <a:prstGeom prst="roundRect">
            <a:avLst>
              <a:gd name="adj" fmla="val 13395"/>
            </a:avLst>
          </a:prstGeom>
          <a:solidFill>
            <a:srgbClr val="00C8FF"/>
          </a:solidFill>
          <a:ln/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OCTOBER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056829" y="114300"/>
            <a:ext cx="3304993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15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Threat Detection &amp; </a:t>
            </a:r>
            <a:r>
              <a:rPr lang="en-US" sz="146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 Operations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1056829" y="332036"/>
            <a:ext cx="33976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Architecture  |  SOC KPIs &amp; Metrics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7344073" y="205383"/>
            <a:ext cx="466040" cy="153442"/>
          </a:xfrm>
          <a:prstGeom prst="roundRect">
            <a:avLst>
              <a:gd name="adj" fmla="val 9104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7844135" y="205383"/>
            <a:ext cx="466040" cy="153442"/>
          </a:xfrm>
          <a:prstGeom prst="roundRect">
            <a:avLst>
              <a:gd name="adj" fmla="val 9104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DE.CM-3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8344198" y="205383"/>
            <a:ext cx="466040" cy="153442"/>
          </a:xfrm>
          <a:prstGeom prst="roundRect">
            <a:avLst>
              <a:gd name="adj" fmla="val 9104"/>
            </a:avLst>
          </a:prstGeom>
          <a:solidFill>
            <a:srgbClr val="00C8FF">
              <a:alpha val="8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DE.AE-1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0" y="573881"/>
            <a:ext cx="4576763" cy="4386560"/>
          </a:xfrm>
          <a:prstGeom prst="rect">
            <a:avLst/>
          </a:prstGeom>
          <a:gradFill rotWithShape="1">
            <a:gsLst>
              <a:gs pos="0">
                <a:srgbClr val="0F1E35"/>
              </a:gs>
              <a:gs pos="100000">
                <a:srgbClr val="0B1120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67238" y="573881"/>
            <a:ext cx="9525" cy="4386560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600" y="1103263"/>
            <a:ext cx="4110038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8600" y="75292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452" y="807774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2032" y="731341"/>
            <a:ext cx="187350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34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DETECTION ARCHITECTURE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542032" y="898922"/>
            <a:ext cx="18735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Financial-Grade SOC Technology Stack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228600" y="1227088"/>
            <a:ext cx="4110038" cy="497235"/>
          </a:xfrm>
          <a:prstGeom prst="roundRect">
            <a:avLst>
              <a:gd name="adj" fmla="val 8684"/>
            </a:avLst>
          </a:prstGeom>
          <a:solidFill>
            <a:srgbClr val="162032"/>
          </a:solidFill>
          <a:ln w="9525">
            <a:solidFill>
              <a:srgbClr val="00C8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4445" y="130894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387" y="1342885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6057" y="1301353"/>
            <a:ext cx="40114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SIEM CONFIGURATION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596057" y="1418779"/>
            <a:ext cx="371967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Tuned rules: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SWIFT fraud, wire transfer anomalies, after-hours privileged access — financial-specific threat logic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228600" y="1773734"/>
            <a:ext cx="4110038" cy="497235"/>
          </a:xfrm>
          <a:prstGeom prst="roundRect">
            <a:avLst>
              <a:gd name="adj" fmla="val 8684"/>
            </a:avLst>
          </a:prstGeom>
          <a:solidFill>
            <a:srgbClr val="162032"/>
          </a:solidFill>
          <a:ln w="9525">
            <a:solidFill>
              <a:srgbClr val="00C8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24445" y="1855589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387" y="1889531"/>
            <a:ext cx="132588" cy="132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96057" y="1847999"/>
            <a:ext cx="40114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UEBA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596057" y="1965424"/>
            <a:ext cx="371967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&amp; Entity Behavior Analytics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insider threat detection — behavioral baselines, anomaly scoring</a:t>
            </a:r>
            <a:endParaRPr lang="en-US" sz="650" dirty="0"/>
          </a:p>
        </p:txBody>
      </p:sp>
      <p:sp>
        <p:nvSpPr>
          <p:cNvPr id="31" name="Text 26"/>
          <p:cNvSpPr/>
          <p:nvPr/>
        </p:nvSpPr>
        <p:spPr>
          <a:xfrm>
            <a:off x="228600" y="2320379"/>
            <a:ext cx="4110038" cy="497235"/>
          </a:xfrm>
          <a:prstGeom prst="roundRect">
            <a:avLst>
              <a:gd name="adj" fmla="val 8684"/>
            </a:avLst>
          </a:prstGeom>
          <a:solidFill>
            <a:srgbClr val="162032"/>
          </a:solidFill>
          <a:ln w="9525">
            <a:solidFill>
              <a:srgbClr val="00C8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24445" y="240223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387" y="2436177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96057" y="2394645"/>
            <a:ext cx="40114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SOAR</a:t>
            </a:r>
            <a:endParaRPr lang="en-US" sz="680" dirty="0"/>
          </a:p>
        </p:txBody>
      </p:sp>
      <p:sp>
        <p:nvSpPr>
          <p:cNvPr id="35" name="Text 29"/>
          <p:cNvSpPr/>
          <p:nvPr/>
        </p:nvSpPr>
        <p:spPr>
          <a:xfrm>
            <a:off x="596057" y="2512070"/>
            <a:ext cx="371967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playbook execution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alert triage and response — reduce manual analyst load, enforce consistency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228600" y="2867025"/>
            <a:ext cx="4110038" cy="497235"/>
          </a:xfrm>
          <a:prstGeom prst="roundRect">
            <a:avLst>
              <a:gd name="adj" fmla="val 8684"/>
            </a:avLst>
          </a:prstGeom>
          <a:solidFill>
            <a:srgbClr val="162032"/>
          </a:solidFill>
          <a:ln w="9525">
            <a:solidFill>
              <a:srgbClr val="00C8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324445" y="294888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387" y="2982822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96057" y="2941290"/>
            <a:ext cx="40114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INTELLIGENCE PLATFORM (TIP)</a:t>
            </a:r>
            <a:endParaRPr lang="en-US" sz="680" dirty="0"/>
          </a:p>
        </p:txBody>
      </p:sp>
      <p:sp>
        <p:nvSpPr>
          <p:cNvPr id="40" name="Text 33"/>
          <p:cNvSpPr/>
          <p:nvPr/>
        </p:nvSpPr>
        <p:spPr>
          <a:xfrm>
            <a:off x="596057" y="3058716"/>
            <a:ext cx="371967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Ingest: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FS-ISAC feeds, commercial CTI, CISA/FBI government advisories — operationalized IOCs</a:t>
            </a:r>
            <a:endParaRPr lang="en-US" sz="650" dirty="0"/>
          </a:p>
        </p:txBody>
      </p:sp>
      <p:sp>
        <p:nvSpPr>
          <p:cNvPr id="41" name="Text 34"/>
          <p:cNvSpPr/>
          <p:nvPr/>
        </p:nvSpPr>
        <p:spPr>
          <a:xfrm>
            <a:off x="228600" y="3413671"/>
            <a:ext cx="4110038" cy="497235"/>
          </a:xfrm>
          <a:prstGeom prst="roundRect">
            <a:avLst>
              <a:gd name="adj" fmla="val 8684"/>
            </a:avLst>
          </a:prstGeom>
          <a:solidFill>
            <a:srgbClr val="162032"/>
          </a:solidFill>
          <a:ln w="9525">
            <a:solidFill>
              <a:srgbClr val="00C8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24445" y="349552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387" y="3529468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96057" y="3487936"/>
            <a:ext cx="40114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XDR INTEGRATION</a:t>
            </a:r>
            <a:endParaRPr lang="en-US" sz="680" dirty="0"/>
          </a:p>
        </p:txBody>
      </p:sp>
      <p:sp>
        <p:nvSpPr>
          <p:cNvPr id="45" name="Text 37"/>
          <p:cNvSpPr/>
          <p:nvPr/>
        </p:nvSpPr>
        <p:spPr>
          <a:xfrm>
            <a:off x="596057" y="3605361"/>
            <a:ext cx="371967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Correlate signals:</a:t>
            </a: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 + identity + email + cloud → unified investigation workflow &amp; faster triage</a:t>
            </a:r>
            <a:endParaRPr lang="en-US" sz="650" dirty="0"/>
          </a:p>
        </p:txBody>
      </p:sp>
      <p:sp>
        <p:nvSpPr>
          <p:cNvPr id="46" name="Text 38"/>
          <p:cNvSpPr/>
          <p:nvPr/>
        </p:nvSpPr>
        <p:spPr>
          <a:xfrm>
            <a:off x="4576763" y="573881"/>
            <a:ext cx="4567238" cy="438656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01D30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4805363" y="1103263"/>
            <a:ext cx="4110038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4805363" y="75292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215" y="807774"/>
            <a:ext cx="132588" cy="13258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118795" y="731341"/>
            <a:ext cx="249806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34" dirty="0">
                <a:solidFill>
                  <a:srgbClr val="22D3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SOC METRICS (KPIS)</a:t>
            </a:r>
            <a:endParaRPr lang="en-US" sz="840" dirty="0"/>
          </a:p>
        </p:txBody>
      </p:sp>
      <p:sp>
        <p:nvSpPr>
          <p:cNvPr id="51" name="Text 42"/>
          <p:cNvSpPr/>
          <p:nvPr/>
        </p:nvSpPr>
        <p:spPr>
          <a:xfrm>
            <a:off x="5118795" y="898922"/>
            <a:ext cx="24980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Targets for Financial SOC Operations</a:t>
            </a:r>
            <a:endParaRPr lang="en-US" sz="620" dirty="0"/>
          </a:p>
        </p:txBody>
      </p:sp>
      <p:sp>
        <p:nvSpPr>
          <p:cNvPr id="52" name="Text 43"/>
          <p:cNvSpPr/>
          <p:nvPr/>
        </p:nvSpPr>
        <p:spPr>
          <a:xfrm>
            <a:off x="4805363" y="1227088"/>
            <a:ext cx="4110038" cy="394246"/>
          </a:xfrm>
          <a:prstGeom prst="roundRect">
            <a:avLst>
              <a:gd name="adj" fmla="val 10953"/>
            </a:avLst>
          </a:prstGeom>
          <a:solidFill>
            <a:srgbClr val="162032"/>
          </a:solidFill>
          <a:ln w="9525">
            <a:solidFill>
              <a:srgbClr val="22D3A5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4901208" y="132382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35150" y="1357768"/>
            <a:ext cx="132588" cy="13258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188148" y="1306116"/>
            <a:ext cx="1312200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MTTD</a:t>
            </a:r>
            <a:br/>
            <a:r>
              <a:rPr lang="en-US" sz="650" b="1" kern="0" spc="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Time to Detect</a:t>
            </a:r>
            <a:endParaRPr lang="en-US" sz="650" dirty="0"/>
          </a:p>
        </p:txBody>
      </p:sp>
      <p:sp>
        <p:nvSpPr>
          <p:cNvPr id="56" name="Text 46"/>
          <p:cNvSpPr/>
          <p:nvPr/>
        </p:nvSpPr>
        <p:spPr>
          <a:xfrm>
            <a:off x="6560939" y="1406426"/>
            <a:ext cx="642491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6560939" y="1406426"/>
            <a:ext cx="578197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22D3A5"/>
              </a:gs>
              <a:gs pos="100000">
                <a:srgbClr val="22D3A5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7879199" y="1301353"/>
            <a:ext cx="9403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22D3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1 Hour</a:t>
            </a:r>
            <a:endParaRPr lang="en-US" sz="730" dirty="0"/>
          </a:p>
        </p:txBody>
      </p:sp>
      <p:sp>
        <p:nvSpPr>
          <p:cNvPr id="59" name="Text 49"/>
          <p:cNvSpPr/>
          <p:nvPr/>
        </p:nvSpPr>
        <p:spPr>
          <a:xfrm>
            <a:off x="7879199" y="1440359"/>
            <a:ext cx="94035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High-Severity Target</a:t>
            </a:r>
            <a:endParaRPr lang="en-US" sz="560" dirty="0"/>
          </a:p>
        </p:txBody>
      </p:sp>
      <p:sp>
        <p:nvSpPr>
          <p:cNvPr id="60" name="Text 50"/>
          <p:cNvSpPr/>
          <p:nvPr/>
        </p:nvSpPr>
        <p:spPr>
          <a:xfrm>
            <a:off x="4805363" y="1670745"/>
            <a:ext cx="4110038" cy="394246"/>
          </a:xfrm>
          <a:prstGeom prst="roundRect">
            <a:avLst>
              <a:gd name="adj" fmla="val 10953"/>
            </a:avLst>
          </a:prstGeom>
          <a:solidFill>
            <a:srgbClr val="162032"/>
          </a:solidFill>
          <a:ln w="9525">
            <a:solidFill>
              <a:srgbClr val="22D3A5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4901208" y="176748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35150" y="1801425"/>
            <a:ext cx="132588" cy="132588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5188148" y="1749772"/>
            <a:ext cx="1312200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</a:t>
            </a:r>
            <a:br/>
            <a:r>
              <a:rPr lang="en-US" sz="650" b="1" kern="0" spc="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Time to Respond</a:t>
            </a:r>
            <a:endParaRPr lang="en-US" sz="650" dirty="0"/>
          </a:p>
        </p:txBody>
      </p:sp>
      <p:sp>
        <p:nvSpPr>
          <p:cNvPr id="64" name="Text 53"/>
          <p:cNvSpPr/>
          <p:nvPr/>
        </p:nvSpPr>
        <p:spPr>
          <a:xfrm>
            <a:off x="6560939" y="1850082"/>
            <a:ext cx="642491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4"/>
          <p:cNvSpPr/>
          <p:nvPr/>
        </p:nvSpPr>
        <p:spPr>
          <a:xfrm>
            <a:off x="6560939" y="1850082"/>
            <a:ext cx="481757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22D3A5"/>
              </a:gs>
              <a:gs pos="100000">
                <a:srgbClr val="22D3A5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5"/>
          <p:cNvSpPr/>
          <p:nvPr/>
        </p:nvSpPr>
        <p:spPr>
          <a:xfrm>
            <a:off x="7973169" y="1745010"/>
            <a:ext cx="8463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22D3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4 Hours</a:t>
            </a:r>
            <a:endParaRPr lang="en-US" sz="730" dirty="0"/>
          </a:p>
        </p:txBody>
      </p:sp>
      <p:sp>
        <p:nvSpPr>
          <p:cNvPr id="67" name="Text 56"/>
          <p:cNvSpPr/>
          <p:nvPr/>
        </p:nvSpPr>
        <p:spPr>
          <a:xfrm>
            <a:off x="7973169" y="1884015"/>
            <a:ext cx="84638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Incident Target</a:t>
            </a:r>
            <a:endParaRPr lang="en-US" sz="560" dirty="0"/>
          </a:p>
        </p:txBody>
      </p:sp>
      <p:sp>
        <p:nvSpPr>
          <p:cNvPr id="68" name="Text 57"/>
          <p:cNvSpPr/>
          <p:nvPr/>
        </p:nvSpPr>
        <p:spPr>
          <a:xfrm>
            <a:off x="4805363" y="2114401"/>
            <a:ext cx="4110038" cy="394246"/>
          </a:xfrm>
          <a:prstGeom prst="roundRect">
            <a:avLst>
              <a:gd name="adj" fmla="val 10953"/>
            </a:avLst>
          </a:prstGeom>
          <a:solidFill>
            <a:srgbClr val="162032"/>
          </a:solidFill>
          <a:ln w="9525">
            <a:solidFill>
              <a:srgbClr val="22D3A5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8"/>
          <p:cNvSpPr/>
          <p:nvPr/>
        </p:nvSpPr>
        <p:spPr>
          <a:xfrm>
            <a:off x="4901208" y="2211139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5150" y="2245081"/>
            <a:ext cx="132588" cy="132588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5188148" y="2193429"/>
            <a:ext cx="1312200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Alert-to-Ticket Ratio</a:t>
            </a:r>
            <a:br/>
            <a:r>
              <a:rPr lang="en-US" sz="650" b="1" kern="0" spc="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fatigue monitor</a:t>
            </a:r>
            <a:endParaRPr lang="en-US" sz="650" dirty="0"/>
          </a:p>
        </p:txBody>
      </p:sp>
      <p:sp>
        <p:nvSpPr>
          <p:cNvPr id="72" name="Text 60"/>
          <p:cNvSpPr/>
          <p:nvPr/>
        </p:nvSpPr>
        <p:spPr>
          <a:xfrm>
            <a:off x="6560939" y="2293739"/>
            <a:ext cx="642491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1"/>
          <p:cNvSpPr/>
          <p:nvPr/>
        </p:nvSpPr>
        <p:spPr>
          <a:xfrm>
            <a:off x="6560939" y="2293739"/>
            <a:ext cx="385465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F59E0B"/>
              </a:gs>
              <a:gs pos="100000">
                <a:srgbClr val="F59E0B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7785229" y="2188666"/>
            <a:ext cx="10343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</a:t>
            </a:r>
            <a:endParaRPr lang="en-US" sz="730" dirty="0"/>
          </a:p>
        </p:txBody>
      </p:sp>
      <p:sp>
        <p:nvSpPr>
          <p:cNvPr id="75" name="Text 63"/>
          <p:cNvSpPr/>
          <p:nvPr/>
        </p:nvSpPr>
        <p:spPr>
          <a:xfrm>
            <a:off x="7785229" y="2327672"/>
            <a:ext cx="103432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false positives</a:t>
            </a:r>
            <a:endParaRPr lang="en-US" sz="560" dirty="0"/>
          </a:p>
        </p:txBody>
      </p:sp>
      <p:sp>
        <p:nvSpPr>
          <p:cNvPr id="76" name="Text 64"/>
          <p:cNvSpPr/>
          <p:nvPr/>
        </p:nvSpPr>
        <p:spPr>
          <a:xfrm>
            <a:off x="4805363" y="2558058"/>
            <a:ext cx="4110038" cy="394246"/>
          </a:xfrm>
          <a:prstGeom prst="roundRect">
            <a:avLst>
              <a:gd name="adj" fmla="val 10953"/>
            </a:avLst>
          </a:prstGeom>
          <a:solidFill>
            <a:srgbClr val="162032"/>
          </a:solidFill>
          <a:ln w="9525">
            <a:solidFill>
              <a:srgbClr val="22D3A5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5"/>
          <p:cNvSpPr/>
          <p:nvPr/>
        </p:nvSpPr>
        <p:spPr>
          <a:xfrm>
            <a:off x="4901208" y="265479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35150" y="2688738"/>
            <a:ext cx="132588" cy="132588"/>
          </a:xfrm>
          <a:prstGeom prst="rect">
            <a:avLst/>
          </a:prstGeom>
        </p:spPr>
      </p:pic>
      <p:sp>
        <p:nvSpPr>
          <p:cNvPr id="79" name="Text 66"/>
          <p:cNvSpPr/>
          <p:nvPr/>
        </p:nvSpPr>
        <p:spPr>
          <a:xfrm>
            <a:off x="5188148" y="2637086"/>
            <a:ext cx="1312200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Positive Rate</a:t>
            </a:r>
            <a:br/>
            <a:r>
              <a:rPr lang="en-US" sz="650" b="1" kern="0" spc="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fidelity</a:t>
            </a:r>
            <a:endParaRPr lang="en-US" sz="650" dirty="0"/>
          </a:p>
        </p:txBody>
      </p:sp>
      <p:sp>
        <p:nvSpPr>
          <p:cNvPr id="80" name="Text 67"/>
          <p:cNvSpPr/>
          <p:nvPr/>
        </p:nvSpPr>
        <p:spPr>
          <a:xfrm>
            <a:off x="6560939" y="2737396"/>
            <a:ext cx="642491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8"/>
          <p:cNvSpPr/>
          <p:nvPr/>
        </p:nvSpPr>
        <p:spPr>
          <a:xfrm>
            <a:off x="6560939" y="2737396"/>
            <a:ext cx="546050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22D3A5"/>
              </a:gs>
              <a:gs pos="100000">
                <a:srgbClr val="22D3A5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69"/>
          <p:cNvSpPr/>
          <p:nvPr/>
        </p:nvSpPr>
        <p:spPr>
          <a:xfrm>
            <a:off x="7644110" y="2632323"/>
            <a:ext cx="117544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22D3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Benchmark</a:t>
            </a:r>
            <a:endParaRPr lang="en-US" sz="730" dirty="0"/>
          </a:p>
        </p:txBody>
      </p:sp>
      <p:sp>
        <p:nvSpPr>
          <p:cNvPr id="83" name="Text 70"/>
          <p:cNvSpPr/>
          <p:nvPr/>
        </p:nvSpPr>
        <p:spPr>
          <a:xfrm>
            <a:off x="7644110" y="2771329"/>
            <a:ext cx="11754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Fidelity by rule category</a:t>
            </a:r>
            <a:endParaRPr lang="en-US" sz="560" dirty="0"/>
          </a:p>
        </p:txBody>
      </p:sp>
      <p:sp>
        <p:nvSpPr>
          <p:cNvPr id="84" name="Text 71"/>
          <p:cNvSpPr/>
          <p:nvPr/>
        </p:nvSpPr>
        <p:spPr>
          <a:xfrm>
            <a:off x="4805363" y="3001714"/>
            <a:ext cx="4110038" cy="394246"/>
          </a:xfrm>
          <a:prstGeom prst="roundRect">
            <a:avLst>
              <a:gd name="adj" fmla="val 10953"/>
            </a:avLst>
          </a:prstGeom>
          <a:solidFill>
            <a:srgbClr val="162032"/>
          </a:solidFill>
          <a:ln w="9525">
            <a:solidFill>
              <a:srgbClr val="22D3A5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2"/>
          <p:cNvSpPr/>
          <p:nvPr/>
        </p:nvSpPr>
        <p:spPr>
          <a:xfrm>
            <a:off x="4901208" y="309845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D3A5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35150" y="3132394"/>
            <a:ext cx="132588" cy="132588"/>
          </a:xfrm>
          <a:prstGeom prst="rect">
            <a:avLst/>
          </a:prstGeom>
        </p:spPr>
      </p:pic>
      <p:sp>
        <p:nvSpPr>
          <p:cNvPr id="87" name="Text 73"/>
          <p:cNvSpPr/>
          <p:nvPr/>
        </p:nvSpPr>
        <p:spPr>
          <a:xfrm>
            <a:off x="5188148" y="3080742"/>
            <a:ext cx="1312200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Coverage</a:t>
            </a:r>
            <a:br/>
            <a:r>
              <a:rPr lang="en-US" sz="650" b="1" kern="0" spc="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 hours</a:t>
            </a:r>
            <a:endParaRPr lang="en-US" sz="650" dirty="0"/>
          </a:p>
        </p:txBody>
      </p:sp>
      <p:sp>
        <p:nvSpPr>
          <p:cNvPr id="88" name="Text 74"/>
          <p:cNvSpPr/>
          <p:nvPr/>
        </p:nvSpPr>
        <p:spPr>
          <a:xfrm>
            <a:off x="6560939" y="3181052"/>
            <a:ext cx="642491" cy="35421"/>
          </a:xfrm>
          <a:prstGeom prst="roundRect">
            <a:avLst>
              <a:gd name="adj" fmla="val 6095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5"/>
          <p:cNvSpPr/>
          <p:nvPr/>
        </p:nvSpPr>
        <p:spPr>
          <a:xfrm>
            <a:off x="6560939" y="3181052"/>
            <a:ext cx="642491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22D3A5"/>
              </a:gs>
              <a:gs pos="100000">
                <a:srgbClr val="22D3A5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6"/>
          <p:cNvSpPr/>
          <p:nvPr/>
        </p:nvSpPr>
        <p:spPr>
          <a:xfrm>
            <a:off x="7502991" y="3075980"/>
            <a:ext cx="131656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22D3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24×7×365</a:t>
            </a:r>
            <a:endParaRPr lang="en-US" sz="730" dirty="0"/>
          </a:p>
        </p:txBody>
      </p:sp>
      <p:sp>
        <p:nvSpPr>
          <p:cNvPr id="91" name="Text 77"/>
          <p:cNvSpPr/>
          <p:nvPr/>
        </p:nvSpPr>
        <p:spPr>
          <a:xfrm>
            <a:off x="7502991" y="3214985"/>
            <a:ext cx="131656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SOC or MDR provider</a:t>
            </a:r>
            <a:endParaRPr lang="en-US" sz="560" dirty="0"/>
          </a:p>
        </p:txBody>
      </p:sp>
      <p:sp>
        <p:nvSpPr>
          <p:cNvPr id="92" name="Text 78"/>
          <p:cNvSpPr/>
          <p:nvPr/>
        </p:nvSpPr>
        <p:spPr>
          <a:xfrm>
            <a:off x="4805363" y="3516362"/>
            <a:ext cx="4110038" cy="369391"/>
          </a:xfrm>
          <a:prstGeom prst="roundRect">
            <a:avLst>
              <a:gd name="adj" fmla="val 11690"/>
            </a:avLst>
          </a:prstGeom>
          <a:solidFill>
            <a:srgbClr val="00C8FF">
              <a:alpha val="5000"/>
            </a:srgbClr>
          </a:solidFill>
          <a:ln w="9525">
            <a:solidFill>
              <a:srgbClr val="00C8FF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56345" y="3584739"/>
            <a:ext cx="132588" cy="232489"/>
          </a:xfrm>
          <a:prstGeom prst="rect">
            <a:avLst/>
          </a:prstGeom>
        </p:spPr>
      </p:pic>
      <p:sp>
        <p:nvSpPr>
          <p:cNvPr id="94" name="Text 79"/>
          <p:cNvSpPr/>
          <p:nvPr/>
        </p:nvSpPr>
        <p:spPr>
          <a:xfrm>
            <a:off x="5015061" y="3583037"/>
            <a:ext cx="3880583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FS-ISAC Integration: Real-time financial sector threat feed ingestion via TIP — STIX/TAXII protocol. Bidirectional sharing with sector peers.</a:t>
            </a:r>
            <a:endParaRPr lang="en-US" sz="620" dirty="0"/>
          </a:p>
        </p:txBody>
      </p:sp>
      <p:sp>
        <p:nvSpPr>
          <p:cNvPr id="95" name="Text 80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B1120">
              <a:alpha val="9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81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82"/>
          <p:cNvSpPr/>
          <p:nvPr/>
        </p:nvSpPr>
        <p:spPr>
          <a:xfrm>
            <a:off x="444996" y="4963269"/>
            <a:ext cx="203279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 — DE.CM, DE.AE Functions</a:t>
            </a:r>
            <a:endParaRPr lang="en-US" sz="590" dirty="0"/>
          </a:p>
        </p:txBody>
      </p:sp>
      <p:pic>
        <p:nvPicPr>
          <p:cNvPr id="9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6074" y="4953083"/>
            <a:ext cx="132588" cy="132588"/>
          </a:xfrm>
          <a:prstGeom prst="rect">
            <a:avLst/>
          </a:prstGeom>
        </p:spPr>
      </p:pic>
      <p:sp>
        <p:nvSpPr>
          <p:cNvPr id="99" name="Text 83"/>
          <p:cNvSpPr/>
          <p:nvPr/>
        </p:nvSpPr>
        <p:spPr>
          <a:xfrm>
            <a:off x="2464445" y="5008513"/>
            <a:ext cx="21580" cy="21580"/>
          </a:xfrm>
          <a:prstGeom prst="ellipse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84"/>
          <p:cNvSpPr/>
          <p:nvPr/>
        </p:nvSpPr>
        <p:spPr>
          <a:xfrm>
            <a:off x="2759571" y="4963269"/>
            <a:ext cx="148731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 — DETECT Function</a:t>
            </a:r>
            <a:endParaRPr lang="en-US" sz="590" dirty="0"/>
          </a:p>
        </p:txBody>
      </p:sp>
      <p:pic>
        <p:nvPicPr>
          <p:cNvPr id="10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0649" y="4953083"/>
            <a:ext cx="132588" cy="132588"/>
          </a:xfrm>
          <a:prstGeom prst="rect">
            <a:avLst/>
          </a:prstGeom>
        </p:spPr>
      </p:pic>
      <p:sp>
        <p:nvSpPr>
          <p:cNvPr id="102" name="Text 85"/>
          <p:cNvSpPr/>
          <p:nvPr/>
        </p:nvSpPr>
        <p:spPr>
          <a:xfrm>
            <a:off x="4283125" y="5008513"/>
            <a:ext cx="21580" cy="21580"/>
          </a:xfrm>
          <a:prstGeom prst="ellipse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86"/>
          <p:cNvSpPr/>
          <p:nvPr/>
        </p:nvSpPr>
        <p:spPr>
          <a:xfrm>
            <a:off x="4476155" y="4963269"/>
            <a:ext cx="327209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— Credential Access · Lateral Movement · Exfiltration</a:t>
            </a:r>
            <a:endParaRPr lang="en-US" sz="590" dirty="0"/>
          </a:p>
        </p:txBody>
      </p:sp>
      <p:sp>
        <p:nvSpPr>
          <p:cNvPr id="104" name="Text 87"/>
          <p:cNvSpPr/>
          <p:nvPr/>
        </p:nvSpPr>
        <p:spPr>
          <a:xfrm>
            <a:off x="7795915" y="4942582"/>
            <a:ext cx="1025289" cy="153442"/>
          </a:xfrm>
          <a:prstGeom prst="roundRect">
            <a:avLst>
              <a:gd name="adj" fmla="val 910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FS-ISAC INTEGRATED</a:t>
            </a:r>
            <a:endParaRPr lang="en-US" sz="5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216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71280" cy="3429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280" y="2000250"/>
            <a:ext cx="3286720" cy="3143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0"/>
            <a:ext cx="9144000" cy="590401"/>
          </a:xfrm>
          <a:prstGeom prst="rect">
            <a:avLst/>
          </a:prstGeom>
          <a:gradFill rotWithShape="1">
            <a:gsLst>
              <a:gs pos="0">
                <a:srgbClr val="00C8FF">
                  <a:alpha val="12000"/>
                </a:srgbClr>
              </a:gs>
              <a:gs pos="6000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0" y="580876"/>
            <a:ext cx="9144000" cy="9525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42900" y="100310"/>
            <a:ext cx="685095" cy="161181"/>
          </a:xfrm>
          <a:prstGeom prst="roundRect">
            <a:avLst>
              <a:gd name="adj" fmla="val 13395"/>
            </a:avLst>
          </a:prstGeom>
          <a:solidFill>
            <a:srgbClr val="00C8FF"/>
          </a:solidFill>
          <a:ln/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B11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NOVEMBER</a:t>
            </a:r>
            <a:endParaRPr lang="en-US" sz="620" dirty="0"/>
          </a:p>
        </p:txBody>
      </p:sp>
      <p:sp>
        <p:nvSpPr>
          <p:cNvPr id="9" name="Text 5"/>
          <p:cNvSpPr/>
          <p:nvPr/>
        </p:nvSpPr>
        <p:spPr>
          <a:xfrm>
            <a:off x="342900" y="290661"/>
            <a:ext cx="3956310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&amp; </a:t>
            </a:r>
            <a:r>
              <a:rPr lang="en-US" sz="1460" b="1" kern="0" spc="2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Continuity</a:t>
            </a:r>
            <a:endParaRPr lang="en-US" sz="146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2358" y="231065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3874" y="244078"/>
            <a:ext cx="122537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LIFECYCLE · 5 PHASES</a:t>
            </a:r>
            <a:endParaRPr lang="en-US" sz="56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6780" y="231065"/>
            <a:ext cx="132588" cy="132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8295" y="244078"/>
            <a:ext cx="58608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RS + RC</a:t>
            </a:r>
            <a:endParaRPr lang="en-US" sz="560" dirty="0"/>
          </a:p>
        </p:txBody>
      </p:sp>
      <p:sp>
        <p:nvSpPr>
          <p:cNvPr id="14" name="Text 8"/>
          <p:cNvSpPr/>
          <p:nvPr/>
        </p:nvSpPr>
        <p:spPr>
          <a:xfrm>
            <a:off x="0" y="4843909"/>
            <a:ext cx="9144000" cy="299591"/>
          </a:xfrm>
          <a:prstGeom prst="rect">
            <a:avLst/>
          </a:prstGeom>
          <a:solidFill>
            <a:srgbClr val="0B1120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0" y="4843909"/>
            <a:ext cx="9144000" cy="9525"/>
          </a:xfrm>
          <a:prstGeom prst="rect">
            <a:avLst/>
          </a:prstGeom>
          <a:solidFill>
            <a:srgbClr val="00C8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42900" y="4945112"/>
            <a:ext cx="479918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560" b="1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RS.AN-1</a:t>
            </a: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560" b="1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RS.CO-3</a:t>
            </a: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560" b="1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RC.RP-1</a:t>
            </a: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CRI PROFILE V2.2 · NIST CSF 2.0 RESPOND + RECOVER FUNCTIONS</a:t>
            </a:r>
            <a:br/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560" dirty="0"/>
          </a:p>
        </p:txBody>
      </p:sp>
      <p:sp>
        <p:nvSpPr>
          <p:cNvPr id="17" name="Text 11"/>
          <p:cNvSpPr/>
          <p:nvPr/>
        </p:nvSpPr>
        <p:spPr>
          <a:xfrm>
            <a:off x="5189934" y="4945112"/>
            <a:ext cx="39722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12 CFR 30 App B  |  FFIEC BCP Guidance  |  OCC 36-Hr Rule  |  GDPR Art. 33</a:t>
            </a:r>
            <a:endParaRPr lang="en-US" sz="560" dirty="0"/>
          </a:p>
        </p:txBody>
      </p:sp>
      <p:sp>
        <p:nvSpPr>
          <p:cNvPr id="18" name="Text 12"/>
          <p:cNvSpPr/>
          <p:nvPr/>
        </p:nvSpPr>
        <p:spPr>
          <a:xfrm>
            <a:off x="4295032" y="1149028"/>
            <a:ext cx="100310" cy="7590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748342" y="2086049"/>
            <a:ext cx="100310" cy="7590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295032" y="3023071"/>
            <a:ext cx="100310" cy="7590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748342" y="3960093"/>
            <a:ext cx="100310" cy="7590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295032" y="4897115"/>
            <a:ext cx="100310" cy="7590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65079" y="661392"/>
            <a:ext cx="13841" cy="4201120"/>
          </a:xfrm>
          <a:prstGeom prst="rect">
            <a:avLst/>
          </a:prstGeom>
          <a:gradFill rotWithShape="1">
            <a:gsLst>
              <a:gs pos="0">
                <a:srgbClr val="00C8FF"/>
              </a:gs>
              <a:gs pos="40000">
                <a:srgbClr val="00C8FF">
                  <a:alpha val="50000"/>
                </a:srgbClr>
              </a:gs>
              <a:gs pos="70000">
                <a:srgbClr val="00C8FF">
                  <a:alpha val="25000"/>
                </a:srgbClr>
              </a:gs>
              <a:gs pos="100000">
                <a:srgbClr val="00C8FF">
                  <a:alpha val="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42900" y="733723"/>
            <a:ext cx="3971181" cy="838200"/>
          </a:xfrm>
          <a:prstGeom prst="roundRect">
            <a:avLst>
              <a:gd name="adj" fmla="val 5152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295031" y="733723"/>
            <a:ext cx="19050" cy="838200"/>
          </a:xfrm>
          <a:custGeom>
            <a:avLst/>
            <a:gdLst/>
            <a:ahLst/>
            <a:cxnLst/>
            <a:rect l="l" t="t" r="r" b="b"/>
            <a:pathLst>
              <a:path w="19050" h="838200">
                <a:moveTo>
                  <a:pt x="0" y="7371"/>
                </a:moveTo>
                <a:lnTo>
                  <a:pt x="2381" y="9097"/>
                </a:lnTo>
                <a:lnTo>
                  <a:pt x="4763" y="11090"/>
                </a:lnTo>
                <a:lnTo>
                  <a:pt x="7144" y="13406"/>
                </a:lnTo>
                <a:lnTo>
                  <a:pt x="9525" y="16127"/>
                </a:lnTo>
                <a:lnTo>
                  <a:pt x="11906" y="19391"/>
                </a:lnTo>
                <a:lnTo>
                  <a:pt x="14288" y="23467"/>
                </a:lnTo>
                <a:lnTo>
                  <a:pt x="16669" y="29039"/>
                </a:lnTo>
                <a:lnTo>
                  <a:pt x="19050" y="43180"/>
                </a:lnTo>
                <a:lnTo>
                  <a:pt x="19050" y="795020"/>
                </a:lnTo>
                <a:lnTo>
                  <a:pt x="16669" y="809161"/>
                </a:lnTo>
                <a:lnTo>
                  <a:pt x="14288" y="814733"/>
                </a:lnTo>
                <a:lnTo>
                  <a:pt x="11906" y="818809"/>
                </a:lnTo>
                <a:lnTo>
                  <a:pt x="9525" y="822073"/>
                </a:lnTo>
                <a:lnTo>
                  <a:pt x="7144" y="824794"/>
                </a:lnTo>
                <a:lnTo>
                  <a:pt x="4763" y="827110"/>
                </a:lnTo>
                <a:lnTo>
                  <a:pt x="2381" y="829103"/>
                </a:lnTo>
                <a:lnTo>
                  <a:pt x="0" y="830829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53355" y="838200"/>
            <a:ext cx="3600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510" dirty="0"/>
          </a:p>
        </p:txBody>
      </p:sp>
      <p:sp>
        <p:nvSpPr>
          <p:cNvPr id="27" name="Text 21"/>
          <p:cNvSpPr/>
          <p:nvPr/>
        </p:nvSpPr>
        <p:spPr>
          <a:xfrm>
            <a:off x="452735" y="807988"/>
            <a:ext cx="157460" cy="157460"/>
          </a:xfrm>
          <a:prstGeom prst="roundRect">
            <a:avLst>
              <a:gd name="adj" fmla="val 1855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097" y="820350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537" y="994618"/>
            <a:ext cx="41161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</a:t>
            </a:r>
            <a:endParaRPr lang="en-US" sz="730" dirty="0"/>
          </a:p>
        </p:txBody>
      </p:sp>
      <p:sp>
        <p:nvSpPr>
          <p:cNvPr id="30" name="Text 23"/>
          <p:cNvSpPr/>
          <p:nvPr/>
        </p:nvSpPr>
        <p:spPr>
          <a:xfrm>
            <a:off x="-162669" y="970326"/>
            <a:ext cx="3816825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IR plan </a:t>
            </a:r>
            <a:r>
              <a:rPr lang="en-US" sz="620" b="1" dirty="0">
                <a:solidFill>
                  <a:srgbClr val="E2E8F0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review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tabletop exercises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Communication trees &amp; escalation paths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36-hr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GDPR 72-hr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notification thresholds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20" dirty="0"/>
          </a:p>
        </p:txBody>
      </p:sp>
      <p:sp>
        <p:nvSpPr>
          <p:cNvPr id="31" name="Text 24"/>
          <p:cNvSpPr/>
          <p:nvPr/>
        </p:nvSpPr>
        <p:spPr>
          <a:xfrm>
            <a:off x="4829621" y="1670745"/>
            <a:ext cx="3971181" cy="838200"/>
          </a:xfrm>
          <a:prstGeom prst="roundRect">
            <a:avLst>
              <a:gd name="adj" fmla="val 5152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829621" y="1670745"/>
            <a:ext cx="19050" cy="838200"/>
          </a:xfrm>
          <a:custGeom>
            <a:avLst/>
            <a:gdLst/>
            <a:ahLst/>
            <a:cxnLst/>
            <a:rect l="l" t="t" r="r" b="b"/>
            <a:pathLst>
              <a:path w="19050" h="83820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830829"/>
                </a:lnTo>
                <a:lnTo>
                  <a:pt x="16669" y="829103"/>
                </a:lnTo>
                <a:lnTo>
                  <a:pt x="14288" y="827110"/>
                </a:lnTo>
                <a:lnTo>
                  <a:pt x="11906" y="824794"/>
                </a:lnTo>
                <a:lnTo>
                  <a:pt x="9525" y="822073"/>
                </a:lnTo>
                <a:lnTo>
                  <a:pt x="7144" y="818809"/>
                </a:lnTo>
                <a:lnTo>
                  <a:pt x="4763" y="814733"/>
                </a:lnTo>
                <a:lnTo>
                  <a:pt x="2381" y="809161"/>
                </a:lnTo>
                <a:lnTo>
                  <a:pt x="0" y="795020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948982" y="1745010"/>
            <a:ext cx="157460" cy="157460"/>
          </a:xfrm>
          <a:prstGeom prst="roundRect">
            <a:avLst>
              <a:gd name="adj" fmla="val 1855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343" y="1757371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49602" y="1775222"/>
            <a:ext cx="3600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510" dirty="0"/>
          </a:p>
        </p:txBody>
      </p:sp>
      <p:sp>
        <p:nvSpPr>
          <p:cNvPr id="36" name="Text 28"/>
          <p:cNvSpPr/>
          <p:nvPr/>
        </p:nvSpPr>
        <p:spPr>
          <a:xfrm>
            <a:off x="4948982" y="1931640"/>
            <a:ext cx="41161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 &amp; ANALYZE</a:t>
            </a:r>
            <a:endParaRPr lang="en-US" sz="730" dirty="0"/>
          </a:p>
        </p:txBody>
      </p:sp>
      <p:sp>
        <p:nvSpPr>
          <p:cNvPr id="37" name="Text 29"/>
          <p:cNvSpPr/>
          <p:nvPr/>
        </p:nvSpPr>
        <p:spPr>
          <a:xfrm>
            <a:off x="5257449" y="1956569"/>
            <a:ext cx="3816825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Alert triage · severity classification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P1–P4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620" b="1" dirty="0">
                <a:solidFill>
                  <a:srgbClr val="E2E8F0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forensic preservation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volatile memory first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Chain-of-custody documentation for legal admissibility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20" dirty="0"/>
          </a:p>
        </p:txBody>
      </p:sp>
      <p:sp>
        <p:nvSpPr>
          <p:cNvPr id="38" name="Text 30"/>
          <p:cNvSpPr/>
          <p:nvPr/>
        </p:nvSpPr>
        <p:spPr>
          <a:xfrm>
            <a:off x="342900" y="2607766"/>
            <a:ext cx="3971181" cy="838200"/>
          </a:xfrm>
          <a:prstGeom prst="roundRect">
            <a:avLst>
              <a:gd name="adj" fmla="val 5152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4295031" y="2607766"/>
            <a:ext cx="19050" cy="838200"/>
          </a:xfrm>
          <a:custGeom>
            <a:avLst/>
            <a:gdLst/>
            <a:ahLst/>
            <a:cxnLst/>
            <a:rect l="l" t="t" r="r" b="b"/>
            <a:pathLst>
              <a:path w="19050" h="838200">
                <a:moveTo>
                  <a:pt x="0" y="7371"/>
                </a:moveTo>
                <a:lnTo>
                  <a:pt x="2381" y="9097"/>
                </a:lnTo>
                <a:lnTo>
                  <a:pt x="4763" y="11090"/>
                </a:lnTo>
                <a:lnTo>
                  <a:pt x="7144" y="13406"/>
                </a:lnTo>
                <a:lnTo>
                  <a:pt x="9525" y="16127"/>
                </a:lnTo>
                <a:lnTo>
                  <a:pt x="11906" y="19391"/>
                </a:lnTo>
                <a:lnTo>
                  <a:pt x="14288" y="23467"/>
                </a:lnTo>
                <a:lnTo>
                  <a:pt x="16669" y="29039"/>
                </a:lnTo>
                <a:lnTo>
                  <a:pt x="19050" y="43180"/>
                </a:lnTo>
                <a:lnTo>
                  <a:pt x="19050" y="795020"/>
                </a:lnTo>
                <a:lnTo>
                  <a:pt x="16669" y="809161"/>
                </a:lnTo>
                <a:lnTo>
                  <a:pt x="14288" y="814733"/>
                </a:lnTo>
                <a:lnTo>
                  <a:pt x="11906" y="818809"/>
                </a:lnTo>
                <a:lnTo>
                  <a:pt x="9525" y="822073"/>
                </a:lnTo>
                <a:lnTo>
                  <a:pt x="7144" y="824794"/>
                </a:lnTo>
                <a:lnTo>
                  <a:pt x="4763" y="827110"/>
                </a:lnTo>
                <a:lnTo>
                  <a:pt x="2381" y="829103"/>
                </a:lnTo>
                <a:lnTo>
                  <a:pt x="0" y="830829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53355" y="2712244"/>
            <a:ext cx="3600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510" dirty="0"/>
          </a:p>
        </p:txBody>
      </p:sp>
      <p:sp>
        <p:nvSpPr>
          <p:cNvPr id="41" name="Text 33"/>
          <p:cNvSpPr/>
          <p:nvPr/>
        </p:nvSpPr>
        <p:spPr>
          <a:xfrm>
            <a:off x="452735" y="2682032"/>
            <a:ext cx="157460" cy="157460"/>
          </a:xfrm>
          <a:prstGeom prst="roundRect">
            <a:avLst>
              <a:gd name="adj" fmla="val 1855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097" y="2694393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8537" y="2868662"/>
            <a:ext cx="41161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</a:t>
            </a:r>
            <a:endParaRPr lang="en-US" sz="730" dirty="0"/>
          </a:p>
        </p:txBody>
      </p:sp>
      <p:sp>
        <p:nvSpPr>
          <p:cNvPr id="44" name="Text 35"/>
          <p:cNvSpPr/>
          <p:nvPr/>
        </p:nvSpPr>
        <p:spPr>
          <a:xfrm>
            <a:off x="-130725" y="2858981"/>
            <a:ext cx="3816825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99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Network isolation playbooks · </a:t>
            </a:r>
            <a:r>
              <a:rPr lang="en-US" sz="620" b="1" dirty="0">
                <a:solidFill>
                  <a:srgbClr val="E2E8F0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lockdown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Evidence collection &amp; chain-of-custody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blocklisting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via TIP / SOAR automation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20" dirty="0"/>
          </a:p>
        </p:txBody>
      </p:sp>
      <p:sp>
        <p:nvSpPr>
          <p:cNvPr id="45" name="Text 36"/>
          <p:cNvSpPr/>
          <p:nvPr/>
        </p:nvSpPr>
        <p:spPr>
          <a:xfrm>
            <a:off x="4829621" y="3544788"/>
            <a:ext cx="3971181" cy="838200"/>
          </a:xfrm>
          <a:prstGeom prst="roundRect">
            <a:avLst>
              <a:gd name="adj" fmla="val 5152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4829621" y="3544788"/>
            <a:ext cx="19050" cy="838200"/>
          </a:xfrm>
          <a:custGeom>
            <a:avLst/>
            <a:gdLst/>
            <a:ahLst/>
            <a:cxnLst/>
            <a:rect l="l" t="t" r="r" b="b"/>
            <a:pathLst>
              <a:path w="19050" h="83820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830829"/>
                </a:lnTo>
                <a:lnTo>
                  <a:pt x="16669" y="829103"/>
                </a:lnTo>
                <a:lnTo>
                  <a:pt x="14288" y="827110"/>
                </a:lnTo>
                <a:lnTo>
                  <a:pt x="11906" y="824794"/>
                </a:lnTo>
                <a:lnTo>
                  <a:pt x="9525" y="822073"/>
                </a:lnTo>
                <a:lnTo>
                  <a:pt x="7144" y="818809"/>
                </a:lnTo>
                <a:lnTo>
                  <a:pt x="4763" y="814733"/>
                </a:lnTo>
                <a:lnTo>
                  <a:pt x="2381" y="809161"/>
                </a:lnTo>
                <a:lnTo>
                  <a:pt x="0" y="795020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4948982" y="3619054"/>
            <a:ext cx="157460" cy="157460"/>
          </a:xfrm>
          <a:prstGeom prst="roundRect">
            <a:avLst>
              <a:gd name="adj" fmla="val 1855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343" y="3631415"/>
            <a:ext cx="132588" cy="132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149602" y="3649266"/>
            <a:ext cx="3600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510" dirty="0"/>
          </a:p>
        </p:txBody>
      </p:sp>
      <p:sp>
        <p:nvSpPr>
          <p:cNvPr id="50" name="Text 40"/>
          <p:cNvSpPr/>
          <p:nvPr/>
        </p:nvSpPr>
        <p:spPr>
          <a:xfrm>
            <a:off x="4948982" y="3805684"/>
            <a:ext cx="41161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ERADICATE &amp; RECOVER</a:t>
            </a:r>
            <a:endParaRPr lang="en-US" sz="730" dirty="0"/>
          </a:p>
        </p:txBody>
      </p:sp>
      <p:sp>
        <p:nvSpPr>
          <p:cNvPr id="51" name="Text 41"/>
          <p:cNvSpPr/>
          <p:nvPr/>
        </p:nvSpPr>
        <p:spPr>
          <a:xfrm>
            <a:off x="5459357" y="3822200"/>
            <a:ext cx="3816825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Malware removal · </a:t>
            </a:r>
            <a:r>
              <a:rPr lang="en-US" sz="620" b="1" dirty="0">
                <a:solidFill>
                  <a:srgbClr val="E2E8F0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reset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all affected accounts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 rebuild from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image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baselines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Backup restoration testing · validate data integrity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20" dirty="0"/>
          </a:p>
        </p:txBody>
      </p:sp>
      <p:sp>
        <p:nvSpPr>
          <p:cNvPr id="52" name="Text 42"/>
          <p:cNvSpPr/>
          <p:nvPr/>
        </p:nvSpPr>
        <p:spPr>
          <a:xfrm>
            <a:off x="342900" y="4481810"/>
            <a:ext cx="3971181" cy="661690"/>
          </a:xfrm>
          <a:prstGeom prst="roundRect">
            <a:avLst>
              <a:gd name="adj" fmla="val 6526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4295031" y="4481810"/>
            <a:ext cx="19050" cy="661690"/>
          </a:xfrm>
          <a:custGeom>
            <a:avLst/>
            <a:gdLst/>
            <a:ahLst/>
            <a:cxnLst/>
            <a:rect l="l" t="t" r="r" b="b"/>
            <a:pathLst>
              <a:path w="19050" h="661690">
                <a:moveTo>
                  <a:pt x="0" y="7371"/>
                </a:moveTo>
                <a:lnTo>
                  <a:pt x="2381" y="9097"/>
                </a:lnTo>
                <a:lnTo>
                  <a:pt x="4763" y="11090"/>
                </a:lnTo>
                <a:lnTo>
                  <a:pt x="7144" y="13406"/>
                </a:lnTo>
                <a:lnTo>
                  <a:pt x="9525" y="16127"/>
                </a:lnTo>
                <a:lnTo>
                  <a:pt x="11906" y="19391"/>
                </a:lnTo>
                <a:lnTo>
                  <a:pt x="14288" y="23467"/>
                </a:lnTo>
                <a:lnTo>
                  <a:pt x="16669" y="29039"/>
                </a:lnTo>
                <a:lnTo>
                  <a:pt x="19050" y="43180"/>
                </a:lnTo>
                <a:lnTo>
                  <a:pt x="19050" y="795020"/>
                </a:lnTo>
                <a:lnTo>
                  <a:pt x="16669" y="809161"/>
                </a:lnTo>
                <a:lnTo>
                  <a:pt x="14288" y="814733"/>
                </a:lnTo>
                <a:lnTo>
                  <a:pt x="11906" y="818809"/>
                </a:lnTo>
                <a:lnTo>
                  <a:pt x="9525" y="822073"/>
                </a:lnTo>
                <a:lnTo>
                  <a:pt x="7144" y="824794"/>
                </a:lnTo>
                <a:lnTo>
                  <a:pt x="4763" y="827110"/>
                </a:lnTo>
                <a:lnTo>
                  <a:pt x="2381" y="829103"/>
                </a:lnTo>
                <a:lnTo>
                  <a:pt x="0" y="830829"/>
                </a:lnTo>
                <a:close/>
              </a:path>
            </a:pathLst>
          </a:cu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653355" y="4586288"/>
            <a:ext cx="3600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510" dirty="0"/>
          </a:p>
        </p:txBody>
      </p:sp>
      <p:sp>
        <p:nvSpPr>
          <p:cNvPr id="55" name="Text 45"/>
          <p:cNvSpPr/>
          <p:nvPr/>
        </p:nvSpPr>
        <p:spPr>
          <a:xfrm>
            <a:off x="452735" y="4556075"/>
            <a:ext cx="157460" cy="157460"/>
          </a:xfrm>
          <a:prstGeom prst="roundRect">
            <a:avLst>
              <a:gd name="adj" fmla="val 1855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097" y="4568437"/>
            <a:ext cx="132588" cy="13258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8537" y="4742706"/>
            <a:ext cx="41161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POST-INCIDENT</a:t>
            </a:r>
            <a:endParaRPr lang="en-US" sz="730" dirty="0"/>
          </a:p>
        </p:txBody>
      </p:sp>
      <p:sp>
        <p:nvSpPr>
          <p:cNvPr id="58" name="Text 47"/>
          <p:cNvSpPr/>
          <p:nvPr/>
        </p:nvSpPr>
        <p:spPr>
          <a:xfrm>
            <a:off x="-377249" y="4648576"/>
            <a:ext cx="3816825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99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Root cause analysis · </a:t>
            </a:r>
            <a:r>
              <a:rPr lang="en-US" sz="620" b="1" dirty="0">
                <a:solidFill>
                  <a:srgbClr val="E2E8F0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 learned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documentation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Regulatory reporting: </a:t>
            </a:r>
            <a:r>
              <a:rPr lang="en-US" sz="62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/ FDIC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filing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Insurance claim support · public communication strategy</a:t>
            </a:r>
            <a:br>
              <a:rPr dirty="0"/>
            </a:b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20" dirty="0"/>
          </a:p>
        </p:txBody>
      </p:sp>
      <p:sp>
        <p:nvSpPr>
          <p:cNvPr id="59" name="Text 48"/>
          <p:cNvSpPr/>
          <p:nvPr/>
        </p:nvSpPr>
        <p:spPr>
          <a:xfrm>
            <a:off x="4457700" y="1038523"/>
            <a:ext cx="228600" cy="228600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C8FF"/>
            </a:solidFill>
          </a:ln>
          <a:effectLst>
            <a:outerShdw blurRad="86360" dist="50800" dir="16200000" algn="bl" rotWithShape="0">
              <a:srgbClr val="00C8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9"/>
          <p:cNvSpPr/>
          <p:nvPr/>
        </p:nvSpPr>
        <p:spPr>
          <a:xfrm>
            <a:off x="4536430" y="1117253"/>
            <a:ext cx="70991" cy="7099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0"/>
          <p:cNvSpPr/>
          <p:nvPr/>
        </p:nvSpPr>
        <p:spPr>
          <a:xfrm>
            <a:off x="4457700" y="1975545"/>
            <a:ext cx="228600" cy="228600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C8FF"/>
            </a:solidFill>
          </a:ln>
          <a:effectLst>
            <a:outerShdw blurRad="86360" dist="50800" dir="16200000" algn="bl" rotWithShape="0">
              <a:srgbClr val="00C8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1"/>
          <p:cNvSpPr/>
          <p:nvPr/>
        </p:nvSpPr>
        <p:spPr>
          <a:xfrm>
            <a:off x="4536430" y="2054275"/>
            <a:ext cx="70991" cy="7099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2"/>
          <p:cNvSpPr/>
          <p:nvPr/>
        </p:nvSpPr>
        <p:spPr>
          <a:xfrm>
            <a:off x="4457700" y="2912566"/>
            <a:ext cx="228600" cy="228600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C8FF"/>
            </a:solidFill>
          </a:ln>
          <a:effectLst>
            <a:outerShdw blurRad="86360" dist="50800" dir="16200000" algn="bl" rotWithShape="0">
              <a:srgbClr val="00C8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3"/>
          <p:cNvSpPr/>
          <p:nvPr/>
        </p:nvSpPr>
        <p:spPr>
          <a:xfrm>
            <a:off x="4536430" y="2991296"/>
            <a:ext cx="70991" cy="7099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4"/>
          <p:cNvSpPr/>
          <p:nvPr/>
        </p:nvSpPr>
        <p:spPr>
          <a:xfrm>
            <a:off x="4457700" y="3849588"/>
            <a:ext cx="228600" cy="228600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C8FF"/>
            </a:solidFill>
          </a:ln>
          <a:effectLst>
            <a:outerShdw blurRad="86360" dist="50800" dir="16200000" algn="bl" rotWithShape="0">
              <a:srgbClr val="00C8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5"/>
          <p:cNvSpPr/>
          <p:nvPr/>
        </p:nvSpPr>
        <p:spPr>
          <a:xfrm>
            <a:off x="4536430" y="3928318"/>
            <a:ext cx="70991" cy="7099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6"/>
          <p:cNvSpPr/>
          <p:nvPr/>
        </p:nvSpPr>
        <p:spPr>
          <a:xfrm>
            <a:off x="4457700" y="4786610"/>
            <a:ext cx="228600" cy="228600"/>
          </a:xfrm>
          <a:prstGeom prst="ellipse">
            <a:avLst/>
          </a:prstGeom>
          <a:solidFill>
            <a:srgbClr val="0B1120"/>
          </a:solidFill>
          <a:ln w="9525">
            <a:solidFill>
              <a:srgbClr val="00C8FF"/>
            </a:solidFill>
          </a:ln>
          <a:effectLst>
            <a:outerShdw blurRad="143510" dist="50800" dir="16200000" algn="bl" rotWithShape="0">
              <a:srgbClr val="00C8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7"/>
          <p:cNvSpPr/>
          <p:nvPr/>
        </p:nvSpPr>
        <p:spPr>
          <a:xfrm>
            <a:off x="4536430" y="4865340"/>
            <a:ext cx="70991" cy="70991"/>
          </a:xfrm>
          <a:prstGeom prst="ellipse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00280" y="0"/>
            <a:ext cx="2143720" cy="2143720"/>
          </a:xfrm>
          <a:prstGeom prst="ellipse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572470"/>
            <a:ext cx="1571030" cy="1571030"/>
          </a:xfrm>
          <a:prstGeom prst="ellipse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426690"/>
            <a:ext cx="29170" cy="2577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8FF"/>
              </a:gs>
              <a:gs pos="100000">
                <a:srgbClr val="00C8FF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595" y="978098"/>
            <a:ext cx="2723255" cy="13841"/>
          </a:xfrm>
          <a:custGeom>
            <a:avLst/>
            <a:gdLst/>
            <a:ahLst/>
            <a:cxnLst/>
            <a:rect l="l" t="t" r="r" b="b"/>
            <a:pathLst>
              <a:path w="2723255" h="13841">
                <a:moveTo>
                  <a:pt x="57150" y="0"/>
                </a:moveTo>
                <a:lnTo>
                  <a:pt x="2666105" y="0"/>
                </a:lnTo>
                <a:lnTo>
                  <a:pt x="2680060" y="1730"/>
                </a:lnTo>
                <a:lnTo>
                  <a:pt x="2685689" y="3460"/>
                </a:lnTo>
                <a:lnTo>
                  <a:pt x="2689902" y="5190"/>
                </a:lnTo>
                <a:lnTo>
                  <a:pt x="2693365" y="6920"/>
                </a:lnTo>
                <a:lnTo>
                  <a:pt x="2696336" y="8651"/>
                </a:lnTo>
                <a:lnTo>
                  <a:pt x="2698949" y="10381"/>
                </a:lnTo>
                <a:lnTo>
                  <a:pt x="2701284" y="12111"/>
                </a:lnTo>
                <a:lnTo>
                  <a:pt x="270339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10223" y="978098"/>
            <a:ext cx="2723407" cy="13841"/>
          </a:xfrm>
          <a:custGeom>
            <a:avLst/>
            <a:gdLst/>
            <a:ahLst/>
            <a:cxnLst/>
            <a:rect l="l" t="t" r="r" b="b"/>
            <a:pathLst>
              <a:path w="2723407" h="13841">
                <a:moveTo>
                  <a:pt x="57150" y="0"/>
                </a:moveTo>
                <a:lnTo>
                  <a:pt x="2666257" y="0"/>
                </a:lnTo>
                <a:lnTo>
                  <a:pt x="2680213" y="1730"/>
                </a:lnTo>
                <a:lnTo>
                  <a:pt x="2685841" y="3460"/>
                </a:lnTo>
                <a:lnTo>
                  <a:pt x="2690054" y="5190"/>
                </a:lnTo>
                <a:lnTo>
                  <a:pt x="2693517" y="6920"/>
                </a:lnTo>
                <a:lnTo>
                  <a:pt x="2696488" y="8651"/>
                </a:lnTo>
                <a:lnTo>
                  <a:pt x="2699101" y="10381"/>
                </a:lnTo>
                <a:lnTo>
                  <a:pt x="2701437" y="12111"/>
                </a:lnTo>
                <a:lnTo>
                  <a:pt x="270354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38999" y="978098"/>
            <a:ext cx="2723255" cy="13841"/>
          </a:xfrm>
          <a:custGeom>
            <a:avLst/>
            <a:gdLst/>
            <a:ahLst/>
            <a:cxnLst/>
            <a:rect l="l" t="t" r="r" b="b"/>
            <a:pathLst>
              <a:path w="2723255" h="13841">
                <a:moveTo>
                  <a:pt x="57150" y="0"/>
                </a:moveTo>
                <a:lnTo>
                  <a:pt x="2666105" y="0"/>
                </a:lnTo>
                <a:lnTo>
                  <a:pt x="2680060" y="1730"/>
                </a:lnTo>
                <a:lnTo>
                  <a:pt x="2685689" y="3460"/>
                </a:lnTo>
                <a:lnTo>
                  <a:pt x="2689902" y="5190"/>
                </a:lnTo>
                <a:lnTo>
                  <a:pt x="2693365" y="6920"/>
                </a:lnTo>
                <a:lnTo>
                  <a:pt x="2696336" y="8651"/>
                </a:lnTo>
                <a:lnTo>
                  <a:pt x="2698949" y="10381"/>
                </a:lnTo>
                <a:lnTo>
                  <a:pt x="2701284" y="12111"/>
                </a:lnTo>
                <a:lnTo>
                  <a:pt x="270339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595" y="2899172"/>
            <a:ext cx="2723255" cy="13841"/>
          </a:xfrm>
          <a:custGeom>
            <a:avLst/>
            <a:gdLst/>
            <a:ahLst/>
            <a:cxnLst/>
            <a:rect l="l" t="t" r="r" b="b"/>
            <a:pathLst>
              <a:path w="2723255" h="13841">
                <a:moveTo>
                  <a:pt x="57150" y="0"/>
                </a:moveTo>
                <a:lnTo>
                  <a:pt x="2666105" y="0"/>
                </a:lnTo>
                <a:lnTo>
                  <a:pt x="2680060" y="1730"/>
                </a:lnTo>
                <a:lnTo>
                  <a:pt x="2685689" y="3460"/>
                </a:lnTo>
                <a:lnTo>
                  <a:pt x="2689902" y="5190"/>
                </a:lnTo>
                <a:lnTo>
                  <a:pt x="2693365" y="6920"/>
                </a:lnTo>
                <a:lnTo>
                  <a:pt x="2696336" y="8651"/>
                </a:lnTo>
                <a:lnTo>
                  <a:pt x="2698949" y="10381"/>
                </a:lnTo>
                <a:lnTo>
                  <a:pt x="2701284" y="12111"/>
                </a:lnTo>
                <a:lnTo>
                  <a:pt x="270339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10223" y="2899172"/>
            <a:ext cx="2723407" cy="13841"/>
          </a:xfrm>
          <a:custGeom>
            <a:avLst/>
            <a:gdLst/>
            <a:ahLst/>
            <a:cxnLst/>
            <a:rect l="l" t="t" r="r" b="b"/>
            <a:pathLst>
              <a:path w="2723407" h="13841">
                <a:moveTo>
                  <a:pt x="57150" y="0"/>
                </a:moveTo>
                <a:lnTo>
                  <a:pt x="2666257" y="0"/>
                </a:lnTo>
                <a:lnTo>
                  <a:pt x="2680213" y="1730"/>
                </a:lnTo>
                <a:lnTo>
                  <a:pt x="2685841" y="3460"/>
                </a:lnTo>
                <a:lnTo>
                  <a:pt x="2690054" y="5190"/>
                </a:lnTo>
                <a:lnTo>
                  <a:pt x="2693517" y="6920"/>
                </a:lnTo>
                <a:lnTo>
                  <a:pt x="2696488" y="8651"/>
                </a:lnTo>
                <a:lnTo>
                  <a:pt x="2699101" y="10381"/>
                </a:lnTo>
                <a:lnTo>
                  <a:pt x="2701437" y="12111"/>
                </a:lnTo>
                <a:lnTo>
                  <a:pt x="270354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38999" y="2899172"/>
            <a:ext cx="2723255" cy="13841"/>
          </a:xfrm>
          <a:custGeom>
            <a:avLst/>
            <a:gdLst/>
            <a:ahLst/>
            <a:cxnLst/>
            <a:rect l="l" t="t" r="r" b="b"/>
            <a:pathLst>
              <a:path w="2723255" h="13841">
                <a:moveTo>
                  <a:pt x="57150" y="0"/>
                </a:moveTo>
                <a:lnTo>
                  <a:pt x="2666105" y="0"/>
                </a:lnTo>
                <a:lnTo>
                  <a:pt x="2680060" y="1730"/>
                </a:lnTo>
                <a:lnTo>
                  <a:pt x="2685689" y="3460"/>
                </a:lnTo>
                <a:lnTo>
                  <a:pt x="2689902" y="5190"/>
                </a:lnTo>
                <a:lnTo>
                  <a:pt x="2693365" y="6920"/>
                </a:lnTo>
                <a:lnTo>
                  <a:pt x="2696336" y="8651"/>
                </a:lnTo>
                <a:lnTo>
                  <a:pt x="2698949" y="10381"/>
                </a:lnTo>
                <a:lnTo>
                  <a:pt x="2701284" y="12111"/>
                </a:lnTo>
                <a:lnTo>
                  <a:pt x="2703393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00C8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070" y="200620"/>
            <a:ext cx="1497705" cy="168920"/>
          </a:xfrm>
          <a:prstGeom prst="roundRect">
            <a:avLst>
              <a:gd name="adj" fmla="val 17292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DECEMBER · MONTH 12 OF 12</a:t>
            </a:r>
            <a:endParaRPr lang="en-US" sz="56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33" y="218712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2472" y="231725"/>
            <a:ext cx="98734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CRI: ID.RA-1, PR.PS-2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7411045" y="241846"/>
            <a:ext cx="7590" cy="86320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489627" y="231725"/>
            <a:ext cx="14105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PCI-DSS 4.0 Req 12.3.2 · FFIEC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372070" y="426690"/>
            <a:ext cx="8987850" cy="262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Vulnerability Management &amp; Patching Program</a:t>
            </a:r>
            <a:endParaRPr lang="en-US" sz="1690" dirty="0"/>
          </a:p>
        </p:txBody>
      </p:sp>
      <p:sp>
        <p:nvSpPr>
          <p:cNvPr id="19" name="Text 16"/>
          <p:cNvSpPr/>
          <p:nvPr/>
        </p:nvSpPr>
        <p:spPr>
          <a:xfrm>
            <a:off x="500211" y="724793"/>
            <a:ext cx="90988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spcBef>
                <a:spcPts val="280"/>
              </a:spcBef>
              <a:buNone/>
            </a:pPr>
            <a:r>
              <a:rPr lang="en-US" sz="68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Mature, risk-driven VM program — continuous scanning · CVSS + EPSS prioritization · SLA-bound remediation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372070" y="968573"/>
            <a:ext cx="2742307" cy="1834753"/>
          </a:xfrm>
          <a:prstGeom prst="roundRect">
            <a:avLst>
              <a:gd name="adj" fmla="val 3115"/>
            </a:avLst>
          </a:prstGeom>
          <a:solidFill>
            <a:srgbClr val="162032"/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9736" y="1092398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327" y="1154990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38498" y="1177975"/>
            <a:ext cx="144622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ASSET-DRIVEN SCANNING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509736" y="1436340"/>
            <a:ext cx="2516315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authenticated scanning across all asset classes — on-prem, cloud, OT/IoT. No credential gaps, no shadow assets.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509736" y="1877318"/>
            <a:ext cx="618381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CVSS Scoring</a:t>
            </a:r>
            <a:endParaRPr lang="en-US" sz="560" dirty="0"/>
          </a:p>
        </p:txBody>
      </p:sp>
      <p:sp>
        <p:nvSpPr>
          <p:cNvPr id="26" name="Text 22"/>
          <p:cNvSpPr/>
          <p:nvPr/>
        </p:nvSpPr>
        <p:spPr>
          <a:xfrm>
            <a:off x="1171277" y="1877318"/>
            <a:ext cx="746522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EPSS Risk Score</a:t>
            </a:r>
            <a:endParaRPr lang="en-US" sz="560" dirty="0"/>
          </a:p>
        </p:txBody>
      </p:sp>
      <p:sp>
        <p:nvSpPr>
          <p:cNvPr id="27" name="Text 23"/>
          <p:cNvSpPr/>
          <p:nvPr/>
        </p:nvSpPr>
        <p:spPr>
          <a:xfrm>
            <a:off x="1960959" y="1877318"/>
            <a:ext cx="661095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KEV Cross-Ref</a:t>
            </a:r>
            <a:endParaRPr lang="en-US" sz="560" dirty="0"/>
          </a:p>
        </p:txBody>
      </p:sp>
      <p:sp>
        <p:nvSpPr>
          <p:cNvPr id="28" name="Text 24"/>
          <p:cNvSpPr/>
          <p:nvPr/>
        </p:nvSpPr>
        <p:spPr>
          <a:xfrm>
            <a:off x="509736" y="2061418"/>
            <a:ext cx="874812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Authenticated Scan</a:t>
            </a:r>
            <a:endParaRPr lang="en-US" sz="560" dirty="0"/>
          </a:p>
        </p:txBody>
      </p:sp>
      <p:sp>
        <p:nvSpPr>
          <p:cNvPr id="29" name="Text 25"/>
          <p:cNvSpPr/>
          <p:nvPr/>
        </p:nvSpPr>
        <p:spPr>
          <a:xfrm>
            <a:off x="3200698" y="968573"/>
            <a:ext cx="2742456" cy="1834753"/>
          </a:xfrm>
          <a:prstGeom prst="roundRect">
            <a:avLst>
              <a:gd name="adj" fmla="val 3115"/>
            </a:avLst>
          </a:prstGeom>
          <a:solidFill>
            <a:srgbClr val="162032"/>
          </a:solidFill>
          <a:ln w="9525">
            <a:solidFill>
              <a:srgbClr val="FF4D6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210223" y="978098"/>
            <a:ext cx="2723406" cy="13841"/>
          </a:xfrm>
          <a:prstGeom prst="rect">
            <a:avLst/>
          </a:prstGeom>
          <a:gradFill rotWithShape="1">
            <a:gsLst>
              <a:gs pos="0">
                <a:srgbClr val="FF4D6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338364" y="1092398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4D6D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0955" y="1154990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667125" y="1177975"/>
            <a:ext cx="1615991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FF4D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RISK-BASED PRIORITIZATION</a:t>
            </a:r>
            <a:endParaRPr lang="en-US" sz="760" dirty="0"/>
          </a:p>
        </p:txBody>
      </p:sp>
      <p:sp>
        <p:nvSpPr>
          <p:cNvPr id="34" name="Text 29"/>
          <p:cNvSpPr/>
          <p:nvPr/>
        </p:nvSpPr>
        <p:spPr>
          <a:xfrm>
            <a:off x="3338364" y="1436340"/>
            <a:ext cx="2516466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SLA-bound remediation tied to threat context — KEV entries treated as active incidents, not routine patches.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3338364" y="1906637"/>
            <a:ext cx="1227534" cy="168786"/>
          </a:xfrm>
          <a:prstGeom prst="roundRect">
            <a:avLst>
              <a:gd name="adj" fmla="val 85025"/>
            </a:avLst>
          </a:prstGeom>
          <a:solidFill>
            <a:srgbClr val="FF4D6D">
              <a:alpha val="15000"/>
            </a:srgbClr>
          </a:solidFill>
          <a:ln w="9525">
            <a:solidFill>
              <a:srgbClr val="FF4D6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Critical + KEV: 24 hrs</a:t>
            </a:r>
            <a:endParaRPr lang="en-US" sz="560" dirty="0"/>
          </a:p>
        </p:txBody>
      </p:sp>
      <p:sp>
        <p:nvSpPr>
          <p:cNvPr id="36" name="Text 31"/>
          <p:cNvSpPr/>
          <p:nvPr/>
        </p:nvSpPr>
        <p:spPr>
          <a:xfrm>
            <a:off x="4601319" y="1906637"/>
            <a:ext cx="771674" cy="168786"/>
          </a:xfrm>
          <a:prstGeom prst="roundRect">
            <a:avLst>
              <a:gd name="adj" fmla="val 85025"/>
            </a:avLst>
          </a:prstGeom>
          <a:solidFill>
            <a:srgbClr val="FF9F43">
              <a:alpha val="15000"/>
            </a:srgbClr>
          </a:solidFill>
          <a:ln w="9525">
            <a:solidFill>
              <a:srgbClr val="FF9F43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High: 7 days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3338364" y="2095500"/>
            <a:ext cx="908298" cy="168786"/>
          </a:xfrm>
          <a:prstGeom prst="roundRect">
            <a:avLst>
              <a:gd name="adj" fmla="val 85025"/>
            </a:avLst>
          </a:prstGeom>
          <a:solidFill>
            <a:srgbClr val="00D68F">
              <a:alpha val="15000"/>
            </a:srgbClr>
          </a:solidFill>
          <a:ln w="9525">
            <a:solidFill>
              <a:srgbClr val="00D68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Medium: 30 days</a:t>
            </a:r>
            <a:endParaRPr lang="en-US" sz="560" dirty="0"/>
          </a:p>
        </p:txBody>
      </p:sp>
      <p:sp>
        <p:nvSpPr>
          <p:cNvPr id="38" name="Text 33"/>
          <p:cNvSpPr/>
          <p:nvPr/>
        </p:nvSpPr>
        <p:spPr>
          <a:xfrm>
            <a:off x="6029474" y="968573"/>
            <a:ext cx="2742307" cy="1834753"/>
          </a:xfrm>
          <a:prstGeom prst="roundRect">
            <a:avLst>
              <a:gd name="adj" fmla="val 3115"/>
            </a:avLst>
          </a:prstGeom>
          <a:solidFill>
            <a:srgbClr val="162032"/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167140" y="1092398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9731" y="1154990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495901" y="1177975"/>
            <a:ext cx="1478310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EXCEPTION MANAGEMENT</a:t>
            </a:r>
            <a:endParaRPr lang="en-US" sz="760" dirty="0"/>
          </a:p>
        </p:txBody>
      </p:sp>
      <p:sp>
        <p:nvSpPr>
          <p:cNvPr id="42" name="Text 36"/>
          <p:cNvSpPr/>
          <p:nvPr/>
        </p:nvSpPr>
        <p:spPr>
          <a:xfrm>
            <a:off x="6167140" y="1436340"/>
            <a:ext cx="2516315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 risk acceptance process for unpatchable assets. Compensating controls documented, time-limited approvals with CISO sign-off, tracked in GRC platform.</a:t>
            </a:r>
            <a:endParaRPr lang="en-US" sz="650" dirty="0"/>
          </a:p>
        </p:txBody>
      </p:sp>
      <p:sp>
        <p:nvSpPr>
          <p:cNvPr id="43" name="Text 37"/>
          <p:cNvSpPr/>
          <p:nvPr/>
        </p:nvSpPr>
        <p:spPr>
          <a:xfrm>
            <a:off x="6167140" y="2005310"/>
            <a:ext cx="1002953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Compensating Controls</a:t>
            </a:r>
            <a:endParaRPr lang="en-US" sz="560" dirty="0"/>
          </a:p>
        </p:txBody>
      </p:sp>
      <p:sp>
        <p:nvSpPr>
          <p:cNvPr id="44" name="Text 38"/>
          <p:cNvSpPr/>
          <p:nvPr/>
        </p:nvSpPr>
        <p:spPr>
          <a:xfrm>
            <a:off x="7213253" y="2005310"/>
            <a:ext cx="575518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Tracked</a:t>
            </a:r>
            <a:endParaRPr lang="en-US" sz="560" dirty="0"/>
          </a:p>
        </p:txBody>
      </p:sp>
      <p:sp>
        <p:nvSpPr>
          <p:cNvPr id="45" name="Text 39"/>
          <p:cNvSpPr/>
          <p:nvPr/>
        </p:nvSpPr>
        <p:spPr>
          <a:xfrm>
            <a:off x="7831931" y="2005310"/>
            <a:ext cx="661095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CISO Approval</a:t>
            </a:r>
            <a:endParaRPr lang="en-US" sz="560" dirty="0"/>
          </a:p>
        </p:txBody>
      </p:sp>
      <p:sp>
        <p:nvSpPr>
          <p:cNvPr id="46" name="Text 40"/>
          <p:cNvSpPr/>
          <p:nvPr/>
        </p:nvSpPr>
        <p:spPr>
          <a:xfrm>
            <a:off x="6167140" y="2189411"/>
            <a:ext cx="618381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Time-Limited</a:t>
            </a:r>
            <a:endParaRPr lang="en-US" sz="560" dirty="0"/>
          </a:p>
        </p:txBody>
      </p:sp>
      <p:sp>
        <p:nvSpPr>
          <p:cNvPr id="47" name="Text 41"/>
          <p:cNvSpPr/>
          <p:nvPr/>
        </p:nvSpPr>
        <p:spPr>
          <a:xfrm>
            <a:off x="372070" y="2889647"/>
            <a:ext cx="2742307" cy="1834753"/>
          </a:xfrm>
          <a:prstGeom prst="roundRect">
            <a:avLst>
              <a:gd name="adj" fmla="val 3115"/>
            </a:avLst>
          </a:prstGeom>
          <a:solidFill>
            <a:srgbClr val="162032"/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09736" y="301347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327" y="3076063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838498" y="3099048"/>
            <a:ext cx="1786086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CONTAINER &amp; CLOUD PATCHING</a:t>
            </a:r>
            <a:endParaRPr lang="en-US" sz="760" dirty="0"/>
          </a:p>
        </p:txBody>
      </p:sp>
      <p:sp>
        <p:nvSpPr>
          <p:cNvPr id="51" name="Text 44"/>
          <p:cNvSpPr/>
          <p:nvPr/>
        </p:nvSpPr>
        <p:spPr>
          <a:xfrm>
            <a:off x="509736" y="3357414"/>
            <a:ext cx="2516315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rebuild cadence replaces in-place patching. Kubernetes node rolling updates, cloud AMI/image versioning with automated promotion pipelines.</a:t>
            </a:r>
            <a:endParaRPr lang="en-US" sz="650" dirty="0"/>
          </a:p>
        </p:txBody>
      </p:sp>
      <p:sp>
        <p:nvSpPr>
          <p:cNvPr id="52" name="Text 45"/>
          <p:cNvSpPr/>
          <p:nvPr/>
        </p:nvSpPr>
        <p:spPr>
          <a:xfrm>
            <a:off x="509736" y="3798391"/>
            <a:ext cx="661095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Rebuild</a:t>
            </a:r>
            <a:endParaRPr lang="en-US" sz="560" dirty="0"/>
          </a:p>
        </p:txBody>
      </p:sp>
      <p:sp>
        <p:nvSpPr>
          <p:cNvPr id="53" name="Text 46"/>
          <p:cNvSpPr/>
          <p:nvPr/>
        </p:nvSpPr>
        <p:spPr>
          <a:xfrm>
            <a:off x="1213991" y="3798391"/>
            <a:ext cx="832098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Patching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2089249" y="3798391"/>
            <a:ext cx="703808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 Versioning</a:t>
            </a:r>
            <a:endParaRPr lang="en-US" sz="560" dirty="0"/>
          </a:p>
        </p:txBody>
      </p:sp>
      <p:sp>
        <p:nvSpPr>
          <p:cNvPr id="55" name="Text 48"/>
          <p:cNvSpPr/>
          <p:nvPr/>
        </p:nvSpPr>
        <p:spPr>
          <a:xfrm>
            <a:off x="509736" y="3982492"/>
            <a:ext cx="661095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 Tracking</a:t>
            </a:r>
            <a:endParaRPr lang="en-US" sz="560" dirty="0"/>
          </a:p>
        </p:txBody>
      </p:sp>
      <p:sp>
        <p:nvSpPr>
          <p:cNvPr id="56" name="Text 49"/>
          <p:cNvSpPr/>
          <p:nvPr/>
        </p:nvSpPr>
        <p:spPr>
          <a:xfrm>
            <a:off x="3200698" y="2889647"/>
            <a:ext cx="2742456" cy="1834753"/>
          </a:xfrm>
          <a:prstGeom prst="roundRect">
            <a:avLst>
              <a:gd name="adj" fmla="val 3115"/>
            </a:avLst>
          </a:prstGeom>
          <a:gradFill rotWithShape="1">
            <a:gsLst>
              <a:gs pos="0">
                <a:srgbClr val="FF4D6D">
                  <a:alpha val="5000"/>
                </a:srgbClr>
              </a:gs>
              <a:gs pos="60000">
                <a:srgbClr val="162032"/>
              </a:gs>
            </a:gsLst>
            <a:lin ang="2700000" scaled="1"/>
          </a:gradFill>
          <a:ln w="9525">
            <a:solidFill>
              <a:srgbClr val="FF4D6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3210223" y="2899172"/>
            <a:ext cx="2723406" cy="13841"/>
          </a:xfrm>
          <a:prstGeom prst="rect">
            <a:avLst/>
          </a:prstGeom>
          <a:gradFill rotWithShape="1">
            <a:gsLst>
              <a:gs pos="0">
                <a:srgbClr val="FF4D6D">
                  <a:alpha val="80000"/>
                </a:srgbClr>
              </a:gs>
              <a:gs pos="50000">
                <a:srgbClr val="FF9F43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3338364" y="301347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4D6D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0955" y="3076063"/>
            <a:ext cx="132588" cy="13258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3667125" y="3099048"/>
            <a:ext cx="1215554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FF4D6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ZERO-DAY RESPONSE</a:t>
            </a:r>
            <a:endParaRPr lang="en-US" sz="760" dirty="0"/>
          </a:p>
        </p:txBody>
      </p:sp>
      <p:sp>
        <p:nvSpPr>
          <p:cNvPr id="61" name="Text 53"/>
          <p:cNvSpPr/>
          <p:nvPr/>
        </p:nvSpPr>
        <p:spPr>
          <a:xfrm>
            <a:off x="3338364" y="3357414"/>
            <a:ext cx="2516466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patch process activated upon confirmed in-the-wild exploitation. Bypass standard change control with CISO + CTO authorization.</a:t>
            </a:r>
            <a:endParaRPr lang="en-US" sz="650" dirty="0"/>
          </a:p>
        </p:txBody>
      </p:sp>
      <p:sp>
        <p:nvSpPr>
          <p:cNvPr id="62" name="Text 54"/>
          <p:cNvSpPr/>
          <p:nvPr/>
        </p:nvSpPr>
        <p:spPr>
          <a:xfrm>
            <a:off x="3338364" y="3819971"/>
            <a:ext cx="844897" cy="286167"/>
          </a:xfrm>
          <a:prstGeom prst="roundRect">
            <a:avLst>
              <a:gd name="adj" fmla="val 50149"/>
            </a:avLst>
          </a:prstGeom>
          <a:solidFill>
            <a:srgbClr val="FF4D6D">
              <a:alpha val="15000"/>
            </a:srgbClr>
          </a:solidFill>
          <a:ln w="9525">
            <a:solidFill>
              <a:srgbClr val="FF4D6D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Emergency SLA: &lt;2 Hours</a:t>
            </a:r>
            <a:endParaRPr lang="en-US" sz="560" dirty="0"/>
          </a:p>
        </p:txBody>
      </p:sp>
      <p:sp>
        <p:nvSpPr>
          <p:cNvPr id="63" name="Text 55"/>
          <p:cNvSpPr/>
          <p:nvPr/>
        </p:nvSpPr>
        <p:spPr>
          <a:xfrm>
            <a:off x="4226421" y="3879503"/>
            <a:ext cx="703808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 KEV Alert</a:t>
            </a:r>
            <a:endParaRPr lang="en-US" sz="560" dirty="0"/>
          </a:p>
        </p:txBody>
      </p:sp>
      <p:sp>
        <p:nvSpPr>
          <p:cNvPr id="64" name="Text 56"/>
          <p:cNvSpPr/>
          <p:nvPr/>
        </p:nvSpPr>
        <p:spPr>
          <a:xfrm>
            <a:off x="4973389" y="3879503"/>
            <a:ext cx="832098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 Room Protocol</a:t>
            </a:r>
            <a:endParaRPr lang="en-US" sz="560" dirty="0"/>
          </a:p>
        </p:txBody>
      </p:sp>
      <p:sp>
        <p:nvSpPr>
          <p:cNvPr id="65" name="Text 57"/>
          <p:cNvSpPr/>
          <p:nvPr/>
        </p:nvSpPr>
        <p:spPr>
          <a:xfrm>
            <a:off x="6029474" y="2889647"/>
            <a:ext cx="2742307" cy="1834753"/>
          </a:xfrm>
          <a:prstGeom prst="roundRect">
            <a:avLst>
              <a:gd name="adj" fmla="val 3115"/>
            </a:avLst>
          </a:prstGeom>
          <a:solidFill>
            <a:srgbClr val="162032"/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8"/>
          <p:cNvSpPr/>
          <p:nvPr/>
        </p:nvSpPr>
        <p:spPr>
          <a:xfrm>
            <a:off x="6167140" y="301347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9731" y="3076063"/>
            <a:ext cx="132588" cy="132588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6495901" y="3099048"/>
            <a:ext cx="1304121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kern="0" spc="23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 &amp; REPORTING</a:t>
            </a:r>
            <a:endParaRPr lang="en-US" sz="760" dirty="0"/>
          </a:p>
        </p:txBody>
      </p:sp>
      <p:sp>
        <p:nvSpPr>
          <p:cNvPr id="69" name="Text 60"/>
          <p:cNvSpPr/>
          <p:nvPr/>
        </p:nvSpPr>
        <p:spPr>
          <a:xfrm>
            <a:off x="6167140" y="3357414"/>
            <a:ext cx="2516315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7"/>
              </a:lnSpc>
              <a:buNone/>
            </a:pPr>
            <a:r>
              <a:rPr lang="en-US" sz="6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Board-ready dashboards tracking program health. Reported to CISO monthly; Board Risk Committee quarterly per CRI GV.RM-4.</a:t>
            </a:r>
            <a:endParaRPr lang="en-US" sz="650" dirty="0"/>
          </a:p>
        </p:txBody>
      </p:sp>
      <p:sp>
        <p:nvSpPr>
          <p:cNvPr id="70" name="Text 61"/>
          <p:cNvSpPr/>
          <p:nvPr/>
        </p:nvSpPr>
        <p:spPr>
          <a:xfrm>
            <a:off x="6167140" y="3798391"/>
            <a:ext cx="789236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MTTP by Severity</a:t>
            </a:r>
            <a:endParaRPr lang="en-US" sz="560" dirty="0"/>
          </a:p>
        </p:txBody>
      </p:sp>
      <p:sp>
        <p:nvSpPr>
          <p:cNvPr id="71" name="Text 62"/>
          <p:cNvSpPr/>
          <p:nvPr/>
        </p:nvSpPr>
        <p:spPr>
          <a:xfrm>
            <a:off x="6999536" y="3798391"/>
            <a:ext cx="874812" cy="155034"/>
          </a:xfrm>
          <a:prstGeom prst="roundRect">
            <a:avLst>
              <a:gd name="adj" fmla="val 1392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Compliance %</a:t>
            </a:r>
            <a:endParaRPr lang="en-US" sz="560" dirty="0"/>
          </a:p>
        </p:txBody>
      </p:sp>
      <p:sp>
        <p:nvSpPr>
          <p:cNvPr id="72" name="Text 63"/>
          <p:cNvSpPr/>
          <p:nvPr/>
        </p:nvSpPr>
        <p:spPr>
          <a:xfrm>
            <a:off x="7917507" y="3798391"/>
            <a:ext cx="661095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Vuln Age</a:t>
            </a:r>
            <a:endParaRPr lang="en-US" sz="560" dirty="0"/>
          </a:p>
        </p:txBody>
      </p:sp>
      <p:sp>
        <p:nvSpPr>
          <p:cNvPr id="73" name="Text 64"/>
          <p:cNvSpPr/>
          <p:nvPr/>
        </p:nvSpPr>
        <p:spPr>
          <a:xfrm>
            <a:off x="6167140" y="3982492"/>
            <a:ext cx="789236" cy="155034"/>
          </a:xfrm>
          <a:prstGeom prst="roundRect">
            <a:avLst>
              <a:gd name="adj" fmla="val 139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 Class KPIs</a:t>
            </a:r>
            <a:endParaRPr lang="en-US" sz="560" dirty="0"/>
          </a:p>
        </p:txBody>
      </p:sp>
      <p:sp>
        <p:nvSpPr>
          <p:cNvPr id="74" name="Text 65"/>
          <p:cNvSpPr/>
          <p:nvPr/>
        </p:nvSpPr>
        <p:spPr>
          <a:xfrm>
            <a:off x="0" y="4810720"/>
            <a:ext cx="9144000" cy="332780"/>
          </a:xfrm>
          <a:prstGeom prst="rect">
            <a:avLst/>
          </a:prstGeom>
          <a:solidFill>
            <a:srgbClr val="00C8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0" y="4810720"/>
            <a:ext cx="9144000" cy="9525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7"/>
          <p:cNvSpPr/>
          <p:nvPr/>
        </p:nvSpPr>
        <p:spPr>
          <a:xfrm>
            <a:off x="996404" y="4820245"/>
            <a:ext cx="9525" cy="32325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878" y="4869393"/>
            <a:ext cx="132588" cy="224960"/>
          </a:xfrm>
          <a:prstGeom prst="rect">
            <a:avLst/>
          </a:prstGeom>
        </p:spPr>
      </p:pic>
      <p:sp>
        <p:nvSpPr>
          <p:cNvPr id="78" name="Text 68"/>
          <p:cNvSpPr/>
          <p:nvPr/>
        </p:nvSpPr>
        <p:spPr>
          <a:xfrm>
            <a:off x="218033" y="4928443"/>
            <a:ext cx="15519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</a:t>
            </a:r>
            <a:endParaRPr lang="en-US" sz="560" dirty="0"/>
          </a:p>
        </p:txBody>
      </p:sp>
      <p:sp>
        <p:nvSpPr>
          <p:cNvPr id="79" name="Text 69"/>
          <p:cNvSpPr/>
          <p:nvPr/>
        </p:nvSpPr>
        <p:spPr>
          <a:xfrm>
            <a:off x="402282" y="4869656"/>
            <a:ext cx="459665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ID.RA-1 · PR.PS-2</a:t>
            </a:r>
            <a:endParaRPr lang="en-US" sz="590" dirty="0"/>
          </a:p>
        </p:txBody>
      </p:sp>
      <p:sp>
        <p:nvSpPr>
          <p:cNvPr id="80" name="Text 70"/>
          <p:cNvSpPr/>
          <p:nvPr/>
        </p:nvSpPr>
        <p:spPr>
          <a:xfrm>
            <a:off x="2990106" y="4820245"/>
            <a:ext cx="9525" cy="32325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0816" y="4882153"/>
            <a:ext cx="132588" cy="199439"/>
          </a:xfrm>
          <a:prstGeom prst="rect">
            <a:avLst/>
          </a:prstGeom>
        </p:spPr>
      </p:pic>
      <p:sp>
        <p:nvSpPr>
          <p:cNvPr id="82" name="Text 71"/>
          <p:cNvSpPr/>
          <p:nvPr/>
        </p:nvSpPr>
        <p:spPr>
          <a:xfrm>
            <a:off x="1227981" y="4875163"/>
            <a:ext cx="351428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PCI-DSS 4.0</a:t>
            </a:r>
            <a:endParaRPr lang="en-US" sz="560" dirty="0"/>
          </a:p>
        </p:txBody>
      </p:sp>
      <p:sp>
        <p:nvSpPr>
          <p:cNvPr id="83" name="Text 72"/>
          <p:cNvSpPr/>
          <p:nvPr/>
        </p:nvSpPr>
        <p:spPr>
          <a:xfrm>
            <a:off x="1615678" y="4869656"/>
            <a:ext cx="1255577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12.3.2 — Risk-Based Targeted Analysis</a:t>
            </a:r>
            <a:endParaRPr lang="en-US" sz="590" dirty="0"/>
          </a:p>
        </p:txBody>
      </p:sp>
      <p:sp>
        <p:nvSpPr>
          <p:cNvPr id="84" name="Text 73"/>
          <p:cNvSpPr/>
          <p:nvPr/>
        </p:nvSpPr>
        <p:spPr>
          <a:xfrm>
            <a:off x="5037088" y="4820245"/>
            <a:ext cx="9525" cy="32325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93625" y="4876858"/>
            <a:ext cx="132588" cy="210029"/>
          </a:xfrm>
          <a:prstGeom prst="rect">
            <a:avLst/>
          </a:prstGeom>
        </p:spPr>
      </p:pic>
      <p:sp>
        <p:nvSpPr>
          <p:cNvPr id="86" name="Text 74"/>
          <p:cNvSpPr/>
          <p:nvPr/>
        </p:nvSpPr>
        <p:spPr>
          <a:xfrm>
            <a:off x="3219896" y="4928443"/>
            <a:ext cx="25866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FFIEC</a:t>
            </a:r>
            <a:endParaRPr lang="en-US" sz="560" dirty="0"/>
          </a:p>
        </p:txBody>
      </p:sp>
      <p:sp>
        <p:nvSpPr>
          <p:cNvPr id="87" name="Text 75"/>
          <p:cNvSpPr/>
          <p:nvPr/>
        </p:nvSpPr>
        <p:spPr>
          <a:xfrm>
            <a:off x="3498205" y="4869656"/>
            <a:ext cx="1423321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Assessment Tool — Maturity Domain 2</a:t>
            </a:r>
            <a:endParaRPr lang="en-US" sz="590" dirty="0"/>
          </a:p>
        </p:txBody>
      </p:sp>
      <p:sp>
        <p:nvSpPr>
          <p:cNvPr id="88" name="Text 76"/>
          <p:cNvSpPr/>
          <p:nvPr/>
        </p:nvSpPr>
        <p:spPr>
          <a:xfrm>
            <a:off x="6665714" y="4820245"/>
            <a:ext cx="9525" cy="323255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41425" y="4881732"/>
            <a:ext cx="132588" cy="200281"/>
          </a:xfrm>
          <a:prstGeom prst="rect">
            <a:avLst/>
          </a:prstGeom>
        </p:spPr>
      </p:pic>
      <p:sp>
        <p:nvSpPr>
          <p:cNvPr id="90" name="Text 77"/>
          <p:cNvSpPr/>
          <p:nvPr/>
        </p:nvSpPr>
        <p:spPr>
          <a:xfrm>
            <a:off x="5268516" y="4875163"/>
            <a:ext cx="381485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560" dirty="0"/>
          </a:p>
        </p:txBody>
      </p:sp>
      <p:sp>
        <p:nvSpPr>
          <p:cNvPr id="91" name="Text 78"/>
          <p:cNvSpPr/>
          <p:nvPr/>
        </p:nvSpPr>
        <p:spPr>
          <a:xfrm>
            <a:off x="5685681" y="4869656"/>
            <a:ext cx="853294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· PROTECT functions</a:t>
            </a:r>
            <a:endParaRPr lang="en-US" sz="590" dirty="0"/>
          </a:p>
        </p:txBody>
      </p:sp>
      <p:pic>
        <p:nvPicPr>
          <p:cNvPr id="9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70200" y="4882570"/>
            <a:ext cx="132588" cy="198605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6897439" y="4875163"/>
            <a:ext cx="256550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 KEV</a:t>
            </a:r>
            <a:endParaRPr lang="en-US" sz="560" dirty="0"/>
          </a:p>
        </p:txBody>
      </p:sp>
      <p:sp>
        <p:nvSpPr>
          <p:cNvPr id="94" name="Text 80"/>
          <p:cNvSpPr/>
          <p:nvPr/>
        </p:nvSpPr>
        <p:spPr>
          <a:xfrm>
            <a:off x="7192119" y="4869656"/>
            <a:ext cx="1844579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Exploited Vulnerabilities catalog integration required</a:t>
            </a:r>
            <a:endParaRPr lang="en-US" sz="5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15220" cy="271522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2286000" cy="2286000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/>
              </a:gs>
              <a:gs pos="70000">
                <a:srgbClr val="00C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5258" y="2321719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68822" y="2456706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2535" y="2572494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56099" y="2649587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9812" y="2784723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3525" y="2514600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37238" y="2611041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30951" y="2707481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24664" y="2418159"/>
            <a:ext cx="486370" cy="21580"/>
          </a:xfrm>
          <a:custGeom>
            <a:avLst/>
            <a:gdLst/>
            <a:ahLst/>
            <a:cxnLst/>
            <a:rect l="l" t="t" r="r" b="b"/>
            <a:pathLst>
              <a:path w="486370" h="21580">
                <a:moveTo>
                  <a:pt x="29210" y="0"/>
                </a:moveTo>
                <a:lnTo>
                  <a:pt x="457160" y="0"/>
                </a:lnTo>
                <a:lnTo>
                  <a:pt x="457160" y="0"/>
                </a:lnTo>
                <a:lnTo>
                  <a:pt x="462859" y="561"/>
                </a:lnTo>
                <a:lnTo>
                  <a:pt x="468338" y="2223"/>
                </a:lnTo>
                <a:lnTo>
                  <a:pt x="473389" y="4923"/>
                </a:lnTo>
                <a:lnTo>
                  <a:pt x="477815" y="8555"/>
                </a:lnTo>
                <a:lnTo>
                  <a:pt x="481448" y="12982"/>
                </a:lnTo>
                <a:lnTo>
                  <a:pt x="484147" y="18032"/>
                </a:lnTo>
                <a:lnTo>
                  <a:pt x="485809" y="21580"/>
                </a:lnTo>
                <a:lnTo>
                  <a:pt x="486370" y="21580"/>
                </a:lnTo>
                <a:lnTo>
                  <a:pt x="486370" y="21580"/>
                </a:lnTo>
                <a:lnTo>
                  <a:pt x="0" y="21580"/>
                </a:lnTo>
                <a:lnTo>
                  <a:pt x="0" y="29210"/>
                </a:lnTo>
                <a:lnTo>
                  <a:pt x="29210" y="0"/>
                </a:ln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1580"/>
                </a:lnTo>
                <a:lnTo>
                  <a:pt x="0" y="2158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9158" y="1058019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673001" y="1107579"/>
            <a:ext cx="8041779" cy="75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9158" y="1524149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673001" y="1573709"/>
            <a:ext cx="8041779" cy="7590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9158" y="1990279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F59E0B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673001" y="2038796"/>
            <a:ext cx="8041779" cy="9525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18128" y="1897707"/>
            <a:ext cx="596652" cy="144393"/>
          </a:xfrm>
          <a:prstGeom prst="roundRect">
            <a:avLst>
              <a:gd name="adj" fmla="val 14952"/>
            </a:avLst>
          </a:prstGeom>
          <a:solidFill>
            <a:srgbClr val="0B1120"/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THRESHOLD</a:t>
            </a:r>
            <a:endParaRPr lang="en-US" sz="510" dirty="0"/>
          </a:p>
        </p:txBody>
      </p:sp>
      <p:sp>
        <p:nvSpPr>
          <p:cNvPr id="23" name="Text 21"/>
          <p:cNvSpPr/>
          <p:nvPr/>
        </p:nvSpPr>
        <p:spPr>
          <a:xfrm>
            <a:off x="409158" y="2456408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560" dirty="0"/>
          </a:p>
        </p:txBody>
      </p:sp>
      <p:sp>
        <p:nvSpPr>
          <p:cNvPr id="24" name="Text 22"/>
          <p:cNvSpPr/>
          <p:nvPr/>
        </p:nvSpPr>
        <p:spPr>
          <a:xfrm>
            <a:off x="673001" y="2505968"/>
            <a:ext cx="8041779" cy="75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9158" y="2922389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673001" y="2971949"/>
            <a:ext cx="8041779" cy="75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9158" y="3388519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673001" y="3438079"/>
            <a:ext cx="8041779" cy="75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9158" y="3854648"/>
            <a:ext cx="2206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673001" y="3904208"/>
            <a:ext cx="8041779" cy="7590"/>
          </a:xfrm>
          <a:prstGeom prst="rect">
            <a:avLst/>
          </a:prstGeom>
          <a:solidFill>
            <a:srgbClr val="00C8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22896" y="2139553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85%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875258" y="2321719"/>
            <a:ext cx="486370" cy="1639639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00C8FF"/>
              </a:gs>
              <a:gs pos="100000">
                <a:srgbClr val="007FA3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16609" y="2274540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78%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1768822" y="2456706"/>
            <a:ext cx="486370" cy="1504652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00B8E8"/>
              </a:gs>
              <a:gs pos="100000">
                <a:srgbClr val="006F8F"/>
              </a:gs>
            </a:gsLst>
            <a:lin ang="5400000" scaled="1"/>
          </a:gradFill>
          <a:ln/>
          <a:effectLst>
            <a:outerShdw blurRad="100330" dist="50800" dir="16200000" algn="bl" rotWithShape="0">
              <a:srgbClr val="00C8FF">
                <a:alpha val="2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810173" y="2390329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72%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2662535" y="2572494"/>
            <a:ext cx="486370" cy="1388864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00A8D0"/>
              </a:gs>
              <a:gs pos="100000">
                <a:srgbClr val="005C7A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8FF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703886" y="2467421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68%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3556099" y="2649587"/>
            <a:ext cx="486370" cy="1311771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D9920A"/>
              </a:gs>
              <a:gs pos="100000">
                <a:srgbClr val="7A4C00"/>
              </a:gs>
            </a:gsLst>
            <a:lin ang="5400000" scaled="1"/>
          </a:gradFill>
          <a:ln/>
          <a:effectLst>
            <a:outerShdw blurRad="100330" dist="50800" dir="16200000" algn="bl" rotWithShape="0">
              <a:srgbClr val="F59E0B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97598" y="2602557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61%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4449812" y="2784723"/>
            <a:ext cx="486370" cy="1176635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C0392B"/>
              </a:gs>
              <a:gs pos="100000">
                <a:srgbClr val="6E1A14"/>
              </a:gs>
            </a:gsLst>
            <a:lin ang="5400000" scaled="1"/>
          </a:gradFill>
          <a:ln/>
          <a:effectLst>
            <a:outerShdw blurRad="114300" dist="50800" dir="16200000" algn="bl" rotWithShape="0">
              <a:srgbClr val="EF4444">
                <a:alpha val="2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91311" y="2332434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75%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5343525" y="2514600"/>
            <a:ext cx="486370" cy="1446758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00AEE0"/>
              </a:gs>
              <a:gs pos="100000">
                <a:srgbClr val="006589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00C8FF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85024" y="2428875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70%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6237238" y="2611041"/>
            <a:ext cx="486370" cy="1350318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C78A00"/>
              </a:gs>
              <a:gs pos="100000">
                <a:srgbClr val="6E4A00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F59E0B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78737" y="2525316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65%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7130951" y="2707481"/>
            <a:ext cx="486370" cy="1253877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C0392B"/>
              </a:gs>
              <a:gs pos="100000">
                <a:srgbClr val="6E1A14"/>
              </a:gs>
            </a:gsLst>
            <a:lin ang="5400000" scaled="1"/>
          </a:gradFill>
          <a:ln/>
          <a:effectLst>
            <a:outerShdw blurRad="100330" dist="50800" dir="16200000" algn="bl" rotWithShape="0">
              <a:srgbClr val="EF4444">
                <a:alpha val="2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72450" y="2235994"/>
            <a:ext cx="2100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8024664" y="2418159"/>
            <a:ext cx="486370" cy="1543199"/>
          </a:xfrm>
          <a:prstGeom prst="roundRect">
            <a:avLst>
              <a:gd name="adj" fmla="val 6006"/>
            </a:avLst>
          </a:prstGeom>
          <a:gradFill rotWithShape="1">
            <a:gsLst>
              <a:gs pos="0">
                <a:srgbClr val="00C8FF"/>
              </a:gs>
              <a:gs pos="100000">
                <a:srgbClr val="007FA3"/>
              </a:gs>
            </a:gsLst>
            <a:lin ang="5400000" scaled="1"/>
          </a:gradFill>
          <a:ln/>
          <a:effectLst>
            <a:outerShdw blurRad="128270" dist="50800" dir="16200000" algn="bl" rotWithShape="0">
              <a:srgbClr val="00C8FF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2070" y="200620"/>
            <a:ext cx="2057409" cy="180231"/>
          </a:xfrm>
          <a:prstGeom prst="roundRect">
            <a:avLst>
              <a:gd name="adj" fmla="val 16207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CTI INTELLIGENCE · MITRE ATT&amp;CK</a:t>
            </a:r>
            <a:endParaRPr lang="en-US" sz="62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33" y="224367"/>
            <a:ext cx="132588" cy="132588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372070" y="438001"/>
            <a:ext cx="5644857" cy="463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-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CTI Intelligence Integration: </a:t>
            </a:r>
            <a:r>
              <a:rPr lang="en-US" sz="1580" b="1" kern="0" spc="-16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ATT&amp;CK</a:t>
            </a:r>
            <a:r>
              <a:rPr lang="en-US" sz="1580" kern="0" spc="-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Financial Sector Coverage</a:t>
            </a:r>
            <a:endParaRPr lang="en-US" sz="1580" dirty="0"/>
          </a:p>
        </p:txBody>
      </p:sp>
      <p:sp>
        <p:nvSpPr>
          <p:cNvPr id="52" name="Text 49"/>
          <p:cNvSpPr/>
          <p:nvPr/>
        </p:nvSpPr>
        <p:spPr>
          <a:xfrm>
            <a:off x="5906244" y="200620"/>
            <a:ext cx="1007983" cy="184100"/>
          </a:xfrm>
          <a:prstGeom prst="roundRect">
            <a:avLst>
              <a:gd name="adj" fmla="val 1586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71120" tIns="29210" rIns="7112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 v15</a:t>
            </a:r>
            <a:endParaRPr lang="en-US" sz="560" dirty="0"/>
          </a:p>
        </p:txBody>
      </p:sp>
      <p:sp>
        <p:nvSpPr>
          <p:cNvPr id="53" name="Text 50"/>
          <p:cNvSpPr/>
          <p:nvPr/>
        </p:nvSpPr>
        <p:spPr>
          <a:xfrm>
            <a:off x="6937623" y="200620"/>
            <a:ext cx="1007983" cy="184100"/>
          </a:xfrm>
          <a:prstGeom prst="roundRect">
            <a:avLst>
              <a:gd name="adj" fmla="val 1586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71120" tIns="29210" rIns="7112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54" name="Text 51"/>
          <p:cNvSpPr/>
          <p:nvPr/>
        </p:nvSpPr>
        <p:spPr>
          <a:xfrm>
            <a:off x="7969002" y="200620"/>
            <a:ext cx="818986" cy="184100"/>
          </a:xfrm>
          <a:prstGeom prst="roundRect">
            <a:avLst>
              <a:gd name="adj" fmla="val 15866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71120" tIns="29210" rIns="7112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560" dirty="0"/>
          </a:p>
        </p:txBody>
      </p:sp>
      <p:sp>
        <p:nvSpPr>
          <p:cNvPr id="55" name="Text 52"/>
          <p:cNvSpPr/>
          <p:nvPr/>
        </p:nvSpPr>
        <p:spPr>
          <a:xfrm>
            <a:off x="7223968" y="427881"/>
            <a:ext cx="803958" cy="153442"/>
          </a:xfrm>
          <a:prstGeom prst="roundRect">
            <a:avLst>
              <a:gd name="adj" fmla="val 93527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148848" tIns="13970" rIns="64770" bIns="13970" rtlCol="0" anchor="ctr"/>
          <a:lstStyle/>
          <a:p>
            <a:pPr marL="0" indent="0" algn="l">
              <a:buNone/>
            </a:pPr>
            <a:r>
              <a:rPr lang="en-US" sz="56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ZONE &lt;70%</a:t>
            </a:r>
            <a:endParaRPr lang="en-US" sz="56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6199" y="438233"/>
            <a:ext cx="132588" cy="132588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8069312" y="427881"/>
            <a:ext cx="716670" cy="153442"/>
          </a:xfrm>
          <a:prstGeom prst="roundRect">
            <a:avLst>
              <a:gd name="adj" fmla="val 93527"/>
            </a:avLst>
          </a:prstGeom>
          <a:solidFill>
            <a:srgbClr val="00C8FF">
              <a:alpha val="10000"/>
            </a:srgbClr>
          </a:solidFill>
          <a:ln w="9525">
            <a:solidFill>
              <a:srgbClr val="00C8FF">
                <a:alpha val="25000"/>
              </a:srgbClr>
            </a:solidFill>
          </a:ln>
        </p:spPr>
        <p:txBody>
          <a:bodyPr wrap="none" lIns="148848" tIns="13970" rIns="64770" bIns="13970" rtlCol="0" anchor="ctr"/>
          <a:lstStyle/>
          <a:p>
            <a:pPr marL="0" indent="0" algn="l">
              <a:buNone/>
            </a:pPr>
            <a:r>
              <a:rPr lang="en-US" sz="56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≥80%</a:t>
            </a:r>
            <a:endParaRPr lang="en-US" sz="560" dirty="0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1542" y="438233"/>
            <a:ext cx="132588" cy="13258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372070" y="950119"/>
            <a:ext cx="839985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8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560636" y="2262113"/>
            <a:ext cx="108844" cy="101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45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COVERAGE %</a:t>
            </a:r>
            <a:endParaRPr lang="en-US" sz="560" dirty="0"/>
          </a:p>
        </p:txBody>
      </p:sp>
      <p:sp>
        <p:nvSpPr>
          <p:cNvPr id="61" name="Text 56"/>
          <p:cNvSpPr/>
          <p:nvPr/>
        </p:nvSpPr>
        <p:spPr>
          <a:xfrm>
            <a:off x="671661" y="3961358"/>
            <a:ext cx="8043118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00C8FF">
                  <a:alpha val="25000"/>
                </a:srgbClr>
              </a:gs>
              <a:gs pos="90000">
                <a:srgbClr val="00C8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884180" y="4032349"/>
            <a:ext cx="576426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Initial Access</a:t>
            </a:r>
            <a:endParaRPr lang="en-US" sz="650" dirty="0"/>
          </a:p>
        </p:txBody>
      </p:sp>
      <p:sp>
        <p:nvSpPr>
          <p:cNvPr id="63" name="Text 58"/>
          <p:cNvSpPr/>
          <p:nvPr/>
        </p:nvSpPr>
        <p:spPr>
          <a:xfrm>
            <a:off x="807833" y="4157067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phishing, valid accts</a:t>
            </a:r>
            <a:endParaRPr lang="en-US" sz="530" dirty="0"/>
          </a:p>
        </p:txBody>
      </p:sp>
      <p:sp>
        <p:nvSpPr>
          <p:cNvPr id="64" name="Text 59"/>
          <p:cNvSpPr/>
          <p:nvPr/>
        </p:nvSpPr>
        <p:spPr>
          <a:xfrm>
            <a:off x="1843028" y="4032349"/>
            <a:ext cx="433507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</a:t>
            </a:r>
            <a:endParaRPr lang="en-US" sz="650" dirty="0"/>
          </a:p>
        </p:txBody>
      </p:sp>
      <p:sp>
        <p:nvSpPr>
          <p:cNvPr id="65" name="Text 60"/>
          <p:cNvSpPr/>
          <p:nvPr/>
        </p:nvSpPr>
        <p:spPr>
          <a:xfrm>
            <a:off x="1726458" y="4157067"/>
            <a:ext cx="666795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macros, scripts</a:t>
            </a:r>
            <a:endParaRPr lang="en-US" sz="530" dirty="0"/>
          </a:p>
        </p:txBody>
      </p:sp>
      <p:sp>
        <p:nvSpPr>
          <p:cNvPr id="66" name="Text 61"/>
          <p:cNvSpPr/>
          <p:nvPr/>
        </p:nvSpPr>
        <p:spPr>
          <a:xfrm>
            <a:off x="2692517" y="4032349"/>
            <a:ext cx="50930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Persistence</a:t>
            </a:r>
            <a:endParaRPr lang="en-US" sz="650" dirty="0"/>
          </a:p>
        </p:txBody>
      </p:sp>
      <p:sp>
        <p:nvSpPr>
          <p:cNvPr id="67" name="Text 62"/>
          <p:cNvSpPr/>
          <p:nvPr/>
        </p:nvSpPr>
        <p:spPr>
          <a:xfrm>
            <a:off x="2582609" y="4157067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sched. tasks, reg keys</a:t>
            </a:r>
            <a:endParaRPr lang="en-US" sz="530" dirty="0"/>
          </a:p>
        </p:txBody>
      </p:sp>
      <p:sp>
        <p:nvSpPr>
          <p:cNvPr id="68" name="Text 63"/>
          <p:cNvSpPr/>
          <p:nvPr/>
        </p:nvSpPr>
        <p:spPr>
          <a:xfrm>
            <a:off x="3501732" y="4032349"/>
            <a:ext cx="665649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Privilege Escal.</a:t>
            </a:r>
            <a:endParaRPr lang="en-US" sz="650" dirty="0"/>
          </a:p>
        </p:txBody>
      </p:sp>
      <p:sp>
        <p:nvSpPr>
          <p:cNvPr id="69" name="Text 64"/>
          <p:cNvSpPr/>
          <p:nvPr/>
        </p:nvSpPr>
        <p:spPr>
          <a:xfrm>
            <a:off x="3469922" y="4157067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manip., cred abuse</a:t>
            </a:r>
            <a:endParaRPr lang="en-US" sz="530" dirty="0"/>
          </a:p>
        </p:txBody>
      </p:sp>
      <p:sp>
        <p:nvSpPr>
          <p:cNvPr id="70" name="Text 65"/>
          <p:cNvSpPr/>
          <p:nvPr/>
        </p:nvSpPr>
        <p:spPr>
          <a:xfrm>
            <a:off x="4394125" y="4032349"/>
            <a:ext cx="655341" cy="21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Defense Evasion</a:t>
            </a:r>
            <a:endParaRPr lang="en-US" sz="650" dirty="0"/>
          </a:p>
        </p:txBody>
      </p:sp>
      <p:sp>
        <p:nvSpPr>
          <p:cNvPr id="71" name="Text 66"/>
          <p:cNvSpPr/>
          <p:nvPr/>
        </p:nvSpPr>
        <p:spPr>
          <a:xfrm>
            <a:off x="4366133" y="4260205"/>
            <a:ext cx="711324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obfusc., LOLBins</a:t>
            </a:r>
            <a:endParaRPr lang="en-US" sz="530" dirty="0"/>
          </a:p>
        </p:txBody>
      </p:sp>
      <p:sp>
        <p:nvSpPr>
          <p:cNvPr id="72" name="Text 67"/>
          <p:cNvSpPr/>
          <p:nvPr/>
        </p:nvSpPr>
        <p:spPr>
          <a:xfrm>
            <a:off x="5281438" y="4032349"/>
            <a:ext cx="655341" cy="21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Credential Access</a:t>
            </a:r>
            <a:endParaRPr lang="en-US" sz="650" dirty="0"/>
          </a:p>
        </p:txBody>
      </p:sp>
      <p:sp>
        <p:nvSpPr>
          <p:cNvPr id="73" name="Text 68"/>
          <p:cNvSpPr/>
          <p:nvPr/>
        </p:nvSpPr>
        <p:spPr>
          <a:xfrm>
            <a:off x="5244548" y="4260205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dumping, Kerberoasting</a:t>
            </a:r>
            <a:endParaRPr lang="en-US" sz="530" dirty="0"/>
          </a:p>
        </p:txBody>
      </p:sp>
      <p:sp>
        <p:nvSpPr>
          <p:cNvPr id="74" name="Text 69"/>
          <p:cNvSpPr/>
          <p:nvPr/>
        </p:nvSpPr>
        <p:spPr>
          <a:xfrm>
            <a:off x="6168752" y="4032349"/>
            <a:ext cx="655341" cy="21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Lateral Movement</a:t>
            </a:r>
            <a:endParaRPr lang="en-US" sz="650" dirty="0"/>
          </a:p>
        </p:txBody>
      </p:sp>
      <p:sp>
        <p:nvSpPr>
          <p:cNvPr id="75" name="Text 70"/>
          <p:cNvSpPr/>
          <p:nvPr/>
        </p:nvSpPr>
        <p:spPr>
          <a:xfrm>
            <a:off x="6131862" y="4260205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pass-the-hash, RDP</a:t>
            </a:r>
            <a:endParaRPr lang="en-US" sz="530" dirty="0"/>
          </a:p>
        </p:txBody>
      </p:sp>
      <p:sp>
        <p:nvSpPr>
          <p:cNvPr id="76" name="Text 71"/>
          <p:cNvSpPr/>
          <p:nvPr/>
        </p:nvSpPr>
        <p:spPr>
          <a:xfrm>
            <a:off x="7146920" y="4032349"/>
            <a:ext cx="473779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Exfiltration</a:t>
            </a:r>
            <a:endParaRPr lang="en-US" sz="650" dirty="0"/>
          </a:p>
        </p:txBody>
      </p:sp>
      <p:sp>
        <p:nvSpPr>
          <p:cNvPr id="77" name="Text 72"/>
          <p:cNvSpPr/>
          <p:nvPr/>
        </p:nvSpPr>
        <p:spPr>
          <a:xfrm>
            <a:off x="7019175" y="4157067"/>
            <a:ext cx="729270" cy="18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chans., DNS tunnel</a:t>
            </a:r>
            <a:endParaRPr lang="en-US" sz="530" dirty="0"/>
          </a:p>
        </p:txBody>
      </p:sp>
      <p:sp>
        <p:nvSpPr>
          <p:cNvPr id="78" name="Text 73"/>
          <p:cNvSpPr/>
          <p:nvPr/>
        </p:nvSpPr>
        <p:spPr>
          <a:xfrm>
            <a:off x="8124929" y="4032349"/>
            <a:ext cx="292388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</a:t>
            </a:r>
            <a:endParaRPr lang="en-US" sz="650" dirty="0"/>
          </a:p>
        </p:txBody>
      </p:sp>
      <p:sp>
        <p:nvSpPr>
          <p:cNvPr id="79" name="Text 74"/>
          <p:cNvSpPr/>
          <p:nvPr/>
        </p:nvSpPr>
        <p:spPr>
          <a:xfrm>
            <a:off x="7893278" y="4157067"/>
            <a:ext cx="755690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89"/>
              </a:lnSpc>
              <a:buNone/>
            </a:pPr>
            <a:r>
              <a:rPr lang="en-US" sz="53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ransomware, wiper</a:t>
            </a:r>
            <a:endParaRPr lang="en-US" sz="530" dirty="0"/>
          </a:p>
        </p:txBody>
      </p:sp>
      <p:sp>
        <p:nvSpPr>
          <p:cNvPr id="80" name="Text 75"/>
          <p:cNvSpPr/>
          <p:nvPr/>
        </p:nvSpPr>
        <p:spPr>
          <a:xfrm>
            <a:off x="372070" y="4521250"/>
            <a:ext cx="839985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8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639" y="4726567"/>
            <a:ext cx="132588" cy="132588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528786" y="4599831"/>
            <a:ext cx="4795055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in detection coverage drive prioritization for SOC rule development and purple team exercises. Defense Evasion (61%) &amp; Exfiltration (65%) require immediate SIEM engineering investment.</a:t>
            </a:r>
            <a:endParaRPr lang="en-US" sz="700" dirty="0"/>
          </a:p>
        </p:txBody>
      </p:sp>
      <p:sp>
        <p:nvSpPr>
          <p:cNvPr id="83" name="Text 77"/>
          <p:cNvSpPr/>
          <p:nvPr/>
        </p:nvSpPr>
        <p:spPr>
          <a:xfrm>
            <a:off x="6463754" y="4636740"/>
            <a:ext cx="86320" cy="86320"/>
          </a:xfrm>
          <a:prstGeom prst="roundRect">
            <a:avLst>
              <a:gd name="adj" fmla="val 16184"/>
            </a:avLst>
          </a:prstGeom>
          <a:gradFill rotWithShape="1">
            <a:gsLst>
              <a:gs pos="0">
                <a:srgbClr val="00C8FF"/>
              </a:gs>
              <a:gs pos="100000">
                <a:srgbClr val="007FA3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8"/>
          <p:cNvSpPr/>
          <p:nvPr/>
        </p:nvSpPr>
        <p:spPr>
          <a:xfrm>
            <a:off x="6585496" y="4620964"/>
            <a:ext cx="6245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≥ 80%</a:t>
            </a:r>
            <a:endParaRPr lang="en-US" sz="620" dirty="0"/>
          </a:p>
        </p:txBody>
      </p:sp>
      <p:sp>
        <p:nvSpPr>
          <p:cNvPr id="85" name="Text 79"/>
          <p:cNvSpPr/>
          <p:nvPr/>
        </p:nvSpPr>
        <p:spPr>
          <a:xfrm>
            <a:off x="7296745" y="4636740"/>
            <a:ext cx="86320" cy="86320"/>
          </a:xfrm>
          <a:prstGeom prst="roundRect">
            <a:avLst>
              <a:gd name="adj" fmla="val 16184"/>
            </a:avLst>
          </a:prstGeom>
          <a:gradFill rotWithShape="1">
            <a:gsLst>
              <a:gs pos="0">
                <a:srgbClr val="D9920A"/>
              </a:gs>
              <a:gs pos="100000">
                <a:srgbClr val="7A4C00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0"/>
          <p:cNvSpPr/>
          <p:nvPr/>
        </p:nvSpPr>
        <p:spPr>
          <a:xfrm>
            <a:off x="7418487" y="4620964"/>
            <a:ext cx="7286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 70–79%</a:t>
            </a:r>
            <a:endParaRPr lang="en-US" sz="620" dirty="0"/>
          </a:p>
        </p:txBody>
      </p:sp>
      <p:sp>
        <p:nvSpPr>
          <p:cNvPr id="87" name="Text 81"/>
          <p:cNvSpPr/>
          <p:nvPr/>
        </p:nvSpPr>
        <p:spPr>
          <a:xfrm>
            <a:off x="8224391" y="4636740"/>
            <a:ext cx="86320" cy="86320"/>
          </a:xfrm>
          <a:prstGeom prst="roundRect">
            <a:avLst>
              <a:gd name="adj" fmla="val 16184"/>
            </a:avLst>
          </a:prstGeom>
          <a:gradFill rotWithShape="1">
            <a:gsLst>
              <a:gs pos="0">
                <a:srgbClr val="C0392B"/>
              </a:gs>
              <a:gs pos="100000">
                <a:srgbClr val="6E1A14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2"/>
          <p:cNvSpPr/>
          <p:nvPr/>
        </p:nvSpPr>
        <p:spPr>
          <a:xfrm>
            <a:off x="8346132" y="4620964"/>
            <a:ext cx="4683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&lt; 70%</a:t>
            </a:r>
            <a:endParaRPr lang="en-US" sz="620" dirty="0"/>
          </a:p>
        </p:txBody>
      </p:sp>
      <p:sp>
        <p:nvSpPr>
          <p:cNvPr id="89" name="Text 83"/>
          <p:cNvSpPr/>
          <p:nvPr/>
        </p:nvSpPr>
        <p:spPr>
          <a:xfrm>
            <a:off x="7115026" y="4820096"/>
            <a:ext cx="5643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COVERAGE</a:t>
            </a:r>
            <a:endParaRPr lang="en-US" sz="560" dirty="0"/>
          </a:p>
        </p:txBody>
      </p:sp>
      <p:sp>
        <p:nvSpPr>
          <p:cNvPr id="90" name="Text 84"/>
          <p:cNvSpPr/>
          <p:nvPr/>
        </p:nvSpPr>
        <p:spPr>
          <a:xfrm>
            <a:off x="7685187" y="4782145"/>
            <a:ext cx="38030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72.7%</a:t>
            </a:r>
            <a:endParaRPr lang="en-US" sz="960" dirty="0"/>
          </a:p>
        </p:txBody>
      </p:sp>
      <p:sp>
        <p:nvSpPr>
          <p:cNvPr id="91" name="Text 85"/>
          <p:cNvSpPr/>
          <p:nvPr/>
        </p:nvSpPr>
        <p:spPr>
          <a:xfrm>
            <a:off x="8088064" y="4820096"/>
            <a:ext cx="7522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9 tactics</a:t>
            </a:r>
            <a:endParaRPr lang="en-US" sz="5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2610" y="3072110"/>
            <a:ext cx="2071390" cy="2071390"/>
          </a:xfrm>
          <a:prstGeom prst="rect">
            <a:avLst/>
          </a:prstGeom>
          <a:gradFill rotWithShape="1">
            <a:gsLst>
              <a:gs pos="0">
                <a:srgbClr val="10D4A0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4836319"/>
            <a:ext cx="8458200" cy="7590"/>
          </a:xfrm>
          <a:prstGeom prst="rect">
            <a:avLst/>
          </a:prstGeom>
          <a:gradFill rotWithShape="1">
            <a:gsLst>
              <a:gs pos="0">
                <a:srgbClr val="00C8FF">
                  <a:alpha val="20000"/>
                </a:srgbClr>
              </a:gs>
              <a:gs pos="50000">
                <a:srgbClr val="00C8FF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4445" y="761405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70696" y="761405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10D4A0"/>
              </a:gs>
              <a:gs pos="100000">
                <a:srgbClr val="10D4A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16946" y="761405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3196" y="761405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10D4A0"/>
              </a:gs>
              <a:gs pos="100000">
                <a:srgbClr val="10D4A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445" y="204564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70696" y="204564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78BFA"/>
              </a:gs>
              <a:gs pos="100000">
                <a:srgbClr val="A78BFA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16946" y="204564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63196" y="2045643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2900" y="209550"/>
            <a:ext cx="171450" cy="13841"/>
          </a:xfrm>
          <a:prstGeom prst="rect">
            <a:avLst/>
          </a:prstGeom>
          <a:solidFill>
            <a:srgbClr val="00C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157460"/>
            <a:ext cx="26663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93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MATURITY DASHBOARD · CRI GV.RM-4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342900" y="310902"/>
            <a:ext cx="7443799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7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Program </a:t>
            </a:r>
            <a:r>
              <a:rPr lang="en-US" sz="1690" b="1" kern="0" spc="-17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KPIs:</a:t>
            </a:r>
            <a:r>
              <a:rPr lang="en-US" sz="1690" kern="0" spc="-17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Measuring Security Maturity</a:t>
            </a:r>
            <a:endParaRPr lang="en-US" sz="1690" dirty="0"/>
          </a:p>
        </p:txBody>
      </p:sp>
      <p:sp>
        <p:nvSpPr>
          <p:cNvPr id="18" name="Text 16"/>
          <p:cNvSpPr/>
          <p:nvPr/>
        </p:nvSpPr>
        <p:spPr>
          <a:xfrm>
            <a:off x="7299722" y="200620"/>
            <a:ext cx="1531406" cy="223391"/>
          </a:xfrm>
          <a:prstGeom prst="roundRect">
            <a:avLst>
              <a:gd name="adj" fmla="val 19329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none" lIns="100330" tIns="43180" rIns="100330" bIns="4318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2026 · LIVE TRACKING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342900" y="643979"/>
            <a:ext cx="8458200" cy="7590"/>
          </a:xfrm>
          <a:prstGeom prst="rect">
            <a:avLst/>
          </a:prstGeom>
          <a:gradFill rotWithShape="1">
            <a:gsLst>
              <a:gs pos="0">
                <a:srgbClr val="00C8FF"/>
              </a:gs>
              <a:gs pos="40000">
                <a:srgbClr val="00C8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4920" y="751880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4755" y="847725"/>
            <a:ext cx="701793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MATURITY SCORE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2079724" y="84772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3740" y="881741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24755" y="1091505"/>
            <a:ext cx="71310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2.6</a:t>
            </a:r>
            <a:endParaRPr lang="en-US" sz="1580" dirty="0"/>
          </a:p>
        </p:txBody>
      </p:sp>
      <p:sp>
        <p:nvSpPr>
          <p:cNvPr id="25" name="Text 22"/>
          <p:cNvSpPr/>
          <p:nvPr/>
        </p:nvSpPr>
        <p:spPr>
          <a:xfrm>
            <a:off x="1148358" y="1172914"/>
            <a:ext cx="367064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+0.4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424755" y="1336477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3+ by Q4 2026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424755" y="1492597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24755" y="1492597"/>
            <a:ext cx="1335881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00C8FF"/>
              </a:gs>
              <a:gs pos="100000">
                <a:srgbClr val="00C8FF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755" y="1557189"/>
            <a:ext cx="1855589" cy="1574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24755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31" name="Text 27"/>
          <p:cNvSpPr/>
          <p:nvPr/>
        </p:nvSpPr>
        <p:spPr>
          <a:xfrm>
            <a:off x="982117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32" name="Text 28"/>
          <p:cNvSpPr/>
          <p:nvPr/>
        </p:nvSpPr>
        <p:spPr>
          <a:xfrm>
            <a:off x="1539478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33" name="Text 29"/>
          <p:cNvSpPr/>
          <p:nvPr/>
        </p:nvSpPr>
        <p:spPr>
          <a:xfrm>
            <a:off x="2096839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34" name="Text 30"/>
          <p:cNvSpPr/>
          <p:nvPr/>
        </p:nvSpPr>
        <p:spPr>
          <a:xfrm>
            <a:off x="2461171" y="751880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2571006" y="847725"/>
            <a:ext cx="80198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COMPLIANCE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(CRITICAL)</a:t>
            </a:r>
            <a:endParaRPr lang="en-US" sz="560" dirty="0"/>
          </a:p>
        </p:txBody>
      </p:sp>
      <p:sp>
        <p:nvSpPr>
          <p:cNvPr id="36" name="Text 32"/>
          <p:cNvSpPr/>
          <p:nvPr/>
        </p:nvSpPr>
        <p:spPr>
          <a:xfrm>
            <a:off x="4225975" y="84772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10D4A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9991" y="881741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2571006" y="1091505"/>
            <a:ext cx="58682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10D4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96.4%</a:t>
            </a:r>
            <a:endParaRPr lang="en-US" sz="1580" dirty="0"/>
          </a:p>
        </p:txBody>
      </p:sp>
      <p:sp>
        <p:nvSpPr>
          <p:cNvPr id="39" name="Text 34"/>
          <p:cNvSpPr/>
          <p:nvPr/>
        </p:nvSpPr>
        <p:spPr>
          <a:xfrm>
            <a:off x="3176588" y="1172914"/>
            <a:ext cx="413668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+2.1%</a:t>
            </a:r>
            <a:endParaRPr lang="en-US" sz="560" dirty="0"/>
          </a:p>
        </p:txBody>
      </p:sp>
      <p:sp>
        <p:nvSpPr>
          <p:cNvPr id="40" name="Text 35"/>
          <p:cNvSpPr/>
          <p:nvPr/>
        </p:nvSpPr>
        <p:spPr>
          <a:xfrm>
            <a:off x="2571006" y="1336477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&gt;98% within SLA</a:t>
            </a:r>
            <a:endParaRPr lang="en-US" sz="560" dirty="0"/>
          </a:p>
        </p:txBody>
      </p:sp>
      <p:sp>
        <p:nvSpPr>
          <p:cNvPr id="41" name="Text 36"/>
          <p:cNvSpPr/>
          <p:nvPr/>
        </p:nvSpPr>
        <p:spPr>
          <a:xfrm>
            <a:off x="2571006" y="1492597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2571006" y="1492597"/>
            <a:ext cx="1632793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10D4A0"/>
              </a:gs>
              <a:gs pos="100000">
                <a:srgbClr val="10D4A0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1006" y="1557189"/>
            <a:ext cx="1855589" cy="15746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2571006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45" name="Text 39"/>
          <p:cNvSpPr/>
          <p:nvPr/>
        </p:nvSpPr>
        <p:spPr>
          <a:xfrm>
            <a:off x="3128367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46" name="Text 40"/>
          <p:cNvSpPr/>
          <p:nvPr/>
        </p:nvSpPr>
        <p:spPr>
          <a:xfrm>
            <a:off x="3685729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47" name="Text 41"/>
          <p:cNvSpPr/>
          <p:nvPr/>
        </p:nvSpPr>
        <p:spPr>
          <a:xfrm>
            <a:off x="4243090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48" name="Text 42"/>
          <p:cNvSpPr/>
          <p:nvPr/>
        </p:nvSpPr>
        <p:spPr>
          <a:xfrm>
            <a:off x="4607421" y="751880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4717256" y="847725"/>
            <a:ext cx="80198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TIME TO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(MTTD) P1</a:t>
            </a:r>
            <a:endParaRPr lang="en-US" sz="560" dirty="0"/>
          </a:p>
        </p:txBody>
      </p:sp>
      <p:sp>
        <p:nvSpPr>
          <p:cNvPr id="50" name="Text 44"/>
          <p:cNvSpPr/>
          <p:nvPr/>
        </p:nvSpPr>
        <p:spPr>
          <a:xfrm>
            <a:off x="6372225" y="84772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6241" y="881741"/>
            <a:ext cx="132588" cy="132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4717256" y="1091505"/>
            <a:ext cx="65386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 min</a:t>
            </a:r>
            <a:endParaRPr lang="en-US" sz="1580" dirty="0"/>
          </a:p>
        </p:txBody>
      </p:sp>
      <p:sp>
        <p:nvSpPr>
          <p:cNvPr id="53" name="Text 46"/>
          <p:cNvSpPr/>
          <p:nvPr/>
        </p:nvSpPr>
        <p:spPr>
          <a:xfrm>
            <a:off x="5385495" y="1172914"/>
            <a:ext cx="506572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−11 min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4717256" y="1336477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&lt;60 min P1</a:t>
            </a:r>
            <a:endParaRPr lang="en-US" sz="560" dirty="0"/>
          </a:p>
        </p:txBody>
      </p:sp>
      <p:sp>
        <p:nvSpPr>
          <p:cNvPr id="55" name="Text 48"/>
          <p:cNvSpPr/>
          <p:nvPr/>
        </p:nvSpPr>
        <p:spPr>
          <a:xfrm>
            <a:off x="4717256" y="1492597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4717256" y="1492597"/>
            <a:ext cx="1521470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00C8FF"/>
              </a:gs>
              <a:gs pos="100000">
                <a:srgbClr val="00C8FF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7256" y="1557189"/>
            <a:ext cx="1855589" cy="15746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4717256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59" name="Text 51"/>
          <p:cNvSpPr/>
          <p:nvPr/>
        </p:nvSpPr>
        <p:spPr>
          <a:xfrm>
            <a:off x="5274618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60" name="Text 52"/>
          <p:cNvSpPr/>
          <p:nvPr/>
        </p:nvSpPr>
        <p:spPr>
          <a:xfrm>
            <a:off x="5831979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61" name="Text 53"/>
          <p:cNvSpPr/>
          <p:nvPr/>
        </p:nvSpPr>
        <p:spPr>
          <a:xfrm>
            <a:off x="6389340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62" name="Text 54"/>
          <p:cNvSpPr/>
          <p:nvPr/>
        </p:nvSpPr>
        <p:spPr>
          <a:xfrm>
            <a:off x="6753671" y="751880"/>
            <a:ext cx="2075408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6863507" y="847725"/>
            <a:ext cx="852232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TIME TO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 (MTTR) P1</a:t>
            </a:r>
            <a:endParaRPr lang="en-US" sz="560" dirty="0"/>
          </a:p>
        </p:txBody>
      </p:sp>
      <p:sp>
        <p:nvSpPr>
          <p:cNvPr id="64" name="Text 56"/>
          <p:cNvSpPr/>
          <p:nvPr/>
        </p:nvSpPr>
        <p:spPr>
          <a:xfrm>
            <a:off x="8518624" y="84772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10D4A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52640" y="881741"/>
            <a:ext cx="132588" cy="132588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863507" y="1091505"/>
            <a:ext cx="661668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10D4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3.2 hrs</a:t>
            </a:r>
            <a:endParaRPr lang="en-US" sz="1580" dirty="0"/>
          </a:p>
        </p:txBody>
      </p:sp>
      <p:sp>
        <p:nvSpPr>
          <p:cNvPr id="67" name="Text 58"/>
          <p:cNvSpPr/>
          <p:nvPr/>
        </p:nvSpPr>
        <p:spPr>
          <a:xfrm>
            <a:off x="7539037" y="1172914"/>
            <a:ext cx="506572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−0.8 hr</a:t>
            </a:r>
            <a:endParaRPr lang="en-US" sz="560" dirty="0"/>
          </a:p>
        </p:txBody>
      </p:sp>
      <p:sp>
        <p:nvSpPr>
          <p:cNvPr id="68" name="Text 59"/>
          <p:cNvSpPr/>
          <p:nvPr/>
        </p:nvSpPr>
        <p:spPr>
          <a:xfrm>
            <a:off x="6863507" y="1336477"/>
            <a:ext cx="20413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&lt;4 hours P1</a:t>
            </a:r>
            <a:endParaRPr lang="en-US" sz="560" dirty="0"/>
          </a:p>
        </p:txBody>
      </p:sp>
      <p:sp>
        <p:nvSpPr>
          <p:cNvPr id="69" name="Text 60"/>
          <p:cNvSpPr/>
          <p:nvPr/>
        </p:nvSpPr>
        <p:spPr>
          <a:xfrm>
            <a:off x="6863507" y="1492597"/>
            <a:ext cx="1855738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6863507" y="1492597"/>
            <a:ext cx="1465957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10D4A0"/>
              </a:gs>
              <a:gs pos="100000">
                <a:srgbClr val="10D4A0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3507" y="1557189"/>
            <a:ext cx="1855738" cy="157460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6863507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73" name="Text 63"/>
          <p:cNvSpPr/>
          <p:nvPr/>
        </p:nvSpPr>
        <p:spPr>
          <a:xfrm>
            <a:off x="7420868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74" name="Text 64"/>
          <p:cNvSpPr/>
          <p:nvPr/>
        </p:nvSpPr>
        <p:spPr>
          <a:xfrm>
            <a:off x="7978378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75" name="Text 65"/>
          <p:cNvSpPr/>
          <p:nvPr/>
        </p:nvSpPr>
        <p:spPr>
          <a:xfrm>
            <a:off x="8535739" y="1722239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76" name="Text 66"/>
          <p:cNvSpPr/>
          <p:nvPr/>
        </p:nvSpPr>
        <p:spPr>
          <a:xfrm>
            <a:off x="314920" y="2036118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7"/>
          <p:cNvSpPr/>
          <p:nvPr/>
        </p:nvSpPr>
        <p:spPr>
          <a:xfrm>
            <a:off x="424755" y="2131963"/>
            <a:ext cx="601602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MFA COVERAGE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ACCOUNTS</a:t>
            </a:r>
            <a:endParaRPr lang="en-US" sz="560" dirty="0"/>
          </a:p>
        </p:txBody>
      </p:sp>
      <p:sp>
        <p:nvSpPr>
          <p:cNvPr id="78" name="Text 68"/>
          <p:cNvSpPr/>
          <p:nvPr/>
        </p:nvSpPr>
        <p:spPr>
          <a:xfrm>
            <a:off x="2079724" y="21319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13740" y="2165979"/>
            <a:ext cx="132588" cy="132588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424755" y="2375743"/>
            <a:ext cx="58682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93.7%</a:t>
            </a:r>
            <a:endParaRPr lang="en-US" sz="1580" dirty="0"/>
          </a:p>
        </p:txBody>
      </p:sp>
      <p:sp>
        <p:nvSpPr>
          <p:cNvPr id="81" name="Text 70"/>
          <p:cNvSpPr/>
          <p:nvPr/>
        </p:nvSpPr>
        <p:spPr>
          <a:xfrm>
            <a:off x="1030337" y="2457152"/>
            <a:ext cx="599629" cy="134392"/>
          </a:xfrm>
          <a:prstGeom prst="roundRect">
            <a:avLst>
              <a:gd name="adj" fmla="val 21735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+6.3% gap</a:t>
            </a:r>
            <a:endParaRPr lang="en-US" sz="560" dirty="0"/>
          </a:p>
        </p:txBody>
      </p:sp>
      <p:sp>
        <p:nvSpPr>
          <p:cNvPr id="82" name="Text 71"/>
          <p:cNvSpPr/>
          <p:nvPr/>
        </p:nvSpPr>
        <p:spPr>
          <a:xfrm>
            <a:off x="424755" y="2620714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all accounts</a:t>
            </a:r>
            <a:endParaRPr lang="en-US" sz="560" dirty="0"/>
          </a:p>
        </p:txBody>
      </p:sp>
      <p:sp>
        <p:nvSpPr>
          <p:cNvPr id="83" name="Text 72"/>
          <p:cNvSpPr/>
          <p:nvPr/>
        </p:nvSpPr>
        <p:spPr>
          <a:xfrm>
            <a:off x="424755" y="2776835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3"/>
          <p:cNvSpPr/>
          <p:nvPr/>
        </p:nvSpPr>
        <p:spPr>
          <a:xfrm>
            <a:off x="424755" y="2776835"/>
            <a:ext cx="1744117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F59E0B"/>
              </a:gs>
              <a:gs pos="100000">
                <a:srgbClr val="F59E0B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4755" y="2841427"/>
            <a:ext cx="1855589" cy="157460"/>
          </a:xfrm>
          <a:prstGeom prst="rect">
            <a:avLst/>
          </a:prstGeom>
        </p:spPr>
      </p:pic>
      <p:sp>
        <p:nvSpPr>
          <p:cNvPr id="86" name="Text 74"/>
          <p:cNvSpPr/>
          <p:nvPr/>
        </p:nvSpPr>
        <p:spPr>
          <a:xfrm>
            <a:off x="424755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87" name="Text 75"/>
          <p:cNvSpPr/>
          <p:nvPr/>
        </p:nvSpPr>
        <p:spPr>
          <a:xfrm>
            <a:off x="982117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88" name="Text 76"/>
          <p:cNvSpPr/>
          <p:nvPr/>
        </p:nvSpPr>
        <p:spPr>
          <a:xfrm>
            <a:off x="1539478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89" name="Text 77"/>
          <p:cNvSpPr/>
          <p:nvPr/>
        </p:nvSpPr>
        <p:spPr>
          <a:xfrm>
            <a:off x="2096839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90" name="Text 78"/>
          <p:cNvSpPr/>
          <p:nvPr/>
        </p:nvSpPr>
        <p:spPr>
          <a:xfrm>
            <a:off x="2461171" y="2036118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9"/>
          <p:cNvSpPr/>
          <p:nvPr/>
        </p:nvSpPr>
        <p:spPr>
          <a:xfrm>
            <a:off x="2571006" y="2131963"/>
            <a:ext cx="946806" cy="29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PAM COVERAGE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PRIVILEGED ACCOUNTS</a:t>
            </a:r>
            <a:endParaRPr lang="en-US" sz="560" dirty="0"/>
          </a:p>
        </p:txBody>
      </p:sp>
      <p:sp>
        <p:nvSpPr>
          <p:cNvPr id="92" name="Text 80"/>
          <p:cNvSpPr/>
          <p:nvPr/>
        </p:nvSpPr>
        <p:spPr>
          <a:xfrm>
            <a:off x="4225975" y="21319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59991" y="2165979"/>
            <a:ext cx="132588" cy="132588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2571006" y="2452390"/>
            <a:ext cx="58682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88.2%</a:t>
            </a:r>
            <a:endParaRPr lang="en-US" sz="1580" dirty="0"/>
          </a:p>
        </p:txBody>
      </p:sp>
      <p:sp>
        <p:nvSpPr>
          <p:cNvPr id="95" name="Text 82"/>
          <p:cNvSpPr/>
          <p:nvPr/>
        </p:nvSpPr>
        <p:spPr>
          <a:xfrm>
            <a:off x="3176588" y="2533799"/>
            <a:ext cx="413668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+9.8%</a:t>
            </a:r>
            <a:endParaRPr lang="en-US" sz="560" dirty="0"/>
          </a:p>
        </p:txBody>
      </p:sp>
      <p:sp>
        <p:nvSpPr>
          <p:cNvPr id="96" name="Text 83"/>
          <p:cNvSpPr/>
          <p:nvPr/>
        </p:nvSpPr>
        <p:spPr>
          <a:xfrm>
            <a:off x="2571006" y="2697361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vaulted</a:t>
            </a:r>
            <a:endParaRPr lang="en-US" sz="560" dirty="0"/>
          </a:p>
        </p:txBody>
      </p:sp>
      <p:sp>
        <p:nvSpPr>
          <p:cNvPr id="97" name="Text 84"/>
          <p:cNvSpPr/>
          <p:nvPr/>
        </p:nvSpPr>
        <p:spPr>
          <a:xfrm>
            <a:off x="2571006" y="2853482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85"/>
          <p:cNvSpPr/>
          <p:nvPr/>
        </p:nvSpPr>
        <p:spPr>
          <a:xfrm>
            <a:off x="2571006" y="2853482"/>
            <a:ext cx="1632793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A78BFA"/>
              </a:gs>
              <a:gs pos="100000">
                <a:srgbClr val="A78BFA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71006" y="2918073"/>
            <a:ext cx="1855589" cy="157460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2571006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101" name="Text 87"/>
          <p:cNvSpPr/>
          <p:nvPr/>
        </p:nvSpPr>
        <p:spPr>
          <a:xfrm>
            <a:off x="3128367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102" name="Text 88"/>
          <p:cNvSpPr/>
          <p:nvPr/>
        </p:nvSpPr>
        <p:spPr>
          <a:xfrm>
            <a:off x="3685729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103" name="Text 89"/>
          <p:cNvSpPr/>
          <p:nvPr/>
        </p:nvSpPr>
        <p:spPr>
          <a:xfrm>
            <a:off x="4243090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104" name="Text 90"/>
          <p:cNvSpPr/>
          <p:nvPr/>
        </p:nvSpPr>
        <p:spPr>
          <a:xfrm>
            <a:off x="4607421" y="2036118"/>
            <a:ext cx="2075259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91"/>
          <p:cNvSpPr/>
          <p:nvPr/>
        </p:nvSpPr>
        <p:spPr>
          <a:xfrm>
            <a:off x="4717256" y="2131963"/>
            <a:ext cx="80198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 REMEDIATION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 COMPLIANCE</a:t>
            </a:r>
            <a:endParaRPr lang="en-US" sz="560" dirty="0"/>
          </a:p>
        </p:txBody>
      </p:sp>
      <p:sp>
        <p:nvSpPr>
          <p:cNvPr id="106" name="Text 92"/>
          <p:cNvSpPr/>
          <p:nvPr/>
        </p:nvSpPr>
        <p:spPr>
          <a:xfrm>
            <a:off x="6372225" y="21319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0C8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6241" y="2165979"/>
            <a:ext cx="132588" cy="132588"/>
          </a:xfrm>
          <a:prstGeom prst="rect">
            <a:avLst/>
          </a:prstGeom>
        </p:spPr>
      </p:pic>
      <p:sp>
        <p:nvSpPr>
          <p:cNvPr id="108" name="Text 93"/>
          <p:cNvSpPr/>
          <p:nvPr/>
        </p:nvSpPr>
        <p:spPr>
          <a:xfrm>
            <a:off x="4717256" y="2375743"/>
            <a:ext cx="58682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97.1%</a:t>
            </a:r>
            <a:endParaRPr lang="en-US" sz="1580" dirty="0"/>
          </a:p>
        </p:txBody>
      </p:sp>
      <p:sp>
        <p:nvSpPr>
          <p:cNvPr id="109" name="Text 94"/>
          <p:cNvSpPr/>
          <p:nvPr/>
        </p:nvSpPr>
        <p:spPr>
          <a:xfrm>
            <a:off x="5322838" y="2457152"/>
            <a:ext cx="413668" cy="134392"/>
          </a:xfrm>
          <a:prstGeom prst="roundRect">
            <a:avLst>
              <a:gd name="adj" fmla="val 21735"/>
            </a:avLst>
          </a:prstGeom>
          <a:solidFill>
            <a:srgbClr val="10D4A0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1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+2.1%</a:t>
            </a:r>
            <a:endParaRPr lang="en-US" sz="560" dirty="0"/>
          </a:p>
        </p:txBody>
      </p:sp>
      <p:sp>
        <p:nvSpPr>
          <p:cNvPr id="110" name="Text 95"/>
          <p:cNvSpPr/>
          <p:nvPr/>
        </p:nvSpPr>
        <p:spPr>
          <a:xfrm>
            <a:off x="4717256" y="2620714"/>
            <a:ext cx="2041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&gt;95% within SLA</a:t>
            </a:r>
            <a:endParaRPr lang="en-US" sz="560" dirty="0"/>
          </a:p>
        </p:txBody>
      </p:sp>
      <p:sp>
        <p:nvSpPr>
          <p:cNvPr id="111" name="Text 96"/>
          <p:cNvSpPr/>
          <p:nvPr/>
        </p:nvSpPr>
        <p:spPr>
          <a:xfrm>
            <a:off x="4717256" y="2776835"/>
            <a:ext cx="1855589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97"/>
          <p:cNvSpPr/>
          <p:nvPr/>
        </p:nvSpPr>
        <p:spPr>
          <a:xfrm>
            <a:off x="4717256" y="2776835"/>
            <a:ext cx="1799779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00C8FF"/>
              </a:gs>
              <a:gs pos="100000">
                <a:srgbClr val="00C8FF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17256" y="2841427"/>
            <a:ext cx="1855589" cy="157460"/>
          </a:xfrm>
          <a:prstGeom prst="rect">
            <a:avLst/>
          </a:prstGeom>
        </p:spPr>
      </p:pic>
      <p:sp>
        <p:nvSpPr>
          <p:cNvPr id="114" name="Text 98"/>
          <p:cNvSpPr/>
          <p:nvPr/>
        </p:nvSpPr>
        <p:spPr>
          <a:xfrm>
            <a:off x="4717256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115" name="Text 99"/>
          <p:cNvSpPr/>
          <p:nvPr/>
        </p:nvSpPr>
        <p:spPr>
          <a:xfrm>
            <a:off x="5274618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116" name="Text 100"/>
          <p:cNvSpPr/>
          <p:nvPr/>
        </p:nvSpPr>
        <p:spPr>
          <a:xfrm>
            <a:off x="5831979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117" name="Text 101"/>
          <p:cNvSpPr/>
          <p:nvPr/>
        </p:nvSpPr>
        <p:spPr>
          <a:xfrm>
            <a:off x="6389340" y="3006477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118" name="Text 102"/>
          <p:cNvSpPr/>
          <p:nvPr/>
        </p:nvSpPr>
        <p:spPr>
          <a:xfrm>
            <a:off x="6753671" y="2036118"/>
            <a:ext cx="2075408" cy="1213247"/>
          </a:xfrm>
          <a:prstGeom prst="roundRect">
            <a:avLst>
              <a:gd name="adj" fmla="val 5862"/>
            </a:avLst>
          </a:prstGeom>
          <a:solidFill>
            <a:srgbClr val="162032"/>
          </a:solidFill>
          <a:ln w="9525">
            <a:solidFill>
              <a:srgbClr val="00C8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03"/>
          <p:cNvSpPr/>
          <p:nvPr/>
        </p:nvSpPr>
        <p:spPr>
          <a:xfrm>
            <a:off x="6863507" y="2131963"/>
            <a:ext cx="946806" cy="29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PHISHING-RESISTANT</a:t>
            </a:r>
            <a:br/>
            <a:r>
              <a:rPr lang="en-US" sz="560" b="1" kern="0" spc="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(FIDO2/PASSKEY)</a:t>
            </a:r>
            <a:endParaRPr lang="en-US" sz="560" dirty="0"/>
          </a:p>
        </p:txBody>
      </p:sp>
      <p:sp>
        <p:nvSpPr>
          <p:cNvPr id="120" name="Text 104"/>
          <p:cNvSpPr/>
          <p:nvPr/>
        </p:nvSpPr>
        <p:spPr>
          <a:xfrm>
            <a:off x="8518624" y="21319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2640" y="2165979"/>
            <a:ext cx="132588" cy="132588"/>
          </a:xfrm>
          <a:prstGeom prst="rect">
            <a:avLst/>
          </a:prstGeom>
        </p:spPr>
      </p:pic>
      <p:sp>
        <p:nvSpPr>
          <p:cNvPr id="122" name="Text 105"/>
          <p:cNvSpPr/>
          <p:nvPr/>
        </p:nvSpPr>
        <p:spPr>
          <a:xfrm>
            <a:off x="6863507" y="2452390"/>
            <a:ext cx="58682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2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580" dirty="0"/>
          </a:p>
        </p:txBody>
      </p:sp>
      <p:sp>
        <p:nvSpPr>
          <p:cNvPr id="123" name="Text 106"/>
          <p:cNvSpPr/>
          <p:nvPr/>
        </p:nvSpPr>
        <p:spPr>
          <a:xfrm>
            <a:off x="7469088" y="2533799"/>
            <a:ext cx="646081" cy="134392"/>
          </a:xfrm>
          <a:prstGeom prst="roundRect">
            <a:avLst>
              <a:gd name="adj" fmla="val 21735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22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+18.7% gap</a:t>
            </a:r>
            <a:endParaRPr lang="en-US" sz="560" dirty="0"/>
          </a:p>
        </p:txBody>
      </p:sp>
      <p:sp>
        <p:nvSpPr>
          <p:cNvPr id="124" name="Text 107"/>
          <p:cNvSpPr/>
          <p:nvPr/>
        </p:nvSpPr>
        <p:spPr>
          <a:xfrm>
            <a:off x="6863507" y="2697361"/>
            <a:ext cx="20413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</a:t>
            </a:r>
            <a:r>
              <a:rPr lang="en-US" sz="560" b="1" kern="0" spc="1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&gt;80% FIDO2 adoption</a:t>
            </a:r>
            <a:endParaRPr lang="en-US" sz="560" dirty="0"/>
          </a:p>
        </p:txBody>
      </p:sp>
      <p:sp>
        <p:nvSpPr>
          <p:cNvPr id="125" name="Text 108"/>
          <p:cNvSpPr/>
          <p:nvPr/>
        </p:nvSpPr>
        <p:spPr>
          <a:xfrm>
            <a:off x="6863507" y="2853482"/>
            <a:ext cx="1855738" cy="29170"/>
          </a:xfrm>
          <a:prstGeom prst="roundRect">
            <a:avLst>
              <a:gd name="adj" fmla="val 7401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109"/>
          <p:cNvSpPr/>
          <p:nvPr/>
        </p:nvSpPr>
        <p:spPr>
          <a:xfrm>
            <a:off x="6863507" y="2853482"/>
            <a:ext cx="1131987" cy="29170"/>
          </a:xfrm>
          <a:prstGeom prst="roundRect">
            <a:avLst>
              <a:gd name="adj" fmla="val 74015"/>
            </a:avLst>
          </a:prstGeom>
          <a:gradFill rotWithShape="1">
            <a:gsLst>
              <a:gs pos="0">
                <a:srgbClr val="F59E0B"/>
              </a:gs>
              <a:gs pos="100000">
                <a:srgbClr val="F59E0B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63507" y="2918073"/>
            <a:ext cx="1855738" cy="157460"/>
          </a:xfrm>
          <a:prstGeom prst="rect">
            <a:avLst/>
          </a:prstGeom>
        </p:spPr>
      </p:pic>
      <p:sp>
        <p:nvSpPr>
          <p:cNvPr id="128" name="Text 110"/>
          <p:cNvSpPr/>
          <p:nvPr/>
        </p:nvSpPr>
        <p:spPr>
          <a:xfrm>
            <a:off x="6863507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Q3'25</a:t>
            </a:r>
            <a:endParaRPr lang="en-US" sz="450" dirty="0"/>
          </a:p>
        </p:txBody>
      </p:sp>
      <p:sp>
        <p:nvSpPr>
          <p:cNvPr id="129" name="Text 111"/>
          <p:cNvSpPr/>
          <p:nvPr/>
        </p:nvSpPr>
        <p:spPr>
          <a:xfrm>
            <a:off x="7420868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Q4'25</a:t>
            </a:r>
            <a:endParaRPr lang="en-US" sz="450" dirty="0"/>
          </a:p>
        </p:txBody>
      </p:sp>
      <p:sp>
        <p:nvSpPr>
          <p:cNvPr id="130" name="Text 112"/>
          <p:cNvSpPr/>
          <p:nvPr/>
        </p:nvSpPr>
        <p:spPr>
          <a:xfrm>
            <a:off x="7978378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Q1'26</a:t>
            </a:r>
            <a:endParaRPr lang="en-US" sz="450" dirty="0"/>
          </a:p>
        </p:txBody>
      </p:sp>
      <p:sp>
        <p:nvSpPr>
          <p:cNvPr id="131" name="Text 113"/>
          <p:cNvSpPr/>
          <p:nvPr/>
        </p:nvSpPr>
        <p:spPr>
          <a:xfrm>
            <a:off x="8535739" y="3083123"/>
            <a:ext cx="20185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7A9BB5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Q2'26</a:t>
            </a:r>
            <a:endParaRPr lang="en-US" sz="450" dirty="0"/>
          </a:p>
        </p:txBody>
      </p:sp>
      <p:sp>
        <p:nvSpPr>
          <p:cNvPr id="132" name="Text 114"/>
          <p:cNvSpPr/>
          <p:nvPr/>
        </p:nvSpPr>
        <p:spPr>
          <a:xfrm>
            <a:off x="342900" y="4944666"/>
            <a:ext cx="49411" cy="49411"/>
          </a:xfrm>
          <a:prstGeom prst="ellipse">
            <a:avLst/>
          </a:prstGeom>
          <a:solidFill>
            <a:srgbClr val="10D4A0"/>
          </a:solidFill>
          <a:ln/>
          <a:effectLst>
            <a:outerShdw blurRad="43180" dist="50800" dir="16200000" algn="bl" rotWithShape="0">
              <a:srgbClr val="10D4A0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Text 115"/>
          <p:cNvSpPr/>
          <p:nvPr/>
        </p:nvSpPr>
        <p:spPr>
          <a:xfrm>
            <a:off x="1385143" y="4927402"/>
            <a:ext cx="60180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CISO monthly</a:t>
            </a:r>
            <a:endParaRPr lang="en-US" sz="560" dirty="0"/>
          </a:p>
        </p:txBody>
      </p:sp>
      <p:sp>
        <p:nvSpPr>
          <p:cNvPr id="134" name="Text 116"/>
          <p:cNvSpPr/>
          <p:nvPr/>
        </p:nvSpPr>
        <p:spPr>
          <a:xfrm>
            <a:off x="2160240" y="4927402"/>
            <a:ext cx="150434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Risk Committee quarterly</a:t>
            </a:r>
            <a:endParaRPr lang="en-US" sz="560" dirty="0"/>
          </a:p>
        </p:txBody>
      </p:sp>
      <p:sp>
        <p:nvSpPr>
          <p:cNvPr id="135" name="Text 117"/>
          <p:cNvSpPr/>
          <p:nvPr/>
        </p:nvSpPr>
        <p:spPr>
          <a:xfrm>
            <a:off x="3755827" y="4927402"/>
            <a:ext cx="5517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GV.RM-4</a:t>
            </a:r>
            <a:endParaRPr lang="en-US" sz="560" dirty="0"/>
          </a:p>
        </p:txBody>
      </p:sp>
      <p:sp>
        <p:nvSpPr>
          <p:cNvPr id="136" name="Text 118"/>
          <p:cNvSpPr/>
          <p:nvPr/>
        </p:nvSpPr>
        <p:spPr>
          <a:xfrm>
            <a:off x="6871841" y="4899422"/>
            <a:ext cx="485927" cy="143768"/>
          </a:xfrm>
          <a:prstGeom prst="roundRect">
            <a:avLst>
              <a:gd name="adj" fmla="val 20317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10" kern="0" spc="3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V2.2</a:t>
            </a:r>
            <a:endParaRPr lang="en-US" sz="510" dirty="0"/>
          </a:p>
        </p:txBody>
      </p:sp>
      <p:sp>
        <p:nvSpPr>
          <p:cNvPr id="137" name="Text 119"/>
          <p:cNvSpPr/>
          <p:nvPr/>
        </p:nvSpPr>
        <p:spPr>
          <a:xfrm>
            <a:off x="7405390" y="4899422"/>
            <a:ext cx="660806" cy="143768"/>
          </a:xfrm>
          <a:prstGeom prst="roundRect">
            <a:avLst>
              <a:gd name="adj" fmla="val 20317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10" kern="0" spc="3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510" dirty="0"/>
          </a:p>
        </p:txBody>
      </p:sp>
      <p:sp>
        <p:nvSpPr>
          <p:cNvPr id="138" name="Text 120"/>
          <p:cNvSpPr/>
          <p:nvPr/>
        </p:nvSpPr>
        <p:spPr>
          <a:xfrm>
            <a:off x="8110389" y="4899422"/>
            <a:ext cx="704526" cy="143768"/>
          </a:xfrm>
          <a:prstGeom prst="roundRect">
            <a:avLst>
              <a:gd name="adj" fmla="val 20317"/>
            </a:avLst>
          </a:prstGeom>
          <a:solidFill>
            <a:srgbClr val="00C8FF">
              <a:alpha val="6000"/>
            </a:srgbClr>
          </a:solidFill>
          <a:ln w="9525">
            <a:solidFill>
              <a:srgbClr val="00C8FF">
                <a:alpha val="10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10" kern="0" spc="31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· MAY 2026</a:t>
            </a:r>
            <a:endParaRPr lang="en-US" sz="5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000970" cy="2000250"/>
          </a:xfrm>
          <a:prstGeom prst="rect">
            <a:avLst/>
          </a:prstGeom>
          <a:gradFill rotWithShape="1">
            <a:gsLst>
              <a:gs pos="0">
                <a:srgbClr val="00C8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720" y="3357860"/>
            <a:ext cx="2428280" cy="1785640"/>
          </a:xfrm>
          <a:prstGeom prst="rect">
            <a:avLst/>
          </a:prstGeom>
          <a:gradFill rotWithShape="1">
            <a:gsLst>
              <a:gs pos="0">
                <a:srgbClr val="00C8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795040"/>
            <a:ext cx="1580559" cy="429220"/>
          </a:xfrm>
          <a:prstGeom prst="roundRect">
            <a:avLst>
              <a:gd name="adj" fmla="val 1657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81510" y="795040"/>
            <a:ext cx="1580702" cy="429220"/>
          </a:xfrm>
          <a:prstGeom prst="roundRect">
            <a:avLst>
              <a:gd name="adj" fmla="val 1657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574" y="795040"/>
            <a:ext cx="1580702" cy="429220"/>
          </a:xfrm>
          <a:prstGeom prst="roundRect">
            <a:avLst>
              <a:gd name="adj" fmla="val 1657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1638" y="795040"/>
            <a:ext cx="1580702" cy="429220"/>
          </a:xfrm>
          <a:prstGeom prst="roundRect">
            <a:avLst>
              <a:gd name="adj" fmla="val 1657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81701" y="795040"/>
            <a:ext cx="1580559" cy="429220"/>
          </a:xfrm>
          <a:prstGeom prst="roundRect">
            <a:avLst>
              <a:gd name="adj" fmla="val 16570"/>
            </a:avLst>
          </a:prstGeom>
          <a:gradFill rotWithShape="1">
            <a:gsLst>
              <a:gs pos="0">
                <a:srgbClr val="00C8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2070" y="285452"/>
            <a:ext cx="29170" cy="31492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C8FF"/>
              </a:gs>
              <a:gs pos="100000">
                <a:srgbClr val="00C8FF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5541" y="257770"/>
            <a:ext cx="531913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12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TECHNOLOGY TRACK  ·  PRACTITIONER ACTION ITEMS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515541" y="397371"/>
            <a:ext cx="517406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</a:t>
            </a:r>
            <a:r>
              <a:rPr lang="en-US" sz="1580" b="1" kern="0" spc="16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5 Action Items</a:t>
            </a:r>
            <a:r>
              <a:rPr lang="en-US" sz="1580" kern="0" spc="16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Execute Before Q3 2026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372070" y="785515"/>
            <a:ext cx="1599605" cy="3767435"/>
          </a:xfrm>
          <a:prstGeom prst="roundRect">
            <a:avLst>
              <a:gd name="adj" fmla="val 4446"/>
            </a:avLst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895" y="923181"/>
            <a:ext cx="14871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C8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01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495895" y="110088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402" y="1177388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5895" y="1472952"/>
            <a:ext cx="1378994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Phishing-Resistant MFA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95895" y="1790551"/>
            <a:ext cx="1378994" cy="2254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Migrate </a:t>
            </a:r>
            <a:r>
              <a:rPr lang="en-US" sz="62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accounts to FIDO2 / passkeys. Eliminate SMS OTP for privileged access — no exceptions. Enforce via Conditional Access policy gating.</a:t>
            </a:r>
            <a:br/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495895" y="4024164"/>
            <a:ext cx="135195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5895" y="4104680"/>
            <a:ext cx="1351955" cy="162401"/>
          </a:xfrm>
          <a:prstGeom prst="roundRect">
            <a:avLst>
              <a:gd name="adj" fmla="val 13294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Target: 100% by Q2 2026</a:t>
            </a:r>
            <a:endParaRPr lang="en-US" sz="530" dirty="0"/>
          </a:p>
        </p:txBody>
      </p:sp>
      <p:sp>
        <p:nvSpPr>
          <p:cNvPr id="22" name="Text 19"/>
          <p:cNvSpPr/>
          <p:nvPr/>
        </p:nvSpPr>
        <p:spPr>
          <a:xfrm>
            <a:off x="495895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PR.AC-1</a:t>
            </a:r>
            <a:endParaRPr lang="en-US" sz="530" dirty="0"/>
          </a:p>
        </p:txBody>
      </p:sp>
      <p:sp>
        <p:nvSpPr>
          <p:cNvPr id="23" name="Text 20"/>
          <p:cNvSpPr/>
          <p:nvPr/>
        </p:nvSpPr>
        <p:spPr>
          <a:xfrm>
            <a:off x="941636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30" dirty="0"/>
          </a:p>
        </p:txBody>
      </p:sp>
      <p:sp>
        <p:nvSpPr>
          <p:cNvPr id="24" name="Text 21"/>
          <p:cNvSpPr/>
          <p:nvPr/>
        </p:nvSpPr>
        <p:spPr>
          <a:xfrm>
            <a:off x="1387376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PR.AC-5</a:t>
            </a:r>
            <a:endParaRPr lang="en-US" sz="530" dirty="0"/>
          </a:p>
        </p:txBody>
      </p:sp>
      <p:sp>
        <p:nvSpPr>
          <p:cNvPr id="25" name="Text 22"/>
          <p:cNvSpPr/>
          <p:nvPr/>
        </p:nvSpPr>
        <p:spPr>
          <a:xfrm>
            <a:off x="2071985" y="785515"/>
            <a:ext cx="1599754" cy="3767435"/>
          </a:xfrm>
          <a:prstGeom prst="roundRect">
            <a:avLst>
              <a:gd name="adj" fmla="val 4446"/>
            </a:avLst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195810" y="923181"/>
            <a:ext cx="148731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C8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02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2195810" y="110088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2317" y="1177388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195810" y="1472952"/>
            <a:ext cx="1379146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Vault All Privileged Accounts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2195810" y="1790551"/>
            <a:ext cx="1379146" cy="89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privileged credential into PAM vault with automated rotation — zero standing privilege. Audit unmanaged service &amp; admin accounts monthly. No exceptions policy.</a:t>
            </a:r>
            <a:endParaRPr lang="en-US" sz="620" dirty="0"/>
          </a:p>
        </p:txBody>
      </p:sp>
      <p:sp>
        <p:nvSpPr>
          <p:cNvPr id="31" name="Text 27"/>
          <p:cNvSpPr/>
          <p:nvPr/>
        </p:nvSpPr>
        <p:spPr>
          <a:xfrm>
            <a:off x="2195810" y="4024164"/>
            <a:ext cx="1352104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195810" y="4104680"/>
            <a:ext cx="1352104" cy="162401"/>
          </a:xfrm>
          <a:prstGeom prst="roundRect">
            <a:avLst>
              <a:gd name="adj" fmla="val 13294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Audit cadence: Monthly</a:t>
            </a:r>
            <a:endParaRPr lang="en-US" sz="530" dirty="0"/>
          </a:p>
        </p:txBody>
      </p:sp>
      <p:sp>
        <p:nvSpPr>
          <p:cNvPr id="33" name="Text 29"/>
          <p:cNvSpPr/>
          <p:nvPr/>
        </p:nvSpPr>
        <p:spPr>
          <a:xfrm>
            <a:off x="2195810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PR.AC-4</a:t>
            </a:r>
            <a:endParaRPr lang="en-US" sz="530" dirty="0"/>
          </a:p>
        </p:txBody>
      </p:sp>
      <p:sp>
        <p:nvSpPr>
          <p:cNvPr id="34" name="Text 30"/>
          <p:cNvSpPr/>
          <p:nvPr/>
        </p:nvSpPr>
        <p:spPr>
          <a:xfrm>
            <a:off x="2641550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PR.AC-6</a:t>
            </a:r>
            <a:endParaRPr lang="en-US" sz="530" dirty="0"/>
          </a:p>
        </p:txBody>
      </p:sp>
      <p:sp>
        <p:nvSpPr>
          <p:cNvPr id="35" name="Text 31"/>
          <p:cNvSpPr/>
          <p:nvPr/>
        </p:nvSpPr>
        <p:spPr>
          <a:xfrm>
            <a:off x="3087291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DE.CM-3</a:t>
            </a:r>
            <a:endParaRPr lang="en-US" sz="530" dirty="0"/>
          </a:p>
        </p:txBody>
      </p:sp>
      <p:sp>
        <p:nvSpPr>
          <p:cNvPr id="36" name="Text 32"/>
          <p:cNvSpPr/>
          <p:nvPr/>
        </p:nvSpPr>
        <p:spPr>
          <a:xfrm>
            <a:off x="3772049" y="785515"/>
            <a:ext cx="1599754" cy="3767435"/>
          </a:xfrm>
          <a:prstGeom prst="roundRect">
            <a:avLst>
              <a:gd name="adj" fmla="val 4446"/>
            </a:avLst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3895874" y="923181"/>
            <a:ext cx="148731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C8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03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3895874" y="110088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380" y="1177388"/>
            <a:ext cx="132588" cy="1325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895874" y="1472952"/>
            <a:ext cx="1379146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 Zero Trust Segmentation</a:t>
            </a:r>
            <a:endParaRPr lang="en-US" sz="820" dirty="0"/>
          </a:p>
        </p:txBody>
      </p:sp>
      <p:sp>
        <p:nvSpPr>
          <p:cNvPr id="41" name="Text 36"/>
          <p:cNvSpPr/>
          <p:nvPr/>
        </p:nvSpPr>
        <p:spPr>
          <a:xfrm>
            <a:off x="3895874" y="1790551"/>
            <a:ext cx="1379146" cy="89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 implicit trust entirely. Deploy identity-centric access and application-layer micro-segmentation for Crown Jewel systems. East-west traffic inspection mandatory.</a:t>
            </a:r>
            <a:endParaRPr lang="en-US" sz="620" dirty="0"/>
          </a:p>
        </p:txBody>
      </p:sp>
      <p:sp>
        <p:nvSpPr>
          <p:cNvPr id="42" name="Text 37"/>
          <p:cNvSpPr/>
          <p:nvPr/>
        </p:nvSpPr>
        <p:spPr>
          <a:xfrm>
            <a:off x="3895874" y="4024164"/>
            <a:ext cx="1352104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3895874" y="4104680"/>
            <a:ext cx="1352104" cy="162401"/>
          </a:xfrm>
          <a:prstGeom prst="roundRect">
            <a:avLst>
              <a:gd name="adj" fmla="val 13294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NIST SP 800-207 Aligned</a:t>
            </a:r>
            <a:endParaRPr lang="en-US" sz="530" dirty="0"/>
          </a:p>
        </p:txBody>
      </p:sp>
      <p:sp>
        <p:nvSpPr>
          <p:cNvPr id="44" name="Text 39"/>
          <p:cNvSpPr/>
          <p:nvPr/>
        </p:nvSpPr>
        <p:spPr>
          <a:xfrm>
            <a:off x="3895874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PR.AC-3</a:t>
            </a:r>
            <a:endParaRPr lang="en-US" sz="530" dirty="0"/>
          </a:p>
        </p:txBody>
      </p:sp>
      <p:sp>
        <p:nvSpPr>
          <p:cNvPr id="45" name="Text 40"/>
          <p:cNvSpPr/>
          <p:nvPr/>
        </p:nvSpPr>
        <p:spPr>
          <a:xfrm>
            <a:off x="4341614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PR.AC-5</a:t>
            </a:r>
            <a:endParaRPr lang="en-US" sz="530" dirty="0"/>
          </a:p>
        </p:txBody>
      </p:sp>
      <p:sp>
        <p:nvSpPr>
          <p:cNvPr id="46" name="Text 41"/>
          <p:cNvSpPr/>
          <p:nvPr/>
        </p:nvSpPr>
        <p:spPr>
          <a:xfrm>
            <a:off x="4787354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PR.PS-1</a:t>
            </a:r>
            <a:endParaRPr lang="en-US" sz="530" dirty="0"/>
          </a:p>
        </p:txBody>
      </p:sp>
      <p:sp>
        <p:nvSpPr>
          <p:cNvPr id="47" name="Text 42"/>
          <p:cNvSpPr/>
          <p:nvPr/>
        </p:nvSpPr>
        <p:spPr>
          <a:xfrm>
            <a:off x="5472113" y="785515"/>
            <a:ext cx="1599754" cy="3767435"/>
          </a:xfrm>
          <a:prstGeom prst="roundRect">
            <a:avLst>
              <a:gd name="adj" fmla="val 4446"/>
            </a:avLst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5595938" y="923181"/>
            <a:ext cx="148731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C8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04</a:t>
            </a:r>
            <a:endParaRPr lang="en-US" sz="560" dirty="0"/>
          </a:p>
        </p:txBody>
      </p:sp>
      <p:sp>
        <p:nvSpPr>
          <p:cNvPr id="49" name="Text 44"/>
          <p:cNvSpPr/>
          <p:nvPr/>
        </p:nvSpPr>
        <p:spPr>
          <a:xfrm>
            <a:off x="5595938" y="110088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2444" y="1177388"/>
            <a:ext cx="132588" cy="13258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595938" y="1472952"/>
            <a:ext cx="1379146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Instrument Detection Coverage</a:t>
            </a:r>
            <a:endParaRPr lang="en-US" sz="820" dirty="0"/>
          </a:p>
        </p:txBody>
      </p:sp>
      <p:sp>
        <p:nvSpPr>
          <p:cNvPr id="52" name="Text 46"/>
          <p:cNvSpPr/>
          <p:nvPr/>
        </p:nvSpPr>
        <p:spPr>
          <a:xfrm>
            <a:off x="5595938" y="1790551"/>
            <a:ext cx="1379146" cy="89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SIEM rules to MITRE ATT&amp;CK framework. Identify and close coverage gaps — prioritize financial-sector TTPs: credential access, lateral movement, BEC, wire fraud.</a:t>
            </a:r>
            <a:endParaRPr lang="en-US" sz="620" dirty="0"/>
          </a:p>
        </p:txBody>
      </p:sp>
      <p:sp>
        <p:nvSpPr>
          <p:cNvPr id="53" name="Text 47"/>
          <p:cNvSpPr/>
          <p:nvPr/>
        </p:nvSpPr>
        <p:spPr>
          <a:xfrm>
            <a:off x="5595938" y="3923258"/>
            <a:ext cx="1352104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595938" y="4003774"/>
            <a:ext cx="1352104" cy="273397"/>
          </a:xfrm>
          <a:prstGeom prst="roundRect">
            <a:avLst>
              <a:gd name="adj" fmla="val 7897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Purple team exercises quarterly</a:t>
            </a:r>
            <a:endParaRPr lang="en-US" sz="530" dirty="0"/>
          </a:p>
        </p:txBody>
      </p:sp>
      <p:sp>
        <p:nvSpPr>
          <p:cNvPr id="55" name="Text 49"/>
          <p:cNvSpPr/>
          <p:nvPr/>
        </p:nvSpPr>
        <p:spPr>
          <a:xfrm>
            <a:off x="5595938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DE.CM-1</a:t>
            </a:r>
            <a:endParaRPr lang="en-US" sz="530" dirty="0"/>
          </a:p>
        </p:txBody>
      </p:sp>
      <p:sp>
        <p:nvSpPr>
          <p:cNvPr id="56" name="Text 50"/>
          <p:cNvSpPr/>
          <p:nvPr/>
        </p:nvSpPr>
        <p:spPr>
          <a:xfrm>
            <a:off x="6041678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DE.AE-1</a:t>
            </a:r>
            <a:endParaRPr lang="en-US" sz="530" dirty="0"/>
          </a:p>
        </p:txBody>
      </p:sp>
      <p:sp>
        <p:nvSpPr>
          <p:cNvPr id="57" name="Text 51"/>
          <p:cNvSpPr/>
          <p:nvPr/>
        </p:nvSpPr>
        <p:spPr>
          <a:xfrm>
            <a:off x="6487418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DE.CM-3</a:t>
            </a:r>
            <a:endParaRPr lang="en-US" sz="530" dirty="0"/>
          </a:p>
        </p:txBody>
      </p:sp>
      <p:sp>
        <p:nvSpPr>
          <p:cNvPr id="58" name="Text 52"/>
          <p:cNvSpPr/>
          <p:nvPr/>
        </p:nvSpPr>
        <p:spPr>
          <a:xfrm>
            <a:off x="7172176" y="785515"/>
            <a:ext cx="1599605" cy="3767435"/>
          </a:xfrm>
          <a:prstGeom prst="roundRect">
            <a:avLst>
              <a:gd name="adj" fmla="val 4446"/>
            </a:avLst>
          </a:prstGeom>
          <a:solidFill>
            <a:srgbClr val="162032"/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7296001" y="923181"/>
            <a:ext cx="14871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C8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05</a:t>
            </a:r>
            <a:endParaRPr lang="en-US" sz="560" dirty="0"/>
          </a:p>
        </p:txBody>
      </p:sp>
      <p:sp>
        <p:nvSpPr>
          <p:cNvPr id="60" name="Text 54"/>
          <p:cNvSpPr/>
          <p:nvPr/>
        </p:nvSpPr>
        <p:spPr>
          <a:xfrm>
            <a:off x="7296001" y="110088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2508" y="1177388"/>
            <a:ext cx="132588" cy="132588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7296001" y="1472952"/>
            <a:ext cx="1487150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Your IR Plan Now</a:t>
            </a:r>
            <a:endParaRPr lang="en-US" sz="820" dirty="0"/>
          </a:p>
        </p:txBody>
      </p:sp>
      <p:sp>
        <p:nvSpPr>
          <p:cNvPr id="63" name="Text 56"/>
          <p:cNvSpPr/>
          <p:nvPr/>
        </p:nvSpPr>
        <p:spPr>
          <a:xfrm>
            <a:off x="7296001" y="1660327"/>
            <a:ext cx="1378994" cy="102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 full ransomware tabletop + backup recovery drill before Q3 2026. Validate OCC 36-hour notification process. Confirm chain-of-custody and regulatory reporting readiness.</a:t>
            </a:r>
            <a:endParaRPr lang="en-US" sz="620" dirty="0"/>
          </a:p>
        </p:txBody>
      </p:sp>
      <p:sp>
        <p:nvSpPr>
          <p:cNvPr id="64" name="Text 57"/>
          <p:cNvSpPr/>
          <p:nvPr/>
        </p:nvSpPr>
        <p:spPr>
          <a:xfrm>
            <a:off x="7296001" y="3923258"/>
            <a:ext cx="135195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7296001" y="4003774"/>
            <a:ext cx="1351955" cy="273397"/>
          </a:xfrm>
          <a:prstGeom prst="roundRect">
            <a:avLst>
              <a:gd name="adj" fmla="val 7897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Drill complete before Q3 2026</a:t>
            </a:r>
            <a:endParaRPr lang="en-US" sz="530" dirty="0"/>
          </a:p>
        </p:txBody>
      </p:sp>
      <p:sp>
        <p:nvSpPr>
          <p:cNvPr id="66" name="Text 59"/>
          <p:cNvSpPr/>
          <p:nvPr/>
        </p:nvSpPr>
        <p:spPr>
          <a:xfrm>
            <a:off x="7296001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RS.AN-1</a:t>
            </a:r>
            <a:endParaRPr lang="en-US" sz="530" dirty="0"/>
          </a:p>
        </p:txBody>
      </p:sp>
      <p:sp>
        <p:nvSpPr>
          <p:cNvPr id="67" name="Text 60"/>
          <p:cNvSpPr/>
          <p:nvPr/>
        </p:nvSpPr>
        <p:spPr>
          <a:xfrm>
            <a:off x="7741741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RS.CO-3</a:t>
            </a:r>
            <a:endParaRPr lang="en-US" sz="530" dirty="0"/>
          </a:p>
        </p:txBody>
      </p:sp>
      <p:sp>
        <p:nvSpPr>
          <p:cNvPr id="68" name="Text 61"/>
          <p:cNvSpPr/>
          <p:nvPr/>
        </p:nvSpPr>
        <p:spPr>
          <a:xfrm>
            <a:off x="8187482" y="4281488"/>
            <a:ext cx="416570" cy="162401"/>
          </a:xfrm>
          <a:prstGeom prst="roundRect">
            <a:avLst>
              <a:gd name="adj" fmla="val 13294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RC.RP-1</a:t>
            </a:r>
            <a:endParaRPr lang="en-US" sz="530" dirty="0"/>
          </a:p>
        </p:txBody>
      </p:sp>
      <p:sp>
        <p:nvSpPr>
          <p:cNvPr id="69" name="Text 62"/>
          <p:cNvSpPr/>
          <p:nvPr/>
        </p:nvSpPr>
        <p:spPr>
          <a:xfrm>
            <a:off x="372070" y="4667250"/>
            <a:ext cx="849660" cy="303193"/>
          </a:xfrm>
          <a:prstGeom prst="roundRect">
            <a:avLst>
              <a:gd name="adj" fmla="val 963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70" name="Text 63"/>
          <p:cNvSpPr/>
          <p:nvPr/>
        </p:nvSpPr>
        <p:spPr>
          <a:xfrm>
            <a:off x="1278880" y="4740325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680" dirty="0"/>
          </a:p>
        </p:txBody>
      </p:sp>
      <p:sp>
        <p:nvSpPr>
          <p:cNvPr id="71" name="Text 64"/>
          <p:cNvSpPr/>
          <p:nvPr/>
        </p:nvSpPr>
        <p:spPr>
          <a:xfrm>
            <a:off x="1387971" y="4667250"/>
            <a:ext cx="670471" cy="303193"/>
          </a:xfrm>
          <a:prstGeom prst="roundRect">
            <a:avLst>
              <a:gd name="adj" fmla="val 963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560" dirty="0"/>
          </a:p>
        </p:txBody>
      </p:sp>
      <p:sp>
        <p:nvSpPr>
          <p:cNvPr id="72" name="Text 65"/>
          <p:cNvSpPr/>
          <p:nvPr/>
        </p:nvSpPr>
        <p:spPr>
          <a:xfrm>
            <a:off x="2115592" y="4740325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680" dirty="0"/>
          </a:p>
        </p:txBody>
      </p:sp>
      <p:sp>
        <p:nvSpPr>
          <p:cNvPr id="73" name="Text 66"/>
          <p:cNvSpPr/>
          <p:nvPr/>
        </p:nvSpPr>
        <p:spPr>
          <a:xfrm>
            <a:off x="2224683" y="4667250"/>
            <a:ext cx="670471" cy="303193"/>
          </a:xfrm>
          <a:prstGeom prst="roundRect">
            <a:avLst>
              <a:gd name="adj" fmla="val 963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560" dirty="0"/>
          </a:p>
        </p:txBody>
      </p:sp>
      <p:sp>
        <p:nvSpPr>
          <p:cNvPr id="74" name="Text 67"/>
          <p:cNvSpPr/>
          <p:nvPr/>
        </p:nvSpPr>
        <p:spPr>
          <a:xfrm>
            <a:off x="2952304" y="4740325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680" dirty="0"/>
          </a:p>
        </p:txBody>
      </p:sp>
      <p:sp>
        <p:nvSpPr>
          <p:cNvPr id="75" name="Text 68"/>
          <p:cNvSpPr/>
          <p:nvPr/>
        </p:nvSpPr>
        <p:spPr>
          <a:xfrm>
            <a:off x="3061395" y="4667250"/>
            <a:ext cx="760065" cy="303193"/>
          </a:xfrm>
          <a:prstGeom prst="roundRect">
            <a:avLst>
              <a:gd name="adj" fmla="val 963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36-Hr Rule</a:t>
            </a:r>
            <a:endParaRPr lang="en-US" sz="560" dirty="0"/>
          </a:p>
        </p:txBody>
      </p:sp>
      <p:sp>
        <p:nvSpPr>
          <p:cNvPr id="76" name="Text 69"/>
          <p:cNvSpPr/>
          <p:nvPr/>
        </p:nvSpPr>
        <p:spPr>
          <a:xfrm>
            <a:off x="3878610" y="4740325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680" dirty="0"/>
          </a:p>
        </p:txBody>
      </p:sp>
      <p:sp>
        <p:nvSpPr>
          <p:cNvPr id="77" name="Text 70"/>
          <p:cNvSpPr/>
          <p:nvPr/>
        </p:nvSpPr>
        <p:spPr>
          <a:xfrm>
            <a:off x="3987701" y="4720530"/>
            <a:ext cx="375642" cy="185812"/>
          </a:xfrm>
          <a:prstGeom prst="roundRect">
            <a:avLst>
              <a:gd name="adj" fmla="val 1572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FFIEC</a:t>
            </a:r>
            <a:endParaRPr lang="en-US" sz="560" dirty="0"/>
          </a:p>
        </p:txBody>
      </p:sp>
      <p:sp>
        <p:nvSpPr>
          <p:cNvPr id="78" name="Text 71"/>
          <p:cNvSpPr/>
          <p:nvPr/>
        </p:nvSpPr>
        <p:spPr>
          <a:xfrm>
            <a:off x="4420493" y="4740325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680" dirty="0"/>
          </a:p>
        </p:txBody>
      </p:sp>
      <p:sp>
        <p:nvSpPr>
          <p:cNvPr id="79" name="Text 72"/>
          <p:cNvSpPr/>
          <p:nvPr/>
        </p:nvSpPr>
        <p:spPr>
          <a:xfrm>
            <a:off x="4529584" y="4667250"/>
            <a:ext cx="581174" cy="303193"/>
          </a:xfrm>
          <a:prstGeom prst="roundRect">
            <a:avLst>
              <a:gd name="adj" fmla="val 963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Trust</a:t>
            </a:r>
            <a:endParaRPr lang="en-US" sz="560" dirty="0"/>
          </a:p>
        </p:txBody>
      </p:sp>
      <p:sp>
        <p:nvSpPr>
          <p:cNvPr id="80" name="Text 73"/>
          <p:cNvSpPr/>
          <p:nvPr/>
        </p:nvSpPr>
        <p:spPr>
          <a:xfrm>
            <a:off x="5110758" y="4698355"/>
            <a:ext cx="3734395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reported to CISO monthly  ·  Board Risk Committee quarterly per CRI GV.RM-4</a:t>
            </a:r>
            <a:endParaRPr lang="en-US" sz="5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C8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271141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>
                  <a:alpha val="18000"/>
                </a:srgbClr>
              </a:gs>
              <a:gs pos="70000">
                <a:srgbClr val="00C8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412120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C8FF">
                  <a:alpha val="18000"/>
                </a:srgbClr>
              </a:gs>
              <a:gs pos="70000">
                <a:srgbClr val="00C8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2765" y="928390"/>
            <a:ext cx="5858470" cy="3286720"/>
          </a:xfrm>
          <a:prstGeom prst="rect">
            <a:avLst/>
          </a:prstGeom>
          <a:gradFill rotWithShape="1">
            <a:gsLst>
              <a:gs pos="0">
                <a:srgbClr val="00C8FF">
                  <a:alpha val="18000"/>
                </a:srgbClr>
              </a:gs>
              <a:gs pos="40000">
                <a:srgbClr val="0064B4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7770" y="4456509"/>
            <a:ext cx="9525" cy="429220"/>
          </a:xfrm>
          <a:prstGeom prst="rect">
            <a:avLst/>
          </a:pr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76705" y="4456509"/>
            <a:ext cx="9525" cy="429220"/>
          </a:xfrm>
          <a:prstGeom prst="rect">
            <a:avLst/>
          </a:prstGeom>
          <a:solidFill>
            <a:srgbClr val="00C8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C8FF">
                  <a:alpha val="25000"/>
                </a:srgbClr>
              </a:gs>
              <a:gs pos="60000">
                <a:srgbClr val="00C8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2242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C8FF">
                  <a:alpha val="25000"/>
                </a:srgbClr>
              </a:gs>
              <a:gs pos="60000">
                <a:srgbClr val="00C8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4862" y="285750"/>
            <a:ext cx="61142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136" dirty="0">
                <a:solidFill>
                  <a:srgbClr val="00C8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TECHNOLOGY WEBINAR SERIES  ·  FINANCIAL INSTITUTIONS  ·  TECHNICAL SECURITY TRACK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3286125" y="504081"/>
            <a:ext cx="25717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8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3885" y="696962"/>
            <a:ext cx="7336229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kern="0" spc="-4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r>
              <a:rPr lang="en-US" sz="4950" kern="0" spc="-4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r>
              <a:rPr lang="en-US" sz="4950" kern="0" spc="-4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950" kern="0" spc="-49" dirty="0">
                <a:solidFill>
                  <a:srgbClr val="C8E8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</a:t>
            </a:r>
            <a:r>
              <a:rPr lang="en-US" sz="4950" kern="0" spc="-4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r>
              <a:rPr lang="en-US" sz="4950" kern="0" spc="-4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950" b="1" kern="0" spc="-4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Defend</a:t>
            </a:r>
            <a:r>
              <a:rPr lang="en-US" sz="4950" kern="0" spc="-49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4950" dirty="0"/>
          </a:p>
        </p:txBody>
      </p:sp>
      <p:sp>
        <p:nvSpPr>
          <p:cNvPr id="14" name="Text 12"/>
          <p:cNvSpPr/>
          <p:nvPr/>
        </p:nvSpPr>
        <p:spPr>
          <a:xfrm>
            <a:off x="4143375" y="1483072"/>
            <a:ext cx="85725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1654373"/>
            <a:ext cx="2619673" cy="1214586"/>
          </a:xfrm>
          <a:prstGeom prst="roundRect">
            <a:avLst>
              <a:gd name="adj" fmla="val 5855"/>
            </a:avLst>
          </a:prstGeom>
          <a:solidFill>
            <a:srgbClr val="162032">
              <a:alpha val="75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467" y="1778198"/>
            <a:ext cx="224730" cy="2247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335" y="1807369"/>
            <a:ext cx="251427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6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681335" y="2042964"/>
            <a:ext cx="2331416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A4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security controls grounded in CRI Profile v2.2 and NIST CSF 2.0 technical outcomes. Layer IAM, Zero Trust, DevSecOps, and cloud security into every architecture decision.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262164" y="1654373"/>
            <a:ext cx="2619673" cy="1214586"/>
          </a:xfrm>
          <a:prstGeom prst="roundRect">
            <a:avLst>
              <a:gd name="adj" fmla="val 5855"/>
            </a:avLst>
          </a:prstGeom>
          <a:solidFill>
            <a:srgbClr val="162032">
              <a:alpha val="75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281" y="1778198"/>
            <a:ext cx="224730" cy="2247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149" y="1807369"/>
            <a:ext cx="251427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6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3429149" y="2042964"/>
            <a:ext cx="2331416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A4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every control through simulations, red team exercises, and continuous monitoring. Map SIEM coverage to MITRE ATT&amp;CK. Run tabletops before incidents happen — not after.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009977" y="1654373"/>
            <a:ext cx="2619673" cy="1214586"/>
          </a:xfrm>
          <a:prstGeom prst="roundRect">
            <a:avLst>
              <a:gd name="adj" fmla="val 5855"/>
            </a:avLst>
          </a:prstGeom>
          <a:solidFill>
            <a:srgbClr val="162032">
              <a:alpha val="75000"/>
            </a:srgbClr>
          </a:solidFill>
          <a:ln w="9525">
            <a:solidFill>
              <a:srgbClr val="00C8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1095" y="1778198"/>
            <a:ext cx="224730" cy="2247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6963" y="1807369"/>
            <a:ext cx="251427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61" dirty="0">
                <a:solidFill>
                  <a:srgbClr val="00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DEFEND</a:t>
            </a:r>
            <a:endParaRPr lang="en-US" sz="1010" dirty="0"/>
          </a:p>
        </p:txBody>
      </p:sp>
      <p:sp>
        <p:nvSpPr>
          <p:cNvPr id="26" name="Text 21"/>
          <p:cNvSpPr/>
          <p:nvPr/>
        </p:nvSpPr>
        <p:spPr>
          <a:xfrm>
            <a:off x="6176963" y="2042964"/>
            <a:ext cx="2331416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A4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CTI to stay ahead of threat actors targeting your institution. Ingest FS-ISAC feeds, operationalize intelligence, and respond faster than adversaries can adapt their TTPs.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0" y="2997101"/>
            <a:ext cx="9144000" cy="311497"/>
          </a:xfrm>
          <a:prstGeom prst="rect">
            <a:avLst/>
          </a:prstGeom>
          <a:solidFill>
            <a:srgbClr val="00C8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6127" y="3086555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213372" y="3088035"/>
            <a:ext cx="200873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the Technical Webinar Series</a:t>
            </a:r>
            <a:endParaRPr lang="en-US" sz="680" dirty="0"/>
          </a:p>
        </p:txBody>
      </p:sp>
      <p:sp>
        <p:nvSpPr>
          <p:cNvPr id="30" name="Text 24"/>
          <p:cNvSpPr/>
          <p:nvPr/>
        </p:nvSpPr>
        <p:spPr>
          <a:xfrm>
            <a:off x="4110484" y="3077617"/>
            <a:ext cx="6646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00C8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90" dirty="0"/>
          </a:p>
        </p:txBody>
      </p:sp>
      <p:sp>
        <p:nvSpPr>
          <p:cNvPr id="31" name="Text 25"/>
          <p:cNvSpPr/>
          <p:nvPr/>
        </p:nvSpPr>
        <p:spPr>
          <a:xfrm>
            <a:off x="4241899" y="3088035"/>
            <a:ext cx="42614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FS-ISAC</a:t>
            </a:r>
            <a:endParaRPr lang="en-US" sz="680" dirty="0"/>
          </a:p>
        </p:txBody>
      </p:sp>
      <p:sp>
        <p:nvSpPr>
          <p:cNvPr id="32" name="Text 26"/>
          <p:cNvSpPr/>
          <p:nvPr/>
        </p:nvSpPr>
        <p:spPr>
          <a:xfrm>
            <a:off x="4700290" y="3077617"/>
            <a:ext cx="6646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00C8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90" dirty="0"/>
          </a:p>
        </p:txBody>
      </p:sp>
      <p:sp>
        <p:nvSpPr>
          <p:cNvPr id="33" name="Text 27"/>
          <p:cNvSpPr/>
          <p:nvPr/>
        </p:nvSpPr>
        <p:spPr>
          <a:xfrm>
            <a:off x="4831705" y="3088035"/>
            <a:ext cx="91301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Portal</a:t>
            </a:r>
            <a:endParaRPr lang="en-US" sz="680" dirty="0"/>
          </a:p>
        </p:txBody>
      </p:sp>
      <p:sp>
        <p:nvSpPr>
          <p:cNvPr id="34" name="Text 28"/>
          <p:cNvSpPr/>
          <p:nvPr/>
        </p:nvSpPr>
        <p:spPr>
          <a:xfrm>
            <a:off x="5732711" y="3077617"/>
            <a:ext cx="6646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00C8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90" dirty="0"/>
          </a:p>
        </p:txBody>
      </p:sp>
      <p:sp>
        <p:nvSpPr>
          <p:cNvPr id="35" name="Text 29"/>
          <p:cNvSpPr/>
          <p:nvPr/>
        </p:nvSpPr>
        <p:spPr>
          <a:xfrm>
            <a:off x="5864126" y="3088035"/>
            <a:ext cx="133915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Your CISO Team</a:t>
            </a:r>
            <a:endParaRPr lang="en-US" sz="680" dirty="0"/>
          </a:p>
        </p:txBody>
      </p:sp>
      <p:sp>
        <p:nvSpPr>
          <p:cNvPr id="36" name="Text 30"/>
          <p:cNvSpPr/>
          <p:nvPr/>
        </p:nvSpPr>
        <p:spPr>
          <a:xfrm>
            <a:off x="1901130" y="3401169"/>
            <a:ext cx="1060204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Profile v2.2</a:t>
            </a:r>
            <a:endParaRPr lang="en-US" sz="590" dirty="0"/>
          </a:p>
        </p:txBody>
      </p:sp>
      <p:sp>
        <p:nvSpPr>
          <p:cNvPr id="37" name="Text 31"/>
          <p:cNvSpPr/>
          <p:nvPr/>
        </p:nvSpPr>
        <p:spPr>
          <a:xfrm>
            <a:off x="3011537" y="3401169"/>
            <a:ext cx="864072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590" dirty="0"/>
          </a:p>
        </p:txBody>
      </p:sp>
      <p:sp>
        <p:nvSpPr>
          <p:cNvPr id="38" name="Text 32"/>
          <p:cNvSpPr/>
          <p:nvPr/>
        </p:nvSpPr>
        <p:spPr>
          <a:xfrm>
            <a:off x="3929658" y="3401169"/>
            <a:ext cx="864072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 ATT&amp;CK</a:t>
            </a:r>
            <a:endParaRPr lang="en-US" sz="590" dirty="0"/>
          </a:p>
        </p:txBody>
      </p:sp>
      <p:sp>
        <p:nvSpPr>
          <p:cNvPr id="39" name="Text 33"/>
          <p:cNvSpPr/>
          <p:nvPr/>
        </p:nvSpPr>
        <p:spPr>
          <a:xfrm>
            <a:off x="4847779" y="3401169"/>
            <a:ext cx="766006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Trust</a:t>
            </a:r>
            <a:endParaRPr lang="en-US" sz="590" dirty="0"/>
          </a:p>
        </p:txBody>
      </p:sp>
      <p:sp>
        <p:nvSpPr>
          <p:cNvPr id="40" name="Text 34"/>
          <p:cNvSpPr/>
          <p:nvPr/>
        </p:nvSpPr>
        <p:spPr>
          <a:xfrm>
            <a:off x="5669756" y="3401169"/>
            <a:ext cx="716974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DevSecOps</a:t>
            </a:r>
            <a:endParaRPr lang="en-US" sz="590" dirty="0"/>
          </a:p>
        </p:txBody>
      </p:sp>
      <p:sp>
        <p:nvSpPr>
          <p:cNvPr id="41" name="Text 35"/>
          <p:cNvSpPr/>
          <p:nvPr/>
        </p:nvSpPr>
        <p:spPr>
          <a:xfrm>
            <a:off x="6443663" y="3401169"/>
            <a:ext cx="815039" cy="189607"/>
          </a:xfrm>
          <a:prstGeom prst="roundRect">
            <a:avLst>
              <a:gd name="adj" fmla="val 75688"/>
            </a:avLst>
          </a:prstGeom>
          <a:solidFill>
            <a:srgbClr val="00C8FF">
              <a:alpha val="9000"/>
            </a:srgbClr>
          </a:solidFill>
          <a:ln w="9525">
            <a:solidFill>
              <a:srgbClr val="00C8FF">
                <a:alpha val="22000"/>
              </a:srgbClr>
            </a:solidFill>
          </a:ln>
        </p:spPr>
        <p:txBody>
          <a:bodyPr wrap="none" lIns="86360" tIns="29210" rIns="86360" bIns="2921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AI RMF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4369</Words>
  <Application>Microsoft Office PowerPoint</Application>
  <PresentationFormat>On-screen Show (16:9)</PresentationFormat>
  <Paragraphs>755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Aaron Simmons</cp:lastModifiedBy>
  <cp:revision>2</cp:revision>
  <dcterms:created xsi:type="dcterms:W3CDTF">2026-05-15T16:09:58Z</dcterms:created>
  <dcterms:modified xsi:type="dcterms:W3CDTF">2026-05-15T16:14:00Z</dcterms:modified>
</cp:coreProperties>
</file>